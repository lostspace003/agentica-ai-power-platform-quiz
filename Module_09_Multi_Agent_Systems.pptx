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 id="277" r:id="rId21"/>
    <p:sldId id="278" r:id="rId22"/>
    <p:sldId id="279" r:id="rId23"/>
    <p:sldId id="280" r:id="rId24"/>
    <p:sldId id="281" r:id="rId25"/>
    <p:sldId id="282" r:id="rId26"/>
    <p:sldId id="283" r:id="rId27"/>
    <p:sldId id="284" r:id="rId28"/>
    <p:sldId id="285"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05" d="100"/>
          <a:sy n="105" d="100"/>
        </p:scale>
        <p:origin x="8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6297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09: Multi-Agent Systems with Shared MCP Memory.
In previous modules, you built a single agent that handles conversations, runs autonomous flows, and routes decisions through approval workflows. That single-agent architecture is powerful, but real-world BFSI operations span multiple domains: claims processing, policy management, customer service, compliance, and fraud detection.
This module introduces multi-agent systems where specialised agents handle distinct business domains and a parent orchestrator agent coordinates their work. The critical enabler is shared MCP memory — all agents read from and write to the same Dataverse tables, creating a shared state layer that enables coordination.
This is an advanced module that builds on everything you've learned so far. By the end, you'll have built a complete multi-agent insurance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is structured around understanding multi-agent architecture and then building a complete system.
The theory section covers why multi-agent systems matter, the different topologies you can use, how Dataverse serves as shared memory, and the agent-as-tool pattern that enables coordination.
The lab is hands-on: you'll build three specialist agents (Claims, Policy, Customer), an orchestrator agent that coordinates them, and a shared coordination table in Dataverse.
By the end, you'll have a working multi-agent system that can handle complex cross-domain queries like "Give me a complete profile for Rajesh Sharma including his personal details, all policies, and all claims."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first five learning objectives.
First, you'll understand the multi-agent architecture — what orchestrators and specialists are and how they coordinate.
Second, you'll learn how Dataverse serves as shared memory via MCP — this is the key enabler for multi-agent coordination without complex protocols.
Third, you'll compare different topologies and understand when to use each.
Fourth and fifth, you'll actually build these agents — a parent orchestrator and three specialists for Claims, Policy, and Customer domains.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five objectives focus on implementation and governance.
The AgentTaskLog is a critical table — it's both the coordination mechanism and the audit trail for multi-agent operations.
The agent-as-tool pattern is the key mechanism in Copilot Studio for multi-agent coordination. You'll learn exactly how this works.
Testing cross-domain queries demonstrates the real value of multi-agent systems — queries that require information from multiple specialists.
Governance is even more important in multi-agent systems because you have multiple agents making decisions and accessing data.
Finally, not every project needs multiple agents — you'll learn the decision framework for when to use each approach.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 has one hour of theory covering architecture and patterns, followed by two hours of hands-on lab work.
Prerequisites are important: you need everything from Modules 06-08 working — the agent, the Agent Flows, and the approval workflow. You'll also need the ability to create multiple agents in Copilot Studio.
This is an advanced module that builds directly on everything you've learned so far.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by understanding why multi-agent systems matter and when you should use them.
This isn't about complexity for its own sake — it's about choosing the right architecture for the problem you're solving.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key challenges of single-agent designs.
System Prompt Complexity: As you add more domains, the system prompt becomes a massive document trying to cover everything. Changes to one area can accidentally affect others.
Testing Difficulty: There's no isolation between domains. Every change requires full regression testing because the claims logic and policy logic are intertwined.
Governance Challenges: In BFSI, you need clear accountability. Who approved the claim? Which part of the system accessed the customer data? With one agent doing everything, these questions are hard to answer.
Scaling Constraints: Different business domains often need different update cycles. The claims team might want to change their rules weekly, but the policy team only quarterly. With one agent, you can't scale them independently.
These challenges don't appear immediately — they emerge as the system grows in complexity.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Multi-agent systems address each of those challenges.
Focused Expertise: Each specialist agent has a narrow, deep focus. The Claims Agent knows everything about claims but explicitly refuses to answer policy questions. This makes system prompts short, precise, and maintainable.
Independent Testing: You can test each specialist in isolation. When you update claims rules, you only need to test the Claims Agent — the Policy Agent and Customer Agent are unaffected.
Clear Governance: Each agent has its own identity, its own data access scope, and its own audit trail. When an auditor asks "who accessed this customer's data?", you can point to a specific agent with a specific purpose.
Team Alignment: Agent boundaries can match your organisational structure. The claims team owns and maintains the Claims Agent. The policy team owns the Policy Agent. This creates clear ownership and accountability.
These benefits compound as the system grows in complexity.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different ways to organise multi-agent systems.
There are four main topologies, each suited to different operational patterns.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Hub-and-Spoke or Orchestrator pattern is the most common and most practical for current Copilot Studio capabilities.
In this topology, a central Orchestrator agent receives all user requests. The user never talks directly to the specialists — only to the orchestrator.
The orchestrator analyses each request and delegates to the appropriate specialist or specialists. The specialists do their work and return results to the orchestrator, which synthesises a response for the user.
Critically, the specialists do NOT communicate with each other directly. All coordination flows through the orchestrator. This provides a clear governance point and makes the system easier to audit.
This maps naturally to BFSI operational structures where a single operations desk coordinates specialist teams.
This is the topology we'll implement in this module.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quick comparison of all four topologies.
Hub-and-Spoke — what we're implementing — has clear governance but the orchestrator can be a bottleneck for very high-volume systems.
Pipeline is great for sequential processing like document pipelines where work flows through stages. But it's rigid and hard to skip steps.
Peer-to-Peer allows agents to communicate directly, which is flexible but creates governance challenges. It's hard to audit who talked to whom about what.
Hierarchical has multiple levels of orchestration — like regional orchestrators reporting to a global orchestrator. This scales to enterprise deployments but is complex to implement.
For most BFSI projects, Hub-and-Spoke is the right choice because governance and auditability are paramount.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the critical enabler for multi-agent coordination: shared memory via Dataverse MCP.
This is how agents coordinate without complex communication protocols.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Dataverse serves three distinct roles in multi-agent systems.
First, it's the Business Data Store. All agents access the same customer, policy, claims, and transaction tables via MCP. This means they're always working with consistent, up-to-date data.
Second, it provides Coordination State through the AgentTaskLog table. This is the shared memory that enables coordination. When the orchestrator delegates to a specialist, it creates a record in this table. The specialist reads the context, does its work, and writes the result back. This is effectively a message queue implemented in Dataverse.
Third, it serves as the Audit Trail. Every query, every delegation, every result is logged with timestamps and agent identity. For BFSI compliance, this is essential — you can show exactly what each agent did and why.
The key insight: by using Dataverse as shared memory, agents can coordinate without complex direct communication protocols. They all read from and write to the same place.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AgentTaskLog table schema is shown here. You'll create this table in the lab.
TaskLogId is the auto-generated primary key.
ParentTaskId links subtasks back to the parent orchestrator task. When the orchestrator delegates to three specialists, you'll have one parent record and three child records linked to it.
TaskType categorizes what kind of work is being done — Query, Create, Update, Analyse, or Report.
AssignedAgent records which specialist was delegated the task.
InputContext captures what the orchestrator sent to the specialist — the query, the context, any relevant parameters.
OutputResult captures what the specialist returned.
Status tracks the lifecycle: Pending (created but not started), In Progress, Completed, Failed, or Escalated.
StartTime and EndTime allow duration tracking for SLA monitoring.
This table is the backbone of multi-agent coordination. Every delegation, every result, every status change is captured here.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agent-as-tool pattern is the key mechanism for multi-agent coordination in Copilot Studio.
It's how the orchestrator actually invokes the specialist agents.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how the agent-as-tool pattern works with a concrete example.
Step 1: The user asks the orchestrator "Show me claims for high-risk customers." This is a cross-domain query that needs both the Customer Agent and Claims Agent.
Step 2: The orchestrator's generative orchestration analyses the request and determines it needs two specialists.
Step 3: First, it invokes the Customer Agent as a tool, asking for the list of high-risk customers.
Step 4: The Customer Agent queries Dataverse via MCP, finds the high-risk customers, and returns the list.
Step 5: Now the orchestrator has customer IDs. It invokes the Claims Agent as a tool, asking for claims for those specific customers.
Step 6: The Claims Agent queries Dataverse and returns the matching claims.
Step 7: Finally, the orchestrator synthesizes both results into a coherent response for the user.
The key insight: the specialist agents are treated exactly like other tools — like the MCP Server. The orchestrator invokes them when needed and uses their results.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six key principles for designing specialist agents.
Single Domain is the most important. Each specialist handles exactly one domain — not two, not "related" domains, one. The Claims Agent handles claims only.
Focused System Prompt means short, precise instructions covering only that domain. Critically, the prompt should explicitly refuse out-of-scope requests. If someone asks the Claims Agent about policies, it should say "I only handle claims — please ask about policies through the orchestrator."
Scoped Tools means MCP access is limited to domain-relevant tables. The Claims Agent might have full access to Claims but only read-only access to Customers (to look up customer names for claims).
Clear I/O Contract means well-defined inputs and outputs. The orchestrator needs to know exactly what to send and what to expect back.
Independent Testing means each specialist must be testable in isolation. You should test the Claims Agent thoroughly before ever adding it to the orchestrator.
Graceful Degradation means when something goes wrong — an error, a timeout, an unexpected query — the agent fails gracefully with a clear message, not a cryptic error.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project needs multiple agents. Here's how to decide.
Choose a single agent when you have only 1-2 business domains, the system prompt is manageable, a single team owns everything, governance is simple, most queries stay in one domain, and you need to move fast.
Choose multi-agent when you have 3+ distinct domains, the system prompt would be unwieldy, multiple teams need ownership of different parts, governance and audit requirements are strict, cross-domain queries are common, and different domains need to update independently.
For our Contoso Insurance scenario, multi-agent is appropriate: we have 4 distinct domains (claims, policies, customers, transactions), BFSI governance requires clear accountability, and cross-domain queries like "complete customer profile with all policies and claims" are common use cases.
The key is to match your architecture to your actual requirements — not to choose multi-agent just because it's more sophisticated.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summarize the key takeaways.
Multi-agent systems improve maintainability, testing, and governance by decomposing complexity.
Dataverse is the backbone — it's business data, coordination state, and audit trail all in one.
Hub-and-Spoke is the practical topology for Copilot Studio.
The agent-as-tool pattern is how orchestration actually works.
Specialist design principles ensure each agent does one thing well.
The AgentTaskLog is essential for compliance.
Know when to use multi-agent versus single-agent based on your actual requirements.
Cross-domain queries are where multi-agent really shines.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test your understanding with three quick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10 takes a different direction — you'll work with Claude Desktop and Power BI MCP.
This demonstrates that MCP is a universal protocol. The same patterns you learned for Dataverse MCP apply to Power BI MCP. You'll use Claude Desktop to prepare the semantic model that will power the dashboards in Module 11.
Keep your multi-agent system running — it will generate telemetry data that feeds those dashboards.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throughout Module 09: Multi-Agent Systems with Shared MCP Memory.
You now understand how to decompose complex BFSI operations into coordinated specialist agents. This is an advanced architecture pattern that you'll use in the capstone project.
Questions? Reach out during the lab or post in the Teams channel.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109728"/>
          </a:xfrm>
          <a:prstGeom prst="rect">
            <a:avLst/>
          </a:prstGeom>
          <a:solidFill>
            <a:srgbClr val="0891B2"/>
          </a:solidFill>
          <a:ln/>
        </p:spPr>
        <p:txBody>
          <a:bodyPr/>
          <a:lstStyle/>
          <a:p>
            <a:endParaRPr lang="en-IN"/>
          </a:p>
        </p:txBody>
      </p:sp>
      <p:sp>
        <p:nvSpPr>
          <p:cNvPr id="3" name="Shape 1"/>
          <p:cNvSpPr/>
          <p:nvPr/>
        </p:nvSpPr>
        <p:spPr>
          <a:xfrm>
            <a:off x="7315200" y="109728"/>
            <a:ext cx="1828800" cy="54864"/>
          </a:xfrm>
          <a:prstGeom prst="rect">
            <a:avLst/>
          </a:prstGeom>
          <a:solidFill>
            <a:srgbClr val="0E7490"/>
          </a:solidFill>
          <a:ln/>
        </p:spPr>
        <p:txBody>
          <a:bodyPr/>
          <a:lstStyle/>
          <a:p>
            <a:endParaRPr lang="en-IN"/>
          </a:p>
        </p:txBody>
      </p:sp>
      <p:sp>
        <p:nvSpPr>
          <p:cNvPr id="4" name="Text 2"/>
          <p:cNvSpPr/>
          <p:nvPr/>
        </p:nvSpPr>
        <p:spPr>
          <a:xfrm>
            <a:off x="375920" y="1023257"/>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MODULE 09</a:t>
            </a:r>
            <a:endParaRPr lang="en-US" sz="1300" dirty="0"/>
          </a:p>
        </p:txBody>
      </p:sp>
      <p:sp>
        <p:nvSpPr>
          <p:cNvPr id="5" name="Text 3"/>
          <p:cNvSpPr/>
          <p:nvPr/>
        </p:nvSpPr>
        <p:spPr>
          <a:xfrm>
            <a:off x="375920" y="1480457"/>
            <a:ext cx="6400800" cy="1280160"/>
          </a:xfrm>
          <a:prstGeom prst="rect">
            <a:avLst/>
          </a:prstGeom>
          <a:noFill/>
          <a:ln/>
        </p:spPr>
        <p:txBody>
          <a:bodyPr wrap="square" rtlCol="0" anchor="ctr"/>
          <a:lstStyle/>
          <a:p>
            <a:pPr marL="0" indent="0">
              <a:buNone/>
            </a:pPr>
            <a:r>
              <a:rPr lang="en-US" sz="3600" b="1" dirty="0">
                <a:solidFill>
                  <a:srgbClr val="FFFFFF"/>
                </a:solidFill>
                <a:latin typeface="Segoe UI" pitchFamily="34" charset="0"/>
                <a:ea typeface="Segoe UI" pitchFamily="34" charset="-122"/>
                <a:cs typeface="Segoe UI" pitchFamily="34" charset="-120"/>
              </a:rPr>
              <a:t>Multi-Agent Systems</a:t>
            </a:r>
            <a:endParaRPr lang="en-US" sz="3600" dirty="0"/>
          </a:p>
          <a:p>
            <a:pPr marL="0" indent="0">
              <a:buNone/>
            </a:pPr>
            <a:r>
              <a:rPr lang="en-US" sz="3600" b="1" dirty="0">
                <a:solidFill>
                  <a:srgbClr val="FFFFFF"/>
                </a:solidFill>
                <a:latin typeface="Segoe UI" pitchFamily="34" charset="0"/>
                <a:ea typeface="Segoe UI" pitchFamily="34" charset="-122"/>
                <a:cs typeface="Segoe UI" pitchFamily="34" charset="-120"/>
              </a:rPr>
              <a:t>with Shared MCP Memory</a:t>
            </a:r>
            <a:endParaRPr lang="en-US" sz="3600" dirty="0"/>
          </a:p>
        </p:txBody>
      </p:sp>
      <p:sp>
        <p:nvSpPr>
          <p:cNvPr id="6" name="Text 4"/>
          <p:cNvSpPr/>
          <p:nvPr/>
        </p:nvSpPr>
        <p:spPr>
          <a:xfrm>
            <a:off x="375920" y="2806337"/>
            <a:ext cx="6400800" cy="457200"/>
          </a:xfrm>
          <a:prstGeom prst="rect">
            <a:avLst/>
          </a:prstGeom>
          <a:noFill/>
          <a:ln/>
        </p:spPr>
        <p:txBody>
          <a:bodyPr wrap="square" rtlCol="0" anchor="ctr"/>
          <a:lstStyle/>
          <a:p>
            <a:pPr marL="0" indent="0">
              <a:buNone/>
            </a:pPr>
            <a:r>
              <a:rPr lang="en-US" sz="1800" dirty="0">
                <a:solidFill>
                  <a:srgbClr val="22D3EE"/>
                </a:solidFill>
                <a:latin typeface="Segoe UI" pitchFamily="34" charset="0"/>
                <a:ea typeface="Segoe UI" pitchFamily="34" charset="-122"/>
                <a:cs typeface="Segoe UI" pitchFamily="34" charset="-120"/>
              </a:rPr>
              <a:t>Coordinating Specialised Agents via Dataverse MCP</a:t>
            </a:r>
            <a:endParaRPr lang="en-US" sz="1800" dirty="0"/>
          </a:p>
        </p:txBody>
      </p:sp>
      <p:sp>
        <p:nvSpPr>
          <p:cNvPr id="7" name="Text 5"/>
          <p:cNvSpPr/>
          <p:nvPr/>
        </p:nvSpPr>
        <p:spPr>
          <a:xfrm>
            <a:off x="375920" y="3492137"/>
            <a:ext cx="5486400" cy="365760"/>
          </a:xfrm>
          <a:prstGeom prst="rect">
            <a:avLst/>
          </a:prstGeom>
          <a:noFill/>
          <a:ln/>
        </p:spPr>
        <p:txBody>
          <a:bodyPr wrap="square" rtlCol="0" anchor="ctr"/>
          <a:lstStyle/>
          <a:p>
            <a:pPr marL="0" indent="0">
              <a:buNone/>
            </a:pPr>
            <a:r>
              <a:rPr lang="en-US" sz="1400" dirty="0">
                <a:solidFill>
                  <a:srgbClr val="94A3B8"/>
                </a:solidFill>
                <a:latin typeface="Segoe UI" pitchFamily="34" charset="0"/>
                <a:ea typeface="Segoe UI" pitchFamily="34" charset="-122"/>
                <a:cs typeface="Segoe UI" pitchFamily="34" charset="-120"/>
              </a:rPr>
              <a:t>Agentic AI in Power Platform  |  3 Hours (1 Hour Theory + 2 Hours Lab)</a:t>
            </a:r>
            <a:endParaRPr lang="en-US" sz="1400" dirty="0"/>
          </a:p>
        </p:txBody>
      </p:sp>
      <p:sp>
        <p:nvSpPr>
          <p:cNvPr id="8" name="Text 6"/>
          <p:cNvSpPr/>
          <p:nvPr/>
        </p:nvSpPr>
        <p:spPr>
          <a:xfrm>
            <a:off x="375920" y="4772297"/>
            <a:ext cx="4572000" cy="274320"/>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CONFIDENTIAL – For Training Purposes Only</a:t>
            </a:r>
            <a:endParaRPr lang="en-US" sz="900" dirty="0"/>
          </a:p>
        </p:txBody>
      </p:sp>
      <p:sp>
        <p:nvSpPr>
          <p:cNvPr id="16" name="Text 19">
            <a:extLst>
              <a:ext uri="{FF2B5EF4-FFF2-40B4-BE49-F238E27FC236}">
                <a16:creationId xmlns:a16="http://schemas.microsoft.com/office/drawing/2014/main" id="{CECC8D9A-211F-7C0F-0CAB-55585E19BBCE}"/>
              </a:ext>
            </a:extLst>
          </p:cNvPr>
          <p:cNvSpPr/>
          <p:nvPr/>
        </p:nvSpPr>
        <p:spPr>
          <a:xfrm>
            <a:off x="7853680" y="4759452"/>
            <a:ext cx="91440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900" dirty="0">
                <a:solidFill>
                  <a:schemeClr val="bg1"/>
                </a:solidFill>
                <a:latin typeface="Segoe UI" pitchFamily="34" charset="0"/>
                <a:ea typeface="Segoe UI" pitchFamily="34" charset="-122"/>
                <a:cs typeface="Segoe UI" pitchFamily="34" charset="-120"/>
              </a:rPr>
              <a:t>1 / 28</a:t>
            </a:r>
            <a:endParaRPr lang="en-US" sz="9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640080"/>
          </a:xfrm>
          <a:prstGeom prst="rect">
            <a:avLst/>
          </a:prstGeom>
          <a:noFill/>
          <a:ln/>
        </p:spPr>
        <p:txBody>
          <a:bodyPr wrap="square" rtlCol="0" anchor="ctr"/>
          <a:lstStyle/>
          <a:p>
            <a:pPr marL="0" indent="0">
              <a:buNone/>
            </a:pPr>
            <a:r>
              <a:rPr lang="en-US" sz="3200" b="1" dirty="0">
                <a:solidFill>
                  <a:srgbClr val="1E293B"/>
                </a:solidFill>
                <a:latin typeface="Segoe UI" pitchFamily="34" charset="0"/>
                <a:ea typeface="Segoe UI" pitchFamily="34" charset="-122"/>
                <a:cs typeface="Segoe UI" pitchFamily="34" charset="-120"/>
              </a:rPr>
              <a:t>Module Overview</a:t>
            </a:r>
            <a:endParaRPr lang="en-US" sz="3200" dirty="0"/>
          </a:p>
        </p:txBody>
      </p:sp>
      <p:sp>
        <p:nvSpPr>
          <p:cNvPr id="4" name="Shape 2"/>
          <p:cNvSpPr/>
          <p:nvPr/>
        </p:nvSpPr>
        <p:spPr>
          <a:xfrm>
            <a:off x="640080" y="1051560"/>
            <a:ext cx="7863840" cy="1188720"/>
          </a:xfrm>
          <a:prstGeom prst="rect">
            <a:avLst/>
          </a:prstGeom>
          <a:solidFill>
            <a:srgbClr val="F1F5F9"/>
          </a:solidFill>
          <a:ln/>
        </p:spPr>
        <p:txBody>
          <a:bodyPr/>
          <a:lstStyle/>
          <a:p>
            <a:endParaRPr lang="en-IN"/>
          </a:p>
        </p:txBody>
      </p:sp>
      <p:sp>
        <p:nvSpPr>
          <p:cNvPr id="5" name="Shape 3"/>
          <p:cNvSpPr/>
          <p:nvPr/>
        </p:nvSpPr>
        <p:spPr>
          <a:xfrm>
            <a:off x="640080" y="1051560"/>
            <a:ext cx="73152" cy="1188720"/>
          </a:xfrm>
          <a:prstGeom prst="rect">
            <a:avLst/>
          </a:prstGeom>
          <a:solidFill>
            <a:srgbClr val="0891B2"/>
          </a:solidFill>
          <a:ln/>
        </p:spPr>
        <p:txBody>
          <a:bodyPr/>
          <a:lstStyle/>
          <a:p>
            <a:endParaRPr lang="en-IN"/>
          </a:p>
        </p:txBody>
      </p:sp>
      <p:sp>
        <p:nvSpPr>
          <p:cNvPr id="6" name="Text 4"/>
          <p:cNvSpPr/>
          <p:nvPr/>
        </p:nvSpPr>
        <p:spPr>
          <a:xfrm>
            <a:off x="1005840" y="1115568"/>
            <a:ext cx="7223760" cy="10515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In Modules 06–08 you built a single agent handling conversations, autonomous flows, and approvals. Real-world BFSI operations span multiple domains with their own expertise and rules. Encoding everything into a single agent creates a monolithic design that is difficult to maintain, test, and govern. Multi-agent systems solve this by decomposing complexity into specialised agents.</a:t>
            </a:r>
            <a:endParaRPr lang="en-US" sz="1300" dirty="0"/>
          </a:p>
        </p:txBody>
      </p:sp>
      <p:sp>
        <p:nvSpPr>
          <p:cNvPr id="7" name="Shape 5"/>
          <p:cNvSpPr/>
          <p:nvPr/>
        </p:nvSpPr>
        <p:spPr>
          <a:xfrm>
            <a:off x="640080" y="2468880"/>
            <a:ext cx="2468880" cy="2011680"/>
          </a:xfrm>
          <a:prstGeom prst="rect">
            <a:avLst/>
          </a:prstGeom>
          <a:solidFill>
            <a:srgbClr val="F1F5F9"/>
          </a:solidFill>
          <a:ln/>
        </p:spPr>
        <p:txBody>
          <a:bodyPr/>
          <a:lstStyle/>
          <a:p>
            <a:endParaRPr lang="en-IN"/>
          </a:p>
        </p:txBody>
      </p:sp>
      <p:sp>
        <p:nvSpPr>
          <p:cNvPr id="8" name="Text 6"/>
          <p:cNvSpPr/>
          <p:nvPr/>
        </p:nvSpPr>
        <p:spPr>
          <a:xfrm>
            <a:off x="868680" y="265176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9" name="Text 7"/>
          <p:cNvSpPr/>
          <p:nvPr/>
        </p:nvSpPr>
        <p:spPr>
          <a:xfrm>
            <a:off x="822960" y="310896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1 hr Theory</a:t>
            </a:r>
            <a:endParaRPr lang="en-US" sz="1400" dirty="0"/>
          </a:p>
        </p:txBody>
      </p:sp>
      <p:sp>
        <p:nvSpPr>
          <p:cNvPr id="10" name="Text 8"/>
          <p:cNvSpPr/>
          <p:nvPr/>
        </p:nvSpPr>
        <p:spPr>
          <a:xfrm>
            <a:off x="822960" y="3474720"/>
            <a:ext cx="2103120" cy="86868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Multi-agent architecture, topologies, shared memory patterns</a:t>
            </a:r>
            <a:endParaRPr lang="en-US" sz="1100" dirty="0"/>
          </a:p>
        </p:txBody>
      </p:sp>
      <p:sp>
        <p:nvSpPr>
          <p:cNvPr id="11" name="Shape 9"/>
          <p:cNvSpPr/>
          <p:nvPr/>
        </p:nvSpPr>
        <p:spPr>
          <a:xfrm>
            <a:off x="3383280" y="2468880"/>
            <a:ext cx="2468880" cy="2011680"/>
          </a:xfrm>
          <a:prstGeom prst="rect">
            <a:avLst/>
          </a:prstGeom>
          <a:solidFill>
            <a:srgbClr val="F1F5F9"/>
          </a:solidFill>
          <a:ln/>
        </p:spPr>
        <p:txBody>
          <a:bodyPr/>
          <a:lstStyle/>
          <a:p>
            <a:endParaRPr lang="en-IN"/>
          </a:p>
        </p:txBody>
      </p:sp>
      <p:sp>
        <p:nvSpPr>
          <p:cNvPr id="12" name="Text 10"/>
          <p:cNvSpPr/>
          <p:nvPr/>
        </p:nvSpPr>
        <p:spPr>
          <a:xfrm>
            <a:off x="3611880" y="265176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3" name="Text 11"/>
          <p:cNvSpPr/>
          <p:nvPr/>
        </p:nvSpPr>
        <p:spPr>
          <a:xfrm>
            <a:off x="3566160" y="310896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2 hrs Lab</a:t>
            </a:r>
            <a:endParaRPr lang="en-US" sz="1400" dirty="0"/>
          </a:p>
        </p:txBody>
      </p:sp>
      <p:sp>
        <p:nvSpPr>
          <p:cNvPr id="14" name="Text 12"/>
          <p:cNvSpPr/>
          <p:nvPr/>
        </p:nvSpPr>
        <p:spPr>
          <a:xfrm>
            <a:off x="3566160" y="3474720"/>
            <a:ext cx="2103120" cy="86868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Build orchestrator + 3 specialist agents with MCP coordination</a:t>
            </a:r>
            <a:endParaRPr lang="en-US" sz="1100" dirty="0"/>
          </a:p>
        </p:txBody>
      </p:sp>
      <p:sp>
        <p:nvSpPr>
          <p:cNvPr id="15" name="Shape 13"/>
          <p:cNvSpPr/>
          <p:nvPr/>
        </p:nvSpPr>
        <p:spPr>
          <a:xfrm>
            <a:off x="6126480" y="2468880"/>
            <a:ext cx="2468880" cy="2011680"/>
          </a:xfrm>
          <a:prstGeom prst="rect">
            <a:avLst/>
          </a:prstGeom>
          <a:solidFill>
            <a:srgbClr val="F1F5F9"/>
          </a:solidFill>
          <a:ln/>
        </p:spPr>
        <p:txBody>
          <a:bodyPr/>
          <a:lstStyle/>
          <a:p>
            <a:endParaRPr lang="en-IN"/>
          </a:p>
        </p:txBody>
      </p:sp>
      <p:sp>
        <p:nvSpPr>
          <p:cNvPr id="16" name="Text 14"/>
          <p:cNvSpPr/>
          <p:nvPr/>
        </p:nvSpPr>
        <p:spPr>
          <a:xfrm>
            <a:off x="6355080" y="265176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7" name="Text 15"/>
          <p:cNvSpPr/>
          <p:nvPr/>
        </p:nvSpPr>
        <p:spPr>
          <a:xfrm>
            <a:off x="6309360" y="310896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Outcome</a:t>
            </a:r>
            <a:endParaRPr lang="en-US" sz="1400" dirty="0"/>
          </a:p>
        </p:txBody>
      </p:sp>
      <p:sp>
        <p:nvSpPr>
          <p:cNvPr id="18" name="Text 16"/>
          <p:cNvSpPr/>
          <p:nvPr/>
        </p:nvSpPr>
        <p:spPr>
          <a:xfrm>
            <a:off x="6309360" y="3474720"/>
            <a:ext cx="2103120" cy="86868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Complete multi-agent BFSI system with cross-domain queries</a:t>
            </a:r>
            <a:endParaRPr lang="en-US" sz="1100" dirty="0"/>
          </a:p>
        </p:txBody>
      </p:sp>
      <p:sp>
        <p:nvSpPr>
          <p:cNvPr id="19" name="Shape 17"/>
          <p:cNvSpPr/>
          <p:nvPr/>
        </p:nvSpPr>
        <p:spPr>
          <a:xfrm>
            <a:off x="0" y="4846320"/>
            <a:ext cx="9144000" cy="297180"/>
          </a:xfrm>
          <a:prstGeom prst="rect">
            <a:avLst/>
          </a:prstGeom>
          <a:solidFill>
            <a:srgbClr val="F1F5F9"/>
          </a:solidFill>
          <a:ln/>
        </p:spPr>
        <p:txBody>
          <a:bodyPr/>
          <a:lstStyle/>
          <a:p>
            <a:endParaRPr lang="en-IN"/>
          </a:p>
        </p:txBody>
      </p:sp>
      <p:sp>
        <p:nvSpPr>
          <p:cNvPr id="20" name="Text 1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09</a:t>
            </a:r>
            <a:endParaRPr lang="en-US" sz="800" dirty="0"/>
          </a:p>
        </p:txBody>
      </p:sp>
      <p:sp>
        <p:nvSpPr>
          <p:cNvPr id="21" name="Text 19"/>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 / 28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640080"/>
          </a:xfrm>
          <a:prstGeom prst="rect">
            <a:avLst/>
          </a:prstGeom>
          <a:noFill/>
          <a:ln/>
        </p:spPr>
        <p:txBody>
          <a:bodyPr wrap="square" rtlCol="0" anchor="ctr"/>
          <a:lstStyle/>
          <a:p>
            <a:pPr marL="0" indent="0">
              <a:buNone/>
            </a:pPr>
            <a:r>
              <a:rPr lang="en-US" sz="3200" b="1" dirty="0">
                <a:solidFill>
                  <a:srgbClr val="1E293B"/>
                </a:solidFill>
                <a:latin typeface="Segoe UI" pitchFamily="34" charset="0"/>
                <a:ea typeface="Segoe UI" pitchFamily="34" charset="-122"/>
                <a:cs typeface="Segoe UI" pitchFamily="34" charset="-120"/>
              </a:rPr>
              <a:t>Learning Objectives (1/2)</a:t>
            </a:r>
            <a:endParaRPr lang="en-US" sz="3200" dirty="0"/>
          </a:p>
        </p:txBody>
      </p:sp>
      <p:sp>
        <p:nvSpPr>
          <p:cNvPr id="4" name="Shape 2"/>
          <p:cNvSpPr/>
          <p:nvPr/>
        </p:nvSpPr>
        <p:spPr>
          <a:xfrm>
            <a:off x="640080" y="1051560"/>
            <a:ext cx="7863840" cy="594360"/>
          </a:xfrm>
          <a:prstGeom prst="rect">
            <a:avLst/>
          </a:prstGeom>
          <a:solidFill>
            <a:srgbClr val="F1F5F9"/>
          </a:solidFill>
          <a:ln/>
        </p:spPr>
        <p:txBody>
          <a:bodyPr/>
          <a:lstStyle/>
          <a:p>
            <a:endParaRPr lang="en-IN"/>
          </a:p>
        </p:txBody>
      </p:sp>
      <p:sp>
        <p:nvSpPr>
          <p:cNvPr id="5" name="Text 3"/>
          <p:cNvSpPr/>
          <p:nvPr/>
        </p:nvSpPr>
        <p:spPr>
          <a:xfrm>
            <a:off x="777240" y="11887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01</a:t>
            </a:r>
            <a:endParaRPr lang="en-US" sz="1300" dirty="0"/>
          </a:p>
        </p:txBody>
      </p:sp>
      <p:sp>
        <p:nvSpPr>
          <p:cNvPr id="6" name="Text 4"/>
          <p:cNvSpPr/>
          <p:nvPr/>
        </p:nvSpPr>
        <p:spPr>
          <a:xfrm>
            <a:off x="1325880" y="11612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Explain multi-agent system architecture: orchestrator agents, specialist agents, and coordination patterns between them</a:t>
            </a:r>
            <a:endParaRPr lang="en-US" sz="1200" dirty="0"/>
          </a:p>
        </p:txBody>
      </p:sp>
      <p:sp>
        <p:nvSpPr>
          <p:cNvPr id="7" name="Shape 5"/>
          <p:cNvSpPr/>
          <p:nvPr/>
        </p:nvSpPr>
        <p:spPr>
          <a:xfrm>
            <a:off x="640080" y="1737360"/>
            <a:ext cx="7863840" cy="594360"/>
          </a:xfrm>
          <a:prstGeom prst="rect">
            <a:avLst/>
          </a:prstGeom>
          <a:solidFill>
            <a:srgbClr val="F1F5F9"/>
          </a:solidFill>
          <a:ln/>
        </p:spPr>
        <p:txBody>
          <a:bodyPr/>
          <a:lstStyle/>
          <a:p>
            <a:endParaRPr lang="en-IN"/>
          </a:p>
        </p:txBody>
      </p:sp>
      <p:sp>
        <p:nvSpPr>
          <p:cNvPr id="8" name="Text 6"/>
          <p:cNvSpPr/>
          <p:nvPr/>
        </p:nvSpPr>
        <p:spPr>
          <a:xfrm>
            <a:off x="777240" y="18745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02</a:t>
            </a:r>
            <a:endParaRPr lang="en-US" sz="1300" dirty="0"/>
          </a:p>
        </p:txBody>
      </p:sp>
      <p:sp>
        <p:nvSpPr>
          <p:cNvPr id="9" name="Text 7"/>
          <p:cNvSpPr/>
          <p:nvPr/>
        </p:nvSpPr>
        <p:spPr>
          <a:xfrm>
            <a:off x="1325880" y="18470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Describe Dataverse as shared MCP memory: how multiple agents read/write the same tables to share state and maintain audit trails</a:t>
            </a:r>
            <a:endParaRPr lang="en-US" sz="1200" dirty="0"/>
          </a:p>
        </p:txBody>
      </p:sp>
      <p:sp>
        <p:nvSpPr>
          <p:cNvPr id="10" name="Shape 8"/>
          <p:cNvSpPr/>
          <p:nvPr/>
        </p:nvSpPr>
        <p:spPr>
          <a:xfrm>
            <a:off x="640080" y="2423160"/>
            <a:ext cx="7863840" cy="594360"/>
          </a:xfrm>
          <a:prstGeom prst="rect">
            <a:avLst/>
          </a:prstGeom>
          <a:solidFill>
            <a:srgbClr val="F1F5F9"/>
          </a:solidFill>
          <a:ln/>
        </p:spPr>
        <p:txBody>
          <a:bodyPr/>
          <a:lstStyle/>
          <a:p>
            <a:endParaRPr lang="en-IN"/>
          </a:p>
        </p:txBody>
      </p:sp>
      <p:sp>
        <p:nvSpPr>
          <p:cNvPr id="11" name="Text 9"/>
          <p:cNvSpPr/>
          <p:nvPr/>
        </p:nvSpPr>
        <p:spPr>
          <a:xfrm>
            <a:off x="777240" y="25603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03</a:t>
            </a:r>
            <a:endParaRPr lang="en-US" sz="1300" dirty="0"/>
          </a:p>
        </p:txBody>
      </p:sp>
      <p:sp>
        <p:nvSpPr>
          <p:cNvPr id="12" name="Text 10"/>
          <p:cNvSpPr/>
          <p:nvPr/>
        </p:nvSpPr>
        <p:spPr>
          <a:xfrm>
            <a:off x="1325880" y="25328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Compare multi-agent topologies: hub-and-spoke, pipeline, peer-to-peer, and hierarchical — and select the appropriate topology</a:t>
            </a:r>
            <a:endParaRPr lang="en-US" sz="1200" dirty="0"/>
          </a:p>
        </p:txBody>
      </p:sp>
      <p:sp>
        <p:nvSpPr>
          <p:cNvPr id="13" name="Shape 11"/>
          <p:cNvSpPr/>
          <p:nvPr/>
        </p:nvSpPr>
        <p:spPr>
          <a:xfrm>
            <a:off x="640080" y="3108960"/>
            <a:ext cx="7863840" cy="594360"/>
          </a:xfrm>
          <a:prstGeom prst="rect">
            <a:avLst/>
          </a:prstGeom>
          <a:solidFill>
            <a:srgbClr val="F1F5F9"/>
          </a:solidFill>
          <a:ln/>
        </p:spPr>
        <p:txBody>
          <a:bodyPr/>
          <a:lstStyle/>
          <a:p>
            <a:endParaRPr lang="en-IN"/>
          </a:p>
        </p:txBody>
      </p:sp>
      <p:sp>
        <p:nvSpPr>
          <p:cNvPr id="14" name="Text 12"/>
          <p:cNvSpPr/>
          <p:nvPr/>
        </p:nvSpPr>
        <p:spPr>
          <a:xfrm>
            <a:off x="777240" y="32461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04</a:t>
            </a:r>
            <a:endParaRPr lang="en-US" sz="1300" dirty="0"/>
          </a:p>
        </p:txBody>
      </p:sp>
      <p:sp>
        <p:nvSpPr>
          <p:cNvPr id="15" name="Text 13"/>
          <p:cNvSpPr/>
          <p:nvPr/>
        </p:nvSpPr>
        <p:spPr>
          <a:xfrm>
            <a:off x="1325880" y="32186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Build a parent orchestrator agent that routes user requests to specialised child agents using agent-level tools</a:t>
            </a:r>
            <a:endParaRPr lang="en-US" sz="1200" dirty="0"/>
          </a:p>
        </p:txBody>
      </p:sp>
      <p:sp>
        <p:nvSpPr>
          <p:cNvPr id="16" name="Shape 14"/>
          <p:cNvSpPr/>
          <p:nvPr/>
        </p:nvSpPr>
        <p:spPr>
          <a:xfrm>
            <a:off x="640080" y="3794760"/>
            <a:ext cx="7863840" cy="594360"/>
          </a:xfrm>
          <a:prstGeom prst="rect">
            <a:avLst/>
          </a:prstGeom>
          <a:solidFill>
            <a:srgbClr val="F1F5F9"/>
          </a:solidFill>
          <a:ln/>
        </p:spPr>
        <p:txBody>
          <a:bodyPr/>
          <a:lstStyle/>
          <a:p>
            <a:endParaRPr lang="en-IN"/>
          </a:p>
        </p:txBody>
      </p:sp>
      <p:sp>
        <p:nvSpPr>
          <p:cNvPr id="17" name="Text 15"/>
          <p:cNvSpPr/>
          <p:nvPr/>
        </p:nvSpPr>
        <p:spPr>
          <a:xfrm>
            <a:off x="777240" y="39319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05</a:t>
            </a:r>
            <a:endParaRPr lang="en-US" sz="1300" dirty="0"/>
          </a:p>
        </p:txBody>
      </p:sp>
      <p:sp>
        <p:nvSpPr>
          <p:cNvPr id="18" name="Text 16"/>
          <p:cNvSpPr/>
          <p:nvPr/>
        </p:nvSpPr>
        <p:spPr>
          <a:xfrm>
            <a:off x="1325880" y="39044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Build three specialised child agents: Claims Agent, Policy Agent, and Customer Agent with focused system prompts</a:t>
            </a:r>
            <a:endParaRPr lang="en-US" sz="1200" dirty="0"/>
          </a:p>
        </p:txBody>
      </p:sp>
      <p:sp>
        <p:nvSpPr>
          <p:cNvPr id="19" name="Shape 17"/>
          <p:cNvSpPr/>
          <p:nvPr/>
        </p:nvSpPr>
        <p:spPr>
          <a:xfrm>
            <a:off x="0" y="4846320"/>
            <a:ext cx="9144000" cy="297180"/>
          </a:xfrm>
          <a:prstGeom prst="rect">
            <a:avLst/>
          </a:prstGeom>
          <a:solidFill>
            <a:srgbClr val="F1F5F9"/>
          </a:solidFill>
          <a:ln/>
        </p:spPr>
        <p:txBody>
          <a:bodyPr/>
          <a:lstStyle/>
          <a:p>
            <a:endParaRPr lang="en-IN"/>
          </a:p>
        </p:txBody>
      </p:sp>
      <p:sp>
        <p:nvSpPr>
          <p:cNvPr id="20" name="Text 1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09</a:t>
            </a:r>
            <a:endParaRPr lang="en-US" sz="800" dirty="0"/>
          </a:p>
        </p:txBody>
      </p:sp>
      <p:sp>
        <p:nvSpPr>
          <p:cNvPr id="21" name="Text 19"/>
          <p:cNvSpPr/>
          <p:nvPr/>
        </p:nvSpPr>
        <p:spPr>
          <a:xfrm>
            <a:off x="7955280" y="482346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3 / 28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640080"/>
          </a:xfrm>
          <a:prstGeom prst="rect">
            <a:avLst/>
          </a:prstGeom>
          <a:noFill/>
          <a:ln/>
        </p:spPr>
        <p:txBody>
          <a:bodyPr wrap="square" rtlCol="0" anchor="ctr"/>
          <a:lstStyle/>
          <a:p>
            <a:pPr marL="0" indent="0">
              <a:buNone/>
            </a:pPr>
            <a:r>
              <a:rPr lang="en-US" sz="3200" b="1" dirty="0">
                <a:solidFill>
                  <a:srgbClr val="1E293B"/>
                </a:solidFill>
                <a:latin typeface="Segoe UI" pitchFamily="34" charset="0"/>
                <a:ea typeface="Segoe UI" pitchFamily="34" charset="-122"/>
                <a:cs typeface="Segoe UI" pitchFamily="34" charset="-120"/>
              </a:rPr>
              <a:t>Learning Objectives (2/2)</a:t>
            </a:r>
            <a:endParaRPr lang="en-US" sz="3200" dirty="0"/>
          </a:p>
        </p:txBody>
      </p:sp>
      <p:sp>
        <p:nvSpPr>
          <p:cNvPr id="4" name="Shape 2"/>
          <p:cNvSpPr/>
          <p:nvPr/>
        </p:nvSpPr>
        <p:spPr>
          <a:xfrm>
            <a:off x="640080" y="1051560"/>
            <a:ext cx="7863840" cy="594360"/>
          </a:xfrm>
          <a:prstGeom prst="rect">
            <a:avLst/>
          </a:prstGeom>
          <a:solidFill>
            <a:srgbClr val="F1F5F9"/>
          </a:solidFill>
          <a:ln/>
        </p:spPr>
        <p:txBody>
          <a:bodyPr/>
          <a:lstStyle/>
          <a:p>
            <a:endParaRPr lang="en-IN"/>
          </a:p>
        </p:txBody>
      </p:sp>
      <p:sp>
        <p:nvSpPr>
          <p:cNvPr id="5" name="Text 3"/>
          <p:cNvSpPr/>
          <p:nvPr/>
        </p:nvSpPr>
        <p:spPr>
          <a:xfrm>
            <a:off x="777240" y="11887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06</a:t>
            </a:r>
            <a:endParaRPr lang="en-US" sz="1300" dirty="0"/>
          </a:p>
        </p:txBody>
      </p:sp>
      <p:sp>
        <p:nvSpPr>
          <p:cNvPr id="6" name="Text 4"/>
          <p:cNvSpPr/>
          <p:nvPr/>
        </p:nvSpPr>
        <p:spPr>
          <a:xfrm>
            <a:off x="1325880" y="11612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Create a Dataverse coordination table (AgentTaskLog) that serves as shared memory and communication channel between agents</a:t>
            </a:r>
            <a:endParaRPr lang="en-US" sz="1200" dirty="0"/>
          </a:p>
        </p:txBody>
      </p:sp>
      <p:sp>
        <p:nvSpPr>
          <p:cNvPr id="7" name="Shape 5"/>
          <p:cNvSpPr/>
          <p:nvPr/>
        </p:nvSpPr>
        <p:spPr>
          <a:xfrm>
            <a:off x="640080" y="1737360"/>
            <a:ext cx="7863840" cy="594360"/>
          </a:xfrm>
          <a:prstGeom prst="rect">
            <a:avLst/>
          </a:prstGeom>
          <a:solidFill>
            <a:srgbClr val="F1F5F9"/>
          </a:solidFill>
          <a:ln/>
        </p:spPr>
        <p:txBody>
          <a:bodyPr/>
          <a:lstStyle/>
          <a:p>
            <a:endParaRPr lang="en-IN"/>
          </a:p>
        </p:txBody>
      </p:sp>
      <p:sp>
        <p:nvSpPr>
          <p:cNvPr id="8" name="Text 6"/>
          <p:cNvSpPr/>
          <p:nvPr/>
        </p:nvSpPr>
        <p:spPr>
          <a:xfrm>
            <a:off x="777240" y="18745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07</a:t>
            </a:r>
            <a:endParaRPr lang="en-US" sz="1300" dirty="0"/>
          </a:p>
        </p:txBody>
      </p:sp>
      <p:sp>
        <p:nvSpPr>
          <p:cNvPr id="9" name="Text 7"/>
          <p:cNvSpPr/>
          <p:nvPr/>
        </p:nvSpPr>
        <p:spPr>
          <a:xfrm>
            <a:off x="1325880" y="18470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Implement the agent-as-tool pattern: adding one agent as a tool inside another so the orchestrator can invoke specialists</a:t>
            </a:r>
            <a:endParaRPr lang="en-US" sz="1200" dirty="0"/>
          </a:p>
        </p:txBody>
      </p:sp>
      <p:sp>
        <p:nvSpPr>
          <p:cNvPr id="10" name="Shape 8"/>
          <p:cNvSpPr/>
          <p:nvPr/>
        </p:nvSpPr>
        <p:spPr>
          <a:xfrm>
            <a:off x="640080" y="2423160"/>
            <a:ext cx="7863840" cy="594360"/>
          </a:xfrm>
          <a:prstGeom prst="rect">
            <a:avLst/>
          </a:prstGeom>
          <a:solidFill>
            <a:srgbClr val="F1F5F9"/>
          </a:solidFill>
          <a:ln/>
        </p:spPr>
        <p:txBody>
          <a:bodyPr/>
          <a:lstStyle/>
          <a:p>
            <a:endParaRPr lang="en-IN"/>
          </a:p>
        </p:txBody>
      </p:sp>
      <p:sp>
        <p:nvSpPr>
          <p:cNvPr id="11" name="Text 9"/>
          <p:cNvSpPr/>
          <p:nvPr/>
        </p:nvSpPr>
        <p:spPr>
          <a:xfrm>
            <a:off x="777240" y="25603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08</a:t>
            </a:r>
            <a:endParaRPr lang="en-US" sz="1300" dirty="0"/>
          </a:p>
        </p:txBody>
      </p:sp>
      <p:sp>
        <p:nvSpPr>
          <p:cNvPr id="12" name="Text 10"/>
          <p:cNvSpPr/>
          <p:nvPr/>
        </p:nvSpPr>
        <p:spPr>
          <a:xfrm>
            <a:off x="1325880" y="25328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Test multi-agent scenarios with cross-domain queries requiring coordination between two or more specialist agents</a:t>
            </a:r>
            <a:endParaRPr lang="en-US" sz="1200" dirty="0"/>
          </a:p>
        </p:txBody>
      </p:sp>
      <p:sp>
        <p:nvSpPr>
          <p:cNvPr id="13" name="Shape 11"/>
          <p:cNvSpPr/>
          <p:nvPr/>
        </p:nvSpPr>
        <p:spPr>
          <a:xfrm>
            <a:off x="640080" y="3108960"/>
            <a:ext cx="7863840" cy="594360"/>
          </a:xfrm>
          <a:prstGeom prst="rect">
            <a:avLst/>
          </a:prstGeom>
          <a:solidFill>
            <a:srgbClr val="F1F5F9"/>
          </a:solidFill>
          <a:ln/>
        </p:spPr>
        <p:txBody>
          <a:bodyPr/>
          <a:lstStyle/>
          <a:p>
            <a:endParaRPr lang="en-IN"/>
          </a:p>
        </p:txBody>
      </p:sp>
      <p:sp>
        <p:nvSpPr>
          <p:cNvPr id="14" name="Text 12"/>
          <p:cNvSpPr/>
          <p:nvPr/>
        </p:nvSpPr>
        <p:spPr>
          <a:xfrm>
            <a:off x="777240" y="32461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09</a:t>
            </a:r>
            <a:endParaRPr lang="en-US" sz="1300" dirty="0"/>
          </a:p>
        </p:txBody>
      </p:sp>
      <p:sp>
        <p:nvSpPr>
          <p:cNvPr id="15" name="Text 13"/>
          <p:cNvSpPr/>
          <p:nvPr/>
        </p:nvSpPr>
        <p:spPr>
          <a:xfrm>
            <a:off x="1325880" y="32186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Apply governance principles to multi-agent systems: agent boundaries, data access scoping, and audit logging</a:t>
            </a:r>
            <a:endParaRPr lang="en-US" sz="1200" dirty="0"/>
          </a:p>
        </p:txBody>
      </p:sp>
      <p:sp>
        <p:nvSpPr>
          <p:cNvPr id="16" name="Shape 14"/>
          <p:cNvSpPr/>
          <p:nvPr/>
        </p:nvSpPr>
        <p:spPr>
          <a:xfrm>
            <a:off x="640080" y="3794760"/>
            <a:ext cx="7863840" cy="594360"/>
          </a:xfrm>
          <a:prstGeom prst="rect">
            <a:avLst/>
          </a:prstGeom>
          <a:solidFill>
            <a:srgbClr val="F1F5F9"/>
          </a:solidFill>
          <a:ln/>
        </p:spPr>
        <p:txBody>
          <a:bodyPr/>
          <a:lstStyle/>
          <a:p>
            <a:endParaRPr lang="en-IN"/>
          </a:p>
        </p:txBody>
      </p:sp>
      <p:sp>
        <p:nvSpPr>
          <p:cNvPr id="17" name="Text 15"/>
          <p:cNvSpPr/>
          <p:nvPr/>
        </p:nvSpPr>
        <p:spPr>
          <a:xfrm>
            <a:off x="777240" y="39319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010</a:t>
            </a:r>
            <a:endParaRPr lang="en-US" sz="1300" dirty="0"/>
          </a:p>
        </p:txBody>
      </p:sp>
      <p:sp>
        <p:nvSpPr>
          <p:cNvPr id="18" name="Text 16"/>
          <p:cNvSpPr/>
          <p:nvPr/>
        </p:nvSpPr>
        <p:spPr>
          <a:xfrm>
            <a:off x="1325880" y="39044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Evaluate when to use multi-agent architecture versus a single agent with multiple topics</a:t>
            </a:r>
            <a:endParaRPr lang="en-US" sz="1200" dirty="0"/>
          </a:p>
        </p:txBody>
      </p:sp>
      <p:sp>
        <p:nvSpPr>
          <p:cNvPr id="19" name="Shape 17"/>
          <p:cNvSpPr/>
          <p:nvPr/>
        </p:nvSpPr>
        <p:spPr>
          <a:xfrm>
            <a:off x="0" y="4846320"/>
            <a:ext cx="9144000" cy="297180"/>
          </a:xfrm>
          <a:prstGeom prst="rect">
            <a:avLst/>
          </a:prstGeom>
          <a:solidFill>
            <a:srgbClr val="F1F5F9"/>
          </a:solidFill>
          <a:ln/>
        </p:spPr>
        <p:txBody>
          <a:bodyPr/>
          <a:lstStyle/>
          <a:p>
            <a:endParaRPr lang="en-IN"/>
          </a:p>
        </p:txBody>
      </p:sp>
      <p:sp>
        <p:nvSpPr>
          <p:cNvPr id="20" name="Text 1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09</a:t>
            </a:r>
            <a:endParaRPr lang="en-US" sz="800" dirty="0"/>
          </a:p>
        </p:txBody>
      </p:sp>
      <p:sp>
        <p:nvSpPr>
          <p:cNvPr id="21" name="Text 19"/>
          <p:cNvSpPr/>
          <p:nvPr/>
        </p:nvSpPr>
        <p:spPr>
          <a:xfrm>
            <a:off x="7957457" y="482600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4 / 28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Module Structure</a:t>
            </a:r>
            <a:endParaRPr lang="en-US" sz="3000" dirty="0"/>
          </a:p>
        </p:txBody>
      </p:sp>
      <p:sp>
        <p:nvSpPr>
          <p:cNvPr id="4" name="Shape 2"/>
          <p:cNvSpPr/>
          <p:nvPr/>
        </p:nvSpPr>
        <p:spPr>
          <a:xfrm>
            <a:off x="640080" y="1005840"/>
            <a:ext cx="3840480" cy="1645920"/>
          </a:xfrm>
          <a:prstGeom prst="rect">
            <a:avLst/>
          </a:prstGeom>
          <a:solidFill>
            <a:srgbClr val="F1F5F9"/>
          </a:solidFill>
          <a:ln/>
        </p:spPr>
        <p:txBody>
          <a:bodyPr/>
          <a:lstStyle/>
          <a:p>
            <a:endParaRPr lang="en-IN"/>
          </a:p>
        </p:txBody>
      </p:sp>
      <p:sp>
        <p:nvSpPr>
          <p:cNvPr id="5" name="Shape 3"/>
          <p:cNvSpPr/>
          <p:nvPr/>
        </p:nvSpPr>
        <p:spPr>
          <a:xfrm>
            <a:off x="640080" y="1005840"/>
            <a:ext cx="73152" cy="1645920"/>
          </a:xfrm>
          <a:prstGeom prst="rect">
            <a:avLst/>
          </a:prstGeom>
          <a:solidFill>
            <a:srgbClr val="0891B2"/>
          </a:solidFill>
          <a:ln/>
        </p:spPr>
        <p:txBody>
          <a:bodyPr/>
          <a:lstStyle/>
          <a:p>
            <a:endParaRPr lang="en-IN"/>
          </a:p>
        </p:txBody>
      </p:sp>
      <p:sp>
        <p:nvSpPr>
          <p:cNvPr id="6" name="Text 4"/>
          <p:cNvSpPr/>
          <p:nvPr/>
        </p:nvSpPr>
        <p:spPr>
          <a:xfrm>
            <a:off x="868680" y="1097280"/>
            <a:ext cx="914400" cy="274320"/>
          </a:xfrm>
          <a:prstGeom prst="rect">
            <a:avLst/>
          </a:prstGeom>
          <a:noFill/>
          <a:ln/>
        </p:spPr>
        <p:txBody>
          <a:bodyPr wrap="square" rtlCol="0" anchor="ctr"/>
          <a:lstStyle/>
          <a:p>
            <a:pPr marL="0" indent="0">
              <a:buNone/>
            </a:pPr>
            <a:r>
              <a:rPr lang="en-US" sz="1000" b="1" dirty="0">
                <a:solidFill>
                  <a:srgbClr val="0891B2"/>
                </a:solidFill>
                <a:latin typeface="Segoe UI" pitchFamily="34" charset="0"/>
                <a:ea typeface="Segoe UI" pitchFamily="34" charset="-122"/>
                <a:cs typeface="Segoe UI" pitchFamily="34" charset="-120"/>
              </a:rPr>
              <a:t>PART A</a:t>
            </a:r>
            <a:endParaRPr lang="en-US" sz="1000" dirty="0"/>
          </a:p>
        </p:txBody>
      </p:sp>
      <p:sp>
        <p:nvSpPr>
          <p:cNvPr id="7" name="Text 5"/>
          <p:cNvSpPr/>
          <p:nvPr/>
        </p:nvSpPr>
        <p:spPr>
          <a:xfrm>
            <a:off x="868680" y="1371600"/>
            <a:ext cx="3474720" cy="365760"/>
          </a:xfrm>
          <a:prstGeom prst="rect">
            <a:avLst/>
          </a:prstGeom>
          <a:noFill/>
          <a:ln/>
        </p:spPr>
        <p:txBody>
          <a:bodyPr wrap="square" rtlCol="0" anchor="ctr"/>
          <a:lstStyle/>
          <a:p>
            <a:pPr marL="0" indent="0">
              <a:buNone/>
            </a:pPr>
            <a:r>
              <a:rPr lang="en-US" sz="1800" b="1" dirty="0">
                <a:solidFill>
                  <a:srgbClr val="1E293B"/>
                </a:solidFill>
                <a:latin typeface="Segoe UI" pitchFamily="34" charset="0"/>
                <a:ea typeface="Segoe UI" pitchFamily="34" charset="-122"/>
                <a:cs typeface="Segoe UI" pitchFamily="34" charset="-120"/>
              </a:rPr>
              <a:t>Theory</a:t>
            </a:r>
            <a:endParaRPr lang="en-US" sz="1800" dirty="0"/>
          </a:p>
        </p:txBody>
      </p:sp>
      <p:sp>
        <p:nvSpPr>
          <p:cNvPr id="8" name="Text 6"/>
          <p:cNvSpPr/>
          <p:nvPr/>
        </p:nvSpPr>
        <p:spPr>
          <a:xfrm>
            <a:off x="868680" y="1737360"/>
            <a:ext cx="3474720" cy="54864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Multi-Agent Architecture, Topologies &amp; Shared Memory Patterns</a:t>
            </a:r>
            <a:endParaRPr lang="en-US" sz="1100" dirty="0"/>
          </a:p>
        </p:txBody>
      </p:sp>
      <p:sp>
        <p:nvSpPr>
          <p:cNvPr id="9" name="Shape 7"/>
          <p:cNvSpPr/>
          <p:nvPr/>
        </p:nvSpPr>
        <p:spPr>
          <a:xfrm>
            <a:off x="868680" y="2331720"/>
            <a:ext cx="1097280" cy="228600"/>
          </a:xfrm>
          <a:prstGeom prst="rect">
            <a:avLst/>
          </a:prstGeom>
          <a:solidFill>
            <a:srgbClr val="0891B2"/>
          </a:solidFill>
          <a:ln/>
        </p:spPr>
        <p:txBody>
          <a:bodyPr/>
          <a:lstStyle/>
          <a:p>
            <a:endParaRPr lang="en-IN"/>
          </a:p>
        </p:txBody>
      </p:sp>
      <p:sp>
        <p:nvSpPr>
          <p:cNvPr id="10" name="Text 8"/>
          <p:cNvSpPr/>
          <p:nvPr/>
        </p:nvSpPr>
        <p:spPr>
          <a:xfrm>
            <a:off x="868680" y="2331720"/>
            <a:ext cx="1097280" cy="228600"/>
          </a:xfrm>
          <a:prstGeom prst="rect">
            <a:avLst/>
          </a:prstGeom>
          <a:noFill/>
          <a:ln/>
        </p:spPr>
        <p:txBody>
          <a:bodyPr wrap="square"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1 Hour</a:t>
            </a:r>
            <a:endParaRPr lang="en-US" sz="1000" dirty="0"/>
          </a:p>
        </p:txBody>
      </p:sp>
      <p:sp>
        <p:nvSpPr>
          <p:cNvPr id="11" name="Shape 9"/>
          <p:cNvSpPr/>
          <p:nvPr/>
        </p:nvSpPr>
        <p:spPr>
          <a:xfrm>
            <a:off x="4663440" y="1005840"/>
            <a:ext cx="3840480" cy="1645920"/>
          </a:xfrm>
          <a:prstGeom prst="rect">
            <a:avLst/>
          </a:prstGeom>
          <a:solidFill>
            <a:srgbClr val="F1F5F9"/>
          </a:solidFill>
          <a:ln/>
        </p:spPr>
        <p:txBody>
          <a:bodyPr/>
          <a:lstStyle/>
          <a:p>
            <a:endParaRPr lang="en-IN"/>
          </a:p>
        </p:txBody>
      </p:sp>
      <p:sp>
        <p:nvSpPr>
          <p:cNvPr id="12" name="Shape 10"/>
          <p:cNvSpPr/>
          <p:nvPr/>
        </p:nvSpPr>
        <p:spPr>
          <a:xfrm>
            <a:off x="4663440" y="1005840"/>
            <a:ext cx="73152" cy="1645920"/>
          </a:xfrm>
          <a:prstGeom prst="rect">
            <a:avLst/>
          </a:prstGeom>
          <a:solidFill>
            <a:srgbClr val="F59E0B"/>
          </a:solidFill>
          <a:ln/>
        </p:spPr>
        <p:txBody>
          <a:bodyPr/>
          <a:lstStyle/>
          <a:p>
            <a:endParaRPr lang="en-IN"/>
          </a:p>
        </p:txBody>
      </p:sp>
      <p:sp>
        <p:nvSpPr>
          <p:cNvPr id="13" name="Text 11"/>
          <p:cNvSpPr/>
          <p:nvPr/>
        </p:nvSpPr>
        <p:spPr>
          <a:xfrm>
            <a:off x="4892040" y="1097280"/>
            <a:ext cx="914400" cy="274320"/>
          </a:xfrm>
          <a:prstGeom prst="rect">
            <a:avLst/>
          </a:prstGeom>
          <a:noFill/>
          <a:ln/>
        </p:spPr>
        <p:txBody>
          <a:bodyPr wrap="square" rtlCol="0" anchor="ctr"/>
          <a:lstStyle/>
          <a:p>
            <a:pPr marL="0" indent="0">
              <a:buNone/>
            </a:pPr>
            <a:r>
              <a:rPr lang="en-US" sz="1000" b="1" dirty="0">
                <a:solidFill>
                  <a:srgbClr val="F59E0B"/>
                </a:solidFill>
                <a:latin typeface="Segoe UI" pitchFamily="34" charset="0"/>
                <a:ea typeface="Segoe UI" pitchFamily="34" charset="-122"/>
                <a:cs typeface="Segoe UI" pitchFamily="34" charset="-120"/>
              </a:rPr>
              <a:t>PART B</a:t>
            </a:r>
            <a:endParaRPr lang="en-US" sz="1000" dirty="0"/>
          </a:p>
        </p:txBody>
      </p:sp>
      <p:sp>
        <p:nvSpPr>
          <p:cNvPr id="14" name="Text 12"/>
          <p:cNvSpPr/>
          <p:nvPr/>
        </p:nvSpPr>
        <p:spPr>
          <a:xfrm>
            <a:off x="4892040" y="1371600"/>
            <a:ext cx="3474720" cy="365760"/>
          </a:xfrm>
          <a:prstGeom prst="rect">
            <a:avLst/>
          </a:prstGeom>
          <a:noFill/>
          <a:ln/>
        </p:spPr>
        <p:txBody>
          <a:bodyPr wrap="square" rtlCol="0" anchor="ctr"/>
          <a:lstStyle/>
          <a:p>
            <a:pPr marL="0" indent="0">
              <a:buNone/>
            </a:pPr>
            <a:r>
              <a:rPr lang="en-US" sz="1800" b="1" dirty="0">
                <a:solidFill>
                  <a:srgbClr val="1E293B"/>
                </a:solidFill>
                <a:latin typeface="Segoe UI" pitchFamily="34" charset="0"/>
                <a:ea typeface="Segoe UI" pitchFamily="34" charset="-122"/>
                <a:cs typeface="Segoe UI" pitchFamily="34" charset="-120"/>
              </a:rPr>
              <a:t>Hands-On Lab</a:t>
            </a:r>
            <a:endParaRPr lang="en-US" sz="1800" dirty="0"/>
          </a:p>
        </p:txBody>
      </p:sp>
      <p:sp>
        <p:nvSpPr>
          <p:cNvPr id="15" name="Text 13"/>
          <p:cNvSpPr/>
          <p:nvPr/>
        </p:nvSpPr>
        <p:spPr>
          <a:xfrm>
            <a:off x="4892040" y="1737360"/>
            <a:ext cx="3474720" cy="54864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Building BFSI Multi-Agent Insurance System</a:t>
            </a:r>
            <a:endParaRPr lang="en-US" sz="1100" dirty="0"/>
          </a:p>
        </p:txBody>
      </p:sp>
      <p:sp>
        <p:nvSpPr>
          <p:cNvPr id="16" name="Shape 14"/>
          <p:cNvSpPr/>
          <p:nvPr/>
        </p:nvSpPr>
        <p:spPr>
          <a:xfrm>
            <a:off x="4892040" y="2331720"/>
            <a:ext cx="1097280" cy="228600"/>
          </a:xfrm>
          <a:prstGeom prst="rect">
            <a:avLst/>
          </a:prstGeom>
          <a:solidFill>
            <a:srgbClr val="F59E0B"/>
          </a:solidFill>
          <a:ln/>
        </p:spPr>
        <p:txBody>
          <a:bodyPr/>
          <a:lstStyle/>
          <a:p>
            <a:endParaRPr lang="en-IN"/>
          </a:p>
        </p:txBody>
      </p:sp>
      <p:sp>
        <p:nvSpPr>
          <p:cNvPr id="17" name="Text 15"/>
          <p:cNvSpPr/>
          <p:nvPr/>
        </p:nvSpPr>
        <p:spPr>
          <a:xfrm>
            <a:off x="4892040" y="2331720"/>
            <a:ext cx="1097280" cy="228600"/>
          </a:xfrm>
          <a:prstGeom prst="rect">
            <a:avLst/>
          </a:prstGeom>
          <a:noFill/>
          <a:ln/>
        </p:spPr>
        <p:txBody>
          <a:bodyPr wrap="square"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2 Hours</a:t>
            </a:r>
            <a:endParaRPr lang="en-US" sz="1000" dirty="0"/>
          </a:p>
        </p:txBody>
      </p:sp>
      <p:sp>
        <p:nvSpPr>
          <p:cNvPr id="18" name="Shape 16"/>
          <p:cNvSpPr/>
          <p:nvPr/>
        </p:nvSpPr>
        <p:spPr>
          <a:xfrm>
            <a:off x="640080" y="2834640"/>
            <a:ext cx="7863840" cy="1737360"/>
          </a:xfrm>
          <a:prstGeom prst="rect">
            <a:avLst/>
          </a:prstGeom>
          <a:solidFill>
            <a:srgbClr val="0F172A"/>
          </a:solidFill>
          <a:ln/>
        </p:spPr>
        <p:txBody>
          <a:bodyPr/>
          <a:lstStyle/>
          <a:p>
            <a:endParaRPr lang="en-IN"/>
          </a:p>
        </p:txBody>
      </p:sp>
      <p:sp>
        <p:nvSpPr>
          <p:cNvPr id="19" name="Text 17"/>
          <p:cNvSpPr/>
          <p:nvPr/>
        </p:nvSpPr>
        <p:spPr>
          <a:xfrm>
            <a:off x="868680" y="2971800"/>
            <a:ext cx="2743200" cy="274320"/>
          </a:xfrm>
          <a:prstGeom prst="rect">
            <a:avLst/>
          </a:prstGeom>
          <a:noFill/>
          <a:ln/>
        </p:spPr>
        <p:txBody>
          <a:bodyPr wrap="square" rtlCol="0" anchor="ctr"/>
          <a:lstStyle/>
          <a:p>
            <a:pPr marL="0" indent="0">
              <a:buNone/>
            </a:pPr>
            <a:r>
              <a:rPr lang="en-US" sz="1000" b="1" dirty="0">
                <a:solidFill>
                  <a:srgbClr val="22D3EE"/>
                </a:solidFill>
                <a:latin typeface="Segoe UI" pitchFamily="34" charset="0"/>
                <a:ea typeface="Segoe UI" pitchFamily="34" charset="-122"/>
                <a:cs typeface="Segoe UI" pitchFamily="34" charset="-120"/>
              </a:rPr>
              <a:t>PREREQUISITES</a:t>
            </a:r>
            <a:endParaRPr lang="en-US" sz="1000" dirty="0"/>
          </a:p>
        </p:txBody>
      </p:sp>
      <p:sp>
        <p:nvSpPr>
          <p:cNvPr id="20" name="Text 18"/>
          <p:cNvSpPr/>
          <p:nvPr/>
        </p:nvSpPr>
        <p:spPr>
          <a:xfrm>
            <a:off x="868680" y="3291840"/>
            <a:ext cx="7498080" cy="1188720"/>
          </a:xfrm>
          <a:prstGeom prst="rect">
            <a:avLst/>
          </a:prstGeom>
          <a:noFill/>
          <a:ln/>
        </p:spPr>
        <p:txBody>
          <a:bodyPr wrap="square" rtlCol="0" anchor="ctr"/>
          <a:lstStyle/>
          <a:p>
            <a:pPr marL="0" indent="0">
              <a:buNone/>
            </a:pPr>
            <a:r>
              <a:rPr lang="en-US" sz="1000" dirty="0">
                <a:solidFill>
                  <a:srgbClr val="FFFFFF"/>
                </a:solidFill>
                <a:latin typeface="Segoe UI" pitchFamily="34" charset="0"/>
                <a:ea typeface="Segoe UI" pitchFamily="34" charset="-122"/>
                <a:cs typeface="Segoe UI" pitchFamily="34" charset="-120"/>
              </a:rPr>
              <a:t>• Completion of Modules 06–08: Contoso Insurance Operations Agent with Agent Flows and approval workflow connected</a:t>
            </a:r>
            <a:endParaRPr lang="en-US" sz="1000" dirty="0"/>
          </a:p>
          <a:p>
            <a:pPr marL="0" indent="0">
              <a:buNone/>
            </a:pPr>
            <a:r>
              <a:rPr lang="en-US" sz="1000" dirty="0">
                <a:solidFill>
                  <a:srgbClr val="FFFFFF"/>
                </a:solidFill>
                <a:latin typeface="Segoe UI" pitchFamily="34" charset="0"/>
                <a:ea typeface="Segoe UI" pitchFamily="34" charset="-122"/>
                <a:cs typeface="Segoe UI" pitchFamily="34" charset="-120"/>
              </a:rPr>
              <a:t>• Four BFSI Dataverse tables populated plus Contoso_ApprovalLog from Module 08</a:t>
            </a:r>
            <a:endParaRPr lang="en-US" sz="1000" dirty="0"/>
          </a:p>
          <a:p>
            <a:pPr marL="0" indent="0">
              <a:buNone/>
            </a:pPr>
            <a:r>
              <a:rPr lang="en-US" sz="1000" dirty="0">
                <a:solidFill>
                  <a:srgbClr val="FFFFFF"/>
                </a:solidFill>
                <a:latin typeface="Segoe UI" pitchFamily="34" charset="0"/>
                <a:ea typeface="Segoe UI" pitchFamily="34" charset="-122"/>
                <a:cs typeface="Segoe UI" pitchFamily="34" charset="-120"/>
              </a:rPr>
              <a:t>• Dataverse MCP Server enabled in the environment</a:t>
            </a:r>
            <a:endParaRPr lang="en-US" sz="1000" dirty="0"/>
          </a:p>
          <a:p>
            <a:pPr marL="0" indent="0">
              <a:buNone/>
            </a:pPr>
            <a:r>
              <a:rPr lang="en-US" sz="1000" dirty="0">
                <a:solidFill>
                  <a:srgbClr val="FFFFFF"/>
                </a:solidFill>
                <a:latin typeface="Segoe UI" pitchFamily="34" charset="0"/>
                <a:ea typeface="Segoe UI" pitchFamily="34" charset="-122"/>
                <a:cs typeface="Segoe UI" pitchFamily="34" charset="-120"/>
              </a:rPr>
              <a:t>• Copilot Studio licence with ability to create multiple agents (trial acceptable)</a:t>
            </a:r>
            <a:endParaRPr lang="en-US" sz="1000" dirty="0"/>
          </a:p>
          <a:p>
            <a:pPr marL="0" indent="0">
              <a:buNone/>
            </a:pPr>
            <a:r>
              <a:rPr lang="en-US" sz="1000" dirty="0">
                <a:solidFill>
                  <a:srgbClr val="FFFFFF"/>
                </a:solidFill>
                <a:latin typeface="Segoe UI" pitchFamily="34" charset="0"/>
                <a:ea typeface="Segoe UI" pitchFamily="34" charset="-122"/>
                <a:cs typeface="Segoe UI" pitchFamily="34" charset="-120"/>
              </a:rPr>
              <a:t>• Familiarity with agent creation, system prompts, topics, tools, and Agent Flows</a:t>
            </a:r>
            <a:endParaRPr lang="en-US" sz="1000" dirty="0"/>
          </a:p>
        </p:txBody>
      </p:sp>
      <p:sp>
        <p:nvSpPr>
          <p:cNvPr id="21" name="Shape 19"/>
          <p:cNvSpPr/>
          <p:nvPr/>
        </p:nvSpPr>
        <p:spPr>
          <a:xfrm>
            <a:off x="0" y="4846320"/>
            <a:ext cx="9144000" cy="297180"/>
          </a:xfrm>
          <a:prstGeom prst="rect">
            <a:avLst/>
          </a:prstGeom>
          <a:solidFill>
            <a:srgbClr val="F1F5F9"/>
          </a:solidFill>
          <a:ln/>
        </p:spPr>
        <p:txBody>
          <a:bodyPr/>
          <a:lstStyle/>
          <a:p>
            <a:endParaRPr lang="en-IN"/>
          </a:p>
        </p:txBody>
      </p:sp>
      <p:sp>
        <p:nvSpPr>
          <p:cNvPr id="22" name="Text 20"/>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09</a:t>
            </a:r>
            <a:endParaRPr lang="en-US" sz="800" dirty="0"/>
          </a:p>
        </p:txBody>
      </p:sp>
      <p:sp>
        <p:nvSpPr>
          <p:cNvPr id="23" name="Text 21"/>
          <p:cNvSpPr/>
          <p:nvPr/>
        </p:nvSpPr>
        <p:spPr>
          <a:xfrm>
            <a:off x="7955280" y="4832169"/>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5 / 28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SECTION 01</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Why Multi-Agent</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Systems?</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From Monolithic to Distributed Agent Architecture</a:t>
            </a:r>
            <a:endParaRPr lang="en-US" sz="1500" dirty="0"/>
          </a:p>
        </p:txBody>
      </p:sp>
      <p:sp>
        <p:nvSpPr>
          <p:cNvPr id="6" name="Text 19">
            <a:extLst>
              <a:ext uri="{FF2B5EF4-FFF2-40B4-BE49-F238E27FC236}">
                <a16:creationId xmlns:a16="http://schemas.microsoft.com/office/drawing/2014/main" id="{E9E9E19A-B655-0348-901D-FD6BA0865001}"/>
              </a:ext>
            </a:extLst>
          </p:cNvPr>
          <p:cNvSpPr/>
          <p:nvPr/>
        </p:nvSpPr>
        <p:spPr>
          <a:xfrm>
            <a:off x="7895771" y="4778647"/>
            <a:ext cx="91440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900" dirty="0">
                <a:solidFill>
                  <a:schemeClr val="bg1"/>
                </a:solidFill>
                <a:latin typeface="Segoe UI" pitchFamily="34" charset="0"/>
                <a:ea typeface="Segoe UI" pitchFamily="34" charset="-122"/>
                <a:cs typeface="Segoe UI" pitchFamily="34" charset="-120"/>
              </a:rPr>
              <a:t>6 / 28</a:t>
            </a:r>
            <a:endParaRPr lang="en-US" sz="9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Challenges of Single-Agent Design</a:t>
            </a:r>
            <a:endParaRPr lang="en-US" sz="3000" dirty="0"/>
          </a:p>
        </p:txBody>
      </p:sp>
      <p:sp>
        <p:nvSpPr>
          <p:cNvPr id="4" name="Text 2"/>
          <p:cNvSpPr/>
          <p:nvPr/>
        </p:nvSpPr>
        <p:spPr>
          <a:xfrm>
            <a:off x="640080" y="822960"/>
            <a:ext cx="786384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As scope grows, single-agent designs face several challenges:</a:t>
            </a:r>
            <a:endParaRPr lang="en-US" sz="1200" dirty="0"/>
          </a:p>
        </p:txBody>
      </p:sp>
      <p:sp>
        <p:nvSpPr>
          <p:cNvPr id="5" name="Shape 3"/>
          <p:cNvSpPr/>
          <p:nvPr/>
        </p:nvSpPr>
        <p:spPr>
          <a:xfrm>
            <a:off x="457200" y="1234440"/>
            <a:ext cx="8229600" cy="777240"/>
          </a:xfrm>
          <a:prstGeom prst="rect">
            <a:avLst/>
          </a:prstGeom>
          <a:solidFill>
            <a:srgbClr val="FFFFFF"/>
          </a:solidFill>
          <a:ln/>
        </p:spPr>
        <p:txBody>
          <a:bodyPr/>
          <a:lstStyle/>
          <a:p>
            <a:endParaRPr lang="en-IN"/>
          </a:p>
        </p:txBody>
      </p:sp>
      <p:sp>
        <p:nvSpPr>
          <p:cNvPr id="6" name="Shape 4"/>
          <p:cNvSpPr/>
          <p:nvPr/>
        </p:nvSpPr>
        <p:spPr>
          <a:xfrm>
            <a:off x="457200" y="1234440"/>
            <a:ext cx="73152" cy="777240"/>
          </a:xfrm>
          <a:prstGeom prst="rect">
            <a:avLst/>
          </a:prstGeom>
          <a:solidFill>
            <a:srgbClr val="EF4444"/>
          </a:solidFill>
          <a:ln/>
        </p:spPr>
        <p:txBody>
          <a:bodyPr/>
          <a:lstStyle/>
          <a:p>
            <a:endParaRPr lang="en-IN"/>
          </a:p>
        </p:txBody>
      </p:sp>
      <p:sp>
        <p:nvSpPr>
          <p:cNvPr id="7" name="Text 5"/>
          <p:cNvSpPr/>
          <p:nvPr/>
        </p:nvSpPr>
        <p:spPr>
          <a:xfrm>
            <a:off x="640080" y="1371600"/>
            <a:ext cx="36576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8" name="Text 6"/>
          <p:cNvSpPr/>
          <p:nvPr/>
        </p:nvSpPr>
        <p:spPr>
          <a:xfrm>
            <a:off x="1097280" y="1325880"/>
            <a:ext cx="228600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System Prompt Complexity</a:t>
            </a:r>
            <a:endParaRPr lang="en-US" sz="1200" dirty="0"/>
          </a:p>
        </p:txBody>
      </p:sp>
      <p:sp>
        <p:nvSpPr>
          <p:cNvPr id="9" name="Text 7"/>
          <p:cNvSpPr/>
          <p:nvPr/>
        </p:nvSpPr>
        <p:spPr>
          <a:xfrm>
            <a:off x="1097280" y="1645920"/>
            <a:ext cx="438912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Encoding claims, policies, customers, transactions, compliance, and fraud detection into one prompt creates a tangled, hard-to-maintain document</a:t>
            </a:r>
            <a:endParaRPr lang="en-US" sz="1000" dirty="0"/>
          </a:p>
        </p:txBody>
      </p:sp>
      <p:sp>
        <p:nvSpPr>
          <p:cNvPr id="10" name="Text 8"/>
          <p:cNvSpPr/>
          <p:nvPr/>
        </p:nvSpPr>
        <p:spPr>
          <a:xfrm>
            <a:off x="5669280" y="1463040"/>
            <a:ext cx="2834640" cy="36576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Difficult to modify without breaking other areas</a:t>
            </a:r>
            <a:endParaRPr lang="en-US" sz="900" dirty="0"/>
          </a:p>
        </p:txBody>
      </p:sp>
      <p:sp>
        <p:nvSpPr>
          <p:cNvPr id="11" name="Shape 9"/>
          <p:cNvSpPr/>
          <p:nvPr/>
        </p:nvSpPr>
        <p:spPr>
          <a:xfrm>
            <a:off x="457200" y="2103120"/>
            <a:ext cx="8229600" cy="777240"/>
          </a:xfrm>
          <a:prstGeom prst="rect">
            <a:avLst/>
          </a:prstGeom>
          <a:solidFill>
            <a:srgbClr val="F1F5F9"/>
          </a:solidFill>
          <a:ln/>
        </p:spPr>
        <p:txBody>
          <a:bodyPr/>
          <a:lstStyle/>
          <a:p>
            <a:endParaRPr lang="en-IN"/>
          </a:p>
        </p:txBody>
      </p:sp>
      <p:sp>
        <p:nvSpPr>
          <p:cNvPr id="12" name="Shape 10"/>
          <p:cNvSpPr/>
          <p:nvPr/>
        </p:nvSpPr>
        <p:spPr>
          <a:xfrm>
            <a:off x="457200" y="2103120"/>
            <a:ext cx="73152" cy="777240"/>
          </a:xfrm>
          <a:prstGeom prst="rect">
            <a:avLst/>
          </a:prstGeom>
          <a:solidFill>
            <a:srgbClr val="EF4444"/>
          </a:solidFill>
          <a:ln/>
        </p:spPr>
        <p:txBody>
          <a:bodyPr/>
          <a:lstStyle/>
          <a:p>
            <a:endParaRPr lang="en-IN"/>
          </a:p>
        </p:txBody>
      </p:sp>
      <p:sp>
        <p:nvSpPr>
          <p:cNvPr id="13" name="Text 11"/>
          <p:cNvSpPr/>
          <p:nvPr/>
        </p:nvSpPr>
        <p:spPr>
          <a:xfrm>
            <a:off x="640080" y="2240280"/>
            <a:ext cx="36576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14" name="Text 12"/>
          <p:cNvSpPr/>
          <p:nvPr/>
        </p:nvSpPr>
        <p:spPr>
          <a:xfrm>
            <a:off x="1097280" y="2194560"/>
            <a:ext cx="228600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Testing Difficulty</a:t>
            </a:r>
            <a:endParaRPr lang="en-US" sz="1200" dirty="0"/>
          </a:p>
        </p:txBody>
      </p:sp>
      <p:sp>
        <p:nvSpPr>
          <p:cNvPr id="15" name="Text 13"/>
          <p:cNvSpPr/>
          <p:nvPr/>
        </p:nvSpPr>
        <p:spPr>
          <a:xfrm>
            <a:off x="1097280" y="2514600"/>
            <a:ext cx="438912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Changing any part risks affecting unrelated functionality. No isolation between domains</a:t>
            </a:r>
            <a:endParaRPr lang="en-US" sz="1000" dirty="0"/>
          </a:p>
        </p:txBody>
      </p:sp>
      <p:sp>
        <p:nvSpPr>
          <p:cNvPr id="16" name="Text 14"/>
          <p:cNvSpPr/>
          <p:nvPr/>
        </p:nvSpPr>
        <p:spPr>
          <a:xfrm>
            <a:off x="5669280" y="2331720"/>
            <a:ext cx="2834640" cy="36576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Full regression testing required for every change</a:t>
            </a:r>
            <a:endParaRPr lang="en-US" sz="900" dirty="0"/>
          </a:p>
        </p:txBody>
      </p:sp>
      <p:sp>
        <p:nvSpPr>
          <p:cNvPr id="17" name="Shape 15"/>
          <p:cNvSpPr/>
          <p:nvPr/>
        </p:nvSpPr>
        <p:spPr>
          <a:xfrm>
            <a:off x="457200" y="2971800"/>
            <a:ext cx="8229600" cy="777240"/>
          </a:xfrm>
          <a:prstGeom prst="rect">
            <a:avLst/>
          </a:prstGeom>
          <a:solidFill>
            <a:srgbClr val="FFFFFF"/>
          </a:solidFill>
          <a:ln/>
        </p:spPr>
        <p:txBody>
          <a:bodyPr/>
          <a:lstStyle/>
          <a:p>
            <a:endParaRPr lang="en-IN"/>
          </a:p>
        </p:txBody>
      </p:sp>
      <p:sp>
        <p:nvSpPr>
          <p:cNvPr id="18" name="Shape 16"/>
          <p:cNvSpPr/>
          <p:nvPr/>
        </p:nvSpPr>
        <p:spPr>
          <a:xfrm>
            <a:off x="457200" y="2971800"/>
            <a:ext cx="73152" cy="777240"/>
          </a:xfrm>
          <a:prstGeom prst="rect">
            <a:avLst/>
          </a:prstGeom>
          <a:solidFill>
            <a:srgbClr val="EF4444"/>
          </a:solidFill>
          <a:ln/>
        </p:spPr>
        <p:txBody>
          <a:bodyPr/>
          <a:lstStyle/>
          <a:p>
            <a:endParaRPr lang="en-IN"/>
          </a:p>
        </p:txBody>
      </p:sp>
      <p:sp>
        <p:nvSpPr>
          <p:cNvPr id="19" name="Text 17"/>
          <p:cNvSpPr/>
          <p:nvPr/>
        </p:nvSpPr>
        <p:spPr>
          <a:xfrm>
            <a:off x="640080" y="3108960"/>
            <a:ext cx="36576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20" name="Text 18"/>
          <p:cNvSpPr/>
          <p:nvPr/>
        </p:nvSpPr>
        <p:spPr>
          <a:xfrm>
            <a:off x="1097280" y="3063240"/>
            <a:ext cx="228600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Governance Challenges</a:t>
            </a:r>
            <a:endParaRPr lang="en-US" sz="1200" dirty="0"/>
          </a:p>
        </p:txBody>
      </p:sp>
      <p:sp>
        <p:nvSpPr>
          <p:cNvPr id="21" name="Text 19"/>
          <p:cNvSpPr/>
          <p:nvPr/>
        </p:nvSpPr>
        <p:spPr>
          <a:xfrm>
            <a:off x="1097280" y="3383280"/>
            <a:ext cx="438912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Hard to enforce least-privilege when one agent does everything. Audit trails don't show domain accountability</a:t>
            </a:r>
            <a:endParaRPr lang="en-US" sz="1000" dirty="0"/>
          </a:p>
        </p:txBody>
      </p:sp>
      <p:sp>
        <p:nvSpPr>
          <p:cNvPr id="22" name="Text 20"/>
          <p:cNvSpPr/>
          <p:nvPr/>
        </p:nvSpPr>
        <p:spPr>
          <a:xfrm>
            <a:off x="5669280" y="3200400"/>
            <a:ext cx="2834640" cy="36576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Compliance risk in regulated industries</a:t>
            </a:r>
            <a:endParaRPr lang="en-US" sz="900" dirty="0"/>
          </a:p>
        </p:txBody>
      </p:sp>
      <p:sp>
        <p:nvSpPr>
          <p:cNvPr id="23" name="Shape 21"/>
          <p:cNvSpPr/>
          <p:nvPr/>
        </p:nvSpPr>
        <p:spPr>
          <a:xfrm>
            <a:off x="457200" y="3840480"/>
            <a:ext cx="8229600" cy="777240"/>
          </a:xfrm>
          <a:prstGeom prst="rect">
            <a:avLst/>
          </a:prstGeom>
          <a:solidFill>
            <a:srgbClr val="F1F5F9"/>
          </a:solidFill>
          <a:ln/>
        </p:spPr>
        <p:txBody>
          <a:bodyPr/>
          <a:lstStyle/>
          <a:p>
            <a:endParaRPr lang="en-IN"/>
          </a:p>
        </p:txBody>
      </p:sp>
      <p:sp>
        <p:nvSpPr>
          <p:cNvPr id="24" name="Shape 22"/>
          <p:cNvSpPr/>
          <p:nvPr/>
        </p:nvSpPr>
        <p:spPr>
          <a:xfrm>
            <a:off x="457200" y="3840480"/>
            <a:ext cx="73152" cy="777240"/>
          </a:xfrm>
          <a:prstGeom prst="rect">
            <a:avLst/>
          </a:prstGeom>
          <a:solidFill>
            <a:srgbClr val="EF4444"/>
          </a:solidFill>
          <a:ln/>
        </p:spPr>
        <p:txBody>
          <a:bodyPr/>
          <a:lstStyle/>
          <a:p>
            <a:endParaRPr lang="en-IN"/>
          </a:p>
        </p:txBody>
      </p:sp>
      <p:sp>
        <p:nvSpPr>
          <p:cNvPr id="25" name="Text 23"/>
          <p:cNvSpPr/>
          <p:nvPr/>
        </p:nvSpPr>
        <p:spPr>
          <a:xfrm>
            <a:off x="640080" y="3977640"/>
            <a:ext cx="36576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26" name="Text 24"/>
          <p:cNvSpPr/>
          <p:nvPr/>
        </p:nvSpPr>
        <p:spPr>
          <a:xfrm>
            <a:off x="1097280" y="3931920"/>
            <a:ext cx="228600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Scaling Constraints</a:t>
            </a:r>
            <a:endParaRPr lang="en-US" sz="1200" dirty="0"/>
          </a:p>
        </p:txBody>
      </p:sp>
      <p:sp>
        <p:nvSpPr>
          <p:cNvPr id="27" name="Text 25"/>
          <p:cNvSpPr/>
          <p:nvPr/>
        </p:nvSpPr>
        <p:spPr>
          <a:xfrm>
            <a:off x="1097280" y="4251960"/>
            <a:ext cx="438912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Different domains may need different update cycles. Single agent can't scale domains independently</a:t>
            </a:r>
            <a:endParaRPr lang="en-US" sz="1000" dirty="0"/>
          </a:p>
        </p:txBody>
      </p:sp>
      <p:sp>
        <p:nvSpPr>
          <p:cNvPr id="28" name="Text 26"/>
          <p:cNvSpPr/>
          <p:nvPr/>
        </p:nvSpPr>
        <p:spPr>
          <a:xfrm>
            <a:off x="5669280" y="4069080"/>
            <a:ext cx="2834640" cy="36576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Slower iteration on business rules</a:t>
            </a:r>
            <a:endParaRPr lang="en-US" sz="900" dirty="0"/>
          </a:p>
        </p:txBody>
      </p:sp>
      <p:sp>
        <p:nvSpPr>
          <p:cNvPr id="29" name="Shape 27"/>
          <p:cNvSpPr/>
          <p:nvPr/>
        </p:nvSpPr>
        <p:spPr>
          <a:xfrm>
            <a:off x="0" y="4846320"/>
            <a:ext cx="9144000" cy="297180"/>
          </a:xfrm>
          <a:prstGeom prst="rect">
            <a:avLst/>
          </a:prstGeom>
          <a:solidFill>
            <a:srgbClr val="F1F5F9"/>
          </a:solidFill>
          <a:ln/>
        </p:spPr>
        <p:txBody>
          <a:bodyPr/>
          <a:lstStyle/>
          <a:p>
            <a:endParaRPr lang="en-IN"/>
          </a:p>
        </p:txBody>
      </p:sp>
      <p:sp>
        <p:nvSpPr>
          <p:cNvPr id="30" name="Text 2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09</a:t>
            </a:r>
            <a:endParaRPr lang="en-US" sz="800" dirty="0"/>
          </a:p>
        </p:txBody>
      </p:sp>
      <p:sp>
        <p:nvSpPr>
          <p:cNvPr id="31" name="Text 29"/>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7 / 28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Multi-Agent System Benefits</a:t>
            </a:r>
            <a:endParaRPr lang="en-US" sz="3000" dirty="0"/>
          </a:p>
        </p:txBody>
      </p:sp>
      <p:sp>
        <p:nvSpPr>
          <p:cNvPr id="4" name="Shape 2"/>
          <p:cNvSpPr/>
          <p:nvPr/>
        </p:nvSpPr>
        <p:spPr>
          <a:xfrm>
            <a:off x="457200" y="914400"/>
            <a:ext cx="8229600" cy="868680"/>
          </a:xfrm>
          <a:prstGeom prst="rect">
            <a:avLst/>
          </a:prstGeom>
          <a:solidFill>
            <a:srgbClr val="F1F5F9"/>
          </a:solidFill>
          <a:ln/>
        </p:spPr>
        <p:txBody>
          <a:bodyPr/>
          <a:lstStyle/>
          <a:p>
            <a:endParaRPr lang="en-IN"/>
          </a:p>
        </p:txBody>
      </p:sp>
      <p:sp>
        <p:nvSpPr>
          <p:cNvPr id="5" name="Shape 3"/>
          <p:cNvSpPr/>
          <p:nvPr/>
        </p:nvSpPr>
        <p:spPr>
          <a:xfrm>
            <a:off x="457200" y="914400"/>
            <a:ext cx="73152" cy="868680"/>
          </a:xfrm>
          <a:prstGeom prst="rect">
            <a:avLst/>
          </a:prstGeom>
          <a:solidFill>
            <a:srgbClr val="22C55E"/>
          </a:solidFill>
          <a:ln/>
        </p:spPr>
        <p:txBody>
          <a:bodyPr/>
          <a:lstStyle/>
          <a:p>
            <a:endParaRPr lang="en-IN"/>
          </a:p>
        </p:txBody>
      </p:sp>
      <p:sp>
        <p:nvSpPr>
          <p:cNvPr id="6" name="Text 4"/>
          <p:cNvSpPr/>
          <p:nvPr/>
        </p:nvSpPr>
        <p:spPr>
          <a:xfrm>
            <a:off x="640080" y="109728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7" name="Text 5"/>
          <p:cNvSpPr/>
          <p:nvPr/>
        </p:nvSpPr>
        <p:spPr>
          <a:xfrm>
            <a:off x="1097280" y="1005840"/>
            <a:ext cx="201168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Focused Expertise</a:t>
            </a:r>
            <a:endParaRPr lang="en-US" sz="1300" dirty="0"/>
          </a:p>
        </p:txBody>
      </p:sp>
      <p:sp>
        <p:nvSpPr>
          <p:cNvPr id="8" name="Text 6"/>
          <p:cNvSpPr/>
          <p:nvPr/>
        </p:nvSpPr>
        <p:spPr>
          <a:xfrm>
            <a:off x="1097280" y="1325880"/>
            <a:ext cx="4114800" cy="365760"/>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Each specialist agent has a narrow, deep focus. System prompts are short and precise.</a:t>
            </a:r>
            <a:endParaRPr lang="en-US" sz="1100" dirty="0"/>
          </a:p>
        </p:txBody>
      </p:sp>
      <p:sp>
        <p:nvSpPr>
          <p:cNvPr id="9" name="Text 7"/>
          <p:cNvSpPr/>
          <p:nvPr/>
        </p:nvSpPr>
        <p:spPr>
          <a:xfrm>
            <a:off x="5303520" y="1143000"/>
            <a:ext cx="3200400" cy="457200"/>
          </a:xfrm>
          <a:prstGeom prst="rect">
            <a:avLst/>
          </a:prstGeom>
          <a:noFill/>
          <a:ln/>
        </p:spPr>
        <p:txBody>
          <a:bodyPr wrap="square" rtlCol="0" anchor="ctr"/>
          <a:lstStyle/>
          <a:p>
            <a:pPr marL="0" indent="0">
              <a:buNone/>
            </a:pPr>
            <a:r>
              <a:rPr lang="en-US" sz="1000" i="1" dirty="0">
                <a:solidFill>
                  <a:srgbClr val="475569"/>
                </a:solidFill>
                <a:latin typeface="Segoe UI" pitchFamily="34" charset="0"/>
                <a:ea typeface="Segoe UI" pitchFamily="34" charset="-122"/>
                <a:cs typeface="Segoe UI" pitchFamily="34" charset="-120"/>
              </a:rPr>
              <a:t>Claims Agent knows claims deeply but refuses policy questions</a:t>
            </a:r>
            <a:endParaRPr lang="en-US" sz="1000" dirty="0"/>
          </a:p>
        </p:txBody>
      </p:sp>
      <p:sp>
        <p:nvSpPr>
          <p:cNvPr id="10" name="Shape 8"/>
          <p:cNvSpPr/>
          <p:nvPr/>
        </p:nvSpPr>
        <p:spPr>
          <a:xfrm>
            <a:off x="457200" y="1874520"/>
            <a:ext cx="8229600" cy="868680"/>
          </a:xfrm>
          <a:prstGeom prst="rect">
            <a:avLst/>
          </a:prstGeom>
          <a:solidFill>
            <a:srgbClr val="F1F5F9"/>
          </a:solidFill>
          <a:ln/>
        </p:spPr>
        <p:txBody>
          <a:bodyPr/>
          <a:lstStyle/>
          <a:p>
            <a:endParaRPr lang="en-IN"/>
          </a:p>
        </p:txBody>
      </p:sp>
      <p:sp>
        <p:nvSpPr>
          <p:cNvPr id="11" name="Shape 9"/>
          <p:cNvSpPr/>
          <p:nvPr/>
        </p:nvSpPr>
        <p:spPr>
          <a:xfrm>
            <a:off x="457200" y="1874520"/>
            <a:ext cx="73152" cy="868680"/>
          </a:xfrm>
          <a:prstGeom prst="rect">
            <a:avLst/>
          </a:prstGeom>
          <a:solidFill>
            <a:srgbClr val="22C55E"/>
          </a:solidFill>
          <a:ln/>
        </p:spPr>
        <p:txBody>
          <a:bodyPr/>
          <a:lstStyle/>
          <a:p>
            <a:endParaRPr lang="en-IN"/>
          </a:p>
        </p:txBody>
      </p:sp>
      <p:sp>
        <p:nvSpPr>
          <p:cNvPr id="12" name="Text 10"/>
          <p:cNvSpPr/>
          <p:nvPr/>
        </p:nvSpPr>
        <p:spPr>
          <a:xfrm>
            <a:off x="640080" y="205740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13" name="Text 11"/>
          <p:cNvSpPr/>
          <p:nvPr/>
        </p:nvSpPr>
        <p:spPr>
          <a:xfrm>
            <a:off x="1097280" y="1965960"/>
            <a:ext cx="201168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Independent Testing</a:t>
            </a:r>
            <a:endParaRPr lang="en-US" sz="1300" dirty="0"/>
          </a:p>
        </p:txBody>
      </p:sp>
      <p:sp>
        <p:nvSpPr>
          <p:cNvPr id="14" name="Text 12"/>
          <p:cNvSpPr/>
          <p:nvPr/>
        </p:nvSpPr>
        <p:spPr>
          <a:xfrm>
            <a:off x="1097280" y="2286000"/>
            <a:ext cx="4114800" cy="365760"/>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Test each specialist in isolation. Changes don't affect other domains.</a:t>
            </a:r>
            <a:endParaRPr lang="en-US" sz="1100" dirty="0"/>
          </a:p>
        </p:txBody>
      </p:sp>
      <p:sp>
        <p:nvSpPr>
          <p:cNvPr id="15" name="Text 13"/>
          <p:cNvSpPr/>
          <p:nvPr/>
        </p:nvSpPr>
        <p:spPr>
          <a:xfrm>
            <a:off x="5303520" y="2103120"/>
            <a:ext cx="3200400" cy="457200"/>
          </a:xfrm>
          <a:prstGeom prst="rect">
            <a:avLst/>
          </a:prstGeom>
          <a:noFill/>
          <a:ln/>
        </p:spPr>
        <p:txBody>
          <a:bodyPr wrap="square" rtlCol="0" anchor="ctr"/>
          <a:lstStyle/>
          <a:p>
            <a:pPr marL="0" indent="0">
              <a:buNone/>
            </a:pPr>
            <a:r>
              <a:rPr lang="en-US" sz="1000" i="1" dirty="0">
                <a:solidFill>
                  <a:srgbClr val="475569"/>
                </a:solidFill>
                <a:latin typeface="Segoe UI" pitchFamily="34" charset="0"/>
                <a:ea typeface="Segoe UI" pitchFamily="34" charset="-122"/>
                <a:cs typeface="Segoe UI" pitchFamily="34" charset="-120"/>
              </a:rPr>
              <a:t>Update claims rules without retesting policy logic</a:t>
            </a:r>
            <a:endParaRPr lang="en-US" sz="1000" dirty="0"/>
          </a:p>
        </p:txBody>
      </p:sp>
      <p:sp>
        <p:nvSpPr>
          <p:cNvPr id="16" name="Shape 14"/>
          <p:cNvSpPr/>
          <p:nvPr/>
        </p:nvSpPr>
        <p:spPr>
          <a:xfrm>
            <a:off x="457200" y="2834640"/>
            <a:ext cx="8229600" cy="868680"/>
          </a:xfrm>
          <a:prstGeom prst="rect">
            <a:avLst/>
          </a:prstGeom>
          <a:solidFill>
            <a:srgbClr val="F1F5F9"/>
          </a:solidFill>
          <a:ln/>
        </p:spPr>
        <p:txBody>
          <a:bodyPr/>
          <a:lstStyle/>
          <a:p>
            <a:endParaRPr lang="en-IN"/>
          </a:p>
        </p:txBody>
      </p:sp>
      <p:sp>
        <p:nvSpPr>
          <p:cNvPr id="17" name="Shape 15"/>
          <p:cNvSpPr/>
          <p:nvPr/>
        </p:nvSpPr>
        <p:spPr>
          <a:xfrm>
            <a:off x="457200" y="2834640"/>
            <a:ext cx="73152" cy="868680"/>
          </a:xfrm>
          <a:prstGeom prst="rect">
            <a:avLst/>
          </a:prstGeom>
          <a:solidFill>
            <a:srgbClr val="22C55E"/>
          </a:solidFill>
          <a:ln/>
        </p:spPr>
        <p:txBody>
          <a:bodyPr/>
          <a:lstStyle/>
          <a:p>
            <a:endParaRPr lang="en-IN"/>
          </a:p>
        </p:txBody>
      </p:sp>
      <p:sp>
        <p:nvSpPr>
          <p:cNvPr id="18" name="Text 16"/>
          <p:cNvSpPr/>
          <p:nvPr/>
        </p:nvSpPr>
        <p:spPr>
          <a:xfrm>
            <a:off x="640080" y="301752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19" name="Text 17"/>
          <p:cNvSpPr/>
          <p:nvPr/>
        </p:nvSpPr>
        <p:spPr>
          <a:xfrm>
            <a:off x="1097280" y="2926080"/>
            <a:ext cx="201168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Clear Governance</a:t>
            </a:r>
            <a:endParaRPr lang="en-US" sz="1300" dirty="0"/>
          </a:p>
        </p:txBody>
      </p:sp>
      <p:sp>
        <p:nvSpPr>
          <p:cNvPr id="20" name="Text 18"/>
          <p:cNvSpPr/>
          <p:nvPr/>
        </p:nvSpPr>
        <p:spPr>
          <a:xfrm>
            <a:off x="1097280" y="3246120"/>
            <a:ext cx="4114800" cy="365760"/>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Each agent has its own identity, data access scope, and audit trail.</a:t>
            </a:r>
            <a:endParaRPr lang="en-US" sz="1100" dirty="0"/>
          </a:p>
        </p:txBody>
      </p:sp>
      <p:sp>
        <p:nvSpPr>
          <p:cNvPr id="21" name="Text 19"/>
          <p:cNvSpPr/>
          <p:nvPr/>
        </p:nvSpPr>
        <p:spPr>
          <a:xfrm>
            <a:off x="5303520" y="3063240"/>
            <a:ext cx="3200400" cy="457200"/>
          </a:xfrm>
          <a:prstGeom prst="rect">
            <a:avLst/>
          </a:prstGeom>
          <a:noFill/>
          <a:ln/>
        </p:spPr>
        <p:txBody>
          <a:bodyPr wrap="square" rtlCol="0" anchor="ctr"/>
          <a:lstStyle/>
          <a:p>
            <a:pPr marL="0" indent="0">
              <a:buNone/>
            </a:pPr>
            <a:r>
              <a:rPr lang="en-US" sz="1000" i="1" dirty="0">
                <a:solidFill>
                  <a:srgbClr val="475569"/>
                </a:solidFill>
                <a:latin typeface="Segoe UI" pitchFamily="34" charset="0"/>
                <a:ea typeface="Segoe UI" pitchFamily="34" charset="-122"/>
                <a:cs typeface="Segoe UI" pitchFamily="34" charset="-120"/>
              </a:rPr>
              <a:t>Audit shows exactly which agent accessed which data</a:t>
            </a:r>
            <a:endParaRPr lang="en-US" sz="1000" dirty="0"/>
          </a:p>
        </p:txBody>
      </p:sp>
      <p:sp>
        <p:nvSpPr>
          <p:cNvPr id="22" name="Shape 20"/>
          <p:cNvSpPr/>
          <p:nvPr/>
        </p:nvSpPr>
        <p:spPr>
          <a:xfrm>
            <a:off x="457200" y="3794760"/>
            <a:ext cx="8229600" cy="868680"/>
          </a:xfrm>
          <a:prstGeom prst="rect">
            <a:avLst/>
          </a:prstGeom>
          <a:solidFill>
            <a:srgbClr val="F1F5F9"/>
          </a:solidFill>
          <a:ln/>
        </p:spPr>
        <p:txBody>
          <a:bodyPr/>
          <a:lstStyle/>
          <a:p>
            <a:endParaRPr lang="en-IN"/>
          </a:p>
        </p:txBody>
      </p:sp>
      <p:sp>
        <p:nvSpPr>
          <p:cNvPr id="23" name="Shape 21"/>
          <p:cNvSpPr/>
          <p:nvPr/>
        </p:nvSpPr>
        <p:spPr>
          <a:xfrm>
            <a:off x="457200" y="3794760"/>
            <a:ext cx="73152" cy="868680"/>
          </a:xfrm>
          <a:prstGeom prst="rect">
            <a:avLst/>
          </a:prstGeom>
          <a:solidFill>
            <a:srgbClr val="22C55E"/>
          </a:solidFill>
          <a:ln/>
        </p:spPr>
        <p:txBody>
          <a:bodyPr/>
          <a:lstStyle/>
          <a:p>
            <a:endParaRPr lang="en-IN"/>
          </a:p>
        </p:txBody>
      </p:sp>
      <p:sp>
        <p:nvSpPr>
          <p:cNvPr id="24" name="Text 22"/>
          <p:cNvSpPr/>
          <p:nvPr/>
        </p:nvSpPr>
        <p:spPr>
          <a:xfrm>
            <a:off x="640080" y="397764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25" name="Text 23"/>
          <p:cNvSpPr/>
          <p:nvPr/>
        </p:nvSpPr>
        <p:spPr>
          <a:xfrm>
            <a:off x="1097280" y="3886200"/>
            <a:ext cx="201168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Team Alignment</a:t>
            </a:r>
            <a:endParaRPr lang="en-US" sz="1300" dirty="0"/>
          </a:p>
        </p:txBody>
      </p:sp>
      <p:sp>
        <p:nvSpPr>
          <p:cNvPr id="26" name="Text 24"/>
          <p:cNvSpPr/>
          <p:nvPr/>
        </p:nvSpPr>
        <p:spPr>
          <a:xfrm>
            <a:off x="1097280" y="4206240"/>
            <a:ext cx="4114800" cy="365760"/>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Agent boundaries match organisational structure. Domain teams own their agents.</a:t>
            </a:r>
            <a:endParaRPr lang="en-US" sz="1100" dirty="0"/>
          </a:p>
        </p:txBody>
      </p:sp>
      <p:sp>
        <p:nvSpPr>
          <p:cNvPr id="27" name="Text 25"/>
          <p:cNvSpPr/>
          <p:nvPr/>
        </p:nvSpPr>
        <p:spPr>
          <a:xfrm>
            <a:off x="5303520" y="4023360"/>
            <a:ext cx="3200400" cy="457200"/>
          </a:xfrm>
          <a:prstGeom prst="rect">
            <a:avLst/>
          </a:prstGeom>
          <a:noFill/>
          <a:ln/>
        </p:spPr>
        <p:txBody>
          <a:bodyPr wrap="square" rtlCol="0" anchor="ctr"/>
          <a:lstStyle/>
          <a:p>
            <a:pPr marL="0" indent="0">
              <a:buNone/>
            </a:pPr>
            <a:r>
              <a:rPr lang="en-US" sz="1000" i="1" dirty="0">
                <a:solidFill>
                  <a:srgbClr val="475569"/>
                </a:solidFill>
                <a:latin typeface="Segoe UI" pitchFamily="34" charset="0"/>
                <a:ea typeface="Segoe UI" pitchFamily="34" charset="-122"/>
                <a:cs typeface="Segoe UI" pitchFamily="34" charset="-120"/>
              </a:rPr>
              <a:t>Claims team owns Claims Agent; Policy team owns Policy Agent</a:t>
            </a:r>
            <a:endParaRPr lang="en-US" sz="1000" dirty="0"/>
          </a:p>
        </p:txBody>
      </p:sp>
      <p:sp>
        <p:nvSpPr>
          <p:cNvPr id="28" name="Shape 26"/>
          <p:cNvSpPr/>
          <p:nvPr/>
        </p:nvSpPr>
        <p:spPr>
          <a:xfrm>
            <a:off x="0" y="4846320"/>
            <a:ext cx="9144000" cy="297180"/>
          </a:xfrm>
          <a:prstGeom prst="rect">
            <a:avLst/>
          </a:prstGeom>
          <a:solidFill>
            <a:srgbClr val="F1F5F9"/>
          </a:solidFill>
          <a:ln/>
        </p:spPr>
        <p:txBody>
          <a:bodyPr/>
          <a:lstStyle/>
          <a:p>
            <a:endParaRPr lang="en-IN"/>
          </a:p>
        </p:txBody>
      </p:sp>
      <p:sp>
        <p:nvSpPr>
          <p:cNvPr id="29" name="Text 27"/>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09</a:t>
            </a:r>
            <a:endParaRPr lang="en-US" sz="800" dirty="0"/>
          </a:p>
        </p:txBody>
      </p:sp>
      <p:sp>
        <p:nvSpPr>
          <p:cNvPr id="30" name="Text 28"/>
          <p:cNvSpPr/>
          <p:nvPr/>
        </p:nvSpPr>
        <p:spPr>
          <a:xfrm>
            <a:off x="7955280" y="482346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8 / 28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SECTION 02</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Multi-Agent</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Topologies</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Patterns for Organising Agent Coordination</a:t>
            </a:r>
            <a:endParaRPr lang="en-US" sz="1500" dirty="0"/>
          </a:p>
        </p:txBody>
      </p:sp>
      <p:sp>
        <p:nvSpPr>
          <p:cNvPr id="6" name="Text 19">
            <a:extLst>
              <a:ext uri="{FF2B5EF4-FFF2-40B4-BE49-F238E27FC236}">
                <a16:creationId xmlns:a16="http://schemas.microsoft.com/office/drawing/2014/main" id="{05240E8B-31BD-969D-815A-DD52039C25EE}"/>
              </a:ext>
            </a:extLst>
          </p:cNvPr>
          <p:cNvSpPr/>
          <p:nvPr/>
        </p:nvSpPr>
        <p:spPr>
          <a:xfrm>
            <a:off x="7932057" y="4727847"/>
            <a:ext cx="91440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900" dirty="0">
                <a:solidFill>
                  <a:schemeClr val="bg1"/>
                </a:solidFill>
                <a:latin typeface="Segoe UI" pitchFamily="34" charset="0"/>
                <a:ea typeface="Segoe UI" pitchFamily="34" charset="-122"/>
                <a:cs typeface="Segoe UI" pitchFamily="34" charset="-120"/>
              </a:rPr>
              <a:t>9 / 28</a:t>
            </a:r>
            <a:endParaRPr lang="en-US" sz="9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solidFill>
                <a:srgbClr val="00B050"/>
              </a:solidFill>
            </a:endParaRPr>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Hub-and-Spoke (Orchestrator Pattern)</a:t>
            </a:r>
            <a:endParaRPr lang="en-US" sz="2800" dirty="0"/>
          </a:p>
        </p:txBody>
      </p:sp>
      <p:sp>
        <p:nvSpPr>
          <p:cNvPr id="4" name="Shape 2"/>
          <p:cNvSpPr/>
          <p:nvPr/>
        </p:nvSpPr>
        <p:spPr>
          <a:xfrm>
            <a:off x="457200" y="914400"/>
            <a:ext cx="4114800" cy="2926080"/>
          </a:xfrm>
          <a:prstGeom prst="rect">
            <a:avLst/>
          </a:prstGeom>
          <a:ln/>
        </p:spPr>
        <p:style>
          <a:lnRef idx="2">
            <a:schemeClr val="accent1"/>
          </a:lnRef>
          <a:fillRef idx="1">
            <a:schemeClr val="lt1"/>
          </a:fillRef>
          <a:effectRef idx="0">
            <a:schemeClr val="accent1"/>
          </a:effectRef>
          <a:fontRef idx="minor">
            <a:schemeClr val="dk1"/>
          </a:fontRef>
        </p:style>
        <p:txBody>
          <a:bodyPr/>
          <a:lstStyle/>
          <a:p>
            <a:endParaRPr lang="en-IN">
              <a:solidFill>
                <a:srgbClr val="00B050"/>
              </a:solidFill>
            </a:endParaRPr>
          </a:p>
        </p:txBody>
      </p:sp>
      <p:sp>
        <p:nvSpPr>
          <p:cNvPr id="5" name="Shape 3"/>
          <p:cNvSpPr/>
          <p:nvPr/>
        </p:nvSpPr>
        <p:spPr>
          <a:xfrm>
            <a:off x="1828800" y="1737360"/>
            <a:ext cx="1371600" cy="914400"/>
          </a:xfrm>
          <a:prstGeom prst="line">
            <a:avLst/>
          </a:prstGeom>
          <a:ln/>
        </p:spPr>
        <p:style>
          <a:lnRef idx="2">
            <a:schemeClr val="accent1"/>
          </a:lnRef>
          <a:fillRef idx="1">
            <a:schemeClr val="lt1"/>
          </a:fillRef>
          <a:effectRef idx="0">
            <a:schemeClr val="accent1"/>
          </a:effectRef>
          <a:fontRef idx="minor">
            <a:schemeClr val="dk1"/>
          </a:fontRef>
        </p:style>
        <p:txBody>
          <a:bodyPr/>
          <a:lstStyle/>
          <a:p>
            <a:endParaRPr lang="en-IN">
              <a:solidFill>
                <a:srgbClr val="00B050"/>
              </a:solidFill>
            </a:endParaRPr>
          </a:p>
        </p:txBody>
      </p:sp>
      <p:sp>
        <p:nvSpPr>
          <p:cNvPr id="6" name="Text 4"/>
          <p:cNvSpPr/>
          <p:nvPr/>
        </p:nvSpPr>
        <p:spPr>
          <a:xfrm>
            <a:off x="1828800" y="1965960"/>
            <a:ext cx="1371600" cy="457200"/>
          </a:xfrm>
          <a:prstGeom prst="rect">
            <a:avLst/>
          </a:prstGeom>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ctr">
              <a:buNone/>
            </a:pPr>
            <a:r>
              <a:rPr lang="en-US" sz="1000" b="1" dirty="0">
                <a:solidFill>
                  <a:srgbClr val="00B050"/>
                </a:solidFill>
                <a:latin typeface="Segoe UI" pitchFamily="34" charset="0"/>
                <a:ea typeface="Segoe UI" pitchFamily="34" charset="-122"/>
                <a:cs typeface="Segoe UI" pitchFamily="34" charset="-120"/>
              </a:rPr>
              <a:t>Orchestrator</a:t>
            </a:r>
            <a:endParaRPr lang="en-US" sz="1000" dirty="0">
              <a:solidFill>
                <a:srgbClr val="00B050"/>
              </a:solidFill>
            </a:endParaRPr>
          </a:p>
        </p:txBody>
      </p:sp>
      <p:sp>
        <p:nvSpPr>
          <p:cNvPr id="7" name="Shape 5"/>
          <p:cNvSpPr/>
          <p:nvPr/>
        </p:nvSpPr>
        <p:spPr>
          <a:xfrm>
            <a:off x="731520" y="1097280"/>
            <a:ext cx="1005840" cy="731520"/>
          </a:xfrm>
          <a:prstGeom prst="line">
            <a:avLst/>
          </a:prstGeom>
          <a:ln/>
        </p:spPr>
        <p:style>
          <a:lnRef idx="2">
            <a:schemeClr val="accent1"/>
          </a:lnRef>
          <a:fillRef idx="1">
            <a:schemeClr val="lt1"/>
          </a:fillRef>
          <a:effectRef idx="0">
            <a:schemeClr val="accent1"/>
          </a:effectRef>
          <a:fontRef idx="minor">
            <a:schemeClr val="dk1"/>
          </a:fontRef>
        </p:style>
        <p:txBody>
          <a:bodyPr/>
          <a:lstStyle/>
          <a:p>
            <a:endParaRPr lang="en-IN">
              <a:solidFill>
                <a:srgbClr val="00B050"/>
              </a:solidFill>
            </a:endParaRPr>
          </a:p>
        </p:txBody>
      </p:sp>
      <p:sp>
        <p:nvSpPr>
          <p:cNvPr id="8" name="Text 6"/>
          <p:cNvSpPr/>
          <p:nvPr/>
        </p:nvSpPr>
        <p:spPr>
          <a:xfrm>
            <a:off x="731520" y="1234440"/>
            <a:ext cx="1005840" cy="457200"/>
          </a:xfrm>
          <a:prstGeom prst="rect">
            <a:avLst/>
          </a:prstGeom>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ctr">
              <a:buNone/>
            </a:pPr>
            <a:r>
              <a:rPr lang="en-US" sz="800" b="1" dirty="0">
                <a:solidFill>
                  <a:srgbClr val="00B050"/>
                </a:solidFill>
                <a:latin typeface="Segoe UI" pitchFamily="34" charset="0"/>
                <a:ea typeface="Segoe UI" pitchFamily="34" charset="-122"/>
                <a:cs typeface="Segoe UI" pitchFamily="34" charset="-120"/>
              </a:rPr>
              <a:t>Claims</a:t>
            </a:r>
            <a:endParaRPr lang="en-US" sz="800" dirty="0">
              <a:solidFill>
                <a:srgbClr val="00B050"/>
              </a:solidFill>
            </a:endParaRPr>
          </a:p>
          <a:p>
            <a:pPr marL="0" indent="0" algn="ctr">
              <a:buNone/>
            </a:pPr>
            <a:r>
              <a:rPr lang="en-US" sz="800" b="1" dirty="0">
                <a:solidFill>
                  <a:srgbClr val="00B050"/>
                </a:solidFill>
                <a:latin typeface="Segoe UI" pitchFamily="34" charset="0"/>
                <a:ea typeface="Segoe UI" pitchFamily="34" charset="-122"/>
                <a:cs typeface="Segoe UI" pitchFamily="34" charset="-120"/>
              </a:rPr>
              <a:t>Agent</a:t>
            </a:r>
            <a:endParaRPr lang="en-US" sz="800" dirty="0">
              <a:solidFill>
                <a:srgbClr val="00B050"/>
              </a:solidFill>
            </a:endParaRPr>
          </a:p>
        </p:txBody>
      </p:sp>
      <p:sp>
        <p:nvSpPr>
          <p:cNvPr id="9" name="Shape 7"/>
          <p:cNvSpPr/>
          <p:nvPr/>
        </p:nvSpPr>
        <p:spPr>
          <a:xfrm>
            <a:off x="2926080" y="1097280"/>
            <a:ext cx="1005840" cy="731520"/>
          </a:xfrm>
          <a:prstGeom prst="line">
            <a:avLst/>
          </a:prstGeom>
          <a:ln/>
        </p:spPr>
        <p:style>
          <a:lnRef idx="2">
            <a:schemeClr val="accent1"/>
          </a:lnRef>
          <a:fillRef idx="1">
            <a:schemeClr val="lt1"/>
          </a:fillRef>
          <a:effectRef idx="0">
            <a:schemeClr val="accent1"/>
          </a:effectRef>
          <a:fontRef idx="minor">
            <a:schemeClr val="dk1"/>
          </a:fontRef>
        </p:style>
        <p:txBody>
          <a:bodyPr/>
          <a:lstStyle/>
          <a:p>
            <a:endParaRPr lang="en-IN">
              <a:solidFill>
                <a:srgbClr val="00B050"/>
              </a:solidFill>
            </a:endParaRPr>
          </a:p>
        </p:txBody>
      </p:sp>
      <p:sp>
        <p:nvSpPr>
          <p:cNvPr id="10" name="Text 8"/>
          <p:cNvSpPr/>
          <p:nvPr/>
        </p:nvSpPr>
        <p:spPr>
          <a:xfrm>
            <a:off x="2926080" y="1234440"/>
            <a:ext cx="1005840" cy="457200"/>
          </a:xfrm>
          <a:prstGeom prst="rect">
            <a:avLst/>
          </a:prstGeom>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ctr">
              <a:buNone/>
            </a:pPr>
            <a:r>
              <a:rPr lang="en-US" sz="800" b="1" dirty="0">
                <a:solidFill>
                  <a:srgbClr val="00B050"/>
                </a:solidFill>
                <a:latin typeface="Segoe UI" pitchFamily="34" charset="0"/>
                <a:ea typeface="Segoe UI" pitchFamily="34" charset="-122"/>
                <a:cs typeface="Segoe UI" pitchFamily="34" charset="-120"/>
              </a:rPr>
              <a:t>Policy</a:t>
            </a:r>
            <a:endParaRPr lang="en-US" sz="800" dirty="0">
              <a:solidFill>
                <a:srgbClr val="00B050"/>
              </a:solidFill>
            </a:endParaRPr>
          </a:p>
          <a:p>
            <a:pPr marL="0" indent="0" algn="ctr">
              <a:buNone/>
            </a:pPr>
            <a:r>
              <a:rPr lang="en-US" sz="800" b="1" dirty="0">
                <a:solidFill>
                  <a:srgbClr val="00B050"/>
                </a:solidFill>
                <a:latin typeface="Segoe UI" pitchFamily="34" charset="0"/>
                <a:ea typeface="Segoe UI" pitchFamily="34" charset="-122"/>
                <a:cs typeface="Segoe UI" pitchFamily="34" charset="-120"/>
              </a:rPr>
              <a:t>Agent</a:t>
            </a:r>
            <a:endParaRPr lang="en-US" sz="800" dirty="0">
              <a:solidFill>
                <a:srgbClr val="00B050"/>
              </a:solidFill>
            </a:endParaRPr>
          </a:p>
        </p:txBody>
      </p:sp>
      <p:sp>
        <p:nvSpPr>
          <p:cNvPr id="11" name="Shape 9"/>
          <p:cNvSpPr/>
          <p:nvPr/>
        </p:nvSpPr>
        <p:spPr>
          <a:xfrm>
            <a:off x="731520" y="2651760"/>
            <a:ext cx="1005840" cy="731520"/>
          </a:xfrm>
          <a:prstGeom prst="line">
            <a:avLst/>
          </a:prstGeom>
          <a:ln/>
        </p:spPr>
        <p:style>
          <a:lnRef idx="2">
            <a:schemeClr val="accent1"/>
          </a:lnRef>
          <a:fillRef idx="1">
            <a:schemeClr val="lt1"/>
          </a:fillRef>
          <a:effectRef idx="0">
            <a:schemeClr val="accent1"/>
          </a:effectRef>
          <a:fontRef idx="minor">
            <a:schemeClr val="dk1"/>
          </a:fontRef>
        </p:style>
        <p:txBody>
          <a:bodyPr/>
          <a:lstStyle/>
          <a:p>
            <a:endParaRPr lang="en-IN">
              <a:solidFill>
                <a:srgbClr val="00B050"/>
              </a:solidFill>
            </a:endParaRPr>
          </a:p>
        </p:txBody>
      </p:sp>
      <p:sp>
        <p:nvSpPr>
          <p:cNvPr id="12" name="Text 10"/>
          <p:cNvSpPr/>
          <p:nvPr/>
        </p:nvSpPr>
        <p:spPr>
          <a:xfrm>
            <a:off x="731520" y="2788920"/>
            <a:ext cx="1005840" cy="457200"/>
          </a:xfrm>
          <a:prstGeom prst="rect">
            <a:avLst/>
          </a:prstGeom>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ctr">
              <a:buNone/>
            </a:pPr>
            <a:r>
              <a:rPr lang="en-US" sz="800" b="1" dirty="0">
                <a:solidFill>
                  <a:srgbClr val="00B050"/>
                </a:solidFill>
                <a:latin typeface="Segoe UI" pitchFamily="34" charset="0"/>
                <a:ea typeface="Segoe UI" pitchFamily="34" charset="-122"/>
                <a:cs typeface="Segoe UI" pitchFamily="34" charset="-120"/>
              </a:rPr>
              <a:t>Customer</a:t>
            </a:r>
            <a:endParaRPr lang="en-US" sz="800" dirty="0">
              <a:solidFill>
                <a:srgbClr val="00B050"/>
              </a:solidFill>
            </a:endParaRPr>
          </a:p>
          <a:p>
            <a:pPr marL="0" indent="0" algn="ctr">
              <a:buNone/>
            </a:pPr>
            <a:r>
              <a:rPr lang="en-US" sz="800" b="1" dirty="0">
                <a:solidFill>
                  <a:srgbClr val="00B050"/>
                </a:solidFill>
                <a:latin typeface="Segoe UI" pitchFamily="34" charset="0"/>
                <a:ea typeface="Segoe UI" pitchFamily="34" charset="-122"/>
                <a:cs typeface="Segoe UI" pitchFamily="34" charset="-120"/>
              </a:rPr>
              <a:t>Agent</a:t>
            </a:r>
            <a:endParaRPr lang="en-US" sz="800" dirty="0">
              <a:solidFill>
                <a:srgbClr val="00B050"/>
              </a:solidFill>
            </a:endParaRPr>
          </a:p>
        </p:txBody>
      </p:sp>
      <p:sp>
        <p:nvSpPr>
          <p:cNvPr id="13" name="Shape 11"/>
          <p:cNvSpPr/>
          <p:nvPr/>
        </p:nvSpPr>
        <p:spPr>
          <a:xfrm>
            <a:off x="2926080" y="2651760"/>
            <a:ext cx="1005840" cy="731520"/>
          </a:xfrm>
          <a:prstGeom prst="line">
            <a:avLst/>
          </a:prstGeom>
          <a:ln/>
        </p:spPr>
        <p:style>
          <a:lnRef idx="2">
            <a:schemeClr val="accent1"/>
          </a:lnRef>
          <a:fillRef idx="1">
            <a:schemeClr val="lt1"/>
          </a:fillRef>
          <a:effectRef idx="0">
            <a:schemeClr val="accent1"/>
          </a:effectRef>
          <a:fontRef idx="minor">
            <a:schemeClr val="dk1"/>
          </a:fontRef>
        </p:style>
        <p:txBody>
          <a:bodyPr/>
          <a:lstStyle/>
          <a:p>
            <a:endParaRPr lang="en-IN">
              <a:solidFill>
                <a:srgbClr val="00B050"/>
              </a:solidFill>
            </a:endParaRPr>
          </a:p>
        </p:txBody>
      </p:sp>
      <p:sp>
        <p:nvSpPr>
          <p:cNvPr id="14" name="Text 12"/>
          <p:cNvSpPr/>
          <p:nvPr/>
        </p:nvSpPr>
        <p:spPr>
          <a:xfrm>
            <a:off x="2926080" y="2788920"/>
            <a:ext cx="1005840" cy="457200"/>
          </a:xfrm>
          <a:prstGeom prst="rect">
            <a:avLst/>
          </a:prstGeom>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ctr">
              <a:buNone/>
            </a:pPr>
            <a:r>
              <a:rPr lang="en-US" sz="800" b="1" dirty="0">
                <a:solidFill>
                  <a:srgbClr val="00B050"/>
                </a:solidFill>
                <a:latin typeface="Segoe UI" pitchFamily="34" charset="0"/>
                <a:ea typeface="Segoe UI" pitchFamily="34" charset="-122"/>
                <a:cs typeface="Segoe UI" pitchFamily="34" charset="-120"/>
              </a:rPr>
              <a:t>Trans.</a:t>
            </a:r>
            <a:endParaRPr lang="en-US" sz="800" dirty="0">
              <a:solidFill>
                <a:srgbClr val="00B050"/>
              </a:solidFill>
            </a:endParaRPr>
          </a:p>
          <a:p>
            <a:pPr marL="0" indent="0" algn="ctr">
              <a:buNone/>
            </a:pPr>
            <a:r>
              <a:rPr lang="en-US" sz="800" b="1" dirty="0">
                <a:solidFill>
                  <a:srgbClr val="00B050"/>
                </a:solidFill>
                <a:latin typeface="Segoe UI" pitchFamily="34" charset="0"/>
                <a:ea typeface="Segoe UI" pitchFamily="34" charset="-122"/>
                <a:cs typeface="Segoe UI" pitchFamily="34" charset="-120"/>
              </a:rPr>
              <a:t>Agent</a:t>
            </a:r>
            <a:endParaRPr lang="en-US" sz="800" dirty="0">
              <a:solidFill>
                <a:srgbClr val="00B050"/>
              </a:solidFill>
            </a:endParaRPr>
          </a:p>
        </p:txBody>
      </p:sp>
      <p:sp>
        <p:nvSpPr>
          <p:cNvPr id="15" name="Text 13"/>
          <p:cNvSpPr/>
          <p:nvPr/>
        </p:nvSpPr>
        <p:spPr>
          <a:xfrm>
            <a:off x="2103120" y="3566160"/>
            <a:ext cx="822960" cy="274320"/>
          </a:xfrm>
          <a:prstGeom prst="rect">
            <a:avLst/>
          </a:prstGeom>
          <a:ln/>
        </p:spPr>
        <p:style>
          <a:lnRef idx="2">
            <a:schemeClr val="accent1"/>
          </a:lnRef>
          <a:fillRef idx="1">
            <a:schemeClr val="lt1"/>
          </a:fillRef>
          <a:effectRef idx="0">
            <a:schemeClr val="accent1"/>
          </a:effectRef>
          <a:fontRef idx="minor">
            <a:schemeClr val="dk1"/>
          </a:fontRef>
        </p:style>
        <p:txBody>
          <a:bodyPr wrap="square" rtlCol="0" anchor="ctr"/>
          <a:lstStyle/>
          <a:p>
            <a:pPr marL="0" indent="0" algn="ctr">
              <a:buNone/>
            </a:pPr>
            <a:r>
              <a:rPr lang="en-US" sz="1000" dirty="0">
                <a:solidFill>
                  <a:srgbClr val="00B050"/>
                </a:solidFill>
                <a:latin typeface="Segoe UI" pitchFamily="34" charset="0"/>
                <a:ea typeface="Segoe UI" pitchFamily="34" charset="-122"/>
                <a:cs typeface="Segoe UI" pitchFamily="34" charset="-120"/>
              </a:rPr>
              <a:t>👤 User</a:t>
            </a:r>
            <a:endParaRPr lang="en-US" sz="1000" dirty="0">
              <a:solidFill>
                <a:srgbClr val="00B050"/>
              </a:solidFill>
            </a:endParaRPr>
          </a:p>
        </p:txBody>
      </p:sp>
      <p:sp>
        <p:nvSpPr>
          <p:cNvPr id="16" name="Shape 14"/>
          <p:cNvSpPr/>
          <p:nvPr/>
        </p:nvSpPr>
        <p:spPr>
          <a:xfrm>
            <a:off x="4754880" y="914400"/>
            <a:ext cx="3931920" cy="2926080"/>
          </a:xfrm>
          <a:prstGeom prst="rect">
            <a:avLst/>
          </a:prstGeom>
          <a:solidFill>
            <a:srgbClr val="FFFFFF"/>
          </a:solidFill>
          <a:ln/>
        </p:spPr>
        <p:txBody>
          <a:bodyPr/>
          <a:lstStyle/>
          <a:p>
            <a:endParaRPr lang="en-IN"/>
          </a:p>
        </p:txBody>
      </p:sp>
      <p:sp>
        <p:nvSpPr>
          <p:cNvPr id="17" name="Shape 15"/>
          <p:cNvSpPr/>
          <p:nvPr/>
        </p:nvSpPr>
        <p:spPr>
          <a:xfrm>
            <a:off x="4754880" y="914400"/>
            <a:ext cx="73152" cy="2926080"/>
          </a:xfrm>
          <a:prstGeom prst="rect">
            <a:avLst/>
          </a:prstGeom>
          <a:solidFill>
            <a:srgbClr val="0891B2"/>
          </a:solidFill>
          <a:ln/>
        </p:spPr>
        <p:txBody>
          <a:bodyPr/>
          <a:lstStyle/>
          <a:p>
            <a:endParaRPr lang="en-IN"/>
          </a:p>
        </p:txBody>
      </p:sp>
      <p:sp>
        <p:nvSpPr>
          <p:cNvPr id="18" name="Text 16"/>
          <p:cNvSpPr/>
          <p:nvPr/>
        </p:nvSpPr>
        <p:spPr>
          <a:xfrm>
            <a:off x="4983480" y="1005840"/>
            <a:ext cx="3566160" cy="320040"/>
          </a:xfrm>
          <a:prstGeom prst="rect">
            <a:avLst/>
          </a:prstGeom>
          <a:noFill/>
          <a:ln/>
        </p:spPr>
        <p:txBody>
          <a:bodyPr wrap="square" rtlCol="0" anchor="ctr"/>
          <a:lstStyle/>
          <a:p>
            <a:pPr marL="0" indent="0">
              <a:buNone/>
            </a:pPr>
            <a:r>
              <a:rPr lang="en-US" sz="1400" b="1" dirty="0">
                <a:solidFill>
                  <a:srgbClr val="0891B2"/>
                </a:solidFill>
                <a:latin typeface="Segoe UI" pitchFamily="34" charset="0"/>
                <a:ea typeface="Segoe UI" pitchFamily="34" charset="-122"/>
                <a:cs typeface="Segoe UI" pitchFamily="34" charset="-120"/>
              </a:rPr>
              <a:t>How It Works</a:t>
            </a:r>
            <a:endParaRPr lang="en-US" sz="1400" dirty="0"/>
          </a:p>
        </p:txBody>
      </p:sp>
      <p:sp>
        <p:nvSpPr>
          <p:cNvPr id="19" name="Text 17"/>
          <p:cNvSpPr/>
          <p:nvPr/>
        </p:nvSpPr>
        <p:spPr>
          <a:xfrm>
            <a:off x="4983480" y="1371600"/>
            <a:ext cx="3566160" cy="1188720"/>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 Central orchestrator receives ALL user requests</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Orchestrator delegates to specialists as needed</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Specialists do NOT communicate with each other</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All coordination flows through orchestrator</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User only interacts with orchestrator</a:t>
            </a:r>
            <a:endParaRPr lang="en-US" sz="1100" dirty="0"/>
          </a:p>
        </p:txBody>
      </p:sp>
      <p:sp>
        <p:nvSpPr>
          <p:cNvPr id="20" name="Text 18"/>
          <p:cNvSpPr/>
          <p:nvPr/>
        </p:nvSpPr>
        <p:spPr>
          <a:xfrm>
            <a:off x="4983480" y="2651760"/>
            <a:ext cx="3566160" cy="274320"/>
          </a:xfrm>
          <a:prstGeom prst="rect">
            <a:avLst/>
          </a:prstGeom>
          <a:noFill/>
          <a:ln/>
        </p:spPr>
        <p:txBody>
          <a:bodyPr wrap="square" rtlCol="0" anchor="ctr"/>
          <a:lstStyle/>
          <a:p>
            <a:pPr marL="0" indent="0">
              <a:buNone/>
            </a:pPr>
            <a:r>
              <a:rPr lang="en-US" sz="1200" b="1" dirty="0">
                <a:solidFill>
                  <a:srgbClr val="F59E0B"/>
                </a:solidFill>
                <a:latin typeface="Segoe UI" pitchFamily="34" charset="0"/>
                <a:ea typeface="Segoe UI" pitchFamily="34" charset="-122"/>
                <a:cs typeface="Segoe UI" pitchFamily="34" charset="-120"/>
              </a:rPr>
              <a:t>Best For</a:t>
            </a:r>
            <a:endParaRPr lang="en-US" sz="1200" dirty="0"/>
          </a:p>
        </p:txBody>
      </p:sp>
      <p:sp>
        <p:nvSpPr>
          <p:cNvPr id="21" name="Text 19"/>
          <p:cNvSpPr/>
          <p:nvPr/>
        </p:nvSpPr>
        <p:spPr>
          <a:xfrm>
            <a:off x="4983480" y="2926080"/>
            <a:ext cx="3566160" cy="64008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Clear governance, BFSI operations desks, when central coordination is essential</a:t>
            </a:r>
            <a:endParaRPr lang="en-US" sz="1000" dirty="0"/>
          </a:p>
        </p:txBody>
      </p:sp>
      <p:sp>
        <p:nvSpPr>
          <p:cNvPr id="22" name="Shape 20"/>
          <p:cNvSpPr/>
          <p:nvPr/>
        </p:nvSpPr>
        <p:spPr>
          <a:xfrm>
            <a:off x="457200" y="4023360"/>
            <a:ext cx="8229600" cy="548640"/>
          </a:xfrm>
          <a:prstGeom prst="rect">
            <a:avLst/>
          </a:prstGeom>
          <a:solidFill>
            <a:srgbClr val="EDE9FE"/>
          </a:solidFill>
          <a:ln/>
        </p:spPr>
        <p:txBody>
          <a:bodyPr/>
          <a:lstStyle/>
          <a:p>
            <a:endParaRPr lang="en-IN"/>
          </a:p>
        </p:txBody>
      </p:sp>
      <p:sp>
        <p:nvSpPr>
          <p:cNvPr id="23" name="Text 21"/>
          <p:cNvSpPr/>
          <p:nvPr/>
        </p:nvSpPr>
        <p:spPr>
          <a:xfrm>
            <a:off x="640080" y="4114800"/>
            <a:ext cx="7863840" cy="365760"/>
          </a:xfrm>
          <a:prstGeom prst="rect">
            <a:avLst/>
          </a:prstGeom>
          <a:noFill/>
          <a:ln/>
        </p:spPr>
        <p:txBody>
          <a:bodyPr wrap="square" rtlCol="0" anchor="ctr"/>
          <a:lstStyle/>
          <a:p>
            <a:pPr marL="0" indent="0">
              <a:buNone/>
            </a:pPr>
            <a:r>
              <a:rPr lang="en-US" sz="1100" b="1" dirty="0">
                <a:solidFill>
                  <a:srgbClr val="8B5CF6"/>
                </a:solidFill>
                <a:latin typeface="Segoe UI" pitchFamily="34" charset="0"/>
                <a:ea typeface="Segoe UI" pitchFamily="34" charset="-122"/>
                <a:cs typeface="Segoe UI" pitchFamily="34" charset="-120"/>
              </a:rPr>
              <a:t>✓ This is the topology we'll implement in this module — most practical with current Copilot Studio capabilities</a:t>
            </a:r>
            <a:endParaRPr lang="en-US" sz="1100" dirty="0"/>
          </a:p>
        </p:txBody>
      </p:sp>
      <p:sp>
        <p:nvSpPr>
          <p:cNvPr id="24" name="Shape 22"/>
          <p:cNvSpPr/>
          <p:nvPr/>
        </p:nvSpPr>
        <p:spPr>
          <a:xfrm>
            <a:off x="0" y="4846320"/>
            <a:ext cx="9144000" cy="297180"/>
          </a:xfrm>
          <a:prstGeom prst="rect">
            <a:avLst/>
          </a:prstGeom>
          <a:solidFill>
            <a:srgbClr val="F1F5F9"/>
          </a:solidFill>
          <a:ln/>
        </p:spPr>
        <p:txBody>
          <a:bodyPr/>
          <a:lstStyle/>
          <a:p>
            <a:endParaRPr lang="en-IN"/>
          </a:p>
        </p:txBody>
      </p:sp>
      <p:sp>
        <p:nvSpPr>
          <p:cNvPr id="25" name="Text 2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09</a:t>
            </a:r>
            <a:endParaRPr lang="en-US" sz="800" dirty="0"/>
          </a:p>
        </p:txBody>
      </p:sp>
      <p:sp>
        <p:nvSpPr>
          <p:cNvPr id="26" name="Text 24"/>
          <p:cNvSpPr/>
          <p:nvPr/>
        </p:nvSpPr>
        <p:spPr>
          <a:xfrm>
            <a:off x="7955280" y="487143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10 / 28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2" name="Shape 2">
            <a:extLst>
              <a:ext uri="{FF2B5EF4-FFF2-40B4-BE49-F238E27FC236}">
                <a16:creationId xmlns:a16="http://schemas.microsoft.com/office/drawing/2014/main" id="{CDDCC374-EA6C-3F0E-331D-F7C0D0612457}"/>
              </a:ext>
            </a:extLst>
          </p:cNvPr>
          <p:cNvSpPr/>
          <p:nvPr/>
        </p:nvSpPr>
        <p:spPr>
          <a:xfrm>
            <a:off x="457200" y="2835075"/>
            <a:ext cx="8229600" cy="896112"/>
          </a:xfrm>
          <a:prstGeom prst="rect">
            <a:avLst/>
          </a:prstGeom>
          <a:solidFill>
            <a:srgbClr val="E0F7FA"/>
          </a:solidFill>
          <a:ln/>
        </p:spPr>
        <p:txBody>
          <a:bodyPr/>
          <a:lstStyle/>
          <a:p>
            <a:endParaRPr lang="en-IN"/>
          </a:p>
        </p:txBody>
      </p:sp>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Multi-Agent Topology Comparison</a:t>
            </a:r>
            <a:endParaRPr lang="en-US" sz="2800" dirty="0"/>
          </a:p>
        </p:txBody>
      </p:sp>
      <p:sp>
        <p:nvSpPr>
          <p:cNvPr id="4" name="Shape 2"/>
          <p:cNvSpPr/>
          <p:nvPr/>
        </p:nvSpPr>
        <p:spPr>
          <a:xfrm>
            <a:off x="457200" y="868680"/>
            <a:ext cx="8229600" cy="896112"/>
          </a:xfrm>
          <a:prstGeom prst="rect">
            <a:avLst/>
          </a:prstGeom>
          <a:solidFill>
            <a:srgbClr val="E0F7FA"/>
          </a:solidFill>
          <a:ln/>
        </p:spPr>
        <p:txBody>
          <a:bodyPr/>
          <a:lstStyle/>
          <a:p>
            <a:endParaRPr lang="en-IN"/>
          </a:p>
        </p:txBody>
      </p:sp>
      <p:sp>
        <p:nvSpPr>
          <p:cNvPr id="5" name="Shape 3"/>
          <p:cNvSpPr/>
          <p:nvPr/>
        </p:nvSpPr>
        <p:spPr>
          <a:xfrm>
            <a:off x="457200" y="868680"/>
            <a:ext cx="73152" cy="896112"/>
          </a:xfrm>
          <a:prstGeom prst="rect">
            <a:avLst/>
          </a:prstGeom>
          <a:solidFill>
            <a:srgbClr val="0891B2"/>
          </a:solidFill>
          <a:ln/>
        </p:spPr>
        <p:txBody>
          <a:bodyPr/>
          <a:lstStyle/>
          <a:p>
            <a:endParaRPr lang="en-IN"/>
          </a:p>
        </p:txBody>
      </p:sp>
      <p:sp>
        <p:nvSpPr>
          <p:cNvPr id="6" name="Text 4"/>
          <p:cNvSpPr/>
          <p:nvPr/>
        </p:nvSpPr>
        <p:spPr>
          <a:xfrm>
            <a:off x="640080" y="941832"/>
            <a:ext cx="1645920" cy="320040"/>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Hub-and-Spoke</a:t>
            </a:r>
            <a:endParaRPr lang="en-US" sz="1200" dirty="0"/>
          </a:p>
        </p:txBody>
      </p:sp>
      <p:sp>
        <p:nvSpPr>
          <p:cNvPr id="7" name="Text 5"/>
          <p:cNvSpPr/>
          <p:nvPr/>
        </p:nvSpPr>
        <p:spPr>
          <a:xfrm>
            <a:off x="640080" y="1252728"/>
            <a:ext cx="2103120" cy="45720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Central orchestrator delegates to specialists</a:t>
            </a:r>
            <a:endParaRPr lang="en-US" sz="900" dirty="0"/>
          </a:p>
        </p:txBody>
      </p:sp>
      <p:sp>
        <p:nvSpPr>
          <p:cNvPr id="8" name="Text 6"/>
          <p:cNvSpPr/>
          <p:nvPr/>
        </p:nvSpPr>
        <p:spPr>
          <a:xfrm>
            <a:off x="2834640" y="1005840"/>
            <a:ext cx="2286000" cy="274320"/>
          </a:xfrm>
          <a:prstGeom prst="rect">
            <a:avLst/>
          </a:prstGeom>
          <a:noFill/>
          <a:ln/>
        </p:spPr>
        <p:txBody>
          <a:bodyPr wrap="square" rtlCol="0" anchor="ctr"/>
          <a:lstStyle/>
          <a:p>
            <a:pPr marL="0" indent="0">
              <a:buNone/>
            </a:pPr>
            <a:r>
              <a:rPr lang="en-US" sz="900" dirty="0">
                <a:solidFill>
                  <a:srgbClr val="22C55E"/>
                </a:solidFill>
                <a:latin typeface="Segoe UI" pitchFamily="34" charset="0"/>
                <a:ea typeface="Segoe UI" pitchFamily="34" charset="-122"/>
                <a:cs typeface="Segoe UI" pitchFamily="34" charset="-120"/>
              </a:rPr>
              <a:t>✓ Clear governance, single user interface</a:t>
            </a:r>
            <a:endParaRPr lang="en-US" sz="900" dirty="0"/>
          </a:p>
        </p:txBody>
      </p:sp>
      <p:sp>
        <p:nvSpPr>
          <p:cNvPr id="9" name="Text 7"/>
          <p:cNvSpPr/>
          <p:nvPr/>
        </p:nvSpPr>
        <p:spPr>
          <a:xfrm>
            <a:off x="2834640" y="1325880"/>
            <a:ext cx="2286000" cy="365760"/>
          </a:xfrm>
          <a:prstGeom prst="rect">
            <a:avLst/>
          </a:prstGeom>
          <a:noFill/>
          <a:ln/>
        </p:spPr>
        <p:txBody>
          <a:bodyPr wrap="square" rtlCol="0" anchor="ctr"/>
          <a:lstStyle/>
          <a:p>
            <a:pPr marL="0" indent="0">
              <a:buNone/>
            </a:pPr>
            <a:r>
              <a:rPr lang="en-US" sz="900" dirty="0">
                <a:solidFill>
                  <a:srgbClr val="EF4444"/>
                </a:solidFill>
                <a:latin typeface="Segoe UI" pitchFamily="34" charset="0"/>
                <a:ea typeface="Segoe UI" pitchFamily="34" charset="-122"/>
                <a:cs typeface="Segoe UI" pitchFamily="34" charset="-120"/>
              </a:rPr>
              <a:t>✗ Orchestrator is bottleneck</a:t>
            </a:r>
            <a:endParaRPr lang="en-US" sz="900" dirty="0"/>
          </a:p>
        </p:txBody>
      </p:sp>
      <p:sp>
        <p:nvSpPr>
          <p:cNvPr id="10" name="Text 8"/>
          <p:cNvSpPr/>
          <p:nvPr/>
        </p:nvSpPr>
        <p:spPr>
          <a:xfrm>
            <a:off x="5303520" y="1143000"/>
            <a:ext cx="3200400" cy="36576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BFSI operations (this module)</a:t>
            </a:r>
            <a:endParaRPr lang="en-US" sz="1000" dirty="0"/>
          </a:p>
        </p:txBody>
      </p:sp>
      <p:sp>
        <p:nvSpPr>
          <p:cNvPr id="11" name="Shape 9"/>
          <p:cNvSpPr/>
          <p:nvPr/>
        </p:nvSpPr>
        <p:spPr>
          <a:xfrm>
            <a:off x="457200" y="1856232"/>
            <a:ext cx="8229600" cy="896112"/>
          </a:xfrm>
          <a:prstGeom prst="rect">
            <a:avLst/>
          </a:prstGeom>
          <a:solidFill>
            <a:srgbClr val="F1F5F9"/>
          </a:solidFill>
          <a:ln/>
        </p:spPr>
        <p:txBody>
          <a:bodyPr/>
          <a:lstStyle/>
          <a:p>
            <a:endParaRPr lang="en-IN"/>
          </a:p>
        </p:txBody>
      </p:sp>
      <p:sp>
        <p:nvSpPr>
          <p:cNvPr id="12" name="Text 10"/>
          <p:cNvSpPr/>
          <p:nvPr/>
        </p:nvSpPr>
        <p:spPr>
          <a:xfrm>
            <a:off x="640080" y="1929384"/>
            <a:ext cx="164592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Pipeline</a:t>
            </a:r>
            <a:endParaRPr lang="en-US" sz="1200" dirty="0"/>
          </a:p>
        </p:txBody>
      </p:sp>
      <p:sp>
        <p:nvSpPr>
          <p:cNvPr id="13" name="Text 11"/>
          <p:cNvSpPr/>
          <p:nvPr/>
        </p:nvSpPr>
        <p:spPr>
          <a:xfrm>
            <a:off x="640080" y="2240280"/>
            <a:ext cx="2103120" cy="45720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Agents pass work in sequence like assembly line</a:t>
            </a:r>
            <a:endParaRPr lang="en-US" sz="900" dirty="0"/>
          </a:p>
        </p:txBody>
      </p:sp>
      <p:sp>
        <p:nvSpPr>
          <p:cNvPr id="14" name="Text 12"/>
          <p:cNvSpPr/>
          <p:nvPr/>
        </p:nvSpPr>
        <p:spPr>
          <a:xfrm>
            <a:off x="2834640" y="1993392"/>
            <a:ext cx="2286000" cy="274320"/>
          </a:xfrm>
          <a:prstGeom prst="rect">
            <a:avLst/>
          </a:prstGeom>
          <a:noFill/>
          <a:ln/>
        </p:spPr>
        <p:txBody>
          <a:bodyPr wrap="square" rtlCol="0" anchor="ctr"/>
          <a:lstStyle/>
          <a:p>
            <a:pPr marL="0" indent="0">
              <a:buNone/>
            </a:pPr>
            <a:r>
              <a:rPr lang="en-US" sz="900" dirty="0">
                <a:solidFill>
                  <a:srgbClr val="22C55E"/>
                </a:solidFill>
                <a:latin typeface="Segoe UI" pitchFamily="34" charset="0"/>
                <a:ea typeface="Segoe UI" pitchFamily="34" charset="-122"/>
                <a:cs typeface="Segoe UI" pitchFamily="34" charset="-120"/>
              </a:rPr>
              <a:t>✓ Clear data flow, good for sequential processing</a:t>
            </a:r>
            <a:endParaRPr lang="en-US" sz="900" dirty="0"/>
          </a:p>
        </p:txBody>
      </p:sp>
      <p:sp>
        <p:nvSpPr>
          <p:cNvPr id="15" name="Text 13"/>
          <p:cNvSpPr/>
          <p:nvPr/>
        </p:nvSpPr>
        <p:spPr>
          <a:xfrm>
            <a:off x="2834640" y="2313432"/>
            <a:ext cx="2286000" cy="365760"/>
          </a:xfrm>
          <a:prstGeom prst="rect">
            <a:avLst/>
          </a:prstGeom>
          <a:noFill/>
          <a:ln/>
        </p:spPr>
        <p:txBody>
          <a:bodyPr wrap="square" rtlCol="0" anchor="ctr"/>
          <a:lstStyle/>
          <a:p>
            <a:pPr marL="0" indent="0">
              <a:buNone/>
            </a:pPr>
            <a:r>
              <a:rPr lang="en-US" sz="900" dirty="0">
                <a:solidFill>
                  <a:srgbClr val="EF4444"/>
                </a:solidFill>
                <a:latin typeface="Segoe UI" pitchFamily="34" charset="0"/>
                <a:ea typeface="Segoe UI" pitchFamily="34" charset="-122"/>
                <a:cs typeface="Segoe UI" pitchFamily="34" charset="-120"/>
              </a:rPr>
              <a:t>✗ Rigid, hard to skip steps</a:t>
            </a:r>
            <a:endParaRPr lang="en-US" sz="900" dirty="0"/>
          </a:p>
        </p:txBody>
      </p:sp>
      <p:sp>
        <p:nvSpPr>
          <p:cNvPr id="16" name="Text 14"/>
          <p:cNvSpPr/>
          <p:nvPr/>
        </p:nvSpPr>
        <p:spPr>
          <a:xfrm>
            <a:off x="5303520" y="2130552"/>
            <a:ext cx="3200400" cy="36576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Document processing, data pipelines</a:t>
            </a:r>
            <a:endParaRPr lang="en-US" sz="1000" dirty="0"/>
          </a:p>
        </p:txBody>
      </p:sp>
      <p:sp>
        <p:nvSpPr>
          <p:cNvPr id="18" name="Text 16"/>
          <p:cNvSpPr/>
          <p:nvPr/>
        </p:nvSpPr>
        <p:spPr>
          <a:xfrm>
            <a:off x="640080" y="2916936"/>
            <a:ext cx="164592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Peer-to-Peer</a:t>
            </a:r>
            <a:endParaRPr lang="en-US" sz="1200" dirty="0"/>
          </a:p>
        </p:txBody>
      </p:sp>
      <p:sp>
        <p:nvSpPr>
          <p:cNvPr id="19" name="Text 17"/>
          <p:cNvSpPr/>
          <p:nvPr/>
        </p:nvSpPr>
        <p:spPr>
          <a:xfrm>
            <a:off x="640080" y="3227832"/>
            <a:ext cx="2103120" cy="45720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Agents communicate directly with each other</a:t>
            </a:r>
            <a:endParaRPr lang="en-US" sz="900" dirty="0"/>
          </a:p>
        </p:txBody>
      </p:sp>
      <p:sp>
        <p:nvSpPr>
          <p:cNvPr id="20" name="Text 18"/>
          <p:cNvSpPr/>
          <p:nvPr/>
        </p:nvSpPr>
        <p:spPr>
          <a:xfrm>
            <a:off x="2834640" y="2980944"/>
            <a:ext cx="2286000" cy="274320"/>
          </a:xfrm>
          <a:prstGeom prst="rect">
            <a:avLst/>
          </a:prstGeom>
          <a:noFill/>
          <a:ln/>
        </p:spPr>
        <p:txBody>
          <a:bodyPr wrap="square" rtlCol="0" anchor="ctr"/>
          <a:lstStyle/>
          <a:p>
            <a:pPr marL="0" indent="0">
              <a:buNone/>
            </a:pPr>
            <a:r>
              <a:rPr lang="en-US" sz="900" dirty="0">
                <a:solidFill>
                  <a:srgbClr val="22C55E"/>
                </a:solidFill>
                <a:latin typeface="Segoe UI" pitchFamily="34" charset="0"/>
                <a:ea typeface="Segoe UI" pitchFamily="34" charset="-122"/>
                <a:cs typeface="Segoe UI" pitchFamily="34" charset="-120"/>
              </a:rPr>
              <a:t>✓ Flexible, no central bottleneck</a:t>
            </a:r>
            <a:endParaRPr lang="en-US" sz="900" dirty="0"/>
          </a:p>
        </p:txBody>
      </p:sp>
      <p:sp>
        <p:nvSpPr>
          <p:cNvPr id="21" name="Text 19"/>
          <p:cNvSpPr/>
          <p:nvPr/>
        </p:nvSpPr>
        <p:spPr>
          <a:xfrm>
            <a:off x="2834640" y="3300984"/>
            <a:ext cx="2286000" cy="365760"/>
          </a:xfrm>
          <a:prstGeom prst="rect">
            <a:avLst/>
          </a:prstGeom>
          <a:noFill/>
          <a:ln/>
        </p:spPr>
        <p:txBody>
          <a:bodyPr wrap="square" rtlCol="0" anchor="ctr"/>
          <a:lstStyle/>
          <a:p>
            <a:pPr marL="0" indent="0">
              <a:buNone/>
            </a:pPr>
            <a:r>
              <a:rPr lang="en-US" sz="900" dirty="0">
                <a:solidFill>
                  <a:srgbClr val="EF4444"/>
                </a:solidFill>
                <a:latin typeface="Segoe UI" pitchFamily="34" charset="0"/>
                <a:ea typeface="Segoe UI" pitchFamily="34" charset="-122"/>
                <a:cs typeface="Segoe UI" pitchFamily="34" charset="-120"/>
              </a:rPr>
              <a:t>✗ Complex governance, hard to audit</a:t>
            </a:r>
            <a:endParaRPr lang="en-US" sz="900" dirty="0"/>
          </a:p>
        </p:txBody>
      </p:sp>
      <p:sp>
        <p:nvSpPr>
          <p:cNvPr id="22" name="Text 20"/>
          <p:cNvSpPr/>
          <p:nvPr/>
        </p:nvSpPr>
        <p:spPr>
          <a:xfrm>
            <a:off x="5303520" y="3118104"/>
            <a:ext cx="3200400" cy="36576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Collaborative analysis</a:t>
            </a:r>
            <a:endParaRPr lang="en-US" sz="1000" dirty="0"/>
          </a:p>
        </p:txBody>
      </p:sp>
      <p:sp>
        <p:nvSpPr>
          <p:cNvPr id="23" name="Shape 21"/>
          <p:cNvSpPr/>
          <p:nvPr/>
        </p:nvSpPr>
        <p:spPr>
          <a:xfrm>
            <a:off x="457200" y="3840480"/>
            <a:ext cx="8229600" cy="896112"/>
          </a:xfrm>
          <a:prstGeom prst="rect">
            <a:avLst/>
          </a:prstGeom>
          <a:solidFill>
            <a:srgbClr val="F1F5F9"/>
          </a:solidFill>
          <a:ln/>
        </p:spPr>
        <p:txBody>
          <a:bodyPr/>
          <a:lstStyle/>
          <a:p>
            <a:endParaRPr lang="en-IN"/>
          </a:p>
        </p:txBody>
      </p:sp>
      <p:sp>
        <p:nvSpPr>
          <p:cNvPr id="24" name="Text 22"/>
          <p:cNvSpPr/>
          <p:nvPr/>
        </p:nvSpPr>
        <p:spPr>
          <a:xfrm>
            <a:off x="640080" y="3904488"/>
            <a:ext cx="164592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Hierarchical</a:t>
            </a:r>
            <a:endParaRPr lang="en-US" sz="1200" dirty="0"/>
          </a:p>
        </p:txBody>
      </p:sp>
      <p:sp>
        <p:nvSpPr>
          <p:cNvPr id="25" name="Text 23"/>
          <p:cNvSpPr/>
          <p:nvPr/>
        </p:nvSpPr>
        <p:spPr>
          <a:xfrm>
            <a:off x="640080" y="4215384"/>
            <a:ext cx="2103120" cy="45720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Multiple levels of orchestrators and specialists</a:t>
            </a:r>
            <a:endParaRPr lang="en-US" sz="900" dirty="0"/>
          </a:p>
        </p:txBody>
      </p:sp>
      <p:sp>
        <p:nvSpPr>
          <p:cNvPr id="26" name="Text 24"/>
          <p:cNvSpPr/>
          <p:nvPr/>
        </p:nvSpPr>
        <p:spPr>
          <a:xfrm>
            <a:off x="2834640" y="3968496"/>
            <a:ext cx="2286000" cy="274320"/>
          </a:xfrm>
          <a:prstGeom prst="rect">
            <a:avLst/>
          </a:prstGeom>
          <a:noFill/>
          <a:ln/>
        </p:spPr>
        <p:txBody>
          <a:bodyPr wrap="square" rtlCol="0" anchor="ctr"/>
          <a:lstStyle/>
          <a:p>
            <a:pPr marL="0" indent="0">
              <a:buNone/>
            </a:pPr>
            <a:r>
              <a:rPr lang="en-US" sz="900" dirty="0">
                <a:solidFill>
                  <a:srgbClr val="22C55E"/>
                </a:solidFill>
                <a:latin typeface="Segoe UI" pitchFamily="34" charset="0"/>
                <a:ea typeface="Segoe UI" pitchFamily="34" charset="-122"/>
                <a:cs typeface="Segoe UI" pitchFamily="34" charset="-120"/>
              </a:rPr>
              <a:t>✓ Scales to large organisations</a:t>
            </a:r>
            <a:endParaRPr lang="en-US" sz="900" dirty="0"/>
          </a:p>
        </p:txBody>
      </p:sp>
      <p:sp>
        <p:nvSpPr>
          <p:cNvPr id="27" name="Text 25"/>
          <p:cNvSpPr/>
          <p:nvPr/>
        </p:nvSpPr>
        <p:spPr>
          <a:xfrm>
            <a:off x="2834640" y="4288536"/>
            <a:ext cx="2286000" cy="365760"/>
          </a:xfrm>
          <a:prstGeom prst="rect">
            <a:avLst/>
          </a:prstGeom>
          <a:noFill/>
          <a:ln/>
        </p:spPr>
        <p:txBody>
          <a:bodyPr wrap="square" rtlCol="0" anchor="ctr"/>
          <a:lstStyle/>
          <a:p>
            <a:pPr marL="0" indent="0">
              <a:buNone/>
            </a:pPr>
            <a:r>
              <a:rPr lang="en-US" sz="900" dirty="0">
                <a:solidFill>
                  <a:srgbClr val="EF4444"/>
                </a:solidFill>
                <a:latin typeface="Segoe UI" pitchFamily="34" charset="0"/>
                <a:ea typeface="Segoe UI" pitchFamily="34" charset="-122"/>
                <a:cs typeface="Segoe UI" pitchFamily="34" charset="-120"/>
              </a:rPr>
              <a:t>✗ Complex to implement</a:t>
            </a:r>
            <a:endParaRPr lang="en-US" sz="900" dirty="0"/>
          </a:p>
        </p:txBody>
      </p:sp>
      <p:sp>
        <p:nvSpPr>
          <p:cNvPr id="28" name="Text 26"/>
          <p:cNvSpPr/>
          <p:nvPr/>
        </p:nvSpPr>
        <p:spPr>
          <a:xfrm>
            <a:off x="5303520" y="4105656"/>
            <a:ext cx="3200400" cy="36576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Enterprise-wide deployments</a:t>
            </a:r>
            <a:endParaRPr lang="en-US" sz="1000" dirty="0"/>
          </a:p>
        </p:txBody>
      </p:sp>
      <p:sp>
        <p:nvSpPr>
          <p:cNvPr id="29" name="Shape 27"/>
          <p:cNvSpPr/>
          <p:nvPr/>
        </p:nvSpPr>
        <p:spPr>
          <a:xfrm>
            <a:off x="0" y="4846320"/>
            <a:ext cx="9144000" cy="297180"/>
          </a:xfrm>
          <a:prstGeom prst="rect">
            <a:avLst/>
          </a:prstGeom>
          <a:solidFill>
            <a:srgbClr val="F1F5F9"/>
          </a:solidFill>
          <a:ln/>
        </p:spPr>
        <p:txBody>
          <a:bodyPr/>
          <a:lstStyle/>
          <a:p>
            <a:endParaRPr lang="en-IN"/>
          </a:p>
        </p:txBody>
      </p:sp>
      <p:sp>
        <p:nvSpPr>
          <p:cNvPr id="30" name="Text 2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09</a:t>
            </a:r>
            <a:endParaRPr lang="en-US" sz="800" dirty="0"/>
          </a:p>
        </p:txBody>
      </p:sp>
      <p:sp>
        <p:nvSpPr>
          <p:cNvPr id="31" name="Text 29"/>
          <p:cNvSpPr/>
          <p:nvPr/>
        </p:nvSpPr>
        <p:spPr>
          <a:xfrm>
            <a:off x="7955280" y="4877889"/>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11 / 28</a:t>
            </a:r>
            <a:endParaRPr lang="en-US" sz="900" dirty="0"/>
          </a:p>
        </p:txBody>
      </p:sp>
      <p:sp>
        <p:nvSpPr>
          <p:cNvPr id="34" name="Shape 3">
            <a:extLst>
              <a:ext uri="{FF2B5EF4-FFF2-40B4-BE49-F238E27FC236}">
                <a16:creationId xmlns:a16="http://schemas.microsoft.com/office/drawing/2014/main" id="{37346470-039E-FB38-EE27-80BDBABF1355}"/>
              </a:ext>
            </a:extLst>
          </p:cNvPr>
          <p:cNvSpPr/>
          <p:nvPr/>
        </p:nvSpPr>
        <p:spPr>
          <a:xfrm>
            <a:off x="478826" y="2830576"/>
            <a:ext cx="73152" cy="896112"/>
          </a:xfrm>
          <a:prstGeom prst="rect">
            <a:avLst/>
          </a:prstGeom>
          <a:solidFill>
            <a:srgbClr val="0891B2"/>
          </a:solidFill>
          <a:ln/>
        </p:spPr>
        <p:txBody>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SECTION 03</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Dataverse as</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Shared MCP Memory</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How Agents Share State Without Direct Communication</a:t>
            </a:r>
            <a:endParaRPr lang="en-US" sz="1500" dirty="0"/>
          </a:p>
        </p:txBody>
      </p:sp>
      <p:sp>
        <p:nvSpPr>
          <p:cNvPr id="6" name="Text 19">
            <a:extLst>
              <a:ext uri="{FF2B5EF4-FFF2-40B4-BE49-F238E27FC236}">
                <a16:creationId xmlns:a16="http://schemas.microsoft.com/office/drawing/2014/main" id="{48613940-CDA8-40A8-BBB2-9750F945D55D}"/>
              </a:ext>
            </a:extLst>
          </p:cNvPr>
          <p:cNvSpPr/>
          <p:nvPr/>
        </p:nvSpPr>
        <p:spPr>
          <a:xfrm>
            <a:off x="7968343" y="4771390"/>
            <a:ext cx="91440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900" dirty="0">
                <a:solidFill>
                  <a:schemeClr val="bg1"/>
                </a:solidFill>
                <a:latin typeface="Segoe UI" pitchFamily="34" charset="0"/>
                <a:ea typeface="Segoe UI" pitchFamily="34" charset="-122"/>
                <a:cs typeface="Segoe UI" pitchFamily="34" charset="-120"/>
              </a:rPr>
              <a:t>12 / 28</a:t>
            </a:r>
            <a:endParaRPr lang="en-US" sz="900"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2600" b="1" dirty="0">
                <a:solidFill>
                  <a:srgbClr val="1E293B"/>
                </a:solidFill>
                <a:latin typeface="Segoe UI" pitchFamily="34" charset="0"/>
                <a:ea typeface="Segoe UI" pitchFamily="34" charset="-122"/>
                <a:cs typeface="Segoe UI" pitchFamily="34" charset="-120"/>
              </a:rPr>
              <a:t>Three Roles of Dataverse in Multi-Agent Systems</a:t>
            </a:r>
            <a:endParaRPr lang="en-US" sz="2600" dirty="0"/>
          </a:p>
        </p:txBody>
      </p:sp>
      <p:sp>
        <p:nvSpPr>
          <p:cNvPr id="4" name="Shape 2"/>
          <p:cNvSpPr/>
          <p:nvPr/>
        </p:nvSpPr>
        <p:spPr>
          <a:xfrm>
            <a:off x="457200" y="914400"/>
            <a:ext cx="8229600" cy="1188720"/>
          </a:xfrm>
          <a:prstGeom prst="rect">
            <a:avLst/>
          </a:prstGeom>
          <a:solidFill>
            <a:srgbClr val="F1F5F9"/>
          </a:solidFill>
          <a:ln/>
        </p:spPr>
        <p:txBody>
          <a:bodyPr/>
          <a:lstStyle/>
          <a:p>
            <a:endParaRPr lang="en-IN"/>
          </a:p>
        </p:txBody>
      </p:sp>
      <p:sp>
        <p:nvSpPr>
          <p:cNvPr id="5" name="Shape 3"/>
          <p:cNvSpPr/>
          <p:nvPr/>
        </p:nvSpPr>
        <p:spPr>
          <a:xfrm>
            <a:off x="457200" y="914400"/>
            <a:ext cx="73152" cy="1188720"/>
          </a:xfrm>
          <a:prstGeom prst="rect">
            <a:avLst/>
          </a:prstGeom>
          <a:solidFill>
            <a:srgbClr val="0891B2"/>
          </a:solidFill>
          <a:ln/>
        </p:spPr>
        <p:txBody>
          <a:bodyPr/>
          <a:lstStyle/>
          <a:p>
            <a:endParaRPr lang="en-IN"/>
          </a:p>
        </p:txBody>
      </p:sp>
      <p:sp>
        <p:nvSpPr>
          <p:cNvPr id="6" name="Shape 4"/>
          <p:cNvSpPr/>
          <p:nvPr/>
        </p:nvSpPr>
        <p:spPr>
          <a:xfrm>
            <a:off x="640080" y="1234440"/>
            <a:ext cx="457200" cy="457200"/>
          </a:xfrm>
          <a:prstGeom prst="line">
            <a:avLst/>
          </a:prstGeom>
          <a:solidFill>
            <a:srgbClr val="0891B2"/>
          </a:solidFill>
          <a:ln/>
        </p:spPr>
        <p:txBody>
          <a:bodyPr/>
          <a:lstStyle/>
          <a:p>
            <a:endParaRPr lang="en-IN"/>
          </a:p>
        </p:txBody>
      </p:sp>
      <p:sp>
        <p:nvSpPr>
          <p:cNvPr id="7" name="Text 5"/>
          <p:cNvSpPr/>
          <p:nvPr/>
        </p:nvSpPr>
        <p:spPr>
          <a:xfrm>
            <a:off x="640080" y="1234440"/>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8" name="Text 6"/>
          <p:cNvSpPr/>
          <p:nvPr/>
        </p:nvSpPr>
        <p:spPr>
          <a:xfrm>
            <a:off x="1280160" y="1051560"/>
            <a:ext cx="2743200" cy="320040"/>
          </a:xfrm>
          <a:prstGeom prst="rect">
            <a:avLst/>
          </a:prstGeom>
          <a:noFill/>
          <a:ln/>
        </p:spPr>
        <p:txBody>
          <a:bodyPr wrap="square" rtlCol="0" anchor="ctr"/>
          <a:lstStyle/>
          <a:p>
            <a:pPr marL="0" indent="0">
              <a:buNone/>
            </a:pPr>
            <a:r>
              <a:rPr lang="en-US" sz="1400" b="1" dirty="0">
                <a:solidFill>
                  <a:srgbClr val="0891B2"/>
                </a:solidFill>
                <a:latin typeface="Segoe UI" pitchFamily="34" charset="0"/>
                <a:ea typeface="Segoe UI" pitchFamily="34" charset="-122"/>
                <a:cs typeface="Segoe UI" pitchFamily="34" charset="-120"/>
              </a:rPr>
              <a:t>Business Data Store</a:t>
            </a:r>
            <a:endParaRPr lang="en-US" sz="1400" dirty="0"/>
          </a:p>
        </p:txBody>
      </p:sp>
      <p:sp>
        <p:nvSpPr>
          <p:cNvPr id="9" name="Text 7"/>
          <p:cNvSpPr/>
          <p:nvPr/>
        </p:nvSpPr>
        <p:spPr>
          <a:xfrm>
            <a:off x="1280160" y="1371600"/>
            <a:ext cx="2743200" cy="27432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The source of truth for domain data</a:t>
            </a:r>
            <a:endParaRPr lang="en-US" sz="1100" dirty="0"/>
          </a:p>
        </p:txBody>
      </p:sp>
      <p:sp>
        <p:nvSpPr>
          <p:cNvPr id="10" name="Text 8"/>
          <p:cNvSpPr/>
          <p:nvPr/>
        </p:nvSpPr>
        <p:spPr>
          <a:xfrm>
            <a:off x="4114800" y="1097280"/>
            <a:ext cx="4389120" cy="822960"/>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Contoso_Customers, Contoso_Policies, Contoso_Claims, Contoso_Transactions — all agents read from the same tables via MCP</a:t>
            </a:r>
            <a:endParaRPr lang="en-US" sz="1000" dirty="0"/>
          </a:p>
        </p:txBody>
      </p:sp>
      <p:sp>
        <p:nvSpPr>
          <p:cNvPr id="11" name="Shape 9"/>
          <p:cNvSpPr/>
          <p:nvPr/>
        </p:nvSpPr>
        <p:spPr>
          <a:xfrm>
            <a:off x="457200" y="2194560"/>
            <a:ext cx="8229600" cy="1188720"/>
          </a:xfrm>
          <a:prstGeom prst="rect">
            <a:avLst/>
          </a:prstGeom>
          <a:solidFill>
            <a:srgbClr val="F1F5F9"/>
          </a:solidFill>
          <a:ln/>
        </p:spPr>
        <p:txBody>
          <a:bodyPr/>
          <a:lstStyle/>
          <a:p>
            <a:endParaRPr lang="en-IN"/>
          </a:p>
        </p:txBody>
      </p:sp>
      <p:sp>
        <p:nvSpPr>
          <p:cNvPr id="12" name="Shape 10"/>
          <p:cNvSpPr/>
          <p:nvPr/>
        </p:nvSpPr>
        <p:spPr>
          <a:xfrm>
            <a:off x="457200" y="2194560"/>
            <a:ext cx="73152" cy="1188720"/>
          </a:xfrm>
          <a:prstGeom prst="rect">
            <a:avLst/>
          </a:prstGeom>
          <a:solidFill>
            <a:srgbClr val="F59E0B"/>
          </a:solidFill>
          <a:ln/>
        </p:spPr>
        <p:txBody>
          <a:bodyPr/>
          <a:lstStyle/>
          <a:p>
            <a:endParaRPr lang="en-IN"/>
          </a:p>
        </p:txBody>
      </p:sp>
      <p:sp>
        <p:nvSpPr>
          <p:cNvPr id="13" name="Shape 11"/>
          <p:cNvSpPr/>
          <p:nvPr/>
        </p:nvSpPr>
        <p:spPr>
          <a:xfrm>
            <a:off x="640080" y="2514600"/>
            <a:ext cx="457200" cy="457200"/>
          </a:xfrm>
          <a:prstGeom prst="line">
            <a:avLst/>
          </a:prstGeom>
          <a:solidFill>
            <a:srgbClr val="F59E0B"/>
          </a:solidFill>
          <a:ln/>
        </p:spPr>
        <p:txBody>
          <a:bodyPr/>
          <a:lstStyle/>
          <a:p>
            <a:endParaRPr lang="en-IN"/>
          </a:p>
        </p:txBody>
      </p:sp>
      <p:sp>
        <p:nvSpPr>
          <p:cNvPr id="14" name="Text 12"/>
          <p:cNvSpPr/>
          <p:nvPr/>
        </p:nvSpPr>
        <p:spPr>
          <a:xfrm>
            <a:off x="640080" y="2514600"/>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5" name="Text 13"/>
          <p:cNvSpPr/>
          <p:nvPr/>
        </p:nvSpPr>
        <p:spPr>
          <a:xfrm>
            <a:off x="1280160" y="2331720"/>
            <a:ext cx="2743200" cy="320040"/>
          </a:xfrm>
          <a:prstGeom prst="rect">
            <a:avLst/>
          </a:prstGeom>
          <a:noFill/>
          <a:ln/>
        </p:spPr>
        <p:txBody>
          <a:bodyPr wrap="square" rtlCol="0" anchor="ctr"/>
          <a:lstStyle/>
          <a:p>
            <a:pPr marL="0" indent="0">
              <a:buNone/>
            </a:pPr>
            <a:r>
              <a:rPr lang="en-US" sz="1400" b="1" dirty="0">
                <a:solidFill>
                  <a:srgbClr val="F59E0B"/>
                </a:solidFill>
                <a:latin typeface="Segoe UI" pitchFamily="34" charset="0"/>
                <a:ea typeface="Segoe UI" pitchFamily="34" charset="-122"/>
                <a:cs typeface="Segoe UI" pitchFamily="34" charset="-120"/>
              </a:rPr>
              <a:t>Coordination State</a:t>
            </a:r>
            <a:endParaRPr lang="en-US" sz="1400" dirty="0"/>
          </a:p>
        </p:txBody>
      </p:sp>
      <p:sp>
        <p:nvSpPr>
          <p:cNvPr id="16" name="Text 14"/>
          <p:cNvSpPr/>
          <p:nvPr/>
        </p:nvSpPr>
        <p:spPr>
          <a:xfrm>
            <a:off x="1280160" y="2651760"/>
            <a:ext cx="2743200" cy="27432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Shared memory for agent coordination</a:t>
            </a:r>
            <a:endParaRPr lang="en-US" sz="1100" dirty="0"/>
          </a:p>
        </p:txBody>
      </p:sp>
      <p:sp>
        <p:nvSpPr>
          <p:cNvPr id="17" name="Text 15"/>
          <p:cNvSpPr/>
          <p:nvPr/>
        </p:nvSpPr>
        <p:spPr>
          <a:xfrm>
            <a:off x="4114800" y="2377440"/>
            <a:ext cx="4389120" cy="822960"/>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AgentTaskLog table tracks delegations, passes context between agents, stores intermediate results — the "message queue" for multi-agent systems</a:t>
            </a:r>
            <a:endParaRPr lang="en-US" sz="1000" dirty="0"/>
          </a:p>
        </p:txBody>
      </p:sp>
      <p:sp>
        <p:nvSpPr>
          <p:cNvPr id="18" name="Shape 16"/>
          <p:cNvSpPr/>
          <p:nvPr/>
        </p:nvSpPr>
        <p:spPr>
          <a:xfrm>
            <a:off x="457200" y="3474720"/>
            <a:ext cx="8229600" cy="1188720"/>
          </a:xfrm>
          <a:prstGeom prst="rect">
            <a:avLst/>
          </a:prstGeom>
          <a:solidFill>
            <a:srgbClr val="F1F5F9"/>
          </a:solidFill>
          <a:ln/>
        </p:spPr>
        <p:txBody>
          <a:bodyPr/>
          <a:lstStyle/>
          <a:p>
            <a:endParaRPr lang="en-IN"/>
          </a:p>
        </p:txBody>
      </p:sp>
      <p:sp>
        <p:nvSpPr>
          <p:cNvPr id="19" name="Shape 17"/>
          <p:cNvSpPr/>
          <p:nvPr/>
        </p:nvSpPr>
        <p:spPr>
          <a:xfrm>
            <a:off x="457200" y="3474720"/>
            <a:ext cx="73152" cy="1188720"/>
          </a:xfrm>
          <a:prstGeom prst="rect">
            <a:avLst/>
          </a:prstGeom>
          <a:solidFill>
            <a:srgbClr val="22C55E"/>
          </a:solidFill>
          <a:ln/>
        </p:spPr>
        <p:txBody>
          <a:bodyPr/>
          <a:lstStyle/>
          <a:p>
            <a:endParaRPr lang="en-IN"/>
          </a:p>
        </p:txBody>
      </p:sp>
      <p:sp>
        <p:nvSpPr>
          <p:cNvPr id="20" name="Shape 18"/>
          <p:cNvSpPr/>
          <p:nvPr/>
        </p:nvSpPr>
        <p:spPr>
          <a:xfrm>
            <a:off x="640080" y="3794760"/>
            <a:ext cx="457200" cy="457200"/>
          </a:xfrm>
          <a:prstGeom prst="line">
            <a:avLst/>
          </a:prstGeom>
          <a:solidFill>
            <a:srgbClr val="22C55E"/>
          </a:solidFill>
          <a:ln/>
        </p:spPr>
        <p:txBody>
          <a:bodyPr/>
          <a:lstStyle/>
          <a:p>
            <a:endParaRPr lang="en-IN"/>
          </a:p>
        </p:txBody>
      </p:sp>
      <p:sp>
        <p:nvSpPr>
          <p:cNvPr id="21" name="Text 19"/>
          <p:cNvSpPr/>
          <p:nvPr/>
        </p:nvSpPr>
        <p:spPr>
          <a:xfrm>
            <a:off x="640080" y="3794760"/>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22" name="Text 20"/>
          <p:cNvSpPr/>
          <p:nvPr/>
        </p:nvSpPr>
        <p:spPr>
          <a:xfrm>
            <a:off x="1280160" y="3611880"/>
            <a:ext cx="2743200" cy="320040"/>
          </a:xfrm>
          <a:prstGeom prst="rect">
            <a:avLst/>
          </a:prstGeom>
          <a:noFill/>
          <a:ln/>
        </p:spPr>
        <p:txBody>
          <a:bodyPr wrap="square" rtlCol="0" anchor="ctr"/>
          <a:lstStyle/>
          <a:p>
            <a:pPr marL="0" indent="0">
              <a:buNone/>
            </a:pPr>
            <a:r>
              <a:rPr lang="en-US" sz="1400" b="1" dirty="0">
                <a:solidFill>
                  <a:srgbClr val="22C55E"/>
                </a:solidFill>
                <a:latin typeface="Segoe UI" pitchFamily="34" charset="0"/>
                <a:ea typeface="Segoe UI" pitchFamily="34" charset="-122"/>
                <a:cs typeface="Segoe UI" pitchFamily="34" charset="-120"/>
              </a:rPr>
              <a:t>Audit Trail</a:t>
            </a:r>
            <a:endParaRPr lang="en-US" sz="1400" dirty="0"/>
          </a:p>
        </p:txBody>
      </p:sp>
      <p:sp>
        <p:nvSpPr>
          <p:cNvPr id="23" name="Text 21"/>
          <p:cNvSpPr/>
          <p:nvPr/>
        </p:nvSpPr>
        <p:spPr>
          <a:xfrm>
            <a:off x="1280160" y="3931920"/>
            <a:ext cx="2743200" cy="27432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Compliance-grade logging of every action</a:t>
            </a:r>
            <a:endParaRPr lang="en-US" sz="1100" dirty="0"/>
          </a:p>
        </p:txBody>
      </p:sp>
      <p:sp>
        <p:nvSpPr>
          <p:cNvPr id="24" name="Text 22"/>
          <p:cNvSpPr/>
          <p:nvPr/>
        </p:nvSpPr>
        <p:spPr>
          <a:xfrm>
            <a:off x="4114800" y="3657600"/>
            <a:ext cx="4389120" cy="822960"/>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Every agent query, every delegation, every result is logged with timestamps and agent identity — essential for BFSI governance</a:t>
            </a:r>
            <a:endParaRPr lang="en-US" sz="1000" dirty="0"/>
          </a:p>
        </p:txBody>
      </p:sp>
      <p:sp>
        <p:nvSpPr>
          <p:cNvPr id="25" name="Shape 23"/>
          <p:cNvSpPr/>
          <p:nvPr/>
        </p:nvSpPr>
        <p:spPr>
          <a:xfrm>
            <a:off x="0" y="4846320"/>
            <a:ext cx="9144000" cy="297180"/>
          </a:xfrm>
          <a:prstGeom prst="rect">
            <a:avLst/>
          </a:prstGeom>
          <a:solidFill>
            <a:srgbClr val="F1F5F9"/>
          </a:solidFill>
          <a:ln/>
        </p:spPr>
        <p:txBody>
          <a:bodyPr/>
          <a:lstStyle/>
          <a:p>
            <a:endParaRPr lang="en-IN"/>
          </a:p>
        </p:txBody>
      </p:sp>
      <p:sp>
        <p:nvSpPr>
          <p:cNvPr id="26" name="Text 24"/>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09</a:t>
            </a:r>
            <a:endParaRPr lang="en-US" sz="800" dirty="0"/>
          </a:p>
        </p:txBody>
      </p:sp>
      <p:sp>
        <p:nvSpPr>
          <p:cNvPr id="27" name="Text 25"/>
          <p:cNvSpPr/>
          <p:nvPr/>
        </p:nvSpPr>
        <p:spPr>
          <a:xfrm>
            <a:off x="7955280" y="484965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13 / 28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AgentTaskLog Table Schema</a:t>
            </a:r>
            <a:endParaRPr lang="en-US" sz="3000" dirty="0"/>
          </a:p>
        </p:txBody>
      </p:sp>
      <p:sp>
        <p:nvSpPr>
          <p:cNvPr id="4" name="Shape 2"/>
          <p:cNvSpPr/>
          <p:nvPr/>
        </p:nvSpPr>
        <p:spPr>
          <a:xfrm>
            <a:off x="640080" y="822960"/>
            <a:ext cx="7863840" cy="548640"/>
          </a:xfrm>
          <a:prstGeom prst="rect">
            <a:avLst/>
          </a:prstGeom>
          <a:solidFill>
            <a:srgbClr val="F1F5F9"/>
          </a:solidFill>
          <a:ln/>
        </p:spPr>
        <p:txBody>
          <a:bodyPr/>
          <a:lstStyle/>
          <a:p>
            <a:endParaRPr lang="en-IN"/>
          </a:p>
        </p:txBody>
      </p:sp>
      <p:sp>
        <p:nvSpPr>
          <p:cNvPr id="5" name="Shape 3"/>
          <p:cNvSpPr/>
          <p:nvPr/>
        </p:nvSpPr>
        <p:spPr>
          <a:xfrm>
            <a:off x="640080" y="822960"/>
            <a:ext cx="73152" cy="548640"/>
          </a:xfrm>
          <a:prstGeom prst="rect">
            <a:avLst/>
          </a:prstGeom>
          <a:solidFill>
            <a:srgbClr val="0891B2"/>
          </a:solidFill>
          <a:ln/>
        </p:spPr>
        <p:txBody>
          <a:bodyPr/>
          <a:lstStyle/>
          <a:p>
            <a:endParaRPr lang="en-IN"/>
          </a:p>
        </p:txBody>
      </p:sp>
      <p:sp>
        <p:nvSpPr>
          <p:cNvPr id="6" name="Text 4"/>
          <p:cNvSpPr/>
          <p:nvPr/>
        </p:nvSpPr>
        <p:spPr>
          <a:xfrm>
            <a:off x="1005840" y="914400"/>
            <a:ext cx="7223760" cy="36576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This Dataverse table enables multi-agent coordination — serving as message queue, task tracker, and result store in one.</a:t>
            </a:r>
            <a:endParaRPr lang="en-US" sz="1200" dirty="0"/>
          </a:p>
        </p:txBody>
      </p:sp>
      <p:sp>
        <p:nvSpPr>
          <p:cNvPr id="7" name="Shape 5"/>
          <p:cNvSpPr/>
          <p:nvPr/>
        </p:nvSpPr>
        <p:spPr>
          <a:xfrm>
            <a:off x="457200" y="1463040"/>
            <a:ext cx="8229600" cy="347472"/>
          </a:xfrm>
          <a:prstGeom prst="rect">
            <a:avLst/>
          </a:prstGeom>
          <a:solidFill>
            <a:srgbClr val="FFFFFF"/>
          </a:solidFill>
          <a:ln/>
        </p:spPr>
        <p:txBody>
          <a:bodyPr/>
          <a:lstStyle/>
          <a:p>
            <a:endParaRPr lang="en-IN"/>
          </a:p>
        </p:txBody>
      </p:sp>
      <p:sp>
        <p:nvSpPr>
          <p:cNvPr id="8" name="Text 6"/>
          <p:cNvSpPr/>
          <p:nvPr/>
        </p:nvSpPr>
        <p:spPr>
          <a:xfrm>
            <a:off x="594360" y="1527048"/>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TaskLogId</a:t>
            </a:r>
            <a:endParaRPr lang="en-US" sz="1000" dirty="0"/>
          </a:p>
        </p:txBody>
      </p:sp>
      <p:sp>
        <p:nvSpPr>
          <p:cNvPr id="9" name="Text 7"/>
          <p:cNvSpPr/>
          <p:nvPr/>
        </p:nvSpPr>
        <p:spPr>
          <a:xfrm>
            <a:off x="2651760" y="1527048"/>
            <a:ext cx="182880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Autonumber</a:t>
            </a:r>
            <a:endParaRPr lang="en-US" sz="1000" dirty="0"/>
          </a:p>
        </p:txBody>
      </p:sp>
      <p:sp>
        <p:nvSpPr>
          <p:cNvPr id="10" name="Text 8"/>
          <p:cNvSpPr/>
          <p:nvPr/>
        </p:nvSpPr>
        <p:spPr>
          <a:xfrm>
            <a:off x="4572000" y="1527048"/>
            <a:ext cx="393192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Primary key</a:t>
            </a:r>
            <a:endParaRPr lang="en-US" sz="1000" dirty="0"/>
          </a:p>
        </p:txBody>
      </p:sp>
      <p:sp>
        <p:nvSpPr>
          <p:cNvPr id="11" name="Shape 9"/>
          <p:cNvSpPr/>
          <p:nvPr/>
        </p:nvSpPr>
        <p:spPr>
          <a:xfrm>
            <a:off x="457200" y="1847088"/>
            <a:ext cx="8229600" cy="347472"/>
          </a:xfrm>
          <a:prstGeom prst="rect">
            <a:avLst/>
          </a:prstGeom>
          <a:solidFill>
            <a:srgbClr val="F1F5F9"/>
          </a:solidFill>
          <a:ln/>
        </p:spPr>
        <p:txBody>
          <a:bodyPr/>
          <a:lstStyle/>
          <a:p>
            <a:endParaRPr lang="en-IN"/>
          </a:p>
        </p:txBody>
      </p:sp>
      <p:sp>
        <p:nvSpPr>
          <p:cNvPr id="12" name="Text 10"/>
          <p:cNvSpPr/>
          <p:nvPr/>
        </p:nvSpPr>
        <p:spPr>
          <a:xfrm>
            <a:off x="594360" y="1911096"/>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ParentTaskId</a:t>
            </a:r>
            <a:endParaRPr lang="en-US" sz="1000" dirty="0"/>
          </a:p>
        </p:txBody>
      </p:sp>
      <p:sp>
        <p:nvSpPr>
          <p:cNvPr id="13" name="Text 11"/>
          <p:cNvSpPr/>
          <p:nvPr/>
        </p:nvSpPr>
        <p:spPr>
          <a:xfrm>
            <a:off x="2651760" y="1911096"/>
            <a:ext cx="182880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Lookup (Self)</a:t>
            </a:r>
            <a:endParaRPr lang="en-US" sz="1000" dirty="0"/>
          </a:p>
        </p:txBody>
      </p:sp>
      <p:sp>
        <p:nvSpPr>
          <p:cNvPr id="14" name="Text 12"/>
          <p:cNvSpPr/>
          <p:nvPr/>
        </p:nvSpPr>
        <p:spPr>
          <a:xfrm>
            <a:off x="4572000" y="1911096"/>
            <a:ext cx="393192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Links subtasks to parent orchestrator task</a:t>
            </a:r>
            <a:endParaRPr lang="en-US" sz="1000" dirty="0"/>
          </a:p>
        </p:txBody>
      </p:sp>
      <p:sp>
        <p:nvSpPr>
          <p:cNvPr id="15" name="Shape 13"/>
          <p:cNvSpPr/>
          <p:nvPr/>
        </p:nvSpPr>
        <p:spPr>
          <a:xfrm>
            <a:off x="457200" y="2231136"/>
            <a:ext cx="8229600" cy="347472"/>
          </a:xfrm>
          <a:prstGeom prst="rect">
            <a:avLst/>
          </a:prstGeom>
          <a:solidFill>
            <a:srgbClr val="FFFFFF"/>
          </a:solidFill>
          <a:ln/>
        </p:spPr>
        <p:txBody>
          <a:bodyPr/>
          <a:lstStyle/>
          <a:p>
            <a:endParaRPr lang="en-IN"/>
          </a:p>
        </p:txBody>
      </p:sp>
      <p:sp>
        <p:nvSpPr>
          <p:cNvPr id="16" name="Text 14"/>
          <p:cNvSpPr/>
          <p:nvPr/>
        </p:nvSpPr>
        <p:spPr>
          <a:xfrm>
            <a:off x="594360" y="2295144"/>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TaskType</a:t>
            </a:r>
            <a:endParaRPr lang="en-US" sz="1000" dirty="0"/>
          </a:p>
        </p:txBody>
      </p:sp>
      <p:sp>
        <p:nvSpPr>
          <p:cNvPr id="17" name="Text 15"/>
          <p:cNvSpPr/>
          <p:nvPr/>
        </p:nvSpPr>
        <p:spPr>
          <a:xfrm>
            <a:off x="2651760" y="2295144"/>
            <a:ext cx="182880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Choice</a:t>
            </a:r>
            <a:endParaRPr lang="en-US" sz="1000" dirty="0"/>
          </a:p>
        </p:txBody>
      </p:sp>
      <p:sp>
        <p:nvSpPr>
          <p:cNvPr id="18" name="Text 16"/>
          <p:cNvSpPr/>
          <p:nvPr/>
        </p:nvSpPr>
        <p:spPr>
          <a:xfrm>
            <a:off x="4572000" y="2295144"/>
            <a:ext cx="393192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Query, Create, Update, Analyse, Report</a:t>
            </a:r>
            <a:endParaRPr lang="en-US" sz="1000" dirty="0"/>
          </a:p>
        </p:txBody>
      </p:sp>
      <p:sp>
        <p:nvSpPr>
          <p:cNvPr id="19" name="Shape 17"/>
          <p:cNvSpPr/>
          <p:nvPr/>
        </p:nvSpPr>
        <p:spPr>
          <a:xfrm>
            <a:off x="457200" y="2615184"/>
            <a:ext cx="8229600" cy="347472"/>
          </a:xfrm>
          <a:prstGeom prst="rect">
            <a:avLst/>
          </a:prstGeom>
          <a:solidFill>
            <a:srgbClr val="F1F5F9"/>
          </a:solidFill>
          <a:ln/>
        </p:spPr>
        <p:txBody>
          <a:bodyPr/>
          <a:lstStyle/>
          <a:p>
            <a:endParaRPr lang="en-IN"/>
          </a:p>
        </p:txBody>
      </p:sp>
      <p:sp>
        <p:nvSpPr>
          <p:cNvPr id="20" name="Text 18"/>
          <p:cNvSpPr/>
          <p:nvPr/>
        </p:nvSpPr>
        <p:spPr>
          <a:xfrm>
            <a:off x="594360" y="2679192"/>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AssignedAgent</a:t>
            </a:r>
            <a:endParaRPr lang="en-US" sz="1000" dirty="0"/>
          </a:p>
        </p:txBody>
      </p:sp>
      <p:sp>
        <p:nvSpPr>
          <p:cNvPr id="21" name="Text 19"/>
          <p:cNvSpPr/>
          <p:nvPr/>
        </p:nvSpPr>
        <p:spPr>
          <a:xfrm>
            <a:off x="2651760" y="2679192"/>
            <a:ext cx="182880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Text</a:t>
            </a:r>
            <a:endParaRPr lang="en-US" sz="1000" dirty="0"/>
          </a:p>
        </p:txBody>
      </p:sp>
      <p:sp>
        <p:nvSpPr>
          <p:cNvPr id="22" name="Text 20"/>
          <p:cNvSpPr/>
          <p:nvPr/>
        </p:nvSpPr>
        <p:spPr>
          <a:xfrm>
            <a:off x="4572000" y="2679192"/>
            <a:ext cx="393192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Claims Agent, Policy Agent, Customer Agent</a:t>
            </a:r>
            <a:endParaRPr lang="en-US" sz="1000" dirty="0"/>
          </a:p>
        </p:txBody>
      </p:sp>
      <p:sp>
        <p:nvSpPr>
          <p:cNvPr id="23" name="Shape 21"/>
          <p:cNvSpPr/>
          <p:nvPr/>
        </p:nvSpPr>
        <p:spPr>
          <a:xfrm>
            <a:off x="457200" y="2999232"/>
            <a:ext cx="8229600" cy="347472"/>
          </a:xfrm>
          <a:prstGeom prst="rect">
            <a:avLst/>
          </a:prstGeom>
          <a:solidFill>
            <a:srgbClr val="FFFFFF"/>
          </a:solidFill>
          <a:ln/>
        </p:spPr>
        <p:txBody>
          <a:bodyPr/>
          <a:lstStyle/>
          <a:p>
            <a:endParaRPr lang="en-IN"/>
          </a:p>
        </p:txBody>
      </p:sp>
      <p:sp>
        <p:nvSpPr>
          <p:cNvPr id="24" name="Text 22"/>
          <p:cNvSpPr/>
          <p:nvPr/>
        </p:nvSpPr>
        <p:spPr>
          <a:xfrm>
            <a:off x="594360" y="3063240"/>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InputContext</a:t>
            </a:r>
            <a:endParaRPr lang="en-US" sz="1000" dirty="0"/>
          </a:p>
        </p:txBody>
      </p:sp>
      <p:sp>
        <p:nvSpPr>
          <p:cNvPr id="25" name="Text 23"/>
          <p:cNvSpPr/>
          <p:nvPr/>
        </p:nvSpPr>
        <p:spPr>
          <a:xfrm>
            <a:off x="2651760" y="3063240"/>
            <a:ext cx="182880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Multiline Text</a:t>
            </a:r>
            <a:endParaRPr lang="en-US" sz="1000" dirty="0"/>
          </a:p>
        </p:txBody>
      </p:sp>
      <p:sp>
        <p:nvSpPr>
          <p:cNvPr id="26" name="Text 24"/>
          <p:cNvSpPr/>
          <p:nvPr/>
        </p:nvSpPr>
        <p:spPr>
          <a:xfrm>
            <a:off x="4572000" y="3063240"/>
            <a:ext cx="393192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The query/context passed to the agent</a:t>
            </a:r>
            <a:endParaRPr lang="en-US" sz="1000" dirty="0"/>
          </a:p>
        </p:txBody>
      </p:sp>
      <p:sp>
        <p:nvSpPr>
          <p:cNvPr id="27" name="Shape 25"/>
          <p:cNvSpPr/>
          <p:nvPr/>
        </p:nvSpPr>
        <p:spPr>
          <a:xfrm>
            <a:off x="457200" y="3383280"/>
            <a:ext cx="8229600" cy="347472"/>
          </a:xfrm>
          <a:prstGeom prst="rect">
            <a:avLst/>
          </a:prstGeom>
          <a:solidFill>
            <a:srgbClr val="F1F5F9"/>
          </a:solidFill>
          <a:ln/>
        </p:spPr>
        <p:txBody>
          <a:bodyPr/>
          <a:lstStyle/>
          <a:p>
            <a:endParaRPr lang="en-IN"/>
          </a:p>
        </p:txBody>
      </p:sp>
      <p:sp>
        <p:nvSpPr>
          <p:cNvPr id="28" name="Text 26"/>
          <p:cNvSpPr/>
          <p:nvPr/>
        </p:nvSpPr>
        <p:spPr>
          <a:xfrm>
            <a:off x="594360" y="3447288"/>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OutputResult</a:t>
            </a:r>
            <a:endParaRPr lang="en-US" sz="1000" dirty="0"/>
          </a:p>
        </p:txBody>
      </p:sp>
      <p:sp>
        <p:nvSpPr>
          <p:cNvPr id="29" name="Text 27"/>
          <p:cNvSpPr/>
          <p:nvPr/>
        </p:nvSpPr>
        <p:spPr>
          <a:xfrm>
            <a:off x="2651760" y="3447288"/>
            <a:ext cx="182880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Multiline Text</a:t>
            </a:r>
            <a:endParaRPr lang="en-US" sz="1000" dirty="0"/>
          </a:p>
        </p:txBody>
      </p:sp>
      <p:sp>
        <p:nvSpPr>
          <p:cNvPr id="30" name="Text 28"/>
          <p:cNvSpPr/>
          <p:nvPr/>
        </p:nvSpPr>
        <p:spPr>
          <a:xfrm>
            <a:off x="4572000" y="3447288"/>
            <a:ext cx="393192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The agent's response/result</a:t>
            </a:r>
            <a:endParaRPr lang="en-US" sz="1000" dirty="0"/>
          </a:p>
        </p:txBody>
      </p:sp>
      <p:sp>
        <p:nvSpPr>
          <p:cNvPr id="31" name="Shape 29"/>
          <p:cNvSpPr/>
          <p:nvPr/>
        </p:nvSpPr>
        <p:spPr>
          <a:xfrm>
            <a:off x="457200" y="3767328"/>
            <a:ext cx="8229600" cy="347472"/>
          </a:xfrm>
          <a:prstGeom prst="rect">
            <a:avLst/>
          </a:prstGeom>
          <a:solidFill>
            <a:srgbClr val="FFFFFF"/>
          </a:solidFill>
          <a:ln/>
        </p:spPr>
        <p:txBody>
          <a:bodyPr/>
          <a:lstStyle/>
          <a:p>
            <a:endParaRPr lang="en-IN"/>
          </a:p>
        </p:txBody>
      </p:sp>
      <p:sp>
        <p:nvSpPr>
          <p:cNvPr id="32" name="Text 30"/>
          <p:cNvSpPr/>
          <p:nvPr/>
        </p:nvSpPr>
        <p:spPr>
          <a:xfrm>
            <a:off x="594360" y="3831336"/>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Status</a:t>
            </a:r>
            <a:endParaRPr lang="en-US" sz="1000" dirty="0"/>
          </a:p>
        </p:txBody>
      </p:sp>
      <p:sp>
        <p:nvSpPr>
          <p:cNvPr id="33" name="Text 31"/>
          <p:cNvSpPr/>
          <p:nvPr/>
        </p:nvSpPr>
        <p:spPr>
          <a:xfrm>
            <a:off x="2651760" y="3831336"/>
            <a:ext cx="182880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Choice</a:t>
            </a:r>
            <a:endParaRPr lang="en-US" sz="1000" dirty="0"/>
          </a:p>
        </p:txBody>
      </p:sp>
      <p:sp>
        <p:nvSpPr>
          <p:cNvPr id="34" name="Text 32"/>
          <p:cNvSpPr/>
          <p:nvPr/>
        </p:nvSpPr>
        <p:spPr>
          <a:xfrm>
            <a:off x="4572000" y="3831336"/>
            <a:ext cx="393192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Pending, In Progress, Completed, Failed, Escalated</a:t>
            </a:r>
            <a:endParaRPr lang="en-US" sz="1000" dirty="0"/>
          </a:p>
        </p:txBody>
      </p:sp>
      <p:sp>
        <p:nvSpPr>
          <p:cNvPr id="35" name="Shape 33"/>
          <p:cNvSpPr/>
          <p:nvPr/>
        </p:nvSpPr>
        <p:spPr>
          <a:xfrm>
            <a:off x="457200" y="4151376"/>
            <a:ext cx="8229600" cy="347472"/>
          </a:xfrm>
          <a:prstGeom prst="rect">
            <a:avLst/>
          </a:prstGeom>
          <a:solidFill>
            <a:srgbClr val="F1F5F9"/>
          </a:solidFill>
          <a:ln/>
        </p:spPr>
        <p:txBody>
          <a:bodyPr/>
          <a:lstStyle/>
          <a:p>
            <a:endParaRPr lang="en-IN"/>
          </a:p>
        </p:txBody>
      </p:sp>
      <p:sp>
        <p:nvSpPr>
          <p:cNvPr id="36" name="Text 34"/>
          <p:cNvSpPr/>
          <p:nvPr/>
        </p:nvSpPr>
        <p:spPr>
          <a:xfrm>
            <a:off x="594360" y="4215384"/>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StartTime / EndTime</a:t>
            </a:r>
            <a:endParaRPr lang="en-US" sz="1000" dirty="0"/>
          </a:p>
        </p:txBody>
      </p:sp>
      <p:sp>
        <p:nvSpPr>
          <p:cNvPr id="37" name="Text 35"/>
          <p:cNvSpPr/>
          <p:nvPr/>
        </p:nvSpPr>
        <p:spPr>
          <a:xfrm>
            <a:off x="2651760" y="4215384"/>
            <a:ext cx="182880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Date and Time</a:t>
            </a:r>
            <a:endParaRPr lang="en-US" sz="1000" dirty="0"/>
          </a:p>
        </p:txBody>
      </p:sp>
      <p:sp>
        <p:nvSpPr>
          <p:cNvPr id="38" name="Text 36"/>
          <p:cNvSpPr/>
          <p:nvPr/>
        </p:nvSpPr>
        <p:spPr>
          <a:xfrm>
            <a:off x="4572000" y="4215384"/>
            <a:ext cx="393192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Duration tracking for SLAs</a:t>
            </a:r>
            <a:endParaRPr lang="en-US" sz="1000" dirty="0"/>
          </a:p>
        </p:txBody>
      </p:sp>
      <p:sp>
        <p:nvSpPr>
          <p:cNvPr id="39" name="Shape 37"/>
          <p:cNvSpPr/>
          <p:nvPr/>
        </p:nvSpPr>
        <p:spPr>
          <a:xfrm>
            <a:off x="0" y="4846320"/>
            <a:ext cx="9144000" cy="297180"/>
          </a:xfrm>
          <a:prstGeom prst="rect">
            <a:avLst/>
          </a:prstGeom>
          <a:solidFill>
            <a:srgbClr val="F1F5F9"/>
          </a:solidFill>
          <a:ln/>
        </p:spPr>
        <p:txBody>
          <a:bodyPr/>
          <a:lstStyle/>
          <a:p>
            <a:endParaRPr lang="en-IN"/>
          </a:p>
        </p:txBody>
      </p:sp>
      <p:sp>
        <p:nvSpPr>
          <p:cNvPr id="40" name="Text 3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09</a:t>
            </a:r>
            <a:endParaRPr lang="en-US" sz="800" dirty="0"/>
          </a:p>
        </p:txBody>
      </p:sp>
      <p:sp>
        <p:nvSpPr>
          <p:cNvPr id="41" name="Text 39"/>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14 / 28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SECTION 04</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The Agent-as-Tool</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Pattern</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How the Orchestrator Invokes Specialists</a:t>
            </a:r>
            <a:endParaRPr lang="en-US" sz="1500" dirty="0"/>
          </a:p>
        </p:txBody>
      </p:sp>
      <p:sp>
        <p:nvSpPr>
          <p:cNvPr id="6" name="Text 19">
            <a:extLst>
              <a:ext uri="{FF2B5EF4-FFF2-40B4-BE49-F238E27FC236}">
                <a16:creationId xmlns:a16="http://schemas.microsoft.com/office/drawing/2014/main" id="{6F21F056-3457-9578-F639-5CD3DEA7FDBD}"/>
              </a:ext>
            </a:extLst>
          </p:cNvPr>
          <p:cNvSpPr/>
          <p:nvPr/>
        </p:nvSpPr>
        <p:spPr>
          <a:xfrm>
            <a:off x="7968343" y="4771390"/>
            <a:ext cx="91440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900" dirty="0">
                <a:solidFill>
                  <a:schemeClr val="bg1"/>
                </a:solidFill>
                <a:latin typeface="Segoe UI" pitchFamily="34" charset="0"/>
                <a:ea typeface="Segoe UI" pitchFamily="34" charset="-122"/>
                <a:cs typeface="Segoe UI" pitchFamily="34" charset="-120"/>
              </a:rPr>
              <a:t>15 / 28</a:t>
            </a:r>
            <a:endParaRPr lang="en-US" sz="900"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How Agent-as-Tool Works</a:t>
            </a:r>
            <a:endParaRPr lang="en-US" sz="3000" dirty="0"/>
          </a:p>
        </p:txBody>
      </p:sp>
      <p:sp>
        <p:nvSpPr>
          <p:cNvPr id="4" name="Shape 2"/>
          <p:cNvSpPr/>
          <p:nvPr/>
        </p:nvSpPr>
        <p:spPr>
          <a:xfrm>
            <a:off x="457200" y="868680"/>
            <a:ext cx="8229600" cy="502920"/>
          </a:xfrm>
          <a:prstGeom prst="rect">
            <a:avLst/>
          </a:prstGeom>
          <a:solidFill>
            <a:srgbClr val="F1F5F9"/>
          </a:solidFill>
          <a:ln/>
        </p:spPr>
        <p:txBody>
          <a:bodyPr/>
          <a:lstStyle/>
          <a:p>
            <a:endParaRPr lang="en-IN"/>
          </a:p>
        </p:txBody>
      </p:sp>
      <p:sp>
        <p:nvSpPr>
          <p:cNvPr id="5" name="Shape 3"/>
          <p:cNvSpPr/>
          <p:nvPr/>
        </p:nvSpPr>
        <p:spPr>
          <a:xfrm>
            <a:off x="548640" y="960120"/>
            <a:ext cx="320040" cy="320040"/>
          </a:xfrm>
          <a:prstGeom prst="line">
            <a:avLst/>
          </a:prstGeom>
          <a:solidFill>
            <a:srgbClr val="0891B2"/>
          </a:solidFill>
          <a:ln/>
        </p:spPr>
        <p:txBody>
          <a:bodyPr/>
          <a:lstStyle/>
          <a:p>
            <a:endParaRPr lang="en-IN"/>
          </a:p>
        </p:txBody>
      </p:sp>
      <p:sp>
        <p:nvSpPr>
          <p:cNvPr id="6" name="Text 4"/>
          <p:cNvSpPr/>
          <p:nvPr/>
        </p:nvSpPr>
        <p:spPr>
          <a:xfrm>
            <a:off x="548640" y="960120"/>
            <a:ext cx="320040" cy="320040"/>
          </a:xfrm>
          <a:prstGeom prst="rect">
            <a:avLst/>
          </a:prstGeom>
          <a:noFill/>
          <a:ln/>
        </p:spPr>
        <p:txBody>
          <a:bodyPr wrap="square" rtlCol="0" anchor="ctr"/>
          <a:lstStyle/>
          <a:p>
            <a:pPr marL="0" indent="0" algn="ctr">
              <a:buNone/>
            </a:pPr>
            <a:r>
              <a:rPr lang="en-US" sz="1100" b="1" dirty="0">
                <a:solidFill>
                  <a:srgbClr val="00B050"/>
                </a:solidFill>
                <a:latin typeface="Segoe UI" pitchFamily="34" charset="0"/>
                <a:ea typeface="Segoe UI" pitchFamily="34" charset="-122"/>
                <a:cs typeface="Segoe UI" pitchFamily="34" charset="-120"/>
              </a:rPr>
              <a:t>1</a:t>
            </a:r>
            <a:endParaRPr lang="en-US" sz="1100" dirty="0">
              <a:solidFill>
                <a:srgbClr val="00B050"/>
              </a:solidFill>
            </a:endParaRPr>
          </a:p>
        </p:txBody>
      </p:sp>
      <p:sp>
        <p:nvSpPr>
          <p:cNvPr id="7" name="Text 5"/>
          <p:cNvSpPr/>
          <p:nvPr/>
        </p:nvSpPr>
        <p:spPr>
          <a:xfrm>
            <a:off x="1005840" y="978408"/>
            <a:ext cx="1828800" cy="274320"/>
          </a:xfrm>
          <a:prstGeom prst="rect">
            <a:avLst/>
          </a:prstGeom>
          <a:noFill/>
          <a:ln/>
        </p:spPr>
        <p:txBody>
          <a:bodyPr wrap="square" rtlCol="0" anchor="ctr"/>
          <a:lstStyle/>
          <a:p>
            <a:pPr marL="0" indent="0">
              <a:buNone/>
            </a:pPr>
            <a:r>
              <a:rPr lang="en-US" sz="1000" b="1" dirty="0">
                <a:solidFill>
                  <a:srgbClr val="1E293B"/>
                </a:solidFill>
                <a:latin typeface="Segoe UI" pitchFamily="34" charset="0"/>
                <a:ea typeface="Segoe UI" pitchFamily="34" charset="-122"/>
                <a:cs typeface="Segoe UI" pitchFamily="34" charset="-120"/>
              </a:rPr>
              <a:t>User Message</a:t>
            </a:r>
            <a:endParaRPr lang="en-US" sz="1000" dirty="0"/>
          </a:p>
        </p:txBody>
      </p:sp>
      <p:sp>
        <p:nvSpPr>
          <p:cNvPr id="8" name="Text 6"/>
          <p:cNvSpPr/>
          <p:nvPr/>
        </p:nvSpPr>
        <p:spPr>
          <a:xfrm>
            <a:off x="2926080" y="978408"/>
            <a:ext cx="557784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User sends message to Orchestrator: "Show claims for high-risk customers"</a:t>
            </a:r>
            <a:endParaRPr lang="en-US" sz="1000" dirty="0"/>
          </a:p>
        </p:txBody>
      </p:sp>
      <p:sp>
        <p:nvSpPr>
          <p:cNvPr id="9" name="Shape 7"/>
          <p:cNvSpPr/>
          <p:nvPr/>
        </p:nvSpPr>
        <p:spPr>
          <a:xfrm>
            <a:off x="457200" y="1435608"/>
            <a:ext cx="8229600" cy="502920"/>
          </a:xfrm>
          <a:prstGeom prst="rect">
            <a:avLst/>
          </a:prstGeom>
          <a:solidFill>
            <a:srgbClr val="FFFFFF"/>
          </a:solidFill>
          <a:ln/>
        </p:spPr>
        <p:txBody>
          <a:bodyPr/>
          <a:lstStyle/>
          <a:p>
            <a:endParaRPr lang="en-IN"/>
          </a:p>
        </p:txBody>
      </p:sp>
      <p:sp>
        <p:nvSpPr>
          <p:cNvPr id="10" name="Shape 8"/>
          <p:cNvSpPr/>
          <p:nvPr/>
        </p:nvSpPr>
        <p:spPr>
          <a:xfrm>
            <a:off x="548640" y="1527048"/>
            <a:ext cx="320040" cy="320040"/>
          </a:xfrm>
          <a:prstGeom prst="line">
            <a:avLst/>
          </a:prstGeom>
          <a:solidFill>
            <a:srgbClr val="0891B2"/>
          </a:solidFill>
          <a:ln/>
        </p:spPr>
        <p:txBody>
          <a:bodyPr/>
          <a:lstStyle/>
          <a:p>
            <a:endParaRPr lang="en-IN" dirty="0"/>
          </a:p>
        </p:txBody>
      </p:sp>
      <p:sp>
        <p:nvSpPr>
          <p:cNvPr id="11" name="Text 9"/>
          <p:cNvSpPr/>
          <p:nvPr/>
        </p:nvSpPr>
        <p:spPr>
          <a:xfrm>
            <a:off x="548640" y="1527048"/>
            <a:ext cx="320040" cy="320040"/>
          </a:xfrm>
          <a:prstGeom prst="rect">
            <a:avLst/>
          </a:prstGeom>
          <a:noFill/>
          <a:ln/>
        </p:spPr>
        <p:txBody>
          <a:bodyPr wrap="square" rtlCol="0" anchor="ctr"/>
          <a:lstStyle/>
          <a:p>
            <a:pPr marL="0" indent="0" algn="ctr">
              <a:buNone/>
            </a:pPr>
            <a:r>
              <a:rPr lang="en-US" sz="1100" b="1" dirty="0">
                <a:solidFill>
                  <a:srgbClr val="00B050"/>
                </a:solidFill>
                <a:latin typeface="Segoe UI" pitchFamily="34" charset="0"/>
                <a:ea typeface="Segoe UI" pitchFamily="34" charset="-122"/>
                <a:cs typeface="Segoe UI" pitchFamily="34" charset="-120"/>
              </a:rPr>
              <a:t>2</a:t>
            </a:r>
            <a:endParaRPr lang="en-US" sz="1100" dirty="0">
              <a:solidFill>
                <a:srgbClr val="00B050"/>
              </a:solidFill>
            </a:endParaRPr>
          </a:p>
        </p:txBody>
      </p:sp>
      <p:sp>
        <p:nvSpPr>
          <p:cNvPr id="12" name="Text 10"/>
          <p:cNvSpPr/>
          <p:nvPr/>
        </p:nvSpPr>
        <p:spPr>
          <a:xfrm>
            <a:off x="1005840" y="1545336"/>
            <a:ext cx="1828800" cy="274320"/>
          </a:xfrm>
          <a:prstGeom prst="rect">
            <a:avLst/>
          </a:prstGeom>
          <a:noFill/>
          <a:ln/>
        </p:spPr>
        <p:txBody>
          <a:bodyPr wrap="square" rtlCol="0" anchor="ctr"/>
          <a:lstStyle/>
          <a:p>
            <a:pPr marL="0" indent="0">
              <a:buNone/>
            </a:pPr>
            <a:r>
              <a:rPr lang="en-US" sz="1000" b="1" dirty="0">
                <a:solidFill>
                  <a:srgbClr val="1E293B"/>
                </a:solidFill>
                <a:latin typeface="Segoe UI" pitchFamily="34" charset="0"/>
                <a:ea typeface="Segoe UI" pitchFamily="34" charset="-122"/>
                <a:cs typeface="Segoe UI" pitchFamily="34" charset="-120"/>
              </a:rPr>
              <a:t>Orchestrator Analyses</a:t>
            </a:r>
            <a:endParaRPr lang="en-US" sz="1000" dirty="0"/>
          </a:p>
        </p:txBody>
      </p:sp>
      <p:sp>
        <p:nvSpPr>
          <p:cNvPr id="13" name="Text 11"/>
          <p:cNvSpPr/>
          <p:nvPr/>
        </p:nvSpPr>
        <p:spPr>
          <a:xfrm>
            <a:off x="2926080" y="1545336"/>
            <a:ext cx="557784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Generative orchestration determines this needs Customer + Claims agents</a:t>
            </a:r>
            <a:endParaRPr lang="en-US" sz="1000" dirty="0"/>
          </a:p>
        </p:txBody>
      </p:sp>
      <p:sp>
        <p:nvSpPr>
          <p:cNvPr id="14" name="Shape 12"/>
          <p:cNvSpPr/>
          <p:nvPr/>
        </p:nvSpPr>
        <p:spPr>
          <a:xfrm>
            <a:off x="457200" y="2002536"/>
            <a:ext cx="8229600" cy="502920"/>
          </a:xfrm>
          <a:prstGeom prst="rect">
            <a:avLst/>
          </a:prstGeom>
          <a:solidFill>
            <a:srgbClr val="F1F5F9"/>
          </a:solidFill>
          <a:ln/>
        </p:spPr>
        <p:txBody>
          <a:bodyPr/>
          <a:lstStyle/>
          <a:p>
            <a:endParaRPr lang="en-IN"/>
          </a:p>
        </p:txBody>
      </p:sp>
      <p:sp>
        <p:nvSpPr>
          <p:cNvPr id="15" name="Shape 13"/>
          <p:cNvSpPr/>
          <p:nvPr/>
        </p:nvSpPr>
        <p:spPr>
          <a:xfrm>
            <a:off x="548640" y="2093976"/>
            <a:ext cx="320040" cy="320040"/>
          </a:xfrm>
          <a:prstGeom prst="line">
            <a:avLst/>
          </a:prstGeom>
          <a:solidFill>
            <a:srgbClr val="0891B2"/>
          </a:solidFill>
          <a:ln/>
        </p:spPr>
        <p:txBody>
          <a:bodyPr/>
          <a:lstStyle/>
          <a:p>
            <a:endParaRPr lang="en-IN"/>
          </a:p>
        </p:txBody>
      </p:sp>
      <p:sp>
        <p:nvSpPr>
          <p:cNvPr id="16" name="Text 14"/>
          <p:cNvSpPr/>
          <p:nvPr/>
        </p:nvSpPr>
        <p:spPr>
          <a:xfrm>
            <a:off x="548640" y="2093976"/>
            <a:ext cx="320040" cy="320040"/>
          </a:xfrm>
          <a:prstGeom prst="rect">
            <a:avLst/>
          </a:prstGeom>
          <a:noFill/>
          <a:ln/>
        </p:spPr>
        <p:txBody>
          <a:bodyPr wrap="square" rtlCol="0" anchor="ctr"/>
          <a:lstStyle/>
          <a:p>
            <a:pPr marL="0" indent="0" algn="ctr">
              <a:buNone/>
            </a:pPr>
            <a:r>
              <a:rPr lang="en-US" sz="1100" b="1" dirty="0">
                <a:solidFill>
                  <a:srgbClr val="00B050"/>
                </a:solidFill>
                <a:latin typeface="Segoe UI" pitchFamily="34" charset="0"/>
                <a:ea typeface="Segoe UI" pitchFamily="34" charset="-122"/>
                <a:cs typeface="Segoe UI" pitchFamily="34" charset="-120"/>
              </a:rPr>
              <a:t>3</a:t>
            </a:r>
            <a:endParaRPr lang="en-US" sz="1100" dirty="0">
              <a:solidFill>
                <a:srgbClr val="00B050"/>
              </a:solidFill>
            </a:endParaRPr>
          </a:p>
        </p:txBody>
      </p:sp>
      <p:sp>
        <p:nvSpPr>
          <p:cNvPr id="17" name="Text 15"/>
          <p:cNvSpPr/>
          <p:nvPr/>
        </p:nvSpPr>
        <p:spPr>
          <a:xfrm>
            <a:off x="1005840" y="2112264"/>
            <a:ext cx="1828800" cy="274320"/>
          </a:xfrm>
          <a:prstGeom prst="rect">
            <a:avLst/>
          </a:prstGeom>
          <a:noFill/>
          <a:ln/>
        </p:spPr>
        <p:txBody>
          <a:bodyPr wrap="square" rtlCol="0" anchor="ctr"/>
          <a:lstStyle/>
          <a:p>
            <a:pPr marL="0" indent="0">
              <a:buNone/>
            </a:pPr>
            <a:r>
              <a:rPr lang="en-US" sz="1000" b="1" dirty="0">
                <a:solidFill>
                  <a:srgbClr val="1E293B"/>
                </a:solidFill>
                <a:latin typeface="Segoe UI" pitchFamily="34" charset="0"/>
                <a:ea typeface="Segoe UI" pitchFamily="34" charset="-122"/>
                <a:cs typeface="Segoe UI" pitchFamily="34" charset="-120"/>
              </a:rPr>
              <a:t>First Tool Call</a:t>
            </a:r>
            <a:endParaRPr lang="en-US" sz="1000" dirty="0"/>
          </a:p>
        </p:txBody>
      </p:sp>
      <p:sp>
        <p:nvSpPr>
          <p:cNvPr id="18" name="Text 16"/>
          <p:cNvSpPr/>
          <p:nvPr/>
        </p:nvSpPr>
        <p:spPr>
          <a:xfrm>
            <a:off x="2926080" y="2112264"/>
            <a:ext cx="557784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Orchestrator invokes Customer Agent tool: "Get high-risk customers"</a:t>
            </a:r>
            <a:endParaRPr lang="en-US" sz="1000" dirty="0"/>
          </a:p>
        </p:txBody>
      </p:sp>
      <p:sp>
        <p:nvSpPr>
          <p:cNvPr id="19" name="Shape 17"/>
          <p:cNvSpPr/>
          <p:nvPr/>
        </p:nvSpPr>
        <p:spPr>
          <a:xfrm>
            <a:off x="457200" y="2569464"/>
            <a:ext cx="8229600" cy="502920"/>
          </a:xfrm>
          <a:prstGeom prst="rect">
            <a:avLst/>
          </a:prstGeom>
          <a:solidFill>
            <a:srgbClr val="FFFFFF"/>
          </a:solidFill>
          <a:ln/>
        </p:spPr>
        <p:txBody>
          <a:bodyPr/>
          <a:lstStyle/>
          <a:p>
            <a:endParaRPr lang="en-IN"/>
          </a:p>
        </p:txBody>
      </p:sp>
      <p:sp>
        <p:nvSpPr>
          <p:cNvPr id="20" name="Shape 18"/>
          <p:cNvSpPr/>
          <p:nvPr/>
        </p:nvSpPr>
        <p:spPr>
          <a:xfrm>
            <a:off x="548640" y="2660904"/>
            <a:ext cx="320040" cy="320040"/>
          </a:xfrm>
          <a:prstGeom prst="line">
            <a:avLst/>
          </a:prstGeom>
          <a:solidFill>
            <a:srgbClr val="0891B2"/>
          </a:solidFill>
          <a:ln/>
        </p:spPr>
        <p:txBody>
          <a:bodyPr/>
          <a:lstStyle/>
          <a:p>
            <a:endParaRPr lang="en-IN"/>
          </a:p>
        </p:txBody>
      </p:sp>
      <p:sp>
        <p:nvSpPr>
          <p:cNvPr id="21" name="Text 19"/>
          <p:cNvSpPr/>
          <p:nvPr/>
        </p:nvSpPr>
        <p:spPr>
          <a:xfrm>
            <a:off x="548640" y="2660904"/>
            <a:ext cx="320040" cy="320040"/>
          </a:xfrm>
          <a:prstGeom prst="rect">
            <a:avLst/>
          </a:prstGeom>
          <a:noFill/>
          <a:ln/>
        </p:spPr>
        <p:txBody>
          <a:bodyPr wrap="square" rtlCol="0" anchor="ctr"/>
          <a:lstStyle/>
          <a:p>
            <a:pPr marL="0" indent="0" algn="ctr">
              <a:buNone/>
            </a:pPr>
            <a:r>
              <a:rPr lang="en-US" sz="1100" b="1" dirty="0">
                <a:solidFill>
                  <a:srgbClr val="00B050"/>
                </a:solidFill>
                <a:latin typeface="Segoe UI" pitchFamily="34" charset="0"/>
                <a:ea typeface="Segoe UI" pitchFamily="34" charset="-122"/>
                <a:cs typeface="Segoe UI" pitchFamily="34" charset="-120"/>
              </a:rPr>
              <a:t>4</a:t>
            </a:r>
            <a:endParaRPr lang="en-US" sz="1100" dirty="0">
              <a:solidFill>
                <a:srgbClr val="00B050"/>
              </a:solidFill>
            </a:endParaRPr>
          </a:p>
        </p:txBody>
      </p:sp>
      <p:sp>
        <p:nvSpPr>
          <p:cNvPr id="22" name="Text 20"/>
          <p:cNvSpPr/>
          <p:nvPr/>
        </p:nvSpPr>
        <p:spPr>
          <a:xfrm>
            <a:off x="1005840" y="2679192"/>
            <a:ext cx="1828800" cy="274320"/>
          </a:xfrm>
          <a:prstGeom prst="rect">
            <a:avLst/>
          </a:prstGeom>
          <a:noFill/>
          <a:ln/>
        </p:spPr>
        <p:txBody>
          <a:bodyPr wrap="square" rtlCol="0" anchor="ctr"/>
          <a:lstStyle/>
          <a:p>
            <a:pPr marL="0" indent="0">
              <a:buNone/>
            </a:pPr>
            <a:r>
              <a:rPr lang="en-US" sz="1000" b="1" dirty="0">
                <a:solidFill>
                  <a:srgbClr val="1E293B"/>
                </a:solidFill>
                <a:latin typeface="Segoe UI" pitchFamily="34" charset="0"/>
                <a:ea typeface="Segoe UI" pitchFamily="34" charset="-122"/>
                <a:cs typeface="Segoe UI" pitchFamily="34" charset="-120"/>
              </a:rPr>
              <a:t>Specialist Executes</a:t>
            </a:r>
            <a:endParaRPr lang="en-US" sz="1000" dirty="0"/>
          </a:p>
        </p:txBody>
      </p:sp>
      <p:sp>
        <p:nvSpPr>
          <p:cNvPr id="23" name="Text 21"/>
          <p:cNvSpPr/>
          <p:nvPr/>
        </p:nvSpPr>
        <p:spPr>
          <a:xfrm>
            <a:off x="2926080" y="2679192"/>
            <a:ext cx="557784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Customer Agent queries Dataverse via MCP, returns list of 3 customers</a:t>
            </a:r>
            <a:endParaRPr lang="en-US" sz="1000" dirty="0"/>
          </a:p>
        </p:txBody>
      </p:sp>
      <p:sp>
        <p:nvSpPr>
          <p:cNvPr id="24" name="Shape 22"/>
          <p:cNvSpPr/>
          <p:nvPr/>
        </p:nvSpPr>
        <p:spPr>
          <a:xfrm>
            <a:off x="457200" y="3136392"/>
            <a:ext cx="8229600" cy="502920"/>
          </a:xfrm>
          <a:prstGeom prst="rect">
            <a:avLst/>
          </a:prstGeom>
          <a:solidFill>
            <a:srgbClr val="F1F5F9"/>
          </a:solidFill>
          <a:ln/>
        </p:spPr>
        <p:txBody>
          <a:bodyPr/>
          <a:lstStyle/>
          <a:p>
            <a:endParaRPr lang="en-IN"/>
          </a:p>
        </p:txBody>
      </p:sp>
      <p:sp>
        <p:nvSpPr>
          <p:cNvPr id="25" name="Shape 23"/>
          <p:cNvSpPr/>
          <p:nvPr/>
        </p:nvSpPr>
        <p:spPr>
          <a:xfrm>
            <a:off x="548640" y="3227832"/>
            <a:ext cx="320040" cy="320040"/>
          </a:xfrm>
          <a:prstGeom prst="line">
            <a:avLst/>
          </a:prstGeom>
          <a:solidFill>
            <a:srgbClr val="0891B2"/>
          </a:solidFill>
          <a:ln/>
        </p:spPr>
        <p:txBody>
          <a:bodyPr/>
          <a:lstStyle/>
          <a:p>
            <a:endParaRPr lang="en-IN"/>
          </a:p>
        </p:txBody>
      </p:sp>
      <p:sp>
        <p:nvSpPr>
          <p:cNvPr id="26" name="Text 24"/>
          <p:cNvSpPr/>
          <p:nvPr/>
        </p:nvSpPr>
        <p:spPr>
          <a:xfrm>
            <a:off x="548640" y="3227832"/>
            <a:ext cx="320040" cy="320040"/>
          </a:xfrm>
          <a:prstGeom prst="rect">
            <a:avLst/>
          </a:prstGeom>
          <a:noFill/>
          <a:ln/>
        </p:spPr>
        <p:txBody>
          <a:bodyPr wrap="square" rtlCol="0" anchor="ctr"/>
          <a:lstStyle/>
          <a:p>
            <a:pPr marL="0" indent="0" algn="ctr">
              <a:buNone/>
            </a:pPr>
            <a:r>
              <a:rPr lang="en-US" sz="1100" b="1" dirty="0">
                <a:solidFill>
                  <a:srgbClr val="00B050"/>
                </a:solidFill>
                <a:latin typeface="Segoe UI" pitchFamily="34" charset="0"/>
                <a:ea typeface="Segoe UI" pitchFamily="34" charset="-122"/>
                <a:cs typeface="Segoe UI" pitchFamily="34" charset="-120"/>
              </a:rPr>
              <a:t>5</a:t>
            </a:r>
            <a:endParaRPr lang="en-US" sz="1100" dirty="0">
              <a:solidFill>
                <a:srgbClr val="00B050"/>
              </a:solidFill>
            </a:endParaRPr>
          </a:p>
        </p:txBody>
      </p:sp>
      <p:sp>
        <p:nvSpPr>
          <p:cNvPr id="27" name="Text 25"/>
          <p:cNvSpPr/>
          <p:nvPr/>
        </p:nvSpPr>
        <p:spPr>
          <a:xfrm>
            <a:off x="1005840" y="3246120"/>
            <a:ext cx="1828800" cy="274320"/>
          </a:xfrm>
          <a:prstGeom prst="rect">
            <a:avLst/>
          </a:prstGeom>
          <a:noFill/>
          <a:ln/>
        </p:spPr>
        <p:txBody>
          <a:bodyPr wrap="square" rtlCol="0" anchor="ctr"/>
          <a:lstStyle/>
          <a:p>
            <a:pPr marL="0" indent="0">
              <a:buNone/>
            </a:pPr>
            <a:r>
              <a:rPr lang="en-US" sz="1000" b="1" dirty="0">
                <a:solidFill>
                  <a:srgbClr val="1E293B"/>
                </a:solidFill>
                <a:latin typeface="Segoe UI" pitchFamily="34" charset="0"/>
                <a:ea typeface="Segoe UI" pitchFamily="34" charset="-122"/>
                <a:cs typeface="Segoe UI" pitchFamily="34" charset="-120"/>
              </a:rPr>
              <a:t>Second Tool Call</a:t>
            </a:r>
            <a:endParaRPr lang="en-US" sz="1000" dirty="0"/>
          </a:p>
        </p:txBody>
      </p:sp>
      <p:sp>
        <p:nvSpPr>
          <p:cNvPr id="28" name="Text 26"/>
          <p:cNvSpPr/>
          <p:nvPr/>
        </p:nvSpPr>
        <p:spPr>
          <a:xfrm>
            <a:off x="2926080" y="3246120"/>
            <a:ext cx="557784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Orchestrator invokes Claims Agent tool: "Get claims for CUST-001, CUST-004, CUST-007"</a:t>
            </a:r>
            <a:endParaRPr lang="en-US" sz="1000" dirty="0"/>
          </a:p>
        </p:txBody>
      </p:sp>
      <p:sp>
        <p:nvSpPr>
          <p:cNvPr id="29" name="Shape 27"/>
          <p:cNvSpPr/>
          <p:nvPr/>
        </p:nvSpPr>
        <p:spPr>
          <a:xfrm>
            <a:off x="457200" y="3703320"/>
            <a:ext cx="8229600" cy="502920"/>
          </a:xfrm>
          <a:prstGeom prst="rect">
            <a:avLst/>
          </a:prstGeom>
          <a:solidFill>
            <a:srgbClr val="FFFFFF"/>
          </a:solidFill>
          <a:ln/>
        </p:spPr>
        <p:txBody>
          <a:bodyPr/>
          <a:lstStyle/>
          <a:p>
            <a:endParaRPr lang="en-IN"/>
          </a:p>
        </p:txBody>
      </p:sp>
      <p:sp>
        <p:nvSpPr>
          <p:cNvPr id="30" name="Shape 28"/>
          <p:cNvSpPr/>
          <p:nvPr/>
        </p:nvSpPr>
        <p:spPr>
          <a:xfrm>
            <a:off x="548640" y="3794760"/>
            <a:ext cx="320040" cy="320040"/>
          </a:xfrm>
          <a:prstGeom prst="line">
            <a:avLst/>
          </a:prstGeom>
          <a:solidFill>
            <a:srgbClr val="0891B2"/>
          </a:solidFill>
          <a:ln/>
        </p:spPr>
        <p:txBody>
          <a:bodyPr/>
          <a:lstStyle/>
          <a:p>
            <a:endParaRPr lang="en-IN"/>
          </a:p>
        </p:txBody>
      </p:sp>
      <p:sp>
        <p:nvSpPr>
          <p:cNvPr id="31" name="Text 29"/>
          <p:cNvSpPr/>
          <p:nvPr/>
        </p:nvSpPr>
        <p:spPr>
          <a:xfrm>
            <a:off x="548640" y="3794760"/>
            <a:ext cx="320040" cy="320040"/>
          </a:xfrm>
          <a:prstGeom prst="rect">
            <a:avLst/>
          </a:prstGeom>
          <a:noFill/>
          <a:ln/>
        </p:spPr>
        <p:txBody>
          <a:bodyPr wrap="square" rtlCol="0" anchor="ctr"/>
          <a:lstStyle/>
          <a:p>
            <a:pPr marL="0" indent="0" algn="ctr">
              <a:buNone/>
            </a:pPr>
            <a:r>
              <a:rPr lang="en-US" sz="1100" b="1" dirty="0">
                <a:solidFill>
                  <a:srgbClr val="00B050"/>
                </a:solidFill>
                <a:latin typeface="Segoe UI" pitchFamily="34" charset="0"/>
                <a:ea typeface="Segoe UI" pitchFamily="34" charset="-122"/>
                <a:cs typeface="Segoe UI" pitchFamily="34" charset="-120"/>
              </a:rPr>
              <a:t>6</a:t>
            </a:r>
            <a:endParaRPr lang="en-US" sz="1100" dirty="0">
              <a:solidFill>
                <a:srgbClr val="00B050"/>
              </a:solidFill>
            </a:endParaRPr>
          </a:p>
        </p:txBody>
      </p:sp>
      <p:sp>
        <p:nvSpPr>
          <p:cNvPr id="32" name="Text 30"/>
          <p:cNvSpPr/>
          <p:nvPr/>
        </p:nvSpPr>
        <p:spPr>
          <a:xfrm>
            <a:off x="1005840" y="3813048"/>
            <a:ext cx="1828800" cy="274320"/>
          </a:xfrm>
          <a:prstGeom prst="rect">
            <a:avLst/>
          </a:prstGeom>
          <a:noFill/>
          <a:ln/>
        </p:spPr>
        <p:txBody>
          <a:bodyPr wrap="square" rtlCol="0" anchor="ctr"/>
          <a:lstStyle/>
          <a:p>
            <a:pPr marL="0" indent="0">
              <a:buNone/>
            </a:pPr>
            <a:r>
              <a:rPr lang="en-US" sz="1000" b="1" dirty="0">
                <a:solidFill>
                  <a:srgbClr val="1E293B"/>
                </a:solidFill>
                <a:latin typeface="Segoe UI" pitchFamily="34" charset="0"/>
                <a:ea typeface="Segoe UI" pitchFamily="34" charset="-122"/>
                <a:cs typeface="Segoe UI" pitchFamily="34" charset="-120"/>
              </a:rPr>
              <a:t>Specialist Executes</a:t>
            </a:r>
            <a:endParaRPr lang="en-US" sz="1000" dirty="0"/>
          </a:p>
        </p:txBody>
      </p:sp>
      <p:sp>
        <p:nvSpPr>
          <p:cNvPr id="33" name="Text 31"/>
          <p:cNvSpPr/>
          <p:nvPr/>
        </p:nvSpPr>
        <p:spPr>
          <a:xfrm>
            <a:off x="2926080" y="3813048"/>
            <a:ext cx="557784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Claims Agent queries Dataverse, returns 5 claims for these customers</a:t>
            </a:r>
            <a:endParaRPr lang="en-US" sz="1000" dirty="0"/>
          </a:p>
        </p:txBody>
      </p:sp>
      <p:sp>
        <p:nvSpPr>
          <p:cNvPr id="34" name="Shape 32"/>
          <p:cNvSpPr/>
          <p:nvPr/>
        </p:nvSpPr>
        <p:spPr>
          <a:xfrm>
            <a:off x="457200" y="4270248"/>
            <a:ext cx="8229600" cy="502920"/>
          </a:xfrm>
          <a:prstGeom prst="rect">
            <a:avLst/>
          </a:prstGeom>
          <a:solidFill>
            <a:srgbClr val="F1F5F9"/>
          </a:solidFill>
          <a:ln/>
        </p:spPr>
        <p:txBody>
          <a:bodyPr/>
          <a:lstStyle/>
          <a:p>
            <a:endParaRPr lang="en-IN"/>
          </a:p>
        </p:txBody>
      </p:sp>
      <p:sp>
        <p:nvSpPr>
          <p:cNvPr id="35" name="Shape 33"/>
          <p:cNvSpPr/>
          <p:nvPr/>
        </p:nvSpPr>
        <p:spPr>
          <a:xfrm>
            <a:off x="548640" y="4361688"/>
            <a:ext cx="320040" cy="320040"/>
          </a:xfrm>
          <a:prstGeom prst="line">
            <a:avLst/>
          </a:prstGeom>
          <a:solidFill>
            <a:srgbClr val="0891B2"/>
          </a:solidFill>
          <a:ln/>
        </p:spPr>
        <p:txBody>
          <a:bodyPr/>
          <a:lstStyle/>
          <a:p>
            <a:endParaRPr lang="en-IN"/>
          </a:p>
        </p:txBody>
      </p:sp>
      <p:sp>
        <p:nvSpPr>
          <p:cNvPr id="36" name="Text 34"/>
          <p:cNvSpPr/>
          <p:nvPr/>
        </p:nvSpPr>
        <p:spPr>
          <a:xfrm>
            <a:off x="548640" y="4361688"/>
            <a:ext cx="320040" cy="320040"/>
          </a:xfrm>
          <a:prstGeom prst="rect">
            <a:avLst/>
          </a:prstGeom>
          <a:noFill/>
          <a:ln/>
        </p:spPr>
        <p:txBody>
          <a:bodyPr wrap="square" rtlCol="0" anchor="ctr"/>
          <a:lstStyle/>
          <a:p>
            <a:pPr marL="0" indent="0" algn="ctr">
              <a:buNone/>
            </a:pPr>
            <a:r>
              <a:rPr lang="en-US" sz="1100" b="1" dirty="0">
                <a:solidFill>
                  <a:srgbClr val="00B050"/>
                </a:solidFill>
                <a:latin typeface="Segoe UI" pitchFamily="34" charset="0"/>
                <a:ea typeface="Segoe UI" pitchFamily="34" charset="-122"/>
                <a:cs typeface="Segoe UI" pitchFamily="34" charset="-120"/>
              </a:rPr>
              <a:t>7</a:t>
            </a:r>
            <a:endParaRPr lang="en-US" sz="1100" dirty="0">
              <a:solidFill>
                <a:srgbClr val="00B050"/>
              </a:solidFill>
            </a:endParaRPr>
          </a:p>
        </p:txBody>
      </p:sp>
      <p:sp>
        <p:nvSpPr>
          <p:cNvPr id="37" name="Text 35"/>
          <p:cNvSpPr/>
          <p:nvPr/>
        </p:nvSpPr>
        <p:spPr>
          <a:xfrm>
            <a:off x="1005840" y="4379976"/>
            <a:ext cx="1828800" cy="274320"/>
          </a:xfrm>
          <a:prstGeom prst="rect">
            <a:avLst/>
          </a:prstGeom>
          <a:noFill/>
          <a:ln/>
        </p:spPr>
        <p:txBody>
          <a:bodyPr wrap="square" rtlCol="0" anchor="ctr"/>
          <a:lstStyle/>
          <a:p>
            <a:pPr marL="0" indent="0">
              <a:buNone/>
            </a:pPr>
            <a:r>
              <a:rPr lang="en-US" sz="1000" b="1" dirty="0">
                <a:solidFill>
                  <a:srgbClr val="1E293B"/>
                </a:solidFill>
                <a:latin typeface="Segoe UI" pitchFamily="34" charset="0"/>
                <a:ea typeface="Segoe UI" pitchFamily="34" charset="-122"/>
                <a:cs typeface="Segoe UI" pitchFamily="34" charset="-120"/>
              </a:rPr>
              <a:t>Orchestrator Synthesizes</a:t>
            </a:r>
            <a:endParaRPr lang="en-US" sz="1000" dirty="0"/>
          </a:p>
        </p:txBody>
      </p:sp>
      <p:sp>
        <p:nvSpPr>
          <p:cNvPr id="38" name="Text 36"/>
          <p:cNvSpPr/>
          <p:nvPr/>
        </p:nvSpPr>
        <p:spPr>
          <a:xfrm>
            <a:off x="2926080" y="4379976"/>
            <a:ext cx="557784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Orchestrator combines results and responds to user with complete report</a:t>
            </a:r>
            <a:endParaRPr lang="en-US" sz="1000" dirty="0"/>
          </a:p>
        </p:txBody>
      </p:sp>
      <p:sp>
        <p:nvSpPr>
          <p:cNvPr id="39" name="Shape 37"/>
          <p:cNvSpPr/>
          <p:nvPr/>
        </p:nvSpPr>
        <p:spPr>
          <a:xfrm>
            <a:off x="0" y="4846320"/>
            <a:ext cx="9144000" cy="297180"/>
          </a:xfrm>
          <a:prstGeom prst="rect">
            <a:avLst/>
          </a:prstGeom>
          <a:solidFill>
            <a:srgbClr val="F1F5F9"/>
          </a:solidFill>
          <a:ln/>
        </p:spPr>
        <p:txBody>
          <a:bodyPr/>
          <a:lstStyle/>
          <a:p>
            <a:endParaRPr lang="en-IN"/>
          </a:p>
        </p:txBody>
      </p:sp>
      <p:sp>
        <p:nvSpPr>
          <p:cNvPr id="40" name="Text 3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09</a:t>
            </a:r>
            <a:endParaRPr lang="en-US" sz="800" dirty="0"/>
          </a:p>
        </p:txBody>
      </p:sp>
      <p:sp>
        <p:nvSpPr>
          <p:cNvPr id="41" name="Text 39"/>
          <p:cNvSpPr/>
          <p:nvPr/>
        </p:nvSpPr>
        <p:spPr>
          <a:xfrm>
            <a:off x="7955280" y="486127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16 / 28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Specialist Agent Design Principles</a:t>
            </a:r>
            <a:endParaRPr lang="en-US" sz="2800" dirty="0"/>
          </a:p>
        </p:txBody>
      </p:sp>
      <p:sp>
        <p:nvSpPr>
          <p:cNvPr id="4" name="Shape 2"/>
          <p:cNvSpPr/>
          <p:nvPr/>
        </p:nvSpPr>
        <p:spPr>
          <a:xfrm>
            <a:off x="457200" y="914400"/>
            <a:ext cx="4114800" cy="1143000"/>
          </a:xfrm>
          <a:prstGeom prst="rect">
            <a:avLst/>
          </a:prstGeom>
          <a:solidFill>
            <a:srgbClr val="F1F5F9"/>
          </a:solidFill>
          <a:ln/>
        </p:spPr>
        <p:txBody>
          <a:bodyPr/>
          <a:lstStyle/>
          <a:p>
            <a:endParaRPr lang="en-IN"/>
          </a:p>
        </p:txBody>
      </p:sp>
      <p:sp>
        <p:nvSpPr>
          <p:cNvPr id="5" name="Text 3"/>
          <p:cNvSpPr/>
          <p:nvPr/>
        </p:nvSpPr>
        <p:spPr>
          <a:xfrm>
            <a:off x="617220" y="960120"/>
            <a:ext cx="36576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6" name="Text 4"/>
          <p:cNvSpPr/>
          <p:nvPr/>
        </p:nvSpPr>
        <p:spPr>
          <a:xfrm>
            <a:off x="1005840" y="1005840"/>
            <a:ext cx="228600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Single Domain</a:t>
            </a:r>
            <a:endParaRPr lang="en-US" sz="1100" dirty="0"/>
          </a:p>
        </p:txBody>
      </p:sp>
      <p:sp>
        <p:nvSpPr>
          <p:cNvPr id="7" name="Shape 5"/>
          <p:cNvSpPr/>
          <p:nvPr/>
        </p:nvSpPr>
        <p:spPr>
          <a:xfrm>
            <a:off x="3474720" y="1005840"/>
            <a:ext cx="914400" cy="201168"/>
          </a:xfrm>
          <a:prstGeom prst="rect">
            <a:avLst/>
          </a:prstGeom>
          <a:solidFill>
            <a:srgbClr val="0891B2"/>
          </a:solidFill>
          <a:ln/>
        </p:spPr>
        <p:txBody>
          <a:bodyPr/>
          <a:lstStyle/>
          <a:p>
            <a:endParaRPr lang="en-IN"/>
          </a:p>
        </p:txBody>
      </p:sp>
      <p:sp>
        <p:nvSpPr>
          <p:cNvPr id="8" name="Text 6"/>
          <p:cNvSpPr/>
          <p:nvPr/>
        </p:nvSpPr>
        <p:spPr>
          <a:xfrm>
            <a:off x="3474720" y="1005840"/>
            <a:ext cx="914400" cy="201168"/>
          </a:xfrm>
          <a:prstGeom prst="rect">
            <a:avLst/>
          </a:prstGeom>
          <a:noFill/>
          <a:ln/>
        </p:spPr>
        <p:txBody>
          <a:bodyPr wrap="square" rtlCol="0" anchor="ctr"/>
          <a:lstStyle/>
          <a:p>
            <a:pPr marL="0" indent="0" algn="ctr">
              <a:buNone/>
            </a:pPr>
            <a:r>
              <a:rPr lang="en-US" sz="700" b="1" dirty="0">
                <a:solidFill>
                  <a:srgbClr val="FFFFFF"/>
                </a:solidFill>
                <a:latin typeface="Segoe UI" pitchFamily="34" charset="0"/>
                <a:ea typeface="Segoe UI" pitchFamily="34" charset="-122"/>
                <a:cs typeface="Segoe UI" pitchFamily="34" charset="-120"/>
              </a:rPr>
              <a:t>Most important principle</a:t>
            </a:r>
            <a:endParaRPr lang="en-US" sz="700" dirty="0"/>
          </a:p>
        </p:txBody>
      </p:sp>
      <p:sp>
        <p:nvSpPr>
          <p:cNvPr id="9" name="Text 7"/>
          <p:cNvSpPr/>
          <p:nvPr/>
        </p:nvSpPr>
        <p:spPr>
          <a:xfrm>
            <a:off x="594360" y="1371600"/>
            <a:ext cx="3840480" cy="59436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Each specialist handles exactly one domain — claims OR policies OR customers, never multiple</a:t>
            </a:r>
            <a:endParaRPr lang="en-US" sz="900" dirty="0"/>
          </a:p>
        </p:txBody>
      </p:sp>
      <p:sp>
        <p:nvSpPr>
          <p:cNvPr id="10" name="Shape 8"/>
          <p:cNvSpPr/>
          <p:nvPr/>
        </p:nvSpPr>
        <p:spPr>
          <a:xfrm>
            <a:off x="4754880" y="914400"/>
            <a:ext cx="4114800" cy="1143000"/>
          </a:xfrm>
          <a:prstGeom prst="rect">
            <a:avLst/>
          </a:prstGeom>
          <a:solidFill>
            <a:srgbClr val="F1F5F9"/>
          </a:solidFill>
          <a:ln/>
        </p:spPr>
        <p:txBody>
          <a:bodyPr/>
          <a:lstStyle/>
          <a:p>
            <a:endParaRPr lang="en-IN"/>
          </a:p>
        </p:txBody>
      </p:sp>
      <p:sp>
        <p:nvSpPr>
          <p:cNvPr id="11" name="Text 9"/>
          <p:cNvSpPr/>
          <p:nvPr/>
        </p:nvSpPr>
        <p:spPr>
          <a:xfrm>
            <a:off x="4892040" y="1005840"/>
            <a:ext cx="36576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12" name="Text 10"/>
          <p:cNvSpPr/>
          <p:nvPr/>
        </p:nvSpPr>
        <p:spPr>
          <a:xfrm>
            <a:off x="5303520" y="1005840"/>
            <a:ext cx="228600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Focused System Prompt</a:t>
            </a:r>
            <a:endParaRPr lang="en-US" sz="1100" dirty="0"/>
          </a:p>
        </p:txBody>
      </p:sp>
      <p:sp>
        <p:nvSpPr>
          <p:cNvPr id="13" name="Shape 11"/>
          <p:cNvSpPr/>
          <p:nvPr/>
        </p:nvSpPr>
        <p:spPr>
          <a:xfrm>
            <a:off x="7772400" y="1005840"/>
            <a:ext cx="914400" cy="201168"/>
          </a:xfrm>
          <a:prstGeom prst="rect">
            <a:avLst/>
          </a:prstGeom>
          <a:solidFill>
            <a:srgbClr val="0891B2"/>
          </a:solidFill>
          <a:ln/>
        </p:spPr>
        <p:txBody>
          <a:bodyPr/>
          <a:lstStyle/>
          <a:p>
            <a:endParaRPr lang="en-IN"/>
          </a:p>
        </p:txBody>
      </p:sp>
      <p:sp>
        <p:nvSpPr>
          <p:cNvPr id="14" name="Text 12"/>
          <p:cNvSpPr/>
          <p:nvPr/>
        </p:nvSpPr>
        <p:spPr>
          <a:xfrm>
            <a:off x="7772400" y="1005840"/>
            <a:ext cx="914400" cy="201168"/>
          </a:xfrm>
          <a:prstGeom prst="rect">
            <a:avLst/>
          </a:prstGeom>
          <a:noFill/>
          <a:ln/>
        </p:spPr>
        <p:txBody>
          <a:bodyPr wrap="square" rtlCol="0" anchor="ctr"/>
          <a:lstStyle/>
          <a:p>
            <a:pPr marL="0" indent="0" algn="ctr">
              <a:buNone/>
            </a:pPr>
            <a:r>
              <a:rPr lang="en-US" sz="700" b="1" dirty="0">
                <a:solidFill>
                  <a:srgbClr val="FFFFFF"/>
                </a:solidFill>
                <a:latin typeface="Segoe UI" pitchFamily="34" charset="0"/>
                <a:ea typeface="Segoe UI" pitchFamily="34" charset="-122"/>
                <a:cs typeface="Segoe UI" pitchFamily="34" charset="-120"/>
              </a:rPr>
              <a:t>Prevents scope creep</a:t>
            </a:r>
            <a:endParaRPr lang="en-US" sz="700" dirty="0"/>
          </a:p>
        </p:txBody>
      </p:sp>
      <p:sp>
        <p:nvSpPr>
          <p:cNvPr id="15" name="Text 13"/>
          <p:cNvSpPr/>
          <p:nvPr/>
        </p:nvSpPr>
        <p:spPr>
          <a:xfrm>
            <a:off x="4892040" y="1371600"/>
            <a:ext cx="3840480" cy="59436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Short, precise prompt covering only domain expertise. Explicitly refuse out-of-scope requests</a:t>
            </a:r>
            <a:endParaRPr lang="en-US" sz="900" dirty="0"/>
          </a:p>
        </p:txBody>
      </p:sp>
      <p:sp>
        <p:nvSpPr>
          <p:cNvPr id="16" name="Shape 14"/>
          <p:cNvSpPr/>
          <p:nvPr/>
        </p:nvSpPr>
        <p:spPr>
          <a:xfrm>
            <a:off x="457200" y="2148840"/>
            <a:ext cx="4114800" cy="1143000"/>
          </a:xfrm>
          <a:prstGeom prst="rect">
            <a:avLst/>
          </a:prstGeom>
          <a:solidFill>
            <a:srgbClr val="F1F5F9"/>
          </a:solidFill>
          <a:ln/>
        </p:spPr>
        <p:txBody>
          <a:bodyPr/>
          <a:lstStyle/>
          <a:p>
            <a:endParaRPr lang="en-IN"/>
          </a:p>
        </p:txBody>
      </p:sp>
      <p:sp>
        <p:nvSpPr>
          <p:cNvPr id="17" name="Text 15"/>
          <p:cNvSpPr/>
          <p:nvPr/>
        </p:nvSpPr>
        <p:spPr>
          <a:xfrm>
            <a:off x="617220" y="2221992"/>
            <a:ext cx="36576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18" name="Text 16"/>
          <p:cNvSpPr/>
          <p:nvPr/>
        </p:nvSpPr>
        <p:spPr>
          <a:xfrm>
            <a:off x="1005840" y="2240280"/>
            <a:ext cx="228600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Scoped Tools</a:t>
            </a:r>
            <a:endParaRPr lang="en-US" sz="1100" dirty="0"/>
          </a:p>
        </p:txBody>
      </p:sp>
      <p:sp>
        <p:nvSpPr>
          <p:cNvPr id="19" name="Shape 17"/>
          <p:cNvSpPr/>
          <p:nvPr/>
        </p:nvSpPr>
        <p:spPr>
          <a:xfrm>
            <a:off x="3474720" y="2240280"/>
            <a:ext cx="914400" cy="201168"/>
          </a:xfrm>
          <a:prstGeom prst="rect">
            <a:avLst/>
          </a:prstGeom>
          <a:solidFill>
            <a:srgbClr val="0891B2"/>
          </a:solidFill>
          <a:ln/>
        </p:spPr>
        <p:txBody>
          <a:bodyPr/>
          <a:lstStyle/>
          <a:p>
            <a:endParaRPr lang="en-IN"/>
          </a:p>
        </p:txBody>
      </p:sp>
      <p:sp>
        <p:nvSpPr>
          <p:cNvPr id="20" name="Text 18"/>
          <p:cNvSpPr/>
          <p:nvPr/>
        </p:nvSpPr>
        <p:spPr>
          <a:xfrm>
            <a:off x="3474720" y="2240280"/>
            <a:ext cx="914400" cy="201168"/>
          </a:xfrm>
          <a:prstGeom prst="rect">
            <a:avLst/>
          </a:prstGeom>
          <a:noFill/>
          <a:ln/>
        </p:spPr>
        <p:txBody>
          <a:bodyPr wrap="square" rtlCol="0" anchor="ctr"/>
          <a:lstStyle/>
          <a:p>
            <a:pPr marL="0" indent="0" algn="ctr">
              <a:buNone/>
            </a:pPr>
            <a:r>
              <a:rPr lang="en-US" sz="700" b="1" dirty="0">
                <a:solidFill>
                  <a:srgbClr val="FFFFFF"/>
                </a:solidFill>
                <a:latin typeface="Segoe UI" pitchFamily="34" charset="0"/>
                <a:ea typeface="Segoe UI" pitchFamily="34" charset="-122"/>
                <a:cs typeface="Segoe UI" pitchFamily="34" charset="-120"/>
              </a:rPr>
              <a:t>Least-privilege access</a:t>
            </a:r>
            <a:endParaRPr lang="en-US" sz="700" dirty="0"/>
          </a:p>
        </p:txBody>
      </p:sp>
      <p:sp>
        <p:nvSpPr>
          <p:cNvPr id="21" name="Text 19"/>
          <p:cNvSpPr/>
          <p:nvPr/>
        </p:nvSpPr>
        <p:spPr>
          <a:xfrm>
            <a:off x="594360" y="2606040"/>
            <a:ext cx="3840480" cy="59436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MCP access limited to domain tables. Claims Agent sees Claims and readonly Customers only</a:t>
            </a:r>
            <a:endParaRPr lang="en-US" sz="900" dirty="0"/>
          </a:p>
        </p:txBody>
      </p:sp>
      <p:sp>
        <p:nvSpPr>
          <p:cNvPr id="22" name="Shape 20"/>
          <p:cNvSpPr/>
          <p:nvPr/>
        </p:nvSpPr>
        <p:spPr>
          <a:xfrm>
            <a:off x="4754880" y="2148840"/>
            <a:ext cx="4114800" cy="1143000"/>
          </a:xfrm>
          <a:prstGeom prst="rect">
            <a:avLst/>
          </a:prstGeom>
          <a:solidFill>
            <a:srgbClr val="F1F5F9"/>
          </a:solidFill>
          <a:ln/>
        </p:spPr>
        <p:txBody>
          <a:bodyPr/>
          <a:lstStyle/>
          <a:p>
            <a:endParaRPr lang="en-IN"/>
          </a:p>
        </p:txBody>
      </p:sp>
      <p:sp>
        <p:nvSpPr>
          <p:cNvPr id="23" name="Text 21"/>
          <p:cNvSpPr/>
          <p:nvPr/>
        </p:nvSpPr>
        <p:spPr>
          <a:xfrm>
            <a:off x="4892040" y="2205990"/>
            <a:ext cx="36576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24" name="Text 22"/>
          <p:cNvSpPr/>
          <p:nvPr/>
        </p:nvSpPr>
        <p:spPr>
          <a:xfrm>
            <a:off x="5303520" y="2240280"/>
            <a:ext cx="228600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Clear I/O Contract</a:t>
            </a:r>
            <a:endParaRPr lang="en-US" sz="1100" dirty="0"/>
          </a:p>
        </p:txBody>
      </p:sp>
      <p:sp>
        <p:nvSpPr>
          <p:cNvPr id="25" name="Shape 23"/>
          <p:cNvSpPr/>
          <p:nvPr/>
        </p:nvSpPr>
        <p:spPr>
          <a:xfrm>
            <a:off x="7772400" y="2240280"/>
            <a:ext cx="914400" cy="201168"/>
          </a:xfrm>
          <a:prstGeom prst="rect">
            <a:avLst/>
          </a:prstGeom>
          <a:solidFill>
            <a:srgbClr val="0891B2"/>
          </a:solidFill>
          <a:ln/>
        </p:spPr>
        <p:txBody>
          <a:bodyPr/>
          <a:lstStyle/>
          <a:p>
            <a:endParaRPr lang="en-IN"/>
          </a:p>
        </p:txBody>
      </p:sp>
      <p:sp>
        <p:nvSpPr>
          <p:cNvPr id="26" name="Text 24"/>
          <p:cNvSpPr/>
          <p:nvPr/>
        </p:nvSpPr>
        <p:spPr>
          <a:xfrm>
            <a:off x="7772400" y="2240280"/>
            <a:ext cx="914400" cy="201168"/>
          </a:xfrm>
          <a:prstGeom prst="rect">
            <a:avLst/>
          </a:prstGeom>
          <a:noFill/>
          <a:ln/>
        </p:spPr>
        <p:txBody>
          <a:bodyPr wrap="square" rtlCol="0" anchor="ctr"/>
          <a:lstStyle/>
          <a:p>
            <a:pPr marL="0" indent="0" algn="ctr">
              <a:buNone/>
            </a:pPr>
            <a:r>
              <a:rPr lang="en-US" sz="700" b="1" dirty="0">
                <a:solidFill>
                  <a:srgbClr val="FFFFFF"/>
                </a:solidFill>
                <a:latin typeface="Segoe UI" pitchFamily="34" charset="0"/>
                <a:ea typeface="Segoe UI" pitchFamily="34" charset="-122"/>
                <a:cs typeface="Segoe UI" pitchFamily="34" charset="-120"/>
              </a:rPr>
              <a:t>Reliable integration</a:t>
            </a:r>
            <a:endParaRPr lang="en-US" sz="700" dirty="0"/>
          </a:p>
        </p:txBody>
      </p:sp>
      <p:sp>
        <p:nvSpPr>
          <p:cNvPr id="27" name="Text 25"/>
          <p:cNvSpPr/>
          <p:nvPr/>
        </p:nvSpPr>
        <p:spPr>
          <a:xfrm>
            <a:off x="4892040" y="2606040"/>
            <a:ext cx="3840480" cy="59436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Well-defined input parameters and output format. Orchestrator knows what to expect</a:t>
            </a:r>
            <a:endParaRPr lang="en-US" sz="900" dirty="0"/>
          </a:p>
        </p:txBody>
      </p:sp>
      <p:sp>
        <p:nvSpPr>
          <p:cNvPr id="28" name="Shape 26"/>
          <p:cNvSpPr/>
          <p:nvPr/>
        </p:nvSpPr>
        <p:spPr>
          <a:xfrm>
            <a:off x="457200" y="3383280"/>
            <a:ext cx="4114800" cy="1143000"/>
          </a:xfrm>
          <a:prstGeom prst="rect">
            <a:avLst/>
          </a:prstGeom>
          <a:solidFill>
            <a:srgbClr val="F1F5F9"/>
          </a:solidFill>
          <a:ln/>
        </p:spPr>
        <p:txBody>
          <a:bodyPr/>
          <a:lstStyle/>
          <a:p>
            <a:endParaRPr lang="en-IN"/>
          </a:p>
        </p:txBody>
      </p:sp>
      <p:sp>
        <p:nvSpPr>
          <p:cNvPr id="29" name="Text 27"/>
          <p:cNvSpPr/>
          <p:nvPr/>
        </p:nvSpPr>
        <p:spPr>
          <a:xfrm>
            <a:off x="594360" y="3456432"/>
            <a:ext cx="36576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30" name="Text 28"/>
          <p:cNvSpPr/>
          <p:nvPr/>
        </p:nvSpPr>
        <p:spPr>
          <a:xfrm>
            <a:off x="1005840" y="3474720"/>
            <a:ext cx="228600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Independent Testing</a:t>
            </a:r>
            <a:endParaRPr lang="en-US" sz="1100" dirty="0"/>
          </a:p>
        </p:txBody>
      </p:sp>
      <p:sp>
        <p:nvSpPr>
          <p:cNvPr id="31" name="Shape 29"/>
          <p:cNvSpPr/>
          <p:nvPr/>
        </p:nvSpPr>
        <p:spPr>
          <a:xfrm>
            <a:off x="3474720" y="3474720"/>
            <a:ext cx="914400" cy="201168"/>
          </a:xfrm>
          <a:prstGeom prst="rect">
            <a:avLst/>
          </a:prstGeom>
          <a:solidFill>
            <a:srgbClr val="0891B2"/>
          </a:solidFill>
          <a:ln/>
        </p:spPr>
        <p:txBody>
          <a:bodyPr/>
          <a:lstStyle/>
          <a:p>
            <a:endParaRPr lang="en-IN"/>
          </a:p>
        </p:txBody>
      </p:sp>
      <p:sp>
        <p:nvSpPr>
          <p:cNvPr id="32" name="Text 30"/>
          <p:cNvSpPr/>
          <p:nvPr/>
        </p:nvSpPr>
        <p:spPr>
          <a:xfrm>
            <a:off x="3474720" y="3474720"/>
            <a:ext cx="914400" cy="201168"/>
          </a:xfrm>
          <a:prstGeom prst="rect">
            <a:avLst/>
          </a:prstGeom>
          <a:noFill/>
          <a:ln/>
        </p:spPr>
        <p:txBody>
          <a:bodyPr wrap="square" rtlCol="0" anchor="ctr"/>
          <a:lstStyle/>
          <a:p>
            <a:pPr marL="0" indent="0" algn="ctr">
              <a:buNone/>
            </a:pPr>
            <a:r>
              <a:rPr lang="en-US" sz="700" b="1" dirty="0">
                <a:solidFill>
                  <a:srgbClr val="FFFFFF"/>
                </a:solidFill>
                <a:latin typeface="Segoe UI" pitchFamily="34" charset="0"/>
                <a:ea typeface="Segoe UI" pitchFamily="34" charset="-122"/>
                <a:cs typeface="Segoe UI" pitchFamily="34" charset="-120"/>
              </a:rPr>
              <a:t>Catch bugs early</a:t>
            </a:r>
            <a:endParaRPr lang="en-US" sz="700" dirty="0"/>
          </a:p>
        </p:txBody>
      </p:sp>
      <p:sp>
        <p:nvSpPr>
          <p:cNvPr id="33" name="Text 31"/>
          <p:cNvSpPr/>
          <p:nvPr/>
        </p:nvSpPr>
        <p:spPr>
          <a:xfrm>
            <a:off x="594360" y="3840480"/>
            <a:ext cx="3840480" cy="59436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Must be testable in isolation before adding to orchestrator</a:t>
            </a:r>
            <a:endParaRPr lang="en-US" sz="900" dirty="0"/>
          </a:p>
        </p:txBody>
      </p:sp>
      <p:sp>
        <p:nvSpPr>
          <p:cNvPr id="34" name="Shape 32"/>
          <p:cNvSpPr/>
          <p:nvPr/>
        </p:nvSpPr>
        <p:spPr>
          <a:xfrm>
            <a:off x="4754880" y="3383280"/>
            <a:ext cx="4114800" cy="1143000"/>
          </a:xfrm>
          <a:prstGeom prst="rect">
            <a:avLst/>
          </a:prstGeom>
          <a:solidFill>
            <a:srgbClr val="F1F5F9"/>
          </a:solidFill>
          <a:ln/>
        </p:spPr>
        <p:txBody>
          <a:bodyPr/>
          <a:lstStyle/>
          <a:p>
            <a:endParaRPr lang="en-IN"/>
          </a:p>
        </p:txBody>
      </p:sp>
      <p:sp>
        <p:nvSpPr>
          <p:cNvPr id="35" name="Text 33"/>
          <p:cNvSpPr/>
          <p:nvPr/>
        </p:nvSpPr>
        <p:spPr>
          <a:xfrm>
            <a:off x="4892040" y="3436983"/>
            <a:ext cx="36576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36" name="Text 34"/>
          <p:cNvSpPr/>
          <p:nvPr/>
        </p:nvSpPr>
        <p:spPr>
          <a:xfrm>
            <a:off x="5303520" y="3474720"/>
            <a:ext cx="228600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Graceful Degradation</a:t>
            </a:r>
            <a:endParaRPr lang="en-US" sz="1100" dirty="0"/>
          </a:p>
        </p:txBody>
      </p:sp>
      <p:sp>
        <p:nvSpPr>
          <p:cNvPr id="37" name="Shape 35"/>
          <p:cNvSpPr/>
          <p:nvPr/>
        </p:nvSpPr>
        <p:spPr>
          <a:xfrm>
            <a:off x="7772400" y="3474720"/>
            <a:ext cx="914400" cy="201168"/>
          </a:xfrm>
          <a:prstGeom prst="rect">
            <a:avLst/>
          </a:prstGeom>
          <a:solidFill>
            <a:srgbClr val="0891B2"/>
          </a:solidFill>
          <a:ln/>
        </p:spPr>
        <p:txBody>
          <a:bodyPr/>
          <a:lstStyle/>
          <a:p>
            <a:endParaRPr lang="en-IN"/>
          </a:p>
        </p:txBody>
      </p:sp>
      <p:sp>
        <p:nvSpPr>
          <p:cNvPr id="38" name="Text 36"/>
          <p:cNvSpPr/>
          <p:nvPr/>
        </p:nvSpPr>
        <p:spPr>
          <a:xfrm>
            <a:off x="7772400" y="3474720"/>
            <a:ext cx="914400" cy="201168"/>
          </a:xfrm>
          <a:prstGeom prst="rect">
            <a:avLst/>
          </a:prstGeom>
          <a:noFill/>
          <a:ln/>
        </p:spPr>
        <p:txBody>
          <a:bodyPr wrap="square" rtlCol="0" anchor="ctr"/>
          <a:lstStyle/>
          <a:p>
            <a:pPr marL="0" indent="0" algn="ctr">
              <a:buNone/>
            </a:pPr>
            <a:r>
              <a:rPr lang="en-US" sz="700" b="1" dirty="0">
                <a:solidFill>
                  <a:srgbClr val="FFFFFF"/>
                </a:solidFill>
                <a:latin typeface="Segoe UI" pitchFamily="34" charset="0"/>
                <a:ea typeface="Segoe UI" pitchFamily="34" charset="-122"/>
                <a:cs typeface="Segoe UI" pitchFamily="34" charset="-120"/>
              </a:rPr>
              <a:t>System resilience</a:t>
            </a:r>
            <a:endParaRPr lang="en-US" sz="700" dirty="0"/>
          </a:p>
        </p:txBody>
      </p:sp>
      <p:sp>
        <p:nvSpPr>
          <p:cNvPr id="39" name="Text 37"/>
          <p:cNvSpPr/>
          <p:nvPr/>
        </p:nvSpPr>
        <p:spPr>
          <a:xfrm>
            <a:off x="4892040" y="3840480"/>
            <a:ext cx="3840480" cy="59436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When overwhelmed or encountering errors, fail gracefully with clear messages</a:t>
            </a:r>
            <a:endParaRPr lang="en-US" sz="900" dirty="0"/>
          </a:p>
        </p:txBody>
      </p:sp>
      <p:sp>
        <p:nvSpPr>
          <p:cNvPr id="40" name="Shape 38"/>
          <p:cNvSpPr/>
          <p:nvPr/>
        </p:nvSpPr>
        <p:spPr>
          <a:xfrm>
            <a:off x="0" y="4846320"/>
            <a:ext cx="9144000" cy="297180"/>
          </a:xfrm>
          <a:prstGeom prst="rect">
            <a:avLst/>
          </a:prstGeom>
          <a:solidFill>
            <a:srgbClr val="F1F5F9"/>
          </a:solidFill>
          <a:ln/>
        </p:spPr>
        <p:txBody>
          <a:bodyPr/>
          <a:lstStyle/>
          <a:p>
            <a:endParaRPr lang="en-IN"/>
          </a:p>
        </p:txBody>
      </p:sp>
      <p:sp>
        <p:nvSpPr>
          <p:cNvPr id="41" name="Text 39"/>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09</a:t>
            </a:r>
            <a:endParaRPr lang="en-US" sz="800" dirty="0"/>
          </a:p>
        </p:txBody>
      </p:sp>
      <p:sp>
        <p:nvSpPr>
          <p:cNvPr id="42" name="Text 40"/>
          <p:cNvSpPr/>
          <p:nvPr/>
        </p:nvSpPr>
        <p:spPr>
          <a:xfrm>
            <a:off x="7955280" y="486743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17 / 28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2600" b="1" dirty="0">
                <a:solidFill>
                  <a:srgbClr val="1E293B"/>
                </a:solidFill>
                <a:latin typeface="Segoe UI" pitchFamily="34" charset="0"/>
                <a:ea typeface="Segoe UI" pitchFamily="34" charset="-122"/>
                <a:cs typeface="Segoe UI" pitchFamily="34" charset="-120"/>
              </a:rPr>
              <a:t>Multi-Agent vs Single-Agent: When to Choose</a:t>
            </a:r>
            <a:endParaRPr lang="en-US" sz="2600" dirty="0"/>
          </a:p>
        </p:txBody>
      </p:sp>
      <p:sp>
        <p:nvSpPr>
          <p:cNvPr id="4" name="Shape 2"/>
          <p:cNvSpPr/>
          <p:nvPr/>
        </p:nvSpPr>
        <p:spPr>
          <a:xfrm>
            <a:off x="457200" y="914400"/>
            <a:ext cx="3931920" cy="3017520"/>
          </a:xfrm>
          <a:prstGeom prst="rect">
            <a:avLst/>
          </a:prstGeom>
          <a:solidFill>
            <a:srgbClr val="F1F5F9"/>
          </a:solidFill>
          <a:ln/>
        </p:spPr>
        <p:txBody>
          <a:bodyPr/>
          <a:lstStyle/>
          <a:p>
            <a:endParaRPr lang="en-IN"/>
          </a:p>
        </p:txBody>
      </p:sp>
      <p:sp>
        <p:nvSpPr>
          <p:cNvPr id="5" name="Shape 3"/>
          <p:cNvSpPr/>
          <p:nvPr/>
        </p:nvSpPr>
        <p:spPr>
          <a:xfrm>
            <a:off x="457200" y="914400"/>
            <a:ext cx="73152" cy="3017520"/>
          </a:xfrm>
          <a:prstGeom prst="rect">
            <a:avLst/>
          </a:prstGeom>
          <a:solidFill>
            <a:srgbClr val="0891B2"/>
          </a:solidFill>
          <a:ln/>
        </p:spPr>
        <p:txBody>
          <a:bodyPr/>
          <a:lstStyle/>
          <a:p>
            <a:endParaRPr lang="en-IN"/>
          </a:p>
        </p:txBody>
      </p:sp>
      <p:sp>
        <p:nvSpPr>
          <p:cNvPr id="6" name="Text 4"/>
          <p:cNvSpPr/>
          <p:nvPr/>
        </p:nvSpPr>
        <p:spPr>
          <a:xfrm>
            <a:off x="685800" y="1005840"/>
            <a:ext cx="3566160" cy="365760"/>
          </a:xfrm>
          <a:prstGeom prst="rect">
            <a:avLst/>
          </a:prstGeom>
          <a:noFill/>
          <a:ln/>
        </p:spPr>
        <p:txBody>
          <a:bodyPr wrap="square" rtlCol="0" anchor="ctr"/>
          <a:lstStyle/>
          <a:p>
            <a:pPr marL="0" indent="0">
              <a:buNone/>
            </a:pPr>
            <a:r>
              <a:rPr lang="en-US" sz="1400" b="1" dirty="0">
                <a:solidFill>
                  <a:srgbClr val="F59E0B"/>
                </a:solidFill>
                <a:latin typeface="Segoe UI" pitchFamily="34" charset="0"/>
                <a:ea typeface="Segoe UI" pitchFamily="34" charset="-122"/>
                <a:cs typeface="Segoe UI" pitchFamily="34" charset="-120"/>
              </a:rPr>
              <a:t>Single Agent</a:t>
            </a:r>
            <a:endParaRPr lang="en-US" sz="1400" dirty="0"/>
          </a:p>
        </p:txBody>
      </p:sp>
      <p:sp>
        <p:nvSpPr>
          <p:cNvPr id="7" name="Text 5"/>
          <p:cNvSpPr/>
          <p:nvPr/>
        </p:nvSpPr>
        <p:spPr>
          <a:xfrm>
            <a:off x="685800" y="1371600"/>
            <a:ext cx="356616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Choose when:</a:t>
            </a:r>
            <a:endParaRPr lang="en-US" sz="1100" dirty="0"/>
          </a:p>
        </p:txBody>
      </p:sp>
      <p:sp>
        <p:nvSpPr>
          <p:cNvPr id="8" name="Text 6"/>
          <p:cNvSpPr/>
          <p:nvPr/>
        </p:nvSpPr>
        <p:spPr>
          <a:xfrm>
            <a:off x="685800" y="1645920"/>
            <a:ext cx="3566160" cy="182880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 1-2 business domains only</a:t>
            </a:r>
            <a:endParaRPr lang="en-US" sz="1100" dirty="0"/>
          </a:p>
          <a:p>
            <a:pPr marL="0" indent="0">
              <a:buNone/>
            </a:pPr>
            <a:r>
              <a:rPr lang="en-US" sz="1100" dirty="0">
                <a:solidFill>
                  <a:srgbClr val="475569"/>
                </a:solidFill>
                <a:latin typeface="Segoe UI" pitchFamily="34" charset="0"/>
                <a:ea typeface="Segoe UI" pitchFamily="34" charset="-122"/>
                <a:cs typeface="Segoe UI" pitchFamily="34" charset="-120"/>
              </a:rPr>
              <a:t>• System prompt fits comfortably (&lt;2 pages)</a:t>
            </a:r>
            <a:endParaRPr lang="en-US" sz="1100" dirty="0"/>
          </a:p>
          <a:p>
            <a:pPr marL="0" indent="0">
              <a:buNone/>
            </a:pPr>
            <a:r>
              <a:rPr lang="en-US" sz="1100" dirty="0">
                <a:solidFill>
                  <a:srgbClr val="475569"/>
                </a:solidFill>
                <a:latin typeface="Segoe UI" pitchFamily="34" charset="0"/>
                <a:ea typeface="Segoe UI" pitchFamily="34" charset="-122"/>
                <a:cs typeface="Segoe UI" pitchFamily="34" charset="-120"/>
              </a:rPr>
              <a:t>• Single team owns the agent</a:t>
            </a:r>
            <a:endParaRPr lang="en-US" sz="1100" dirty="0"/>
          </a:p>
          <a:p>
            <a:pPr marL="0" indent="0">
              <a:buNone/>
            </a:pPr>
            <a:r>
              <a:rPr lang="en-US" sz="1100" dirty="0">
                <a:solidFill>
                  <a:srgbClr val="475569"/>
                </a:solidFill>
                <a:latin typeface="Segoe UI" pitchFamily="34" charset="0"/>
                <a:ea typeface="Segoe UI" pitchFamily="34" charset="-122"/>
                <a:cs typeface="Segoe UI" pitchFamily="34" charset="-120"/>
              </a:rPr>
              <a:t>• Simple governance requirements</a:t>
            </a:r>
            <a:endParaRPr lang="en-US" sz="1100" dirty="0"/>
          </a:p>
          <a:p>
            <a:pPr marL="0" indent="0">
              <a:buNone/>
            </a:pPr>
            <a:r>
              <a:rPr lang="en-US" sz="1100" dirty="0">
                <a:solidFill>
                  <a:srgbClr val="475569"/>
                </a:solidFill>
                <a:latin typeface="Segoe UI" pitchFamily="34" charset="0"/>
                <a:ea typeface="Segoe UI" pitchFamily="34" charset="-122"/>
                <a:cs typeface="Segoe UI" pitchFamily="34" charset="-120"/>
              </a:rPr>
              <a:t>• Most queries stay in one domain</a:t>
            </a:r>
            <a:endParaRPr lang="en-US" sz="1100" dirty="0"/>
          </a:p>
          <a:p>
            <a:pPr marL="0" indent="0">
              <a:buNone/>
            </a:pPr>
            <a:r>
              <a:rPr lang="en-US" sz="1100" dirty="0">
                <a:solidFill>
                  <a:srgbClr val="475569"/>
                </a:solidFill>
                <a:latin typeface="Segoe UI" pitchFamily="34" charset="0"/>
                <a:ea typeface="Segoe UI" pitchFamily="34" charset="-122"/>
                <a:cs typeface="Segoe UI" pitchFamily="34" charset="-120"/>
              </a:rPr>
              <a:t>• Faster time-to-production needed</a:t>
            </a:r>
            <a:endParaRPr lang="en-US" sz="1100" dirty="0"/>
          </a:p>
        </p:txBody>
      </p:sp>
      <p:sp>
        <p:nvSpPr>
          <p:cNvPr id="9" name="Shape 7"/>
          <p:cNvSpPr/>
          <p:nvPr/>
        </p:nvSpPr>
        <p:spPr>
          <a:xfrm>
            <a:off x="685800" y="3566160"/>
            <a:ext cx="3566160" cy="274320"/>
          </a:xfrm>
          <a:prstGeom prst="rect">
            <a:avLst/>
          </a:prstGeom>
          <a:solidFill>
            <a:srgbClr val="FEF3C7"/>
          </a:solidFill>
          <a:ln/>
        </p:spPr>
        <p:txBody>
          <a:bodyPr/>
          <a:lstStyle/>
          <a:p>
            <a:endParaRPr lang="en-IN"/>
          </a:p>
        </p:txBody>
      </p:sp>
      <p:sp>
        <p:nvSpPr>
          <p:cNvPr id="10" name="Text 8"/>
          <p:cNvSpPr/>
          <p:nvPr/>
        </p:nvSpPr>
        <p:spPr>
          <a:xfrm>
            <a:off x="685800" y="3566160"/>
            <a:ext cx="3566160" cy="274320"/>
          </a:xfrm>
          <a:prstGeom prst="rect">
            <a:avLst/>
          </a:prstGeom>
          <a:noFill/>
          <a:ln/>
        </p:spPr>
        <p:txBody>
          <a:bodyPr wrap="square" rtlCol="0" anchor="ctr"/>
          <a:lstStyle/>
          <a:p>
            <a:pPr marL="0" indent="0" algn="ctr">
              <a:buNone/>
            </a:pPr>
            <a:r>
              <a:rPr lang="en-US" sz="1000" b="1" dirty="0">
                <a:solidFill>
                  <a:srgbClr val="F59E0B"/>
                </a:solidFill>
                <a:latin typeface="Segoe UI" pitchFamily="34" charset="0"/>
                <a:ea typeface="Segoe UI" pitchFamily="34" charset="-122"/>
                <a:cs typeface="Segoe UI" pitchFamily="34" charset="-120"/>
              </a:rPr>
              <a:t>Simpler, faster, cheaper</a:t>
            </a:r>
            <a:endParaRPr lang="en-US" sz="1000" dirty="0"/>
          </a:p>
        </p:txBody>
      </p:sp>
      <p:sp>
        <p:nvSpPr>
          <p:cNvPr id="11" name="Shape 9"/>
          <p:cNvSpPr/>
          <p:nvPr/>
        </p:nvSpPr>
        <p:spPr>
          <a:xfrm>
            <a:off x="4754880" y="914400"/>
            <a:ext cx="3931920" cy="3017520"/>
          </a:xfrm>
          <a:prstGeom prst="rect">
            <a:avLst/>
          </a:prstGeom>
          <a:solidFill>
            <a:srgbClr val="F1F5F9"/>
          </a:solidFill>
          <a:ln/>
        </p:spPr>
        <p:txBody>
          <a:bodyPr/>
          <a:lstStyle/>
          <a:p>
            <a:endParaRPr lang="en-IN"/>
          </a:p>
        </p:txBody>
      </p:sp>
      <p:sp>
        <p:nvSpPr>
          <p:cNvPr id="12" name="Shape 10"/>
          <p:cNvSpPr/>
          <p:nvPr/>
        </p:nvSpPr>
        <p:spPr>
          <a:xfrm>
            <a:off x="4754880" y="914400"/>
            <a:ext cx="73152" cy="3017520"/>
          </a:xfrm>
          <a:prstGeom prst="rect">
            <a:avLst/>
          </a:prstGeom>
          <a:solidFill>
            <a:srgbClr val="0891B2"/>
          </a:solidFill>
          <a:ln/>
        </p:spPr>
        <p:txBody>
          <a:bodyPr/>
          <a:lstStyle/>
          <a:p>
            <a:endParaRPr lang="en-IN"/>
          </a:p>
        </p:txBody>
      </p:sp>
      <p:sp>
        <p:nvSpPr>
          <p:cNvPr id="13" name="Text 11"/>
          <p:cNvSpPr/>
          <p:nvPr/>
        </p:nvSpPr>
        <p:spPr>
          <a:xfrm>
            <a:off x="4983480" y="1005840"/>
            <a:ext cx="3566160" cy="365760"/>
          </a:xfrm>
          <a:prstGeom prst="rect">
            <a:avLst/>
          </a:prstGeom>
          <a:noFill/>
          <a:ln/>
        </p:spPr>
        <p:txBody>
          <a:bodyPr wrap="square" rtlCol="0" anchor="ctr"/>
          <a:lstStyle/>
          <a:p>
            <a:pPr marL="0" indent="0">
              <a:buNone/>
            </a:pPr>
            <a:r>
              <a:rPr lang="en-US" sz="1400" b="1" dirty="0">
                <a:solidFill>
                  <a:srgbClr val="0891B2"/>
                </a:solidFill>
                <a:latin typeface="Segoe UI" pitchFamily="34" charset="0"/>
                <a:ea typeface="Segoe UI" pitchFamily="34" charset="-122"/>
                <a:cs typeface="Segoe UI" pitchFamily="34" charset="-120"/>
              </a:rPr>
              <a:t>Multi-Agent</a:t>
            </a:r>
            <a:endParaRPr lang="en-US" sz="1400" dirty="0"/>
          </a:p>
        </p:txBody>
      </p:sp>
      <p:sp>
        <p:nvSpPr>
          <p:cNvPr id="14" name="Text 12"/>
          <p:cNvSpPr/>
          <p:nvPr/>
        </p:nvSpPr>
        <p:spPr>
          <a:xfrm>
            <a:off x="4983480" y="1371600"/>
            <a:ext cx="356616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Choose when:</a:t>
            </a:r>
            <a:endParaRPr lang="en-US" sz="1100" dirty="0"/>
          </a:p>
        </p:txBody>
      </p:sp>
      <p:sp>
        <p:nvSpPr>
          <p:cNvPr id="15" name="Text 13"/>
          <p:cNvSpPr/>
          <p:nvPr/>
        </p:nvSpPr>
        <p:spPr>
          <a:xfrm>
            <a:off x="4983480" y="1645920"/>
            <a:ext cx="3566160" cy="182880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 3+ distinct business domains</a:t>
            </a:r>
            <a:endParaRPr lang="en-US" sz="1100" dirty="0"/>
          </a:p>
          <a:p>
            <a:pPr marL="0" indent="0">
              <a:buNone/>
            </a:pPr>
            <a:r>
              <a:rPr lang="en-US" sz="1100" dirty="0">
                <a:solidFill>
                  <a:srgbClr val="475569"/>
                </a:solidFill>
                <a:latin typeface="Segoe UI" pitchFamily="34" charset="0"/>
                <a:ea typeface="Segoe UI" pitchFamily="34" charset="-122"/>
                <a:cs typeface="Segoe UI" pitchFamily="34" charset="-120"/>
              </a:rPr>
              <a:t>• System prompt would be unwieldy</a:t>
            </a:r>
            <a:endParaRPr lang="en-US" sz="1100" dirty="0"/>
          </a:p>
          <a:p>
            <a:pPr marL="0" indent="0">
              <a:buNone/>
            </a:pPr>
            <a:r>
              <a:rPr lang="en-US" sz="1100" dirty="0">
                <a:solidFill>
                  <a:srgbClr val="475569"/>
                </a:solidFill>
                <a:latin typeface="Segoe UI" pitchFamily="34" charset="0"/>
                <a:ea typeface="Segoe UI" pitchFamily="34" charset="-122"/>
                <a:cs typeface="Segoe UI" pitchFamily="34" charset="-120"/>
              </a:rPr>
              <a:t>• Multiple teams need ownership</a:t>
            </a:r>
            <a:endParaRPr lang="en-US" sz="1100" dirty="0"/>
          </a:p>
          <a:p>
            <a:pPr marL="0" indent="0">
              <a:buNone/>
            </a:pPr>
            <a:r>
              <a:rPr lang="en-US" sz="1100" dirty="0">
                <a:solidFill>
                  <a:srgbClr val="475569"/>
                </a:solidFill>
                <a:latin typeface="Segoe UI" pitchFamily="34" charset="0"/>
                <a:ea typeface="Segoe UI" pitchFamily="34" charset="-122"/>
                <a:cs typeface="Segoe UI" pitchFamily="34" charset="-120"/>
              </a:rPr>
              <a:t>• Strict governance &amp; audit requirements</a:t>
            </a:r>
            <a:endParaRPr lang="en-US" sz="1100" dirty="0"/>
          </a:p>
          <a:p>
            <a:pPr marL="0" indent="0">
              <a:buNone/>
            </a:pPr>
            <a:r>
              <a:rPr lang="en-US" sz="1100" dirty="0">
                <a:solidFill>
                  <a:srgbClr val="475569"/>
                </a:solidFill>
                <a:latin typeface="Segoe UI" pitchFamily="34" charset="0"/>
                <a:ea typeface="Segoe UI" pitchFamily="34" charset="-122"/>
                <a:cs typeface="Segoe UI" pitchFamily="34" charset="-120"/>
              </a:rPr>
              <a:t>• Cross-domain queries are common</a:t>
            </a:r>
            <a:endParaRPr lang="en-US" sz="1100" dirty="0"/>
          </a:p>
          <a:p>
            <a:pPr marL="0" indent="0">
              <a:buNone/>
            </a:pPr>
            <a:r>
              <a:rPr lang="en-US" sz="1100" dirty="0">
                <a:solidFill>
                  <a:srgbClr val="475569"/>
                </a:solidFill>
                <a:latin typeface="Segoe UI" pitchFamily="34" charset="0"/>
                <a:ea typeface="Segoe UI" pitchFamily="34" charset="-122"/>
                <a:cs typeface="Segoe UI" pitchFamily="34" charset="-120"/>
              </a:rPr>
              <a:t>• Domains need independent update cycles</a:t>
            </a:r>
            <a:endParaRPr lang="en-US" sz="1100" dirty="0"/>
          </a:p>
        </p:txBody>
      </p:sp>
      <p:sp>
        <p:nvSpPr>
          <p:cNvPr id="16" name="Shape 14"/>
          <p:cNvSpPr/>
          <p:nvPr/>
        </p:nvSpPr>
        <p:spPr>
          <a:xfrm>
            <a:off x="4983480" y="3566160"/>
            <a:ext cx="3566160" cy="274320"/>
          </a:xfrm>
          <a:prstGeom prst="rect">
            <a:avLst/>
          </a:prstGeom>
          <a:solidFill>
            <a:srgbClr val="E0F7FA"/>
          </a:solidFill>
          <a:ln/>
        </p:spPr>
        <p:txBody>
          <a:bodyPr/>
          <a:lstStyle/>
          <a:p>
            <a:endParaRPr lang="en-IN"/>
          </a:p>
        </p:txBody>
      </p:sp>
      <p:sp>
        <p:nvSpPr>
          <p:cNvPr id="17" name="Text 15"/>
          <p:cNvSpPr/>
          <p:nvPr/>
        </p:nvSpPr>
        <p:spPr>
          <a:xfrm>
            <a:off x="4983480" y="3566160"/>
            <a:ext cx="3566160" cy="274320"/>
          </a:xfrm>
          <a:prstGeom prst="rect">
            <a:avLst/>
          </a:prstGeom>
          <a:noFill/>
          <a:ln/>
        </p:spPr>
        <p:txBody>
          <a:bodyPr wrap="square" rtlCol="0" anchor="ctr"/>
          <a:lstStyle/>
          <a:p>
            <a:pPr marL="0" indent="0" algn="ctr">
              <a:buNone/>
            </a:pPr>
            <a:r>
              <a:rPr lang="en-US" sz="1000" b="1" dirty="0">
                <a:solidFill>
                  <a:srgbClr val="0891B2"/>
                </a:solidFill>
                <a:latin typeface="Segoe UI" pitchFamily="34" charset="0"/>
                <a:ea typeface="Segoe UI" pitchFamily="34" charset="-122"/>
                <a:cs typeface="Segoe UI" pitchFamily="34" charset="-120"/>
              </a:rPr>
              <a:t>Scalable, governable, maintainable</a:t>
            </a:r>
            <a:endParaRPr lang="en-US" sz="1000" dirty="0"/>
          </a:p>
        </p:txBody>
      </p:sp>
      <p:sp>
        <p:nvSpPr>
          <p:cNvPr id="18" name="Shape 16"/>
          <p:cNvSpPr/>
          <p:nvPr/>
        </p:nvSpPr>
        <p:spPr>
          <a:xfrm>
            <a:off x="457200" y="4114800"/>
            <a:ext cx="8229600" cy="457200"/>
          </a:xfrm>
          <a:prstGeom prst="rect">
            <a:avLst/>
          </a:prstGeom>
          <a:solidFill>
            <a:srgbClr val="EDE9FE"/>
          </a:solidFill>
          <a:ln/>
        </p:spPr>
        <p:txBody>
          <a:bodyPr/>
          <a:lstStyle/>
          <a:p>
            <a:endParaRPr lang="en-IN"/>
          </a:p>
        </p:txBody>
      </p:sp>
      <p:sp>
        <p:nvSpPr>
          <p:cNvPr id="19" name="Text 17"/>
          <p:cNvSpPr/>
          <p:nvPr/>
        </p:nvSpPr>
        <p:spPr>
          <a:xfrm>
            <a:off x="640080" y="4160520"/>
            <a:ext cx="7863840" cy="365760"/>
          </a:xfrm>
          <a:prstGeom prst="rect">
            <a:avLst/>
          </a:prstGeom>
          <a:noFill/>
          <a:ln/>
        </p:spPr>
        <p:txBody>
          <a:bodyPr wrap="square" rtlCol="0" anchor="ctr"/>
          <a:lstStyle/>
          <a:p>
            <a:pPr marL="0" indent="0">
              <a:buNone/>
            </a:pPr>
            <a:r>
              <a:rPr lang="en-US" sz="1100" b="1" dirty="0">
                <a:solidFill>
                  <a:srgbClr val="8B5CF6"/>
                </a:solidFill>
                <a:latin typeface="Segoe UI" pitchFamily="34" charset="0"/>
                <a:ea typeface="Segoe UI" pitchFamily="34" charset="-122"/>
                <a:cs typeface="Segoe UI" pitchFamily="34" charset="-120"/>
              </a:rPr>
              <a:t>💡 For Contoso Insurance: 4 domains + strict BFSI governance + cross-domain queries = Multi-Agent is appropriate</a:t>
            </a:r>
            <a:endParaRPr lang="en-US" sz="1100" dirty="0"/>
          </a:p>
        </p:txBody>
      </p:sp>
      <p:sp>
        <p:nvSpPr>
          <p:cNvPr id="20" name="Shape 18"/>
          <p:cNvSpPr/>
          <p:nvPr/>
        </p:nvSpPr>
        <p:spPr>
          <a:xfrm>
            <a:off x="0" y="4846320"/>
            <a:ext cx="9144000" cy="297180"/>
          </a:xfrm>
          <a:prstGeom prst="rect">
            <a:avLst/>
          </a:prstGeom>
          <a:solidFill>
            <a:srgbClr val="F1F5F9"/>
          </a:solidFill>
          <a:ln/>
        </p:spPr>
        <p:txBody>
          <a:bodyPr/>
          <a:lstStyle/>
          <a:p>
            <a:endParaRPr lang="en-IN"/>
          </a:p>
        </p:txBody>
      </p:sp>
      <p:sp>
        <p:nvSpPr>
          <p:cNvPr id="21" name="Text 19"/>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09</a:t>
            </a:r>
            <a:endParaRPr lang="en-US" sz="800" dirty="0"/>
          </a:p>
        </p:txBody>
      </p:sp>
      <p:sp>
        <p:nvSpPr>
          <p:cNvPr id="22" name="Text 20"/>
          <p:cNvSpPr/>
          <p:nvPr/>
        </p:nvSpPr>
        <p:spPr>
          <a:xfrm>
            <a:off x="7955280" y="484886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18 / 28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Key Takeaways</a:t>
            </a:r>
            <a:endParaRPr lang="en-US" sz="3000" dirty="0"/>
          </a:p>
        </p:txBody>
      </p:sp>
      <p:sp>
        <p:nvSpPr>
          <p:cNvPr id="5" name="Text 3"/>
          <p:cNvSpPr/>
          <p:nvPr/>
        </p:nvSpPr>
        <p:spPr>
          <a:xfrm>
            <a:off x="594360" y="960120"/>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1.</a:t>
            </a:r>
            <a:endParaRPr lang="en-US" sz="1100" dirty="0"/>
          </a:p>
        </p:txBody>
      </p:sp>
      <p:sp>
        <p:nvSpPr>
          <p:cNvPr id="6" name="Text 4"/>
          <p:cNvSpPr/>
          <p:nvPr/>
        </p:nvSpPr>
        <p:spPr>
          <a:xfrm>
            <a:off x="960120" y="941832"/>
            <a:ext cx="7589520" cy="329184"/>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Multi-agent systems decompose complex operations into specialists coordinated by an Orchestrator — improving maintainability, testing, and governance</a:t>
            </a:r>
            <a:endParaRPr lang="en-US" sz="1000" dirty="0"/>
          </a:p>
        </p:txBody>
      </p:sp>
      <p:sp>
        <p:nvSpPr>
          <p:cNvPr id="7" name="Shape 5"/>
          <p:cNvSpPr/>
          <p:nvPr/>
        </p:nvSpPr>
        <p:spPr>
          <a:xfrm>
            <a:off x="457200" y="1371600"/>
            <a:ext cx="8229600" cy="457200"/>
          </a:xfrm>
          <a:prstGeom prst="rect">
            <a:avLst/>
          </a:prstGeom>
          <a:solidFill>
            <a:srgbClr val="F1F5F9"/>
          </a:solidFill>
          <a:ln/>
        </p:spPr>
        <p:txBody>
          <a:bodyPr/>
          <a:lstStyle/>
          <a:p>
            <a:endParaRPr lang="en-IN"/>
          </a:p>
        </p:txBody>
      </p:sp>
      <p:sp>
        <p:nvSpPr>
          <p:cNvPr id="8" name="Text 6"/>
          <p:cNvSpPr/>
          <p:nvPr/>
        </p:nvSpPr>
        <p:spPr>
          <a:xfrm>
            <a:off x="594360" y="1463040"/>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2.</a:t>
            </a:r>
            <a:endParaRPr lang="en-US" sz="1100" dirty="0"/>
          </a:p>
        </p:txBody>
      </p:sp>
      <p:sp>
        <p:nvSpPr>
          <p:cNvPr id="9" name="Text 7"/>
          <p:cNvSpPr/>
          <p:nvPr/>
        </p:nvSpPr>
        <p:spPr>
          <a:xfrm>
            <a:off x="960120" y="1444752"/>
            <a:ext cx="7589520" cy="329184"/>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Dataverse serves three roles: business data store (shared tables), coordination state (AgentTaskLog), and audit trail (logging every action)</a:t>
            </a:r>
            <a:endParaRPr lang="en-US" sz="1000" dirty="0"/>
          </a:p>
        </p:txBody>
      </p:sp>
      <p:sp>
        <p:nvSpPr>
          <p:cNvPr id="11" name="Text 9"/>
          <p:cNvSpPr/>
          <p:nvPr/>
        </p:nvSpPr>
        <p:spPr>
          <a:xfrm>
            <a:off x="594360" y="1965960"/>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3.</a:t>
            </a:r>
            <a:endParaRPr lang="en-US" sz="1100" dirty="0"/>
          </a:p>
        </p:txBody>
      </p:sp>
      <p:sp>
        <p:nvSpPr>
          <p:cNvPr id="12" name="Text 10"/>
          <p:cNvSpPr/>
          <p:nvPr/>
        </p:nvSpPr>
        <p:spPr>
          <a:xfrm>
            <a:off x="960120" y="1947672"/>
            <a:ext cx="7589520" cy="329184"/>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Hub-and-Spoke topology is most practical for Copilot Studio: central orchestrator delegates to specialists added as tools</a:t>
            </a:r>
            <a:endParaRPr lang="en-US" sz="1000" dirty="0"/>
          </a:p>
        </p:txBody>
      </p:sp>
      <p:sp>
        <p:nvSpPr>
          <p:cNvPr id="14" name="Text 12"/>
          <p:cNvSpPr/>
          <p:nvPr/>
        </p:nvSpPr>
        <p:spPr>
          <a:xfrm>
            <a:off x="594360" y="2468880"/>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4.</a:t>
            </a:r>
            <a:endParaRPr lang="en-US" sz="1100" dirty="0"/>
          </a:p>
        </p:txBody>
      </p:sp>
      <p:sp>
        <p:nvSpPr>
          <p:cNvPr id="15" name="Text 13"/>
          <p:cNvSpPr/>
          <p:nvPr/>
        </p:nvSpPr>
        <p:spPr>
          <a:xfrm>
            <a:off x="960120" y="2450592"/>
            <a:ext cx="7589520" cy="329184"/>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The agent-as-tool pattern invokes specialists like any other tool — orchestrator determines when to call each specialist</a:t>
            </a:r>
            <a:endParaRPr lang="en-US" sz="1000" dirty="0"/>
          </a:p>
        </p:txBody>
      </p:sp>
      <p:sp>
        <p:nvSpPr>
          <p:cNvPr id="16" name="Shape 14"/>
          <p:cNvSpPr/>
          <p:nvPr/>
        </p:nvSpPr>
        <p:spPr>
          <a:xfrm>
            <a:off x="457200" y="2880360"/>
            <a:ext cx="8229600" cy="457200"/>
          </a:xfrm>
          <a:prstGeom prst="rect">
            <a:avLst/>
          </a:prstGeom>
          <a:solidFill>
            <a:srgbClr val="F1F5F9"/>
          </a:solidFill>
          <a:ln/>
        </p:spPr>
        <p:txBody>
          <a:bodyPr/>
          <a:lstStyle/>
          <a:p>
            <a:endParaRPr lang="en-IN"/>
          </a:p>
        </p:txBody>
      </p:sp>
      <p:sp>
        <p:nvSpPr>
          <p:cNvPr id="17" name="Text 15"/>
          <p:cNvSpPr/>
          <p:nvPr/>
        </p:nvSpPr>
        <p:spPr>
          <a:xfrm>
            <a:off x="594360" y="2971800"/>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5.</a:t>
            </a:r>
            <a:endParaRPr lang="en-US" sz="1100" dirty="0"/>
          </a:p>
        </p:txBody>
      </p:sp>
      <p:sp>
        <p:nvSpPr>
          <p:cNvPr id="18" name="Text 16"/>
          <p:cNvSpPr/>
          <p:nvPr/>
        </p:nvSpPr>
        <p:spPr>
          <a:xfrm>
            <a:off x="960120" y="2953512"/>
            <a:ext cx="7589520" cy="329184"/>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Specialist agents follow focused design: single domain, scoped tools, clear I/O, independent testing, graceful degradation</a:t>
            </a:r>
            <a:endParaRPr lang="en-US" sz="1000" dirty="0"/>
          </a:p>
        </p:txBody>
      </p:sp>
      <p:sp>
        <p:nvSpPr>
          <p:cNvPr id="20" name="Text 18"/>
          <p:cNvSpPr/>
          <p:nvPr/>
        </p:nvSpPr>
        <p:spPr>
          <a:xfrm>
            <a:off x="594360" y="3474720"/>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6.</a:t>
            </a:r>
            <a:endParaRPr lang="en-US" sz="1100" dirty="0"/>
          </a:p>
        </p:txBody>
      </p:sp>
      <p:sp>
        <p:nvSpPr>
          <p:cNvPr id="21" name="Text 19"/>
          <p:cNvSpPr/>
          <p:nvPr/>
        </p:nvSpPr>
        <p:spPr>
          <a:xfrm>
            <a:off x="960120" y="3456432"/>
            <a:ext cx="7589520" cy="329184"/>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AgentTaskLog table acts as message queue and audit log — essential for compliance-grade traceability</a:t>
            </a:r>
            <a:endParaRPr lang="en-US" sz="1000" dirty="0"/>
          </a:p>
        </p:txBody>
      </p:sp>
      <p:sp>
        <p:nvSpPr>
          <p:cNvPr id="22" name="Shape 20"/>
          <p:cNvSpPr/>
          <p:nvPr/>
        </p:nvSpPr>
        <p:spPr>
          <a:xfrm>
            <a:off x="457200" y="3886200"/>
            <a:ext cx="8229600" cy="457200"/>
          </a:xfrm>
          <a:prstGeom prst="rect">
            <a:avLst/>
          </a:prstGeom>
          <a:solidFill>
            <a:srgbClr val="F1F5F9"/>
          </a:solidFill>
          <a:ln/>
        </p:spPr>
        <p:txBody>
          <a:bodyPr/>
          <a:lstStyle/>
          <a:p>
            <a:endParaRPr lang="en-IN"/>
          </a:p>
        </p:txBody>
      </p:sp>
      <p:sp>
        <p:nvSpPr>
          <p:cNvPr id="23" name="Text 21"/>
          <p:cNvSpPr/>
          <p:nvPr/>
        </p:nvSpPr>
        <p:spPr>
          <a:xfrm>
            <a:off x="594360" y="3977640"/>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7.</a:t>
            </a:r>
            <a:endParaRPr lang="en-US" sz="1100" dirty="0"/>
          </a:p>
        </p:txBody>
      </p:sp>
      <p:sp>
        <p:nvSpPr>
          <p:cNvPr id="24" name="Text 22"/>
          <p:cNvSpPr/>
          <p:nvPr/>
        </p:nvSpPr>
        <p:spPr>
          <a:xfrm>
            <a:off x="960120" y="3959352"/>
            <a:ext cx="7589520" cy="329184"/>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Choose multi-agent for 3+ domains, strict governance, cross-domain queries; single-agent for simpler scenarios</a:t>
            </a:r>
            <a:endParaRPr lang="en-US" sz="1000" dirty="0"/>
          </a:p>
        </p:txBody>
      </p:sp>
      <p:sp>
        <p:nvSpPr>
          <p:cNvPr id="26" name="Text 24"/>
          <p:cNvSpPr/>
          <p:nvPr/>
        </p:nvSpPr>
        <p:spPr>
          <a:xfrm>
            <a:off x="594360" y="4480560"/>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8.</a:t>
            </a:r>
            <a:endParaRPr lang="en-US" sz="1100" dirty="0"/>
          </a:p>
        </p:txBody>
      </p:sp>
      <p:sp>
        <p:nvSpPr>
          <p:cNvPr id="27" name="Text 25"/>
          <p:cNvSpPr/>
          <p:nvPr/>
        </p:nvSpPr>
        <p:spPr>
          <a:xfrm>
            <a:off x="960120" y="4462272"/>
            <a:ext cx="7589520" cy="329184"/>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Cross-domain queries demonstrate multi-agent value: orchestrator coordinates specialists and synthesizes unified response</a:t>
            </a:r>
            <a:endParaRPr lang="en-US" sz="1000" dirty="0"/>
          </a:p>
        </p:txBody>
      </p:sp>
      <p:sp>
        <p:nvSpPr>
          <p:cNvPr id="28" name="Shape 26"/>
          <p:cNvSpPr/>
          <p:nvPr/>
        </p:nvSpPr>
        <p:spPr>
          <a:xfrm>
            <a:off x="0" y="4846320"/>
            <a:ext cx="9144000" cy="297180"/>
          </a:xfrm>
          <a:prstGeom prst="rect">
            <a:avLst/>
          </a:prstGeom>
          <a:solidFill>
            <a:srgbClr val="F1F5F9"/>
          </a:solidFill>
          <a:ln/>
        </p:spPr>
        <p:txBody>
          <a:bodyPr/>
          <a:lstStyle/>
          <a:p>
            <a:endParaRPr lang="en-IN"/>
          </a:p>
        </p:txBody>
      </p:sp>
      <p:sp>
        <p:nvSpPr>
          <p:cNvPr id="29" name="Text 27"/>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09</a:t>
            </a:r>
            <a:endParaRPr lang="en-US" sz="800" dirty="0"/>
          </a:p>
        </p:txBody>
      </p:sp>
      <p:sp>
        <p:nvSpPr>
          <p:cNvPr id="30" name="Text 28"/>
          <p:cNvSpPr/>
          <p:nvPr/>
        </p:nvSpPr>
        <p:spPr>
          <a:xfrm>
            <a:off x="7955280" y="487143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19 / 28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Shape 1"/>
          <p:cNvSpPr/>
          <p:nvPr/>
        </p:nvSpPr>
        <p:spPr>
          <a:xfrm>
            <a:off x="0" y="5088636"/>
            <a:ext cx="9144000" cy="54864"/>
          </a:xfrm>
          <a:prstGeom prst="rect">
            <a:avLst/>
          </a:prstGeom>
          <a:solidFill>
            <a:srgbClr val="0891B2"/>
          </a:solidFill>
          <a:ln/>
        </p:spPr>
        <p:txBody>
          <a:bodyPr/>
          <a:lstStyle/>
          <a:p>
            <a:endParaRPr lang="en-IN"/>
          </a:p>
        </p:txBody>
      </p:sp>
      <p:sp>
        <p:nvSpPr>
          <p:cNvPr id="4" name="Text 2"/>
          <p:cNvSpPr/>
          <p:nvPr/>
        </p:nvSpPr>
        <p:spPr>
          <a:xfrm>
            <a:off x="914400" y="2011680"/>
            <a:ext cx="7315200" cy="640080"/>
          </a:xfrm>
          <a:prstGeom prst="rect">
            <a:avLst/>
          </a:prstGeom>
          <a:noFill/>
          <a:ln/>
        </p:spPr>
        <p:txBody>
          <a:bodyPr wrap="square" rtlCol="0" anchor="ctr"/>
          <a:lstStyle/>
          <a:p>
            <a:pPr marL="0" indent="0" algn="ctr">
              <a:buNone/>
            </a:pPr>
            <a:r>
              <a:rPr lang="en-US" sz="3600" b="1" dirty="0">
                <a:solidFill>
                  <a:srgbClr val="FFFFFF"/>
                </a:solidFill>
                <a:latin typeface="Segoe UI" pitchFamily="34" charset="0"/>
                <a:ea typeface="Segoe UI" pitchFamily="34" charset="-122"/>
                <a:cs typeface="Segoe UI" pitchFamily="34" charset="-120"/>
              </a:rPr>
              <a:t>Knowledge Check</a:t>
            </a:r>
            <a:endParaRPr lang="en-US" sz="3600" dirty="0"/>
          </a:p>
        </p:txBody>
      </p:sp>
      <p:sp>
        <p:nvSpPr>
          <p:cNvPr id="5" name="Text 3"/>
          <p:cNvSpPr/>
          <p:nvPr/>
        </p:nvSpPr>
        <p:spPr>
          <a:xfrm>
            <a:off x="914400" y="2743200"/>
            <a:ext cx="7315200" cy="365760"/>
          </a:xfrm>
          <a:prstGeom prst="rect">
            <a:avLst/>
          </a:prstGeom>
          <a:noFill/>
          <a:ln/>
        </p:spPr>
        <p:txBody>
          <a:bodyPr wrap="square" rtlCol="0" anchor="ctr"/>
          <a:lstStyle/>
          <a:p>
            <a:pPr marL="0" indent="0" algn="ctr">
              <a:buNone/>
            </a:pPr>
            <a:r>
              <a:rPr lang="en-US" sz="1400" dirty="0">
                <a:solidFill>
                  <a:srgbClr val="94A3B8"/>
                </a:solidFill>
                <a:latin typeface="Segoe UI" pitchFamily="34" charset="0"/>
                <a:ea typeface="Segoe UI" pitchFamily="34" charset="-122"/>
                <a:cs typeface="Segoe UI" pitchFamily="34" charset="-120"/>
              </a:rPr>
              <a:t>Test your understanding with 3 quick questions</a:t>
            </a:r>
            <a:endParaRPr lang="en-US" sz="1400" dirty="0"/>
          </a:p>
        </p:txBody>
      </p:sp>
      <p:sp>
        <p:nvSpPr>
          <p:cNvPr id="6" name="Text 28">
            <a:extLst>
              <a:ext uri="{FF2B5EF4-FFF2-40B4-BE49-F238E27FC236}">
                <a16:creationId xmlns:a16="http://schemas.microsoft.com/office/drawing/2014/main" id="{8F74BFC5-0176-3CF6-7515-685548E36ABE}"/>
              </a:ext>
            </a:extLst>
          </p:cNvPr>
          <p:cNvSpPr/>
          <p:nvPr/>
        </p:nvSpPr>
        <p:spPr>
          <a:xfrm>
            <a:off x="7984309" y="4844289"/>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20 / 28</a:t>
            </a:r>
            <a:endParaRPr lang="en-US" sz="900" dirty="0">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1 of 3</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are the three roles Dataverse plays in multi-agent systems?</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Authentication, Authorization, Auditing</a:t>
            </a:r>
            <a:endParaRPr lang="en-US" sz="1300" dirty="0"/>
          </a:p>
        </p:txBody>
      </p:sp>
      <p:sp>
        <p:nvSpPr>
          <p:cNvPr id="8" name="Shape 6"/>
          <p:cNvSpPr/>
          <p:nvPr/>
        </p:nvSpPr>
        <p:spPr>
          <a:xfrm>
            <a:off x="731520" y="2670048"/>
            <a:ext cx="7498080" cy="548640"/>
          </a:xfrm>
          <a:prstGeom prst="rect">
            <a:avLst/>
          </a:prstGeom>
          <a:solidFill>
            <a:srgbClr val="F1F5F9"/>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Business Data Store, Coordination State, Audit Trail</a:t>
            </a:r>
            <a:endParaRPr lang="en-US" sz="1300" dirty="0"/>
          </a:p>
        </p:txBody>
      </p:sp>
      <p:sp>
        <p:nvSpPr>
          <p:cNvPr id="10" name="Shape 8"/>
          <p:cNvSpPr/>
          <p:nvPr/>
        </p:nvSpPr>
        <p:spPr>
          <a:xfrm>
            <a:off x="731520" y="3328416"/>
            <a:ext cx="7498080" cy="548640"/>
          </a:xfrm>
          <a:prstGeom prst="rect">
            <a:avLst/>
          </a:prstGeom>
          <a:solidFill>
            <a:srgbClr val="F1F5F9"/>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Topics, Tools, Knowledge Sources</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Create, Read, Update, Delete</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09  |  Knowledge Check</a:t>
            </a:r>
            <a:endParaRPr lang="en-US" sz="800" dirty="0"/>
          </a:p>
        </p:txBody>
      </p:sp>
      <p:sp>
        <p:nvSpPr>
          <p:cNvPr id="16" name="Text 14"/>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21 / 28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1 — Answer</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are the three roles Dataverse plays in multi-agent systems?</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Authentication, Authorization, Auditing</a:t>
            </a:r>
            <a:endParaRPr lang="en-US" sz="1300" dirty="0"/>
          </a:p>
        </p:txBody>
      </p:sp>
      <p:sp>
        <p:nvSpPr>
          <p:cNvPr id="8" name="Shape 6"/>
          <p:cNvSpPr/>
          <p:nvPr/>
        </p:nvSpPr>
        <p:spPr>
          <a:xfrm>
            <a:off x="731520" y="2670048"/>
            <a:ext cx="7498080" cy="548640"/>
          </a:xfrm>
          <a:prstGeom prst="rect">
            <a:avLst/>
          </a:prstGeom>
          <a:solidFill>
            <a:srgbClr val="DCFCE7"/>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B.  Business Data Store, Coordination State, Audit Trail</a:t>
            </a:r>
            <a:endParaRPr lang="en-US" sz="1300" dirty="0"/>
          </a:p>
        </p:txBody>
      </p:sp>
      <p:sp>
        <p:nvSpPr>
          <p:cNvPr id="10" name="Shape 8"/>
          <p:cNvSpPr/>
          <p:nvPr/>
        </p:nvSpPr>
        <p:spPr>
          <a:xfrm>
            <a:off x="731520" y="3328416"/>
            <a:ext cx="7498080" cy="548640"/>
          </a:xfrm>
          <a:prstGeom prst="rect">
            <a:avLst/>
          </a:prstGeom>
          <a:solidFill>
            <a:srgbClr val="F1F5F9"/>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C.  Topics, Tools, Knowledge Sources</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Create, Read, Update, Delete</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09  |  Knowledge Check</a:t>
            </a:r>
            <a:endParaRPr lang="en-US" sz="800" dirty="0"/>
          </a:p>
        </p:txBody>
      </p:sp>
      <p:sp>
        <p:nvSpPr>
          <p:cNvPr id="16" name="Text 14"/>
          <p:cNvSpPr/>
          <p:nvPr/>
        </p:nvSpPr>
        <p:spPr>
          <a:xfrm>
            <a:off x="8046720" y="484886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22 / 28</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2 of 3</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In the Hub-and-Spoke topology, how do specialist agents communicate with each other?</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They send messages directly to each other</a:t>
            </a:r>
            <a:endParaRPr lang="en-US" sz="1300" dirty="0"/>
          </a:p>
        </p:txBody>
      </p:sp>
      <p:sp>
        <p:nvSpPr>
          <p:cNvPr id="8" name="Shape 6"/>
          <p:cNvSpPr/>
          <p:nvPr/>
        </p:nvSpPr>
        <p:spPr>
          <a:xfrm>
            <a:off x="731520" y="2670048"/>
            <a:ext cx="7498080" cy="548640"/>
          </a:xfrm>
          <a:prstGeom prst="rect">
            <a:avLst/>
          </a:prstGeom>
          <a:solidFill>
            <a:srgbClr val="F1F5F9"/>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They use a shared message queue</a:t>
            </a:r>
            <a:endParaRPr lang="en-US" sz="1300" dirty="0"/>
          </a:p>
        </p:txBody>
      </p:sp>
      <p:sp>
        <p:nvSpPr>
          <p:cNvPr id="10" name="Shape 8"/>
          <p:cNvSpPr/>
          <p:nvPr/>
        </p:nvSpPr>
        <p:spPr>
          <a:xfrm>
            <a:off x="731520" y="3328416"/>
            <a:ext cx="7498080" cy="548640"/>
          </a:xfrm>
          <a:prstGeom prst="rect">
            <a:avLst/>
          </a:prstGeom>
          <a:solidFill>
            <a:srgbClr val="F1F5F9"/>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They do NOT communicate directly — all coordination flows through the Orchestrator</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They use peer-to-peer protocols</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09  |  Knowledge Check</a:t>
            </a:r>
            <a:endParaRPr lang="en-US" sz="800" dirty="0"/>
          </a:p>
        </p:txBody>
      </p:sp>
      <p:sp>
        <p:nvSpPr>
          <p:cNvPr id="16" name="Text 14"/>
          <p:cNvSpPr/>
          <p:nvPr/>
        </p:nvSpPr>
        <p:spPr>
          <a:xfrm>
            <a:off x="7955280" y="4873752"/>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23 / 28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2 — Answer</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In the Hub-and-Spoke topology, how do specialist agents communicate with each other?</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They send messages directly to each other</a:t>
            </a:r>
            <a:endParaRPr lang="en-US" sz="1300" dirty="0"/>
          </a:p>
        </p:txBody>
      </p:sp>
      <p:sp>
        <p:nvSpPr>
          <p:cNvPr id="8" name="Shape 6"/>
          <p:cNvSpPr/>
          <p:nvPr/>
        </p:nvSpPr>
        <p:spPr>
          <a:xfrm>
            <a:off x="731520" y="2670048"/>
            <a:ext cx="7498080" cy="548640"/>
          </a:xfrm>
          <a:prstGeom prst="rect">
            <a:avLst/>
          </a:prstGeom>
          <a:solidFill>
            <a:srgbClr val="F1F5F9"/>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B.  They use a shared message queue</a:t>
            </a:r>
            <a:endParaRPr lang="en-US" sz="1300" dirty="0"/>
          </a:p>
        </p:txBody>
      </p:sp>
      <p:sp>
        <p:nvSpPr>
          <p:cNvPr id="10" name="Shape 8"/>
          <p:cNvSpPr/>
          <p:nvPr/>
        </p:nvSpPr>
        <p:spPr>
          <a:xfrm>
            <a:off x="731520" y="3328416"/>
            <a:ext cx="7498080" cy="548640"/>
          </a:xfrm>
          <a:prstGeom prst="rect">
            <a:avLst/>
          </a:prstGeom>
          <a:solidFill>
            <a:srgbClr val="DCFCE7"/>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C.  They do NOT communicate directly — all coordination flows through the Orchestrator</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They use peer-to-peer protocols</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09  |  Knowledge Check</a:t>
            </a:r>
            <a:endParaRPr lang="en-US" sz="800" dirty="0"/>
          </a:p>
        </p:txBody>
      </p:sp>
      <p:sp>
        <p:nvSpPr>
          <p:cNvPr id="16" name="Text 14"/>
          <p:cNvSpPr/>
          <p:nvPr/>
        </p:nvSpPr>
        <p:spPr>
          <a:xfrm>
            <a:off x="7998823" y="484965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24 / 28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3 of 3</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is the most important specialist agent design principle?</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Fast response time</a:t>
            </a:r>
            <a:endParaRPr lang="en-US" sz="1300" dirty="0"/>
          </a:p>
        </p:txBody>
      </p:sp>
      <p:sp>
        <p:nvSpPr>
          <p:cNvPr id="8" name="Shape 6"/>
          <p:cNvSpPr/>
          <p:nvPr/>
        </p:nvSpPr>
        <p:spPr>
          <a:xfrm>
            <a:off x="731520" y="2670048"/>
            <a:ext cx="7498080" cy="548640"/>
          </a:xfrm>
          <a:prstGeom prst="rect">
            <a:avLst/>
          </a:prstGeom>
          <a:solidFill>
            <a:srgbClr val="F1F5F9"/>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Single Domain — handle exactly one business domain</a:t>
            </a:r>
            <a:endParaRPr lang="en-US" sz="1300" dirty="0"/>
          </a:p>
        </p:txBody>
      </p:sp>
      <p:sp>
        <p:nvSpPr>
          <p:cNvPr id="10" name="Shape 8"/>
          <p:cNvSpPr/>
          <p:nvPr/>
        </p:nvSpPr>
        <p:spPr>
          <a:xfrm>
            <a:off x="731520" y="3328416"/>
            <a:ext cx="7498080" cy="548640"/>
          </a:xfrm>
          <a:prstGeom prst="rect">
            <a:avLst/>
          </a:prstGeom>
          <a:solidFill>
            <a:srgbClr val="F1F5F9"/>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Maximum MCP access</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Complex system prompts</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09  |  Knowledge Check</a:t>
            </a:r>
            <a:endParaRPr lang="en-US" sz="800" dirty="0"/>
          </a:p>
        </p:txBody>
      </p:sp>
      <p:sp>
        <p:nvSpPr>
          <p:cNvPr id="16" name="Text 14"/>
          <p:cNvSpPr/>
          <p:nvPr/>
        </p:nvSpPr>
        <p:spPr>
          <a:xfrm>
            <a:off x="8024949" y="485546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25 / 28</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3 — Answer</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is the most important specialist agent design principle?</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Fast response time</a:t>
            </a:r>
            <a:endParaRPr lang="en-US" sz="1300" dirty="0"/>
          </a:p>
        </p:txBody>
      </p:sp>
      <p:sp>
        <p:nvSpPr>
          <p:cNvPr id="8" name="Shape 6"/>
          <p:cNvSpPr/>
          <p:nvPr/>
        </p:nvSpPr>
        <p:spPr>
          <a:xfrm>
            <a:off x="731520" y="2670048"/>
            <a:ext cx="7498080" cy="548640"/>
          </a:xfrm>
          <a:prstGeom prst="rect">
            <a:avLst/>
          </a:prstGeom>
          <a:solidFill>
            <a:srgbClr val="DCFCE7"/>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B.  Single Domain — handle exactly one business domain</a:t>
            </a:r>
            <a:endParaRPr lang="en-US" sz="1300" dirty="0"/>
          </a:p>
        </p:txBody>
      </p:sp>
      <p:sp>
        <p:nvSpPr>
          <p:cNvPr id="10" name="Shape 8"/>
          <p:cNvSpPr/>
          <p:nvPr/>
        </p:nvSpPr>
        <p:spPr>
          <a:xfrm>
            <a:off x="731520" y="3328416"/>
            <a:ext cx="7498080" cy="548640"/>
          </a:xfrm>
          <a:prstGeom prst="rect">
            <a:avLst/>
          </a:prstGeom>
          <a:solidFill>
            <a:srgbClr val="F1F5F9"/>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C.  Maximum MCP access</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Complex system prompts</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09  |  Knowledge Check</a:t>
            </a:r>
            <a:endParaRPr lang="en-US" sz="800" dirty="0"/>
          </a:p>
        </p:txBody>
      </p:sp>
      <p:sp>
        <p:nvSpPr>
          <p:cNvPr id="16" name="Text 14"/>
          <p:cNvSpPr/>
          <p:nvPr/>
        </p:nvSpPr>
        <p:spPr>
          <a:xfrm>
            <a:off x="7955280" y="485546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26 / 28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What's Next?</a:t>
            </a:r>
            <a:endParaRPr lang="en-US" sz="3000" dirty="0"/>
          </a:p>
        </p:txBody>
      </p:sp>
      <p:sp>
        <p:nvSpPr>
          <p:cNvPr id="4" name="Text 2"/>
          <p:cNvSpPr/>
          <p:nvPr/>
        </p:nvSpPr>
        <p:spPr>
          <a:xfrm>
            <a:off x="640080" y="914400"/>
            <a:ext cx="7863840" cy="457200"/>
          </a:xfrm>
          <a:prstGeom prst="rect">
            <a:avLst/>
          </a:prstGeom>
          <a:noFill/>
          <a:ln/>
        </p:spPr>
        <p:txBody>
          <a:bodyPr wrap="square" rtlCol="0" anchor="ctr"/>
          <a:lstStyle/>
          <a:p>
            <a:pPr marL="0" indent="0">
              <a:buNone/>
            </a:pPr>
            <a:r>
              <a:rPr lang="en-US" sz="1800" b="1" dirty="0">
                <a:solidFill>
                  <a:srgbClr val="0891B2"/>
                </a:solidFill>
                <a:latin typeface="Segoe UI" pitchFamily="34" charset="0"/>
                <a:ea typeface="Segoe UI" pitchFamily="34" charset="-122"/>
                <a:cs typeface="Segoe UI" pitchFamily="34" charset="-120"/>
              </a:rPr>
              <a:t>Module 10: Data Preprocessing with Claude Desktop + MCP Power BI</a:t>
            </a:r>
            <a:endParaRPr lang="en-US" sz="1800" dirty="0"/>
          </a:p>
        </p:txBody>
      </p:sp>
      <p:sp>
        <p:nvSpPr>
          <p:cNvPr id="5" name="Shape 3"/>
          <p:cNvSpPr/>
          <p:nvPr/>
        </p:nvSpPr>
        <p:spPr>
          <a:xfrm>
            <a:off x="640080" y="1463040"/>
            <a:ext cx="7863840" cy="2560320"/>
          </a:xfrm>
          <a:prstGeom prst="rect">
            <a:avLst/>
          </a:prstGeom>
          <a:solidFill>
            <a:srgbClr val="F1F5F9"/>
          </a:solidFill>
          <a:ln/>
        </p:spPr>
        <p:txBody>
          <a:bodyPr/>
          <a:lstStyle/>
          <a:p>
            <a:endParaRPr lang="en-IN"/>
          </a:p>
        </p:txBody>
      </p:sp>
      <p:sp>
        <p:nvSpPr>
          <p:cNvPr id="6" name="Shape 4"/>
          <p:cNvSpPr/>
          <p:nvPr/>
        </p:nvSpPr>
        <p:spPr>
          <a:xfrm>
            <a:off x="640080" y="1463040"/>
            <a:ext cx="73152" cy="2560320"/>
          </a:xfrm>
          <a:prstGeom prst="rect">
            <a:avLst/>
          </a:prstGeom>
          <a:solidFill>
            <a:srgbClr val="0891B2"/>
          </a:solidFill>
          <a:ln/>
        </p:spPr>
        <p:txBody>
          <a:bodyPr/>
          <a:lstStyle/>
          <a:p>
            <a:endParaRPr lang="en-IN"/>
          </a:p>
        </p:txBody>
      </p:sp>
      <p:sp>
        <p:nvSpPr>
          <p:cNvPr id="7" name="Text 5"/>
          <p:cNvSpPr/>
          <p:nvPr/>
        </p:nvSpPr>
        <p:spPr>
          <a:xfrm>
            <a:off x="1005840" y="1600200"/>
            <a:ext cx="7223760" cy="228600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In Module 10, you'll step outside the Microsoft boundary to work with Claude Desktop, a complementary AI tool that connects to Power BI via MCP:</a:t>
            </a:r>
            <a:endParaRPr lang="en-US" sz="1200" dirty="0"/>
          </a:p>
          <a:p>
            <a:pPr marL="0" indent="0">
              <a:buNone/>
            </a:pP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  Expand your AI toolkit beyond the Power Platform</a:t>
            </a: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  Connect Claude Desktop to Power BI semantic models via MCP</a:t>
            </a: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  Use conversational AI to inspect, analyse, and modify data models</a:t>
            </a: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  Write DAX measures through natural language</a:t>
            </a: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  Prepare the analytics foundation for Module 11 dashboards</a:t>
            </a:r>
            <a:endParaRPr lang="en-US" sz="1200" dirty="0"/>
          </a:p>
          <a:p>
            <a:pPr marL="0" indent="0">
              <a:buNone/>
            </a:pP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This module demonstrates that MCP is a universal protocol — the same patterns apply whether the data source is Dataverse or Power BI.</a:t>
            </a:r>
            <a:endParaRPr lang="en-US" sz="1200" dirty="0"/>
          </a:p>
        </p:txBody>
      </p:sp>
      <p:sp>
        <p:nvSpPr>
          <p:cNvPr id="8" name="Shape 6"/>
          <p:cNvSpPr/>
          <p:nvPr/>
        </p:nvSpPr>
        <p:spPr>
          <a:xfrm>
            <a:off x="640080" y="4160520"/>
            <a:ext cx="7863840" cy="457200"/>
          </a:xfrm>
          <a:prstGeom prst="rect">
            <a:avLst/>
          </a:prstGeom>
          <a:solidFill>
            <a:srgbClr val="FEF3C7"/>
          </a:solidFill>
          <a:ln/>
        </p:spPr>
        <p:txBody>
          <a:bodyPr/>
          <a:lstStyle/>
          <a:p>
            <a:endParaRPr lang="en-IN"/>
          </a:p>
        </p:txBody>
      </p:sp>
      <p:sp>
        <p:nvSpPr>
          <p:cNvPr id="9" name="Text 7"/>
          <p:cNvSpPr/>
          <p:nvPr/>
        </p:nvSpPr>
        <p:spPr>
          <a:xfrm>
            <a:off x="822960" y="4251960"/>
            <a:ext cx="7498080" cy="274320"/>
          </a:xfrm>
          <a:prstGeom prst="rect">
            <a:avLst/>
          </a:prstGeom>
          <a:noFill/>
          <a:ln/>
        </p:spPr>
        <p:txBody>
          <a:bodyPr wrap="square" rtlCol="0" anchor="ctr"/>
          <a:lstStyle/>
          <a:p>
            <a:pPr marL="0" indent="0">
              <a:buNone/>
            </a:pPr>
            <a:r>
              <a:rPr lang="en-US" sz="1100" dirty="0">
                <a:solidFill>
                  <a:srgbClr val="F59E0B"/>
                </a:solidFill>
                <a:latin typeface="Segoe UI" pitchFamily="34" charset="0"/>
                <a:ea typeface="Segoe UI" pitchFamily="34" charset="-122"/>
                <a:cs typeface="Segoe UI" pitchFamily="34" charset="-120"/>
              </a:rPr>
              <a:t>⚠️ Keep the multi-agent system — it will generate telemetry data for Module 11 dashboards.</a:t>
            </a:r>
            <a:endParaRPr lang="en-US" sz="1100" dirty="0"/>
          </a:p>
        </p:txBody>
      </p:sp>
      <p:sp>
        <p:nvSpPr>
          <p:cNvPr id="10" name="Shape 8"/>
          <p:cNvSpPr/>
          <p:nvPr/>
        </p:nvSpPr>
        <p:spPr>
          <a:xfrm>
            <a:off x="0" y="4846320"/>
            <a:ext cx="9144000" cy="297180"/>
          </a:xfrm>
          <a:prstGeom prst="rect">
            <a:avLst/>
          </a:prstGeom>
          <a:solidFill>
            <a:srgbClr val="F1F5F9"/>
          </a:solidFill>
          <a:ln/>
        </p:spPr>
        <p:txBody>
          <a:bodyPr/>
          <a:lstStyle/>
          <a:p>
            <a:endParaRPr lang="en-IN"/>
          </a:p>
        </p:txBody>
      </p:sp>
      <p:sp>
        <p:nvSpPr>
          <p:cNvPr id="11" name="Text 9"/>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09</a:t>
            </a:r>
            <a:endParaRPr lang="en-US" sz="800" dirty="0"/>
          </a:p>
        </p:txBody>
      </p:sp>
      <p:sp>
        <p:nvSpPr>
          <p:cNvPr id="12" name="Text 10"/>
          <p:cNvSpPr/>
          <p:nvPr/>
        </p:nvSpPr>
        <p:spPr>
          <a:xfrm>
            <a:off x="7955280" y="486918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27 / 30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Shape 1"/>
          <p:cNvSpPr/>
          <p:nvPr/>
        </p:nvSpPr>
        <p:spPr>
          <a:xfrm>
            <a:off x="0" y="5088636"/>
            <a:ext cx="9144000" cy="54864"/>
          </a:xfrm>
          <a:prstGeom prst="rect">
            <a:avLst/>
          </a:prstGeom>
          <a:solidFill>
            <a:srgbClr val="0891B2"/>
          </a:solidFill>
          <a:ln/>
        </p:spPr>
        <p:txBody>
          <a:bodyPr/>
          <a:lstStyle/>
          <a:p>
            <a:endParaRPr lang="en-IN"/>
          </a:p>
        </p:txBody>
      </p:sp>
      <p:sp>
        <p:nvSpPr>
          <p:cNvPr id="4" name="Text 2"/>
          <p:cNvSpPr/>
          <p:nvPr/>
        </p:nvSpPr>
        <p:spPr>
          <a:xfrm>
            <a:off x="914400" y="1828800"/>
            <a:ext cx="7315200" cy="731520"/>
          </a:xfrm>
          <a:prstGeom prst="rect">
            <a:avLst/>
          </a:prstGeom>
          <a:noFill/>
          <a:ln/>
        </p:spPr>
        <p:txBody>
          <a:bodyPr wrap="square" rtlCol="0" anchor="ctr"/>
          <a:lstStyle/>
          <a:p>
            <a:pPr marL="0" indent="0" algn="ctr">
              <a:buNone/>
            </a:pPr>
            <a:r>
              <a:rPr lang="en-US" sz="4200" b="1" dirty="0">
                <a:solidFill>
                  <a:srgbClr val="FFFFFF"/>
                </a:solidFill>
                <a:latin typeface="Segoe UI" pitchFamily="34" charset="0"/>
                <a:ea typeface="Segoe UI" pitchFamily="34" charset="-122"/>
                <a:cs typeface="Segoe UI" pitchFamily="34" charset="-120"/>
              </a:rPr>
              <a:t>Thank You</a:t>
            </a:r>
            <a:endParaRPr lang="en-US" sz="4200" dirty="0"/>
          </a:p>
        </p:txBody>
      </p:sp>
      <p:sp>
        <p:nvSpPr>
          <p:cNvPr id="5" name="Text 3"/>
          <p:cNvSpPr/>
          <p:nvPr/>
        </p:nvSpPr>
        <p:spPr>
          <a:xfrm>
            <a:off x="914400" y="2834640"/>
            <a:ext cx="7315200" cy="457200"/>
          </a:xfrm>
          <a:prstGeom prst="rect">
            <a:avLst/>
          </a:prstGeom>
          <a:noFill/>
          <a:ln/>
        </p:spPr>
        <p:txBody>
          <a:bodyPr wrap="square" rtlCol="0" anchor="ctr"/>
          <a:lstStyle/>
          <a:p>
            <a:pPr marL="0" indent="0" algn="ctr">
              <a:buNone/>
            </a:pPr>
            <a:r>
              <a:rPr lang="en-US" sz="2400" dirty="0">
                <a:solidFill>
                  <a:srgbClr val="94A3B8"/>
                </a:solidFill>
                <a:latin typeface="Segoe UI" pitchFamily="34" charset="0"/>
                <a:ea typeface="Segoe UI" pitchFamily="34" charset="-122"/>
                <a:cs typeface="Segoe UI" pitchFamily="34" charset="-120"/>
              </a:rPr>
              <a:t>Questions? </a:t>
            </a:r>
            <a:endParaRPr lang="en-US" sz="2400" dirty="0"/>
          </a:p>
        </p:txBody>
      </p:sp>
      <p:sp>
        <p:nvSpPr>
          <p:cNvPr id="7" name="Text 10">
            <a:extLst>
              <a:ext uri="{FF2B5EF4-FFF2-40B4-BE49-F238E27FC236}">
                <a16:creationId xmlns:a16="http://schemas.microsoft.com/office/drawing/2014/main" id="{53B0F5F6-D9ED-711D-7501-0EBC80EBE409}"/>
              </a:ext>
            </a:extLst>
          </p:cNvPr>
          <p:cNvSpPr/>
          <p:nvPr/>
        </p:nvSpPr>
        <p:spPr>
          <a:xfrm>
            <a:off x="7955280" y="4814316"/>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27 / 30</a:t>
            </a:r>
            <a:endParaRPr lang="en-US" sz="9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4-bc88714345d2}" enabled="1" method="Standard" siteId="{2243f965-7483-47b5-8481-26f2d02b5c39}" contentBits="0" removed="0"/>
</clbl:labelList>
</file>

<file path=docProps/app.xml><?xml version="1.0" encoding="utf-8"?>
<Properties xmlns="http://schemas.openxmlformats.org/officeDocument/2006/extended-properties" xmlns:vt="http://schemas.openxmlformats.org/officeDocument/2006/docPropsVTypes">
  <TotalTime>14</TotalTime>
  <Words>4836</Words>
  <Application>Microsoft Office PowerPoint</Application>
  <PresentationFormat>On-screen Show (16:9)</PresentationFormat>
  <Paragraphs>420</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09: Multi-Agent Systems with Shared MCP Memory</dc:title>
  <dc:subject>Agentic AI in Power Platform</dc:subject>
  <dc:creator>EY Training</dc:creator>
  <cp:lastModifiedBy>Jalal Khan</cp:lastModifiedBy>
  <cp:revision>13</cp:revision>
  <dcterms:created xsi:type="dcterms:W3CDTF">2026-02-05T12:42:35Z</dcterms:created>
  <dcterms:modified xsi:type="dcterms:W3CDTF">2026-02-05T19:17:01Z</dcterms:modified>
</cp:coreProperties>
</file>