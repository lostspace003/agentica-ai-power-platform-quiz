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80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9087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06: Copilot Studio Agents Using Dataverse MCP. This is the technical core of our entire course.
While Module 05 introduced Agent Builder as a way to convert existing apps into agents, this module teaches you to build production-grade Copilot Studio agents from the ground up with full control over every aspect: system prompts, topics, generative orchestration, knowledge sources, and — most critically — Dataverse MCP Server integration.
The agents you build in this module form the foundation for Agent Flows in Module 07, Human-in-the-Loop workflows in Module 08, Multi-Agent orchestration in Module 09, and the final Capstone in Module 13.
This is a 4-hour module: approximately 1.5 hours of theory covering architecture, generative orchestration, the topic system, MCP operations, and knowledge management. Then 2.5 hours of hands-on lab where you'll build a complete BFSI Insurance Operations Agent.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structured around three major areas.
First, Agent Architecture — you'll learn how Copilot Studio agents are structured with system prompts that define identity and behavior, topics that handle specific conversation patterns, and generative orchestration that intelligently routes user messages.
Second, MCP Integration — the Dataverse MCP Server provides seven operations that enable your agent to interact with data: list_tables, describe_table, read_query, create_record, update_record, delete_record, and search_knowledge. This is how your agent becomes a powerful data assistant.
Third, Knowledge Sources — beyond structured Dataverse data, agents can answer questions from PDFs, Word documents, SharePoint sites, and public websites. This enables true enterprise knowledge management.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primary learning objectives for this module.
Objective one: Create a complete Copilot Studio agent from scratch, configuring name, description, system prompt, primary language, and publishing channels.
Objective two: Write effective system prompts — this is the most critical skill. Your system prompt defines the agent's identity, capabilities, boundaries, and BFSI-specific compliance rules. A well-crafted prompt dramatically improves agent quality.
Objective three: Understand generative orchestration — how Copilot Studio's AI layer routes user messages to topics, tools, and knowledge sources without explicit if/then branching. This is what makes modern agents intelligent rather than scripted.
Objective four: Master the Dataverse MCP Server with all seven operations. You'll understand when the agent uses each operation and how to debug them in activity traces.
Objective five: Demonstrate schema-driven reasoning — the critical pattern where the agent calls describe_table to learn column structure, then constructs queries dynamically.
Objective six: Configure multiple knowledge source types so your agent can answer questions from both structured data and unstructured documents.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fundamental architecture of Copilot Studio agents.
A Copilot Studio agent is a conversational AI application that uses large language models to understand user intent, reason about available tools and knowledge, and compose natural language responses.
Unlike traditional chatbots that rely on rigid decision trees, Copilot Studio agents use generative orchestration to dynamically route conversations, select appropriate actions, and synthesize information from multiple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Copilot Studio agent consists of five core components.
SYSTEM PROMPT (Instructions): This is the most important configuration. It defines who the agent is, how it should respond, what it can and cannot do, and how it handles edge cases.
TOPICS: These are the conversation patterns that handle specific tasks. Each topic has trigger phrases that tell the orchestration layer when to activate it.
TOOLS: These are the actions the agent can take. The Dataverse MCP Server is our primary tool, providing seven operations for data interaction.
KNOWLEDGE: Beyond structured data, agents can answer questions from documents — PDFs, Word files, SharePoint libraries, and public websites.
CHANNELS: These are where users interact with the agent — Microsoft Teams, embedded web chat, or custom canvas applications.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orchestration is the AI layer that sits between the user's message and the agent's response. It replaces traditional rule-based routing with LLM-powered intent classification and dynamic planning.
This is what makes Copilot Studio agents genuinely intelligent rather than simply scripted.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five steps of generative orchestration.
Step 1 — Receive Message: The user sends a natural language message. This could be anything from "Show me all open claims" to "What's the policy limit for customer Arun Sharma?"
Step 2 — Classify Intent: The LLM analyzes the message to understand what the user wants.
Step 3 — Match Topic/Tool: Based on the classified intent, the orchestration layer decides how to handle it.
Step 4 — Execute Plan: The agent takes action — calling MCP operations, retrieving from knowledge sources, or executing topic flows.
Step 5 — Compose Response: Finally, the LLM synthesizes all the information into a natural language response.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supports two orchestration modes.
GENERATIVE MODE is the recommended approach. The LLM dynamically classifies intent, which means the agent can handle queries without needing an explicit topic for every possible question.
CLASSIC MODE uses traditional rule-based trigger matching. The routing is more predictable but requires significantly more development effort.
For BFSI agents with Dataverse MCP, we use Generative mode because we want the agent to answer ad hoc data questions dynamically.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Dataverse MCP Server is the primary tool for agents in this course. It provides seven operations that enable complete data interaction through natural language.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seven MCP operations your agent can use.
LIST_TABLES returns all accessible Dataverse tables in the environment.
DESCRIBE_TABLE returns the schema for a specific table — column names, data types, and constraints.
READ_QUERY is the workhorse operation — it queries records with filters, sorting, and column selection.
CREATE_RECORD inserts a new record.
UPDATE_RECORD modifies an existing record by ID.
DELETE_RECORD removes a record by ID.
SEARCH_KNOWLEDGE searches Dataverse knowledge articles and document content.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Schema-driven reasoning is the pattern that makes agents genuinely useful for ad hoc data queries.
The user asks a question, the agent calls describe_table to learn the schema, then constructs the appropriate read_query. This is powerful because the agent handles questions it was never explicitly programmed for.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sources extend your agent's capabilities beyond structured Dataverse data.
While the MCP Server handles queries against tables with rows and columns, knowledge sources enable your agent to answer questions from unstructured and semi-structured content.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supports five types of knowledge sources.
DATAVERSE TABLES provide structured data access.
PDF DOCUMENTS can be uploaded directly or linked from document management systems.
WORD DOCUMENTS work similarly — procedures, SOPs, and internal documentation.
SHAREPOINT SITES enable automatic sync with document libraries.
PUBLIC WEBSITES allow agents to answer questions from external web content.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is the most important configuration element of your agent. A well-structured BFSI system prompt includes seven sections: Identity, Capabilities, Boundaries, Data Rules, Compliance, Tone, and Escalation.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preview the hands-on lab where you'll build a complete BFSI Insurance Operations Agent using the four Contoso Insurance Dataverse tables.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consists of five exercises totaling approximately 2.5 hours. You'll create an agent, add the MCP Server, build custom topics, add knowledge sources, and test using activity traces.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consolidate the key takeaways from this module. These seven points summarize everything you need to remember about building Copilot Studio agents.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test your understanding of Copilot Studio agents with three quick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Module 07 extends your conversational agent with autonomous capabilities using Agent Flows.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throughout this module on Copilot Studio Agents Using Dataverse MCP.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109728"/>
          </a:xfrm>
          <a:prstGeom prst="rect">
            <a:avLst/>
          </a:prstGeom>
          <a:solidFill>
            <a:srgbClr val="0891B2"/>
          </a:solidFill>
          <a:ln/>
        </p:spPr>
        <p:txBody>
          <a:bodyPr/>
          <a:lstStyle/>
          <a:p>
            <a:endParaRPr lang="en-IN"/>
          </a:p>
        </p:txBody>
      </p:sp>
      <p:sp>
        <p:nvSpPr>
          <p:cNvPr id="3" name="Shape 1"/>
          <p:cNvSpPr/>
          <p:nvPr/>
        </p:nvSpPr>
        <p:spPr>
          <a:xfrm>
            <a:off x="6850742" y="201168"/>
            <a:ext cx="1828800" cy="54864"/>
          </a:xfrm>
          <a:prstGeom prst="rect">
            <a:avLst/>
          </a:prstGeom>
          <a:solidFill>
            <a:srgbClr val="0E7490"/>
          </a:solidFill>
          <a:ln/>
        </p:spPr>
        <p:txBody>
          <a:bodyPr/>
          <a:lstStyle/>
          <a:p>
            <a:endParaRPr lang="en-IN"/>
          </a:p>
        </p:txBody>
      </p:sp>
      <p:sp>
        <p:nvSpPr>
          <p:cNvPr id="4" name="Text 2"/>
          <p:cNvSpPr/>
          <p:nvPr/>
        </p:nvSpPr>
        <p:spPr>
          <a:xfrm>
            <a:off x="267062" y="100584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MODULE 06</a:t>
            </a:r>
            <a:endParaRPr lang="en-US" sz="1300" dirty="0"/>
          </a:p>
        </p:txBody>
      </p:sp>
      <p:sp>
        <p:nvSpPr>
          <p:cNvPr id="5" name="Text 3"/>
          <p:cNvSpPr/>
          <p:nvPr/>
        </p:nvSpPr>
        <p:spPr>
          <a:xfrm>
            <a:off x="267062" y="1463040"/>
            <a:ext cx="6400800" cy="1280160"/>
          </a:xfrm>
          <a:prstGeom prst="rect">
            <a:avLst/>
          </a:prstGeom>
          <a:noFill/>
          <a:ln/>
        </p:spPr>
        <p:txBody>
          <a:bodyPr wrap="square" rtlCol="0" anchor="ctr"/>
          <a:lstStyle/>
          <a:p>
            <a:pPr marL="0" indent="0">
              <a:buNone/>
            </a:pPr>
            <a:r>
              <a:rPr lang="en-US" sz="3600" b="1" dirty="0">
                <a:solidFill>
                  <a:srgbClr val="FFFFFF"/>
                </a:solidFill>
                <a:latin typeface="Segoe UI" pitchFamily="34" charset="0"/>
                <a:ea typeface="Segoe UI" pitchFamily="34" charset="-122"/>
                <a:cs typeface="Segoe UI" pitchFamily="34" charset="-120"/>
              </a:rPr>
              <a:t>Copilot Studio Agents</a:t>
            </a:r>
            <a:endParaRPr lang="en-US" sz="3600" dirty="0"/>
          </a:p>
          <a:p>
            <a:pPr marL="0" indent="0">
              <a:buNone/>
            </a:pPr>
            <a:r>
              <a:rPr lang="en-US" sz="3600" b="1" dirty="0">
                <a:solidFill>
                  <a:srgbClr val="FFFFFF"/>
                </a:solidFill>
                <a:latin typeface="Segoe UI" pitchFamily="34" charset="0"/>
                <a:ea typeface="Segoe UI" pitchFamily="34" charset="-122"/>
                <a:cs typeface="Segoe UI" pitchFamily="34" charset="-120"/>
              </a:rPr>
              <a:t>Using Dataverse MCP</a:t>
            </a:r>
            <a:endParaRPr lang="en-US" sz="3600" dirty="0"/>
          </a:p>
        </p:txBody>
      </p:sp>
      <p:sp>
        <p:nvSpPr>
          <p:cNvPr id="6" name="Text 4"/>
          <p:cNvSpPr/>
          <p:nvPr/>
        </p:nvSpPr>
        <p:spPr>
          <a:xfrm>
            <a:off x="267062" y="2788920"/>
            <a:ext cx="5486400" cy="457200"/>
          </a:xfrm>
          <a:prstGeom prst="rect">
            <a:avLst/>
          </a:prstGeom>
          <a:noFill/>
          <a:ln/>
        </p:spPr>
        <p:txBody>
          <a:bodyPr wrap="square" rtlCol="0" anchor="ctr"/>
          <a:lstStyle/>
          <a:p>
            <a:pPr marL="0" indent="0">
              <a:buNone/>
            </a:pPr>
            <a:r>
              <a:rPr lang="en-US" sz="2000" dirty="0">
                <a:solidFill>
                  <a:srgbClr val="22D3EE"/>
                </a:solidFill>
                <a:latin typeface="Segoe UI" pitchFamily="34" charset="0"/>
                <a:ea typeface="Segoe UI" pitchFamily="34" charset="-122"/>
                <a:cs typeface="Segoe UI" pitchFamily="34" charset="-120"/>
              </a:rPr>
              <a:t>Building Production-Grade Conversational AI</a:t>
            </a:r>
            <a:endParaRPr lang="en-US" sz="2000" dirty="0"/>
          </a:p>
        </p:txBody>
      </p:sp>
      <p:sp>
        <p:nvSpPr>
          <p:cNvPr id="7" name="Text 5"/>
          <p:cNvSpPr/>
          <p:nvPr/>
        </p:nvSpPr>
        <p:spPr>
          <a:xfrm>
            <a:off x="267062" y="3474720"/>
            <a:ext cx="4572000" cy="365760"/>
          </a:xfrm>
          <a:prstGeom prst="rect">
            <a:avLst/>
          </a:prstGeom>
          <a:noFill/>
          <a:ln/>
        </p:spPr>
        <p:txBody>
          <a:bodyPr wrap="square" rtlCol="0" anchor="ctr"/>
          <a:lstStyle/>
          <a:p>
            <a:pPr marL="0" indent="0">
              <a:buNone/>
            </a:pPr>
            <a:r>
              <a:rPr lang="en-US" sz="1400" dirty="0">
                <a:solidFill>
                  <a:srgbClr val="94A3B8"/>
                </a:solidFill>
                <a:latin typeface="Segoe UI" pitchFamily="34" charset="0"/>
                <a:ea typeface="Segoe UI" pitchFamily="34" charset="-122"/>
                <a:cs typeface="Segoe UI" pitchFamily="34" charset="-120"/>
              </a:rPr>
              <a:t>Agentic AI in Power Platform </a:t>
            </a:r>
            <a:endParaRPr lang="en-US" sz="1400" dirty="0"/>
          </a:p>
        </p:txBody>
      </p:sp>
      <p:sp>
        <p:nvSpPr>
          <p:cNvPr id="8" name="Text 6"/>
          <p:cNvSpPr/>
          <p:nvPr/>
        </p:nvSpPr>
        <p:spPr>
          <a:xfrm>
            <a:off x="194491" y="4775200"/>
            <a:ext cx="4572000" cy="274320"/>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CONFIDENTIAL – For Training Purposes Only</a:t>
            </a:r>
            <a:endParaRPr lang="en-US" sz="900" dirty="0"/>
          </a:p>
        </p:txBody>
      </p:sp>
      <p:sp>
        <p:nvSpPr>
          <p:cNvPr id="9" name="Text 7"/>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 / 26</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Module Overview</a:t>
            </a:r>
            <a:endParaRPr lang="en-US" sz="3200" dirty="0"/>
          </a:p>
        </p:txBody>
      </p:sp>
      <p:sp>
        <p:nvSpPr>
          <p:cNvPr id="4" name="Shape 2"/>
          <p:cNvSpPr/>
          <p:nvPr/>
        </p:nvSpPr>
        <p:spPr>
          <a:xfrm>
            <a:off x="640080" y="1051560"/>
            <a:ext cx="7863840" cy="1097280"/>
          </a:xfrm>
          <a:prstGeom prst="rect">
            <a:avLst/>
          </a:prstGeom>
          <a:solidFill>
            <a:srgbClr val="F1F5F9"/>
          </a:solidFill>
          <a:ln/>
        </p:spPr>
        <p:txBody>
          <a:bodyPr/>
          <a:lstStyle/>
          <a:p>
            <a:endParaRPr lang="en-IN"/>
          </a:p>
        </p:txBody>
      </p:sp>
      <p:sp>
        <p:nvSpPr>
          <p:cNvPr id="5" name="Shape 3"/>
          <p:cNvSpPr/>
          <p:nvPr/>
        </p:nvSpPr>
        <p:spPr>
          <a:xfrm>
            <a:off x="640080" y="1051560"/>
            <a:ext cx="73152" cy="1097280"/>
          </a:xfrm>
          <a:prstGeom prst="rect">
            <a:avLst/>
          </a:prstGeom>
          <a:solidFill>
            <a:srgbClr val="0891B2"/>
          </a:solidFill>
          <a:ln/>
        </p:spPr>
        <p:txBody>
          <a:bodyPr/>
          <a:lstStyle/>
          <a:p>
            <a:endParaRPr lang="en-IN"/>
          </a:p>
        </p:txBody>
      </p:sp>
      <p:sp>
        <p:nvSpPr>
          <p:cNvPr id="6" name="Text 4"/>
          <p:cNvSpPr/>
          <p:nvPr/>
        </p:nvSpPr>
        <p:spPr>
          <a:xfrm>
            <a:off x="1005840" y="1115568"/>
            <a:ext cx="7223760" cy="960120"/>
          </a:xfrm>
          <a:prstGeom prst="rect">
            <a:avLst/>
          </a:prstGeom>
          <a:noFill/>
          <a:ln/>
        </p:spPr>
        <p:txBody>
          <a:bodyPr wrap="square" rtlCol="0" anchor="ctr"/>
          <a:lstStyle/>
          <a:p>
            <a:pPr marL="0" indent="0">
              <a:buNone/>
            </a:pPr>
            <a:r>
              <a:rPr lang="en-US" sz="1450" dirty="0">
                <a:solidFill>
                  <a:srgbClr val="1E293B"/>
                </a:solidFill>
                <a:latin typeface="Segoe UI" pitchFamily="34" charset="0"/>
                <a:ea typeface="Segoe UI" pitchFamily="34" charset="-122"/>
                <a:cs typeface="Segoe UI" pitchFamily="34" charset="-120"/>
              </a:rPr>
              <a:t>This module is the technical core of the entire course. You will build production-grade Copilot Studio agents from scratch with full control over system prompts, topics, generative orchestration, knowledge sources, and Dataverse MCP Server integration.</a:t>
            </a:r>
            <a:endParaRPr lang="en-US" sz="1450" dirty="0"/>
          </a:p>
        </p:txBody>
      </p:sp>
      <p:sp>
        <p:nvSpPr>
          <p:cNvPr id="7" name="Shape 5"/>
          <p:cNvSpPr/>
          <p:nvPr/>
        </p:nvSpPr>
        <p:spPr>
          <a:xfrm>
            <a:off x="640080" y="2468880"/>
            <a:ext cx="2468880" cy="2103120"/>
          </a:xfrm>
          <a:prstGeom prst="rect">
            <a:avLst/>
          </a:prstGeom>
          <a:solidFill>
            <a:srgbClr val="F1F5F9"/>
          </a:solidFill>
          <a:ln/>
        </p:spPr>
        <p:txBody>
          <a:bodyPr/>
          <a:lstStyle/>
          <a:p>
            <a:endParaRPr lang="en-IN"/>
          </a:p>
        </p:txBody>
      </p:sp>
      <p:sp>
        <p:nvSpPr>
          <p:cNvPr id="8" name="Text 6"/>
          <p:cNvSpPr/>
          <p:nvPr/>
        </p:nvSpPr>
        <p:spPr>
          <a:xfrm>
            <a:off x="8686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9" name="Text 7"/>
          <p:cNvSpPr/>
          <p:nvPr/>
        </p:nvSpPr>
        <p:spPr>
          <a:xfrm>
            <a:off x="8229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1.5 hrs Theory</a:t>
            </a:r>
            <a:endParaRPr lang="en-US" sz="1400" dirty="0"/>
          </a:p>
        </p:txBody>
      </p:sp>
      <p:sp>
        <p:nvSpPr>
          <p:cNvPr id="10" name="Text 8"/>
          <p:cNvSpPr/>
          <p:nvPr/>
        </p:nvSpPr>
        <p:spPr>
          <a:xfrm>
            <a:off x="8229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Agent architecture, orchestration, MCP operations</a:t>
            </a:r>
            <a:endParaRPr lang="en-US" sz="1100" dirty="0"/>
          </a:p>
        </p:txBody>
      </p:sp>
      <p:sp>
        <p:nvSpPr>
          <p:cNvPr id="11" name="Shape 9"/>
          <p:cNvSpPr/>
          <p:nvPr/>
        </p:nvSpPr>
        <p:spPr>
          <a:xfrm>
            <a:off x="3383280" y="2468880"/>
            <a:ext cx="2468880" cy="2103120"/>
          </a:xfrm>
          <a:prstGeom prst="rect">
            <a:avLst/>
          </a:prstGeom>
          <a:solidFill>
            <a:srgbClr val="F1F5F9"/>
          </a:solidFill>
          <a:ln/>
        </p:spPr>
        <p:txBody>
          <a:bodyPr/>
          <a:lstStyle/>
          <a:p>
            <a:endParaRPr lang="en-IN"/>
          </a:p>
        </p:txBody>
      </p:sp>
      <p:sp>
        <p:nvSpPr>
          <p:cNvPr id="12" name="Text 10"/>
          <p:cNvSpPr/>
          <p:nvPr/>
        </p:nvSpPr>
        <p:spPr>
          <a:xfrm>
            <a:off x="36118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3" name="Text 11"/>
          <p:cNvSpPr/>
          <p:nvPr/>
        </p:nvSpPr>
        <p:spPr>
          <a:xfrm>
            <a:off x="35661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2.5 hrs Lab</a:t>
            </a:r>
            <a:endParaRPr lang="en-US" sz="1400" dirty="0"/>
          </a:p>
        </p:txBody>
      </p:sp>
      <p:sp>
        <p:nvSpPr>
          <p:cNvPr id="14" name="Text 12"/>
          <p:cNvSpPr/>
          <p:nvPr/>
        </p:nvSpPr>
        <p:spPr>
          <a:xfrm>
            <a:off x="35661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 complete BFSI Insurance Operations Agent</a:t>
            </a:r>
            <a:endParaRPr lang="en-US" sz="1100" dirty="0"/>
          </a:p>
        </p:txBody>
      </p:sp>
      <p:sp>
        <p:nvSpPr>
          <p:cNvPr id="15" name="Shape 13"/>
          <p:cNvSpPr/>
          <p:nvPr/>
        </p:nvSpPr>
        <p:spPr>
          <a:xfrm>
            <a:off x="6126480" y="2468880"/>
            <a:ext cx="2468880" cy="2103120"/>
          </a:xfrm>
          <a:prstGeom prst="rect">
            <a:avLst/>
          </a:prstGeom>
          <a:solidFill>
            <a:srgbClr val="F1F5F9"/>
          </a:solidFill>
          <a:ln/>
        </p:spPr>
        <p:txBody>
          <a:bodyPr/>
          <a:lstStyle/>
          <a:p>
            <a:endParaRPr lang="en-IN"/>
          </a:p>
        </p:txBody>
      </p:sp>
      <p:sp>
        <p:nvSpPr>
          <p:cNvPr id="16" name="Text 14"/>
          <p:cNvSpPr/>
          <p:nvPr/>
        </p:nvSpPr>
        <p:spPr>
          <a:xfrm>
            <a:off x="63550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63093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Outcome</a:t>
            </a:r>
            <a:endParaRPr lang="en-US" sz="1400" dirty="0"/>
          </a:p>
        </p:txBody>
      </p:sp>
      <p:sp>
        <p:nvSpPr>
          <p:cNvPr id="18" name="Text 16"/>
          <p:cNvSpPr/>
          <p:nvPr/>
        </p:nvSpPr>
        <p:spPr>
          <a:xfrm>
            <a:off x="63093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Production-ready conversational agent with data access</a:t>
            </a:r>
            <a:endParaRPr lang="en-US" sz="11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1" name="Text 19"/>
          <p:cNvSpPr/>
          <p:nvPr/>
        </p:nvSpPr>
        <p:spPr>
          <a:xfrm>
            <a:off x="7955280" y="480364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a:t>
            </a:r>
            <a:endParaRPr lang="en-US" sz="3200" dirty="0"/>
          </a:p>
        </p:txBody>
      </p:sp>
      <p:sp>
        <p:nvSpPr>
          <p:cNvPr id="4" name="Shape 2"/>
          <p:cNvSpPr/>
          <p:nvPr/>
        </p:nvSpPr>
        <p:spPr>
          <a:xfrm>
            <a:off x="640080" y="1051560"/>
            <a:ext cx="7863840" cy="502920"/>
          </a:xfrm>
          <a:prstGeom prst="rect">
            <a:avLst/>
          </a:prstGeom>
          <a:solidFill>
            <a:srgbClr val="F1F5F9"/>
          </a:solidFill>
          <a:ln/>
        </p:spPr>
        <p:txBody>
          <a:bodyPr/>
          <a:lstStyle/>
          <a:p>
            <a:endParaRPr lang="en-IN"/>
          </a:p>
        </p:txBody>
      </p:sp>
      <p:sp>
        <p:nvSpPr>
          <p:cNvPr id="5" name="Text 3"/>
          <p:cNvSpPr/>
          <p:nvPr/>
        </p:nvSpPr>
        <p:spPr>
          <a:xfrm>
            <a:off x="777240" y="112471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1325880" y="112471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Create a Copilot Studio agent with system prompt, topics, and channels</a:t>
            </a:r>
            <a:endParaRPr lang="en-US" sz="1300" dirty="0"/>
          </a:p>
        </p:txBody>
      </p:sp>
      <p:sp>
        <p:nvSpPr>
          <p:cNvPr id="7" name="Shape 5"/>
          <p:cNvSpPr/>
          <p:nvPr/>
        </p:nvSpPr>
        <p:spPr>
          <a:xfrm>
            <a:off x="640080" y="1645920"/>
            <a:ext cx="7863840" cy="502920"/>
          </a:xfrm>
          <a:prstGeom prst="rect">
            <a:avLst/>
          </a:prstGeom>
          <a:solidFill>
            <a:srgbClr val="F1F5F9"/>
          </a:solidFill>
          <a:ln/>
        </p:spPr>
        <p:txBody>
          <a:bodyPr/>
          <a:lstStyle/>
          <a:p>
            <a:endParaRPr lang="en-IN"/>
          </a:p>
        </p:txBody>
      </p:sp>
      <p:sp>
        <p:nvSpPr>
          <p:cNvPr id="8" name="Text 6"/>
          <p:cNvSpPr/>
          <p:nvPr/>
        </p:nvSpPr>
        <p:spPr>
          <a:xfrm>
            <a:off x="777240" y="171907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02</a:t>
            </a:r>
            <a:endParaRPr lang="en-US" sz="1300" dirty="0"/>
          </a:p>
        </p:txBody>
      </p:sp>
      <p:sp>
        <p:nvSpPr>
          <p:cNvPr id="9" name="Text 7"/>
          <p:cNvSpPr/>
          <p:nvPr/>
        </p:nvSpPr>
        <p:spPr>
          <a:xfrm>
            <a:off x="1325880" y="171907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Write effective system prompts with BFSI compliance rules</a:t>
            </a:r>
            <a:endParaRPr lang="en-US" sz="1300" dirty="0"/>
          </a:p>
        </p:txBody>
      </p:sp>
      <p:sp>
        <p:nvSpPr>
          <p:cNvPr id="10" name="Shape 8"/>
          <p:cNvSpPr/>
          <p:nvPr/>
        </p:nvSpPr>
        <p:spPr>
          <a:xfrm>
            <a:off x="640080" y="2240280"/>
            <a:ext cx="7863840" cy="502920"/>
          </a:xfrm>
          <a:prstGeom prst="rect">
            <a:avLst/>
          </a:prstGeom>
          <a:solidFill>
            <a:srgbClr val="F1F5F9"/>
          </a:solidFill>
          <a:ln/>
        </p:spPr>
        <p:txBody>
          <a:bodyPr/>
          <a:lstStyle/>
          <a:p>
            <a:endParaRPr lang="en-IN"/>
          </a:p>
        </p:txBody>
      </p:sp>
      <p:sp>
        <p:nvSpPr>
          <p:cNvPr id="11" name="Text 9"/>
          <p:cNvSpPr/>
          <p:nvPr/>
        </p:nvSpPr>
        <p:spPr>
          <a:xfrm>
            <a:off x="777240" y="231343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03</a:t>
            </a:r>
            <a:endParaRPr lang="en-US" sz="1300" dirty="0"/>
          </a:p>
        </p:txBody>
      </p:sp>
      <p:sp>
        <p:nvSpPr>
          <p:cNvPr id="12" name="Text 10"/>
          <p:cNvSpPr/>
          <p:nvPr/>
        </p:nvSpPr>
        <p:spPr>
          <a:xfrm>
            <a:off x="1325880" y="231343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Explain generative orchestration and how it routes conversations</a:t>
            </a:r>
            <a:endParaRPr lang="en-US" sz="1300" dirty="0"/>
          </a:p>
        </p:txBody>
      </p:sp>
      <p:sp>
        <p:nvSpPr>
          <p:cNvPr id="13" name="Shape 11"/>
          <p:cNvSpPr/>
          <p:nvPr/>
        </p:nvSpPr>
        <p:spPr>
          <a:xfrm>
            <a:off x="640080" y="2834640"/>
            <a:ext cx="7863840" cy="502920"/>
          </a:xfrm>
          <a:prstGeom prst="rect">
            <a:avLst/>
          </a:prstGeom>
          <a:solidFill>
            <a:srgbClr val="F1F5F9"/>
          </a:solidFill>
          <a:ln/>
        </p:spPr>
        <p:txBody>
          <a:bodyPr/>
          <a:lstStyle/>
          <a:p>
            <a:endParaRPr lang="en-IN"/>
          </a:p>
        </p:txBody>
      </p:sp>
      <p:sp>
        <p:nvSpPr>
          <p:cNvPr id="14" name="Text 12"/>
          <p:cNvSpPr/>
          <p:nvPr/>
        </p:nvSpPr>
        <p:spPr>
          <a:xfrm>
            <a:off x="777240" y="290779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04</a:t>
            </a:r>
            <a:endParaRPr lang="en-US" sz="1300" dirty="0"/>
          </a:p>
        </p:txBody>
      </p:sp>
      <p:sp>
        <p:nvSpPr>
          <p:cNvPr id="15" name="Text 13"/>
          <p:cNvSpPr/>
          <p:nvPr/>
        </p:nvSpPr>
        <p:spPr>
          <a:xfrm>
            <a:off x="1325880" y="290779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Add Dataverse MCP Server and master the 7 MCP operations</a:t>
            </a:r>
            <a:endParaRPr lang="en-US" sz="1300" dirty="0"/>
          </a:p>
        </p:txBody>
      </p:sp>
      <p:sp>
        <p:nvSpPr>
          <p:cNvPr id="16" name="Shape 14"/>
          <p:cNvSpPr/>
          <p:nvPr/>
        </p:nvSpPr>
        <p:spPr>
          <a:xfrm>
            <a:off x="640080" y="3429000"/>
            <a:ext cx="7863840" cy="502920"/>
          </a:xfrm>
          <a:prstGeom prst="rect">
            <a:avLst/>
          </a:prstGeom>
          <a:solidFill>
            <a:srgbClr val="F1F5F9"/>
          </a:solidFill>
          <a:ln/>
        </p:spPr>
        <p:txBody>
          <a:bodyPr/>
          <a:lstStyle/>
          <a:p>
            <a:endParaRPr lang="en-IN"/>
          </a:p>
        </p:txBody>
      </p:sp>
      <p:sp>
        <p:nvSpPr>
          <p:cNvPr id="17" name="Text 15"/>
          <p:cNvSpPr/>
          <p:nvPr/>
        </p:nvSpPr>
        <p:spPr>
          <a:xfrm>
            <a:off x="777240" y="350215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05</a:t>
            </a:r>
            <a:endParaRPr lang="en-US" sz="1300" dirty="0"/>
          </a:p>
        </p:txBody>
      </p:sp>
      <p:sp>
        <p:nvSpPr>
          <p:cNvPr id="18" name="Text 16"/>
          <p:cNvSpPr/>
          <p:nvPr/>
        </p:nvSpPr>
        <p:spPr>
          <a:xfrm>
            <a:off x="1325880" y="350215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Demonstrate schema-driven reasoning for dynamic queries</a:t>
            </a:r>
            <a:endParaRPr lang="en-US" sz="1300" dirty="0"/>
          </a:p>
        </p:txBody>
      </p:sp>
      <p:sp>
        <p:nvSpPr>
          <p:cNvPr id="19" name="Shape 17"/>
          <p:cNvSpPr/>
          <p:nvPr/>
        </p:nvSpPr>
        <p:spPr>
          <a:xfrm>
            <a:off x="640080" y="4023360"/>
            <a:ext cx="7863840" cy="502920"/>
          </a:xfrm>
          <a:prstGeom prst="rect">
            <a:avLst/>
          </a:prstGeom>
          <a:solidFill>
            <a:srgbClr val="F1F5F9"/>
          </a:solidFill>
          <a:ln/>
        </p:spPr>
        <p:txBody>
          <a:bodyPr/>
          <a:lstStyle/>
          <a:p>
            <a:endParaRPr lang="en-IN"/>
          </a:p>
        </p:txBody>
      </p:sp>
      <p:sp>
        <p:nvSpPr>
          <p:cNvPr id="20" name="Text 18"/>
          <p:cNvSpPr/>
          <p:nvPr/>
        </p:nvSpPr>
        <p:spPr>
          <a:xfrm>
            <a:off x="777240" y="409651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06</a:t>
            </a:r>
            <a:endParaRPr lang="en-US" sz="1300" dirty="0"/>
          </a:p>
        </p:txBody>
      </p:sp>
      <p:sp>
        <p:nvSpPr>
          <p:cNvPr id="21" name="Text 19"/>
          <p:cNvSpPr/>
          <p:nvPr/>
        </p:nvSpPr>
        <p:spPr>
          <a:xfrm>
            <a:off x="1325880" y="409651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Configure multi-format knowledge sources (PDF, SharePoint, web)</a:t>
            </a:r>
            <a:endParaRPr lang="en-US" sz="1300" dirty="0"/>
          </a:p>
        </p:txBody>
      </p:sp>
      <p:sp>
        <p:nvSpPr>
          <p:cNvPr id="22" name="Shape 20"/>
          <p:cNvSpPr/>
          <p:nvPr/>
        </p:nvSpPr>
        <p:spPr>
          <a:xfrm>
            <a:off x="0" y="4846320"/>
            <a:ext cx="9144000" cy="297180"/>
          </a:xfrm>
          <a:prstGeom prst="rect">
            <a:avLst/>
          </a:prstGeom>
          <a:solidFill>
            <a:srgbClr val="F1F5F9"/>
          </a:solidFill>
          <a:ln/>
        </p:spPr>
        <p:txBody>
          <a:bodyPr/>
          <a:lstStyle/>
          <a:p>
            <a:endParaRPr lang="en-IN"/>
          </a:p>
        </p:txBody>
      </p:sp>
      <p:sp>
        <p:nvSpPr>
          <p:cNvPr id="23" name="Text 21"/>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4" name="Text 22"/>
          <p:cNvSpPr/>
          <p:nvPr/>
        </p:nvSpPr>
        <p:spPr>
          <a:xfrm>
            <a:off x="7955280" y="484777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1</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Copilot Studio</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Agent Architecture</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Five Core Components of Intelligent Agents</a:t>
            </a:r>
            <a:endParaRPr lang="en-US" sz="1500" dirty="0"/>
          </a:p>
        </p:txBody>
      </p:sp>
      <p:sp>
        <p:nvSpPr>
          <p:cNvPr id="6" name="Shape 4"/>
          <p:cNvSpPr/>
          <p:nvPr/>
        </p:nvSpPr>
        <p:spPr>
          <a:xfrm>
            <a:off x="0" y="4846320"/>
            <a:ext cx="9144000" cy="297180"/>
          </a:xfrm>
          <a:prstGeom prst="rect">
            <a:avLst/>
          </a:prstGeom>
          <a:solidFill>
            <a:srgbClr val="F1F5F9"/>
          </a:solidFill>
          <a:ln/>
        </p:spPr>
        <p:txBody>
          <a:bodyPr/>
          <a:lstStyle/>
          <a:p>
            <a:endParaRPr lang="en-IN"/>
          </a:p>
        </p:txBody>
      </p:sp>
      <p:sp>
        <p:nvSpPr>
          <p:cNvPr id="7" name="Text 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8" name="Text 6"/>
          <p:cNvSpPr/>
          <p:nvPr/>
        </p:nvSpPr>
        <p:spPr>
          <a:xfrm>
            <a:off x="8035109"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Five Core Components</a:t>
            </a:r>
            <a:endParaRPr lang="en-US" sz="3000" dirty="0"/>
          </a:p>
        </p:txBody>
      </p:sp>
      <p:sp>
        <p:nvSpPr>
          <p:cNvPr id="4" name="Shape 2"/>
          <p:cNvSpPr/>
          <p:nvPr/>
        </p:nvSpPr>
        <p:spPr>
          <a:xfrm>
            <a:off x="457200" y="914400"/>
            <a:ext cx="8229600" cy="658368"/>
          </a:xfrm>
          <a:prstGeom prst="rect">
            <a:avLst/>
          </a:prstGeom>
          <a:solidFill>
            <a:srgbClr val="F1F5F9"/>
          </a:solidFill>
          <a:ln/>
        </p:spPr>
        <p:txBody>
          <a:bodyPr/>
          <a:lstStyle/>
          <a:p>
            <a:endParaRPr lang="en-IN"/>
          </a:p>
        </p:txBody>
      </p:sp>
      <p:sp>
        <p:nvSpPr>
          <p:cNvPr id="5" name="Text 3"/>
          <p:cNvSpPr/>
          <p:nvPr/>
        </p:nvSpPr>
        <p:spPr>
          <a:xfrm>
            <a:off x="640080" y="1024128"/>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6" name="Text 4"/>
          <p:cNvSpPr/>
          <p:nvPr/>
        </p:nvSpPr>
        <p:spPr>
          <a:xfrm>
            <a:off x="1234440" y="1051560"/>
            <a:ext cx="2011680" cy="384048"/>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System Prompt</a:t>
            </a:r>
            <a:endParaRPr lang="en-US" sz="1400" dirty="0"/>
          </a:p>
        </p:txBody>
      </p:sp>
      <p:sp>
        <p:nvSpPr>
          <p:cNvPr id="7" name="Text 5"/>
          <p:cNvSpPr/>
          <p:nvPr/>
        </p:nvSpPr>
        <p:spPr>
          <a:xfrm>
            <a:off x="3291840" y="1051560"/>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Instructions that define identity, tone, capabilities, and boundaries</a:t>
            </a:r>
            <a:endParaRPr lang="en-US" sz="1200" dirty="0"/>
          </a:p>
        </p:txBody>
      </p:sp>
      <p:sp>
        <p:nvSpPr>
          <p:cNvPr id="8" name="Shape 6"/>
          <p:cNvSpPr/>
          <p:nvPr/>
        </p:nvSpPr>
        <p:spPr>
          <a:xfrm>
            <a:off x="457200" y="1664208"/>
            <a:ext cx="8229600" cy="658368"/>
          </a:xfrm>
          <a:prstGeom prst="rect">
            <a:avLst/>
          </a:prstGeom>
          <a:solidFill>
            <a:srgbClr val="F1F5F9"/>
          </a:solidFill>
          <a:ln/>
        </p:spPr>
        <p:txBody>
          <a:bodyPr/>
          <a:lstStyle/>
          <a:p>
            <a:endParaRPr lang="en-IN"/>
          </a:p>
        </p:txBody>
      </p:sp>
      <p:sp>
        <p:nvSpPr>
          <p:cNvPr id="9" name="Text 7"/>
          <p:cNvSpPr/>
          <p:nvPr/>
        </p:nvSpPr>
        <p:spPr>
          <a:xfrm>
            <a:off x="640080" y="1773936"/>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0" name="Text 8"/>
          <p:cNvSpPr/>
          <p:nvPr/>
        </p:nvSpPr>
        <p:spPr>
          <a:xfrm>
            <a:off x="1234440" y="1801368"/>
            <a:ext cx="2011680" cy="384048"/>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Topics</a:t>
            </a:r>
            <a:endParaRPr lang="en-US" sz="1400" dirty="0"/>
          </a:p>
        </p:txBody>
      </p:sp>
      <p:sp>
        <p:nvSpPr>
          <p:cNvPr id="11" name="Text 9"/>
          <p:cNvSpPr/>
          <p:nvPr/>
        </p:nvSpPr>
        <p:spPr>
          <a:xfrm>
            <a:off x="3291840" y="1801368"/>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Conversation patterns with triggers, nodes, and branching logic</a:t>
            </a:r>
            <a:endParaRPr lang="en-US" sz="1200" dirty="0"/>
          </a:p>
        </p:txBody>
      </p:sp>
      <p:sp>
        <p:nvSpPr>
          <p:cNvPr id="12" name="Shape 10"/>
          <p:cNvSpPr/>
          <p:nvPr/>
        </p:nvSpPr>
        <p:spPr>
          <a:xfrm>
            <a:off x="457200" y="2414016"/>
            <a:ext cx="8229600" cy="658368"/>
          </a:xfrm>
          <a:prstGeom prst="rect">
            <a:avLst/>
          </a:prstGeom>
          <a:solidFill>
            <a:srgbClr val="F1F5F9"/>
          </a:solidFill>
          <a:ln/>
        </p:spPr>
        <p:txBody>
          <a:bodyPr/>
          <a:lstStyle/>
          <a:p>
            <a:endParaRPr lang="en-IN"/>
          </a:p>
        </p:txBody>
      </p:sp>
      <p:sp>
        <p:nvSpPr>
          <p:cNvPr id="13" name="Text 11"/>
          <p:cNvSpPr/>
          <p:nvPr/>
        </p:nvSpPr>
        <p:spPr>
          <a:xfrm>
            <a:off x="640080" y="2523744"/>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4" name="Text 12"/>
          <p:cNvSpPr/>
          <p:nvPr/>
        </p:nvSpPr>
        <p:spPr>
          <a:xfrm>
            <a:off x="1234440" y="2551176"/>
            <a:ext cx="2011680" cy="384048"/>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Tools</a:t>
            </a:r>
            <a:endParaRPr lang="en-US" sz="1400" dirty="0"/>
          </a:p>
        </p:txBody>
      </p:sp>
      <p:sp>
        <p:nvSpPr>
          <p:cNvPr id="15" name="Text 13"/>
          <p:cNvSpPr/>
          <p:nvPr/>
        </p:nvSpPr>
        <p:spPr>
          <a:xfrm>
            <a:off x="3291840" y="2551176"/>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MCP Server, Power Automate flows, HTTP endpoints for actions</a:t>
            </a:r>
            <a:endParaRPr lang="en-US" sz="1200" dirty="0"/>
          </a:p>
        </p:txBody>
      </p:sp>
      <p:sp>
        <p:nvSpPr>
          <p:cNvPr id="16" name="Shape 14"/>
          <p:cNvSpPr/>
          <p:nvPr/>
        </p:nvSpPr>
        <p:spPr>
          <a:xfrm>
            <a:off x="457200" y="3163824"/>
            <a:ext cx="8229600" cy="658368"/>
          </a:xfrm>
          <a:prstGeom prst="rect">
            <a:avLst/>
          </a:prstGeom>
          <a:solidFill>
            <a:srgbClr val="F1F5F9"/>
          </a:solidFill>
          <a:ln/>
        </p:spPr>
        <p:txBody>
          <a:bodyPr/>
          <a:lstStyle/>
          <a:p>
            <a:endParaRPr lang="en-IN"/>
          </a:p>
        </p:txBody>
      </p:sp>
      <p:sp>
        <p:nvSpPr>
          <p:cNvPr id="17" name="Text 15"/>
          <p:cNvSpPr/>
          <p:nvPr/>
        </p:nvSpPr>
        <p:spPr>
          <a:xfrm>
            <a:off x="640080" y="3273552"/>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18" name="Text 16"/>
          <p:cNvSpPr/>
          <p:nvPr/>
        </p:nvSpPr>
        <p:spPr>
          <a:xfrm>
            <a:off x="1234440" y="3300984"/>
            <a:ext cx="2011680" cy="384048"/>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Knowledge</a:t>
            </a:r>
            <a:endParaRPr lang="en-US" sz="1400" dirty="0"/>
          </a:p>
        </p:txBody>
      </p:sp>
      <p:sp>
        <p:nvSpPr>
          <p:cNvPr id="19" name="Text 17"/>
          <p:cNvSpPr/>
          <p:nvPr/>
        </p:nvSpPr>
        <p:spPr>
          <a:xfrm>
            <a:off x="3291840" y="3300984"/>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Documents, websites, and data sources for information retrieval</a:t>
            </a:r>
            <a:endParaRPr lang="en-US" sz="1200" dirty="0"/>
          </a:p>
        </p:txBody>
      </p:sp>
      <p:sp>
        <p:nvSpPr>
          <p:cNvPr id="20" name="Shape 18"/>
          <p:cNvSpPr/>
          <p:nvPr/>
        </p:nvSpPr>
        <p:spPr>
          <a:xfrm>
            <a:off x="457200" y="3913632"/>
            <a:ext cx="8229600" cy="658368"/>
          </a:xfrm>
          <a:prstGeom prst="rect">
            <a:avLst/>
          </a:prstGeom>
          <a:solidFill>
            <a:srgbClr val="F1F5F9"/>
          </a:solidFill>
          <a:ln/>
        </p:spPr>
        <p:txBody>
          <a:bodyPr/>
          <a:lstStyle/>
          <a:p>
            <a:endParaRPr lang="en-IN"/>
          </a:p>
        </p:txBody>
      </p:sp>
      <p:sp>
        <p:nvSpPr>
          <p:cNvPr id="21" name="Text 19"/>
          <p:cNvSpPr/>
          <p:nvPr/>
        </p:nvSpPr>
        <p:spPr>
          <a:xfrm>
            <a:off x="640080" y="4023360"/>
            <a:ext cx="457200" cy="457200"/>
          </a:xfrm>
          <a:prstGeom prst="rect">
            <a:avLst/>
          </a:prstGeom>
          <a:noFill/>
          <a:ln/>
        </p:spPr>
        <p:txBody>
          <a:bodyPr wrap="square" rtlCol="0" anchor="ctr"/>
          <a:lstStyle/>
          <a:p>
            <a:pPr marL="0" indent="0">
              <a:buNone/>
            </a:pPr>
            <a:r>
              <a:rPr lang="en-US" sz="2000" dirty="0">
                <a:solidFill>
                  <a:srgbClr val="000000"/>
                </a:solidFill>
              </a:rPr>
              <a:t>📱</a:t>
            </a:r>
            <a:endParaRPr lang="en-US" sz="2000" dirty="0"/>
          </a:p>
        </p:txBody>
      </p:sp>
      <p:sp>
        <p:nvSpPr>
          <p:cNvPr id="22" name="Text 20"/>
          <p:cNvSpPr/>
          <p:nvPr/>
        </p:nvSpPr>
        <p:spPr>
          <a:xfrm>
            <a:off x="1234440" y="4050792"/>
            <a:ext cx="2011680" cy="384048"/>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Channels</a:t>
            </a:r>
            <a:endParaRPr lang="en-US" sz="1400" dirty="0"/>
          </a:p>
        </p:txBody>
      </p:sp>
      <p:sp>
        <p:nvSpPr>
          <p:cNvPr id="23" name="Text 21"/>
          <p:cNvSpPr/>
          <p:nvPr/>
        </p:nvSpPr>
        <p:spPr>
          <a:xfrm>
            <a:off x="3291840" y="4050792"/>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Teams, web chat, custom canvas — where users interact</a:t>
            </a:r>
            <a:endParaRPr lang="en-US" sz="1200" dirty="0"/>
          </a:p>
        </p:txBody>
      </p:sp>
      <p:sp>
        <p:nvSpPr>
          <p:cNvPr id="24" name="Shape 22"/>
          <p:cNvSpPr/>
          <p:nvPr/>
        </p:nvSpPr>
        <p:spPr>
          <a:xfrm>
            <a:off x="0" y="4846320"/>
            <a:ext cx="9144000" cy="297180"/>
          </a:xfrm>
          <a:prstGeom prst="rect">
            <a:avLst/>
          </a:prstGeom>
          <a:solidFill>
            <a:srgbClr val="F1F5F9"/>
          </a:solidFill>
          <a:ln/>
        </p:spPr>
        <p:txBody>
          <a:bodyPr/>
          <a:lstStyle/>
          <a:p>
            <a:endParaRPr lang="en-IN"/>
          </a:p>
        </p:txBody>
      </p:sp>
      <p:sp>
        <p:nvSpPr>
          <p:cNvPr id="25" name="Text 2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6" name="Text 24"/>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2</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Generative</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Orchestration</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LLM-Powered Intent Classification &amp; Dynamic Routing</a:t>
            </a:r>
            <a:endParaRPr lang="en-US" sz="1500" dirty="0"/>
          </a:p>
        </p:txBody>
      </p:sp>
      <p:sp>
        <p:nvSpPr>
          <p:cNvPr id="6" name="Shape 4"/>
          <p:cNvSpPr/>
          <p:nvPr/>
        </p:nvSpPr>
        <p:spPr>
          <a:xfrm>
            <a:off x="0" y="4846320"/>
            <a:ext cx="9144000" cy="297180"/>
          </a:xfrm>
          <a:prstGeom prst="rect">
            <a:avLst/>
          </a:prstGeom>
          <a:solidFill>
            <a:srgbClr val="F1F5F9"/>
          </a:solidFill>
          <a:ln/>
        </p:spPr>
        <p:txBody>
          <a:bodyPr/>
          <a:lstStyle/>
          <a:p>
            <a:endParaRPr lang="en-IN"/>
          </a:p>
        </p:txBody>
      </p:sp>
      <p:sp>
        <p:nvSpPr>
          <p:cNvPr id="7" name="Text 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8" name="Text 6"/>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6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How Generative Orchestration Works</a:t>
            </a:r>
            <a:endParaRPr lang="en-US" sz="2800" dirty="0"/>
          </a:p>
        </p:txBody>
      </p:sp>
      <p:sp>
        <p:nvSpPr>
          <p:cNvPr id="4" name="Shape 2"/>
          <p:cNvSpPr/>
          <p:nvPr/>
        </p:nvSpPr>
        <p:spPr>
          <a:xfrm>
            <a:off x="457200" y="914400"/>
            <a:ext cx="8229600" cy="658368"/>
          </a:xfrm>
          <a:prstGeom prst="rect">
            <a:avLst/>
          </a:prstGeom>
          <a:solidFill>
            <a:srgbClr val="F1F5F9"/>
          </a:solidFill>
          <a:ln/>
        </p:spPr>
        <p:txBody>
          <a:bodyPr/>
          <a:lstStyle/>
          <a:p>
            <a:endParaRPr lang="en-IN"/>
          </a:p>
        </p:txBody>
      </p:sp>
      <p:sp>
        <p:nvSpPr>
          <p:cNvPr id="5" name="Shape 3"/>
          <p:cNvSpPr/>
          <p:nvPr/>
        </p:nvSpPr>
        <p:spPr>
          <a:xfrm>
            <a:off x="457200" y="914400"/>
            <a:ext cx="457200" cy="658368"/>
          </a:xfrm>
          <a:prstGeom prst="rect">
            <a:avLst/>
          </a:prstGeom>
          <a:solidFill>
            <a:srgbClr val="0891B2"/>
          </a:solidFill>
          <a:ln/>
        </p:spPr>
        <p:txBody>
          <a:bodyPr/>
          <a:lstStyle/>
          <a:p>
            <a:endParaRPr lang="en-IN"/>
          </a:p>
        </p:txBody>
      </p:sp>
      <p:sp>
        <p:nvSpPr>
          <p:cNvPr id="6" name="Text 4"/>
          <p:cNvSpPr/>
          <p:nvPr/>
        </p:nvSpPr>
        <p:spPr>
          <a:xfrm>
            <a:off x="457200" y="1051560"/>
            <a:ext cx="457200" cy="384048"/>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7" name="Text 5"/>
          <p:cNvSpPr/>
          <p:nvPr/>
        </p:nvSpPr>
        <p:spPr>
          <a:xfrm>
            <a:off x="1051560" y="1024128"/>
            <a:ext cx="2194560" cy="438912"/>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Receive Message</a:t>
            </a:r>
            <a:endParaRPr lang="en-US" sz="1300" dirty="0"/>
          </a:p>
        </p:txBody>
      </p:sp>
      <p:sp>
        <p:nvSpPr>
          <p:cNvPr id="8" name="Text 6"/>
          <p:cNvSpPr/>
          <p:nvPr/>
        </p:nvSpPr>
        <p:spPr>
          <a:xfrm>
            <a:off x="3291840" y="1051560"/>
            <a:ext cx="5120640" cy="384048"/>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User sends a natural language message to the agent</a:t>
            </a:r>
            <a:endParaRPr lang="en-US" sz="1200" dirty="0"/>
          </a:p>
        </p:txBody>
      </p:sp>
      <p:sp>
        <p:nvSpPr>
          <p:cNvPr id="9" name="Shape 7"/>
          <p:cNvSpPr/>
          <p:nvPr/>
        </p:nvSpPr>
        <p:spPr>
          <a:xfrm>
            <a:off x="457200" y="1664208"/>
            <a:ext cx="8229600" cy="658368"/>
          </a:xfrm>
          <a:prstGeom prst="rect">
            <a:avLst/>
          </a:prstGeom>
          <a:solidFill>
            <a:srgbClr val="F1F5F9"/>
          </a:solidFill>
          <a:ln/>
        </p:spPr>
        <p:txBody>
          <a:bodyPr/>
          <a:lstStyle/>
          <a:p>
            <a:endParaRPr lang="en-IN"/>
          </a:p>
        </p:txBody>
      </p:sp>
      <p:sp>
        <p:nvSpPr>
          <p:cNvPr id="10" name="Shape 8"/>
          <p:cNvSpPr/>
          <p:nvPr/>
        </p:nvSpPr>
        <p:spPr>
          <a:xfrm>
            <a:off x="457200" y="1664208"/>
            <a:ext cx="457200" cy="658368"/>
          </a:xfrm>
          <a:prstGeom prst="rect">
            <a:avLst/>
          </a:prstGeom>
          <a:solidFill>
            <a:srgbClr val="0891B2"/>
          </a:solidFill>
          <a:ln/>
        </p:spPr>
        <p:txBody>
          <a:bodyPr/>
          <a:lstStyle/>
          <a:p>
            <a:endParaRPr lang="en-IN"/>
          </a:p>
        </p:txBody>
      </p:sp>
      <p:sp>
        <p:nvSpPr>
          <p:cNvPr id="11" name="Text 9"/>
          <p:cNvSpPr/>
          <p:nvPr/>
        </p:nvSpPr>
        <p:spPr>
          <a:xfrm>
            <a:off x="457200" y="1801368"/>
            <a:ext cx="457200" cy="384048"/>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2" name="Text 10"/>
          <p:cNvSpPr/>
          <p:nvPr/>
        </p:nvSpPr>
        <p:spPr>
          <a:xfrm>
            <a:off x="1051560" y="1773936"/>
            <a:ext cx="2194560" cy="438912"/>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Classify Intent</a:t>
            </a:r>
            <a:endParaRPr lang="en-US" sz="1300" dirty="0"/>
          </a:p>
        </p:txBody>
      </p:sp>
      <p:sp>
        <p:nvSpPr>
          <p:cNvPr id="13" name="Text 11"/>
          <p:cNvSpPr/>
          <p:nvPr/>
        </p:nvSpPr>
        <p:spPr>
          <a:xfrm>
            <a:off x="3291840" y="1801368"/>
            <a:ext cx="5120640" cy="384048"/>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LLM analyzes the message and determines user intent</a:t>
            </a:r>
            <a:endParaRPr lang="en-US" sz="1200" dirty="0"/>
          </a:p>
        </p:txBody>
      </p:sp>
      <p:sp>
        <p:nvSpPr>
          <p:cNvPr id="14" name="Shape 12"/>
          <p:cNvSpPr/>
          <p:nvPr/>
        </p:nvSpPr>
        <p:spPr>
          <a:xfrm>
            <a:off x="457200" y="2414016"/>
            <a:ext cx="8229600" cy="658368"/>
          </a:xfrm>
          <a:prstGeom prst="rect">
            <a:avLst/>
          </a:prstGeom>
          <a:solidFill>
            <a:srgbClr val="F1F5F9"/>
          </a:solidFill>
          <a:ln/>
        </p:spPr>
        <p:txBody>
          <a:bodyPr/>
          <a:lstStyle/>
          <a:p>
            <a:endParaRPr lang="en-IN"/>
          </a:p>
        </p:txBody>
      </p:sp>
      <p:sp>
        <p:nvSpPr>
          <p:cNvPr id="15" name="Shape 13"/>
          <p:cNvSpPr/>
          <p:nvPr/>
        </p:nvSpPr>
        <p:spPr>
          <a:xfrm>
            <a:off x="457200" y="2414016"/>
            <a:ext cx="457200" cy="658368"/>
          </a:xfrm>
          <a:prstGeom prst="rect">
            <a:avLst/>
          </a:prstGeom>
          <a:solidFill>
            <a:srgbClr val="0891B2"/>
          </a:solidFill>
          <a:ln/>
        </p:spPr>
        <p:txBody>
          <a:bodyPr/>
          <a:lstStyle/>
          <a:p>
            <a:endParaRPr lang="en-IN"/>
          </a:p>
        </p:txBody>
      </p:sp>
      <p:sp>
        <p:nvSpPr>
          <p:cNvPr id="16" name="Text 14"/>
          <p:cNvSpPr/>
          <p:nvPr/>
        </p:nvSpPr>
        <p:spPr>
          <a:xfrm>
            <a:off x="457200" y="2551176"/>
            <a:ext cx="457200" cy="384048"/>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7" name="Text 15"/>
          <p:cNvSpPr/>
          <p:nvPr/>
        </p:nvSpPr>
        <p:spPr>
          <a:xfrm>
            <a:off x="1051560" y="2523744"/>
            <a:ext cx="2194560" cy="438912"/>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Match Topic/Tool</a:t>
            </a:r>
            <a:endParaRPr lang="en-US" sz="1300" dirty="0"/>
          </a:p>
        </p:txBody>
      </p:sp>
      <p:sp>
        <p:nvSpPr>
          <p:cNvPr id="18" name="Text 16"/>
          <p:cNvSpPr/>
          <p:nvPr/>
        </p:nvSpPr>
        <p:spPr>
          <a:xfrm>
            <a:off x="3291840" y="2551176"/>
            <a:ext cx="5120640" cy="384048"/>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Orchestration matches intent to topics, tools, or knowledge</a:t>
            </a:r>
            <a:endParaRPr lang="en-US" sz="1200" dirty="0"/>
          </a:p>
        </p:txBody>
      </p:sp>
      <p:sp>
        <p:nvSpPr>
          <p:cNvPr id="19" name="Shape 17"/>
          <p:cNvSpPr/>
          <p:nvPr/>
        </p:nvSpPr>
        <p:spPr>
          <a:xfrm>
            <a:off x="457200" y="3163824"/>
            <a:ext cx="8229600" cy="658368"/>
          </a:xfrm>
          <a:prstGeom prst="rect">
            <a:avLst/>
          </a:prstGeom>
          <a:solidFill>
            <a:srgbClr val="F1F5F9"/>
          </a:solidFill>
          <a:ln/>
        </p:spPr>
        <p:txBody>
          <a:bodyPr/>
          <a:lstStyle/>
          <a:p>
            <a:endParaRPr lang="en-IN"/>
          </a:p>
        </p:txBody>
      </p:sp>
      <p:sp>
        <p:nvSpPr>
          <p:cNvPr id="20" name="Shape 18"/>
          <p:cNvSpPr/>
          <p:nvPr/>
        </p:nvSpPr>
        <p:spPr>
          <a:xfrm>
            <a:off x="457200" y="3163824"/>
            <a:ext cx="457200" cy="658368"/>
          </a:xfrm>
          <a:prstGeom prst="rect">
            <a:avLst/>
          </a:prstGeom>
          <a:solidFill>
            <a:srgbClr val="0891B2"/>
          </a:solidFill>
          <a:ln/>
        </p:spPr>
        <p:txBody>
          <a:bodyPr/>
          <a:lstStyle/>
          <a:p>
            <a:endParaRPr lang="en-IN"/>
          </a:p>
        </p:txBody>
      </p:sp>
      <p:sp>
        <p:nvSpPr>
          <p:cNvPr id="21" name="Text 19"/>
          <p:cNvSpPr/>
          <p:nvPr/>
        </p:nvSpPr>
        <p:spPr>
          <a:xfrm>
            <a:off x="457200" y="3300984"/>
            <a:ext cx="457200" cy="384048"/>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2" name="Text 20"/>
          <p:cNvSpPr/>
          <p:nvPr/>
        </p:nvSpPr>
        <p:spPr>
          <a:xfrm>
            <a:off x="1051560" y="3273552"/>
            <a:ext cx="2194560" cy="438912"/>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Execute Plan</a:t>
            </a:r>
            <a:endParaRPr lang="en-US" sz="1300" dirty="0"/>
          </a:p>
        </p:txBody>
      </p:sp>
      <p:sp>
        <p:nvSpPr>
          <p:cNvPr id="23" name="Text 21"/>
          <p:cNvSpPr/>
          <p:nvPr/>
        </p:nvSpPr>
        <p:spPr>
          <a:xfrm>
            <a:off x="3291840" y="3300984"/>
            <a:ext cx="5120640" cy="384048"/>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Agent calls MCP operations, retrieves knowledge, or runs topic</a:t>
            </a:r>
            <a:endParaRPr lang="en-US" sz="1200" dirty="0"/>
          </a:p>
        </p:txBody>
      </p:sp>
      <p:sp>
        <p:nvSpPr>
          <p:cNvPr id="24" name="Shape 22"/>
          <p:cNvSpPr/>
          <p:nvPr/>
        </p:nvSpPr>
        <p:spPr>
          <a:xfrm>
            <a:off x="457200" y="3913632"/>
            <a:ext cx="8229600" cy="658368"/>
          </a:xfrm>
          <a:prstGeom prst="rect">
            <a:avLst/>
          </a:prstGeom>
          <a:solidFill>
            <a:srgbClr val="F1F5F9"/>
          </a:solidFill>
          <a:ln/>
        </p:spPr>
        <p:txBody>
          <a:bodyPr/>
          <a:lstStyle/>
          <a:p>
            <a:endParaRPr lang="en-IN"/>
          </a:p>
        </p:txBody>
      </p:sp>
      <p:sp>
        <p:nvSpPr>
          <p:cNvPr id="25" name="Shape 23"/>
          <p:cNvSpPr/>
          <p:nvPr/>
        </p:nvSpPr>
        <p:spPr>
          <a:xfrm>
            <a:off x="457200" y="3913632"/>
            <a:ext cx="457200" cy="658368"/>
          </a:xfrm>
          <a:prstGeom prst="rect">
            <a:avLst/>
          </a:prstGeom>
          <a:solidFill>
            <a:srgbClr val="0891B2"/>
          </a:solidFill>
          <a:ln/>
        </p:spPr>
        <p:txBody>
          <a:bodyPr/>
          <a:lstStyle/>
          <a:p>
            <a:endParaRPr lang="en-IN"/>
          </a:p>
        </p:txBody>
      </p:sp>
      <p:sp>
        <p:nvSpPr>
          <p:cNvPr id="26" name="Text 24"/>
          <p:cNvSpPr/>
          <p:nvPr/>
        </p:nvSpPr>
        <p:spPr>
          <a:xfrm>
            <a:off x="457200" y="4050792"/>
            <a:ext cx="457200" cy="384048"/>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27" name="Text 25"/>
          <p:cNvSpPr/>
          <p:nvPr/>
        </p:nvSpPr>
        <p:spPr>
          <a:xfrm>
            <a:off x="1051560" y="4023360"/>
            <a:ext cx="2194560" cy="438912"/>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Compose Response</a:t>
            </a:r>
            <a:endParaRPr lang="en-US" sz="1300" dirty="0"/>
          </a:p>
        </p:txBody>
      </p:sp>
      <p:sp>
        <p:nvSpPr>
          <p:cNvPr id="28" name="Text 26"/>
          <p:cNvSpPr/>
          <p:nvPr/>
        </p:nvSpPr>
        <p:spPr>
          <a:xfrm>
            <a:off x="3291840" y="4050792"/>
            <a:ext cx="5120640" cy="384048"/>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LLM synthesizes results into natural language response</a:t>
            </a:r>
            <a:endParaRPr lang="en-US" sz="120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31" name="Text 29"/>
          <p:cNvSpPr/>
          <p:nvPr/>
        </p:nvSpPr>
        <p:spPr>
          <a:xfrm>
            <a:off x="7955280" y="4869543"/>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Two Orchestration Modes</a:t>
            </a:r>
            <a:endParaRPr lang="en-US" sz="3000" dirty="0"/>
          </a:p>
        </p:txBody>
      </p:sp>
      <p:sp>
        <p:nvSpPr>
          <p:cNvPr id="4" name="Shape 2"/>
          <p:cNvSpPr/>
          <p:nvPr/>
        </p:nvSpPr>
        <p:spPr>
          <a:xfrm>
            <a:off x="640080" y="1097280"/>
            <a:ext cx="3749040" cy="3474720"/>
          </a:xfrm>
          <a:prstGeom prst="rect">
            <a:avLst/>
          </a:prstGeom>
          <a:solidFill>
            <a:srgbClr val="F1F5F9"/>
          </a:solidFill>
          <a:ln/>
        </p:spPr>
        <p:txBody>
          <a:bodyPr/>
          <a:lstStyle/>
          <a:p>
            <a:endParaRPr lang="en-IN"/>
          </a:p>
        </p:txBody>
      </p:sp>
      <p:sp>
        <p:nvSpPr>
          <p:cNvPr id="5" name="Shape 3"/>
          <p:cNvSpPr/>
          <p:nvPr/>
        </p:nvSpPr>
        <p:spPr>
          <a:xfrm>
            <a:off x="640080" y="1097280"/>
            <a:ext cx="3749040" cy="502920"/>
          </a:xfrm>
          <a:prstGeom prst="rect">
            <a:avLst/>
          </a:prstGeom>
          <a:solidFill>
            <a:srgbClr val="FEE2E2"/>
          </a:solidFill>
          <a:ln/>
        </p:spPr>
        <p:txBody>
          <a:bodyPr/>
          <a:lstStyle/>
          <a:p>
            <a:endParaRPr lang="en-IN"/>
          </a:p>
        </p:txBody>
      </p:sp>
      <p:sp>
        <p:nvSpPr>
          <p:cNvPr id="6" name="Text 4"/>
          <p:cNvSpPr/>
          <p:nvPr/>
        </p:nvSpPr>
        <p:spPr>
          <a:xfrm>
            <a:off x="822960" y="1143000"/>
            <a:ext cx="3383280" cy="411480"/>
          </a:xfrm>
          <a:prstGeom prst="rect">
            <a:avLst/>
          </a:prstGeom>
          <a:noFill/>
          <a:ln/>
        </p:spPr>
        <p:txBody>
          <a:bodyPr wrap="square" rtlCol="0" anchor="ctr"/>
          <a:lstStyle/>
          <a:p>
            <a:pPr marL="0" indent="0">
              <a:buNone/>
            </a:pPr>
            <a:r>
              <a:rPr lang="en-US" sz="1400" b="1" dirty="0">
                <a:solidFill>
                  <a:srgbClr val="EF4444"/>
                </a:solidFill>
                <a:latin typeface="Segoe UI" pitchFamily="34" charset="0"/>
                <a:ea typeface="Segoe UI" pitchFamily="34" charset="-122"/>
                <a:cs typeface="Segoe UI" pitchFamily="34" charset="-120"/>
              </a:rPr>
              <a:t>Classic Mode</a:t>
            </a:r>
            <a:endParaRPr lang="en-US" sz="1400" dirty="0"/>
          </a:p>
        </p:txBody>
      </p:sp>
      <p:sp>
        <p:nvSpPr>
          <p:cNvPr id="7" name="Text 5"/>
          <p:cNvSpPr/>
          <p:nvPr/>
        </p:nvSpPr>
        <p:spPr>
          <a:xfrm>
            <a:off x="914400" y="1783080"/>
            <a:ext cx="3200400" cy="41148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  Rule-based trigger matching</a:t>
            </a:r>
            <a:endParaRPr lang="en-US" sz="1200" dirty="0"/>
          </a:p>
        </p:txBody>
      </p:sp>
      <p:sp>
        <p:nvSpPr>
          <p:cNvPr id="8" name="Text 6"/>
          <p:cNvSpPr/>
          <p:nvPr/>
        </p:nvSpPr>
        <p:spPr>
          <a:xfrm>
            <a:off x="914400" y="2286000"/>
            <a:ext cx="3200400" cy="41148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  Requires explicit topic for each intent</a:t>
            </a:r>
            <a:endParaRPr lang="en-US" sz="1200" dirty="0"/>
          </a:p>
        </p:txBody>
      </p:sp>
      <p:sp>
        <p:nvSpPr>
          <p:cNvPr id="9" name="Text 7"/>
          <p:cNvSpPr/>
          <p:nvPr/>
        </p:nvSpPr>
        <p:spPr>
          <a:xfrm>
            <a:off x="914400" y="2788920"/>
            <a:ext cx="3200400" cy="41148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  More predictable routing</a:t>
            </a:r>
            <a:endParaRPr lang="en-US" sz="1200" dirty="0"/>
          </a:p>
        </p:txBody>
      </p:sp>
      <p:sp>
        <p:nvSpPr>
          <p:cNvPr id="10" name="Text 8"/>
          <p:cNvSpPr/>
          <p:nvPr/>
        </p:nvSpPr>
        <p:spPr>
          <a:xfrm>
            <a:off x="914400" y="3291840"/>
            <a:ext cx="3200400" cy="41148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  More development effort</a:t>
            </a:r>
            <a:endParaRPr lang="en-US" sz="1200" dirty="0"/>
          </a:p>
        </p:txBody>
      </p:sp>
      <p:sp>
        <p:nvSpPr>
          <p:cNvPr id="11" name="Text 9"/>
          <p:cNvSpPr/>
          <p:nvPr/>
        </p:nvSpPr>
        <p:spPr>
          <a:xfrm>
            <a:off x="914400" y="3794760"/>
            <a:ext cx="3200400" cy="41148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  Best for: Compliance-heavy scenarios</a:t>
            </a:r>
            <a:endParaRPr lang="en-US" sz="1200" dirty="0"/>
          </a:p>
        </p:txBody>
      </p:sp>
      <p:sp>
        <p:nvSpPr>
          <p:cNvPr id="12" name="Shape 10"/>
          <p:cNvSpPr/>
          <p:nvPr/>
        </p:nvSpPr>
        <p:spPr>
          <a:xfrm>
            <a:off x="4754880" y="1097280"/>
            <a:ext cx="3749040" cy="3474720"/>
          </a:xfrm>
          <a:prstGeom prst="rect">
            <a:avLst/>
          </a:prstGeom>
          <a:solidFill>
            <a:srgbClr val="F1F5F9"/>
          </a:solidFill>
          <a:ln/>
        </p:spPr>
        <p:txBody>
          <a:bodyPr/>
          <a:lstStyle/>
          <a:p>
            <a:endParaRPr lang="en-IN"/>
          </a:p>
        </p:txBody>
      </p:sp>
      <p:sp>
        <p:nvSpPr>
          <p:cNvPr id="13" name="Shape 11"/>
          <p:cNvSpPr/>
          <p:nvPr/>
        </p:nvSpPr>
        <p:spPr>
          <a:xfrm>
            <a:off x="4754880" y="1097280"/>
            <a:ext cx="3749040" cy="502920"/>
          </a:xfrm>
          <a:prstGeom prst="rect">
            <a:avLst/>
          </a:prstGeom>
          <a:solidFill>
            <a:srgbClr val="CFFAFE"/>
          </a:solidFill>
          <a:ln/>
        </p:spPr>
        <p:txBody>
          <a:bodyPr/>
          <a:lstStyle/>
          <a:p>
            <a:endParaRPr lang="en-IN"/>
          </a:p>
        </p:txBody>
      </p:sp>
      <p:sp>
        <p:nvSpPr>
          <p:cNvPr id="14" name="Text 12"/>
          <p:cNvSpPr/>
          <p:nvPr/>
        </p:nvSpPr>
        <p:spPr>
          <a:xfrm>
            <a:off x="4937760" y="1143000"/>
            <a:ext cx="3383280" cy="41148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Generative Mode ✓</a:t>
            </a:r>
            <a:endParaRPr lang="en-US" sz="1400" dirty="0"/>
          </a:p>
        </p:txBody>
      </p:sp>
      <p:sp>
        <p:nvSpPr>
          <p:cNvPr id="15" name="Text 13"/>
          <p:cNvSpPr/>
          <p:nvPr/>
        </p:nvSpPr>
        <p:spPr>
          <a:xfrm>
            <a:off x="5029200" y="1783080"/>
            <a:ext cx="3200400" cy="41148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  LLM classifies intent dynamically</a:t>
            </a:r>
            <a:endParaRPr lang="en-US" sz="1200" dirty="0"/>
          </a:p>
        </p:txBody>
      </p:sp>
      <p:sp>
        <p:nvSpPr>
          <p:cNvPr id="16" name="Text 14"/>
          <p:cNvSpPr/>
          <p:nvPr/>
        </p:nvSpPr>
        <p:spPr>
          <a:xfrm>
            <a:off x="5029200" y="2286000"/>
            <a:ext cx="3200400" cy="41148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  Handles queries without explicit topics</a:t>
            </a:r>
            <a:endParaRPr lang="en-US" sz="1200" dirty="0"/>
          </a:p>
        </p:txBody>
      </p:sp>
      <p:sp>
        <p:nvSpPr>
          <p:cNvPr id="17" name="Text 15"/>
          <p:cNvSpPr/>
          <p:nvPr/>
        </p:nvSpPr>
        <p:spPr>
          <a:xfrm>
            <a:off x="5029200" y="2788920"/>
            <a:ext cx="3200400" cy="41148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  Can use tools (MCP) ad hoc</a:t>
            </a:r>
            <a:endParaRPr lang="en-US" sz="1200" dirty="0"/>
          </a:p>
        </p:txBody>
      </p:sp>
      <p:sp>
        <p:nvSpPr>
          <p:cNvPr id="18" name="Text 16"/>
          <p:cNvSpPr/>
          <p:nvPr/>
        </p:nvSpPr>
        <p:spPr>
          <a:xfrm>
            <a:off x="5029200" y="3291840"/>
            <a:ext cx="3200400" cy="41148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  More flexible, fewer topics needed</a:t>
            </a:r>
            <a:endParaRPr lang="en-US" sz="1200" dirty="0"/>
          </a:p>
        </p:txBody>
      </p:sp>
      <p:sp>
        <p:nvSpPr>
          <p:cNvPr id="19" name="Text 17"/>
          <p:cNvSpPr/>
          <p:nvPr/>
        </p:nvSpPr>
        <p:spPr>
          <a:xfrm>
            <a:off x="5029200" y="3794760"/>
            <a:ext cx="3200400" cy="41148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  Best for: Data agents, Q&amp;A agents</a:t>
            </a:r>
            <a:endParaRPr lang="en-US" sz="1200" dirty="0"/>
          </a:p>
        </p:txBody>
      </p:sp>
      <p:sp>
        <p:nvSpPr>
          <p:cNvPr id="20" name="Shape 18"/>
          <p:cNvSpPr/>
          <p:nvPr/>
        </p:nvSpPr>
        <p:spPr>
          <a:xfrm>
            <a:off x="0" y="4846320"/>
            <a:ext cx="9144000" cy="297180"/>
          </a:xfrm>
          <a:prstGeom prst="rect">
            <a:avLst/>
          </a:prstGeom>
          <a:solidFill>
            <a:srgbClr val="F1F5F9"/>
          </a:solidFill>
          <a:ln/>
        </p:spPr>
        <p:txBody>
          <a:bodyPr/>
          <a:lstStyle/>
          <a:p>
            <a:endParaRPr lang="en-IN"/>
          </a:p>
        </p:txBody>
      </p:sp>
      <p:sp>
        <p:nvSpPr>
          <p:cNvPr id="21" name="Text 1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2" name="Text 20"/>
          <p:cNvSpPr/>
          <p:nvPr/>
        </p:nvSpPr>
        <p:spPr>
          <a:xfrm>
            <a:off x="7955280" y="4856117"/>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8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3</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Dataverse</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MCP Operations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Seven Operations for Complete Data Interaction</a:t>
            </a:r>
            <a:endParaRPr lang="en-US" sz="1500" dirty="0"/>
          </a:p>
        </p:txBody>
      </p:sp>
      <p:sp>
        <p:nvSpPr>
          <p:cNvPr id="6" name="Shape 4"/>
          <p:cNvSpPr/>
          <p:nvPr/>
        </p:nvSpPr>
        <p:spPr>
          <a:xfrm>
            <a:off x="0" y="4846320"/>
            <a:ext cx="9144000" cy="297180"/>
          </a:xfrm>
          <a:prstGeom prst="rect">
            <a:avLst/>
          </a:prstGeom>
          <a:solidFill>
            <a:srgbClr val="F1F5F9"/>
          </a:solidFill>
          <a:ln/>
        </p:spPr>
        <p:txBody>
          <a:bodyPr/>
          <a:lstStyle/>
          <a:p>
            <a:endParaRPr lang="en-IN"/>
          </a:p>
        </p:txBody>
      </p:sp>
      <p:sp>
        <p:nvSpPr>
          <p:cNvPr id="7" name="Text 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8" name="Text 6"/>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The Seven MCP Operations</a:t>
            </a:r>
            <a:endParaRPr lang="en-US" sz="2800" dirty="0"/>
          </a:p>
        </p:txBody>
      </p:sp>
      <p:sp>
        <p:nvSpPr>
          <p:cNvPr id="4" name="Shape 2"/>
          <p:cNvSpPr/>
          <p:nvPr/>
        </p:nvSpPr>
        <p:spPr>
          <a:xfrm>
            <a:off x="457200" y="868680"/>
            <a:ext cx="8229600" cy="475488"/>
          </a:xfrm>
          <a:prstGeom prst="rect">
            <a:avLst/>
          </a:prstGeom>
          <a:solidFill>
            <a:srgbClr val="F1F5F9"/>
          </a:solidFill>
          <a:ln/>
        </p:spPr>
        <p:txBody>
          <a:bodyPr/>
          <a:lstStyle/>
          <a:p>
            <a:endParaRPr lang="en-IN"/>
          </a:p>
        </p:txBody>
      </p:sp>
      <p:sp>
        <p:nvSpPr>
          <p:cNvPr id="5" name="Text 3"/>
          <p:cNvSpPr/>
          <p:nvPr/>
        </p:nvSpPr>
        <p:spPr>
          <a:xfrm>
            <a:off x="640080" y="94183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list_tables</a:t>
            </a:r>
            <a:endParaRPr lang="en-US" sz="1200" dirty="0"/>
          </a:p>
        </p:txBody>
      </p:sp>
      <p:sp>
        <p:nvSpPr>
          <p:cNvPr id="6" name="Text 4"/>
          <p:cNvSpPr/>
          <p:nvPr/>
        </p:nvSpPr>
        <p:spPr>
          <a:xfrm>
            <a:off x="2926080" y="94183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Returns all accessible tables in the environment</a:t>
            </a:r>
            <a:endParaRPr lang="en-US" sz="1100" dirty="0"/>
          </a:p>
        </p:txBody>
      </p:sp>
      <p:sp>
        <p:nvSpPr>
          <p:cNvPr id="7" name="Shape 5"/>
          <p:cNvSpPr/>
          <p:nvPr/>
        </p:nvSpPr>
        <p:spPr>
          <a:xfrm>
            <a:off x="457200" y="1417320"/>
            <a:ext cx="8229600" cy="475488"/>
          </a:xfrm>
          <a:prstGeom prst="rect">
            <a:avLst/>
          </a:prstGeom>
          <a:solidFill>
            <a:srgbClr val="F1F5F9"/>
          </a:solidFill>
          <a:ln/>
        </p:spPr>
        <p:txBody>
          <a:bodyPr/>
          <a:lstStyle/>
          <a:p>
            <a:endParaRPr lang="en-IN"/>
          </a:p>
        </p:txBody>
      </p:sp>
      <p:sp>
        <p:nvSpPr>
          <p:cNvPr id="8" name="Text 6"/>
          <p:cNvSpPr/>
          <p:nvPr/>
        </p:nvSpPr>
        <p:spPr>
          <a:xfrm>
            <a:off x="640080" y="149047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describe_table</a:t>
            </a:r>
            <a:endParaRPr lang="en-US" sz="1200" dirty="0"/>
          </a:p>
        </p:txBody>
      </p:sp>
      <p:sp>
        <p:nvSpPr>
          <p:cNvPr id="9" name="Text 7"/>
          <p:cNvSpPr/>
          <p:nvPr/>
        </p:nvSpPr>
        <p:spPr>
          <a:xfrm>
            <a:off x="2926080" y="149047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Returns column names, types, and constraints for a table</a:t>
            </a:r>
            <a:endParaRPr lang="en-US" sz="1100" dirty="0"/>
          </a:p>
        </p:txBody>
      </p:sp>
      <p:sp>
        <p:nvSpPr>
          <p:cNvPr id="10" name="Shape 8"/>
          <p:cNvSpPr/>
          <p:nvPr/>
        </p:nvSpPr>
        <p:spPr>
          <a:xfrm>
            <a:off x="457200" y="1965960"/>
            <a:ext cx="8229600" cy="475488"/>
          </a:xfrm>
          <a:prstGeom prst="rect">
            <a:avLst/>
          </a:prstGeom>
          <a:solidFill>
            <a:srgbClr val="F1F5F9"/>
          </a:solidFill>
          <a:ln/>
        </p:spPr>
        <p:txBody>
          <a:bodyPr/>
          <a:lstStyle/>
          <a:p>
            <a:endParaRPr lang="en-IN"/>
          </a:p>
        </p:txBody>
      </p:sp>
      <p:sp>
        <p:nvSpPr>
          <p:cNvPr id="11" name="Text 9"/>
          <p:cNvSpPr/>
          <p:nvPr/>
        </p:nvSpPr>
        <p:spPr>
          <a:xfrm>
            <a:off x="640080" y="203911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read_query</a:t>
            </a:r>
            <a:endParaRPr lang="en-US" sz="1200" dirty="0"/>
          </a:p>
        </p:txBody>
      </p:sp>
      <p:sp>
        <p:nvSpPr>
          <p:cNvPr id="12" name="Text 10"/>
          <p:cNvSpPr/>
          <p:nvPr/>
        </p:nvSpPr>
        <p:spPr>
          <a:xfrm>
            <a:off x="2926080" y="203911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Queries records with filters, sorting, and column selection</a:t>
            </a:r>
            <a:endParaRPr lang="en-US" sz="1100" dirty="0"/>
          </a:p>
        </p:txBody>
      </p:sp>
      <p:sp>
        <p:nvSpPr>
          <p:cNvPr id="13" name="Shape 11"/>
          <p:cNvSpPr/>
          <p:nvPr/>
        </p:nvSpPr>
        <p:spPr>
          <a:xfrm>
            <a:off x="457200" y="2514600"/>
            <a:ext cx="8229600" cy="475488"/>
          </a:xfrm>
          <a:prstGeom prst="rect">
            <a:avLst/>
          </a:prstGeom>
          <a:solidFill>
            <a:srgbClr val="F1F5F9"/>
          </a:solidFill>
          <a:ln/>
        </p:spPr>
        <p:txBody>
          <a:bodyPr/>
          <a:lstStyle/>
          <a:p>
            <a:endParaRPr lang="en-IN"/>
          </a:p>
        </p:txBody>
      </p:sp>
      <p:sp>
        <p:nvSpPr>
          <p:cNvPr id="14" name="Text 12"/>
          <p:cNvSpPr/>
          <p:nvPr/>
        </p:nvSpPr>
        <p:spPr>
          <a:xfrm>
            <a:off x="640080" y="258775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create_record</a:t>
            </a:r>
            <a:endParaRPr lang="en-US" sz="1200" dirty="0"/>
          </a:p>
        </p:txBody>
      </p:sp>
      <p:sp>
        <p:nvSpPr>
          <p:cNvPr id="15" name="Text 13"/>
          <p:cNvSpPr/>
          <p:nvPr/>
        </p:nvSpPr>
        <p:spPr>
          <a:xfrm>
            <a:off x="2926080" y="258775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Creates a new record in a specified table</a:t>
            </a:r>
            <a:endParaRPr lang="en-US" sz="1100" dirty="0"/>
          </a:p>
        </p:txBody>
      </p:sp>
      <p:sp>
        <p:nvSpPr>
          <p:cNvPr id="16" name="Shape 14"/>
          <p:cNvSpPr/>
          <p:nvPr/>
        </p:nvSpPr>
        <p:spPr>
          <a:xfrm>
            <a:off x="457200" y="3063240"/>
            <a:ext cx="8229600" cy="475488"/>
          </a:xfrm>
          <a:prstGeom prst="rect">
            <a:avLst/>
          </a:prstGeom>
          <a:solidFill>
            <a:srgbClr val="F1F5F9"/>
          </a:solidFill>
          <a:ln/>
        </p:spPr>
        <p:txBody>
          <a:bodyPr/>
          <a:lstStyle/>
          <a:p>
            <a:endParaRPr lang="en-IN"/>
          </a:p>
        </p:txBody>
      </p:sp>
      <p:sp>
        <p:nvSpPr>
          <p:cNvPr id="17" name="Text 15"/>
          <p:cNvSpPr/>
          <p:nvPr/>
        </p:nvSpPr>
        <p:spPr>
          <a:xfrm>
            <a:off x="640080" y="313639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update_record</a:t>
            </a:r>
            <a:endParaRPr lang="en-US" sz="1200" dirty="0"/>
          </a:p>
        </p:txBody>
      </p:sp>
      <p:sp>
        <p:nvSpPr>
          <p:cNvPr id="18" name="Text 16"/>
          <p:cNvSpPr/>
          <p:nvPr/>
        </p:nvSpPr>
        <p:spPr>
          <a:xfrm>
            <a:off x="2926080" y="313639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Updates an existing record by ID</a:t>
            </a:r>
            <a:endParaRPr lang="en-US" sz="1100" dirty="0"/>
          </a:p>
        </p:txBody>
      </p:sp>
      <p:sp>
        <p:nvSpPr>
          <p:cNvPr id="19" name="Shape 17"/>
          <p:cNvSpPr/>
          <p:nvPr/>
        </p:nvSpPr>
        <p:spPr>
          <a:xfrm>
            <a:off x="457200" y="3611880"/>
            <a:ext cx="8229600" cy="475488"/>
          </a:xfrm>
          <a:prstGeom prst="rect">
            <a:avLst/>
          </a:prstGeom>
          <a:solidFill>
            <a:srgbClr val="F1F5F9"/>
          </a:solidFill>
          <a:ln/>
        </p:spPr>
        <p:txBody>
          <a:bodyPr/>
          <a:lstStyle/>
          <a:p>
            <a:endParaRPr lang="en-IN"/>
          </a:p>
        </p:txBody>
      </p:sp>
      <p:sp>
        <p:nvSpPr>
          <p:cNvPr id="20" name="Text 18"/>
          <p:cNvSpPr/>
          <p:nvPr/>
        </p:nvSpPr>
        <p:spPr>
          <a:xfrm>
            <a:off x="640080" y="368503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delete_record</a:t>
            </a:r>
            <a:endParaRPr lang="en-US" sz="1200" dirty="0"/>
          </a:p>
        </p:txBody>
      </p:sp>
      <p:sp>
        <p:nvSpPr>
          <p:cNvPr id="21" name="Text 19"/>
          <p:cNvSpPr/>
          <p:nvPr/>
        </p:nvSpPr>
        <p:spPr>
          <a:xfrm>
            <a:off x="2926080" y="368503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Deletes a record by ID (soft or hard delete)</a:t>
            </a:r>
            <a:endParaRPr lang="en-US" sz="1100" dirty="0"/>
          </a:p>
        </p:txBody>
      </p:sp>
      <p:sp>
        <p:nvSpPr>
          <p:cNvPr id="22" name="Shape 20"/>
          <p:cNvSpPr/>
          <p:nvPr/>
        </p:nvSpPr>
        <p:spPr>
          <a:xfrm>
            <a:off x="457200" y="4160520"/>
            <a:ext cx="8229600" cy="475488"/>
          </a:xfrm>
          <a:prstGeom prst="rect">
            <a:avLst/>
          </a:prstGeom>
          <a:solidFill>
            <a:srgbClr val="F1F5F9"/>
          </a:solidFill>
          <a:ln/>
        </p:spPr>
        <p:txBody>
          <a:bodyPr/>
          <a:lstStyle/>
          <a:p>
            <a:endParaRPr lang="en-IN"/>
          </a:p>
        </p:txBody>
      </p:sp>
      <p:sp>
        <p:nvSpPr>
          <p:cNvPr id="23" name="Text 21"/>
          <p:cNvSpPr/>
          <p:nvPr/>
        </p:nvSpPr>
        <p:spPr>
          <a:xfrm>
            <a:off x="640080" y="4233672"/>
            <a:ext cx="2194560" cy="329184"/>
          </a:xfrm>
          <a:prstGeom prst="rect">
            <a:avLst/>
          </a:prstGeom>
          <a:noFill/>
          <a:ln/>
        </p:spPr>
        <p:txBody>
          <a:bodyPr wrap="square"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search_knowledge</a:t>
            </a:r>
            <a:endParaRPr lang="en-US" sz="1200" dirty="0"/>
          </a:p>
        </p:txBody>
      </p:sp>
      <p:sp>
        <p:nvSpPr>
          <p:cNvPr id="24" name="Text 22"/>
          <p:cNvSpPr/>
          <p:nvPr/>
        </p:nvSpPr>
        <p:spPr>
          <a:xfrm>
            <a:off x="2926080" y="4233672"/>
            <a:ext cx="557784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Searches Dataverse knowledge articles and documents</a:t>
            </a:r>
            <a:endParaRPr lang="en-US" sz="110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7" name="Text 25"/>
          <p:cNvSpPr/>
          <p:nvPr/>
        </p:nvSpPr>
        <p:spPr>
          <a:xfrm>
            <a:off x="7955280" y="4856117"/>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10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Schema-Driven Reasoning</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300" dirty="0">
                <a:solidFill>
                  <a:srgbClr val="475569"/>
                </a:solidFill>
                <a:latin typeface="Segoe UI" pitchFamily="34" charset="0"/>
                <a:ea typeface="Segoe UI" pitchFamily="34" charset="-122"/>
                <a:cs typeface="Segoe UI" pitchFamily="34" charset="-120"/>
              </a:rPr>
              <a:t>The critical pattern: Agent learns table structure before querying</a:t>
            </a:r>
            <a:endParaRPr lang="en-US" sz="1300" dirty="0"/>
          </a:p>
        </p:txBody>
      </p:sp>
      <p:sp>
        <p:nvSpPr>
          <p:cNvPr id="5" name="Shape 3"/>
          <p:cNvSpPr/>
          <p:nvPr/>
        </p:nvSpPr>
        <p:spPr>
          <a:xfrm>
            <a:off x="457200" y="1234440"/>
            <a:ext cx="8229600" cy="566928"/>
          </a:xfrm>
          <a:prstGeom prst="rect">
            <a:avLst/>
          </a:prstGeom>
          <a:solidFill>
            <a:srgbClr val="F1F5F9"/>
          </a:solidFill>
          <a:ln/>
        </p:spPr>
        <p:txBody>
          <a:bodyPr/>
          <a:lstStyle/>
          <a:p>
            <a:endParaRPr lang="en-IN"/>
          </a:p>
        </p:txBody>
      </p:sp>
      <p:sp>
        <p:nvSpPr>
          <p:cNvPr id="6" name="Shape 4"/>
          <p:cNvSpPr/>
          <p:nvPr/>
        </p:nvSpPr>
        <p:spPr>
          <a:xfrm>
            <a:off x="457200" y="1234440"/>
            <a:ext cx="411480" cy="566928"/>
          </a:xfrm>
          <a:prstGeom prst="rect">
            <a:avLst/>
          </a:prstGeom>
          <a:solidFill>
            <a:srgbClr val="0891B2"/>
          </a:solidFill>
          <a:ln/>
        </p:spPr>
        <p:txBody>
          <a:bodyPr/>
          <a:lstStyle/>
          <a:p>
            <a:endParaRPr lang="en-IN"/>
          </a:p>
        </p:txBody>
      </p:sp>
      <p:sp>
        <p:nvSpPr>
          <p:cNvPr id="7" name="Text 5"/>
          <p:cNvSpPr/>
          <p:nvPr/>
        </p:nvSpPr>
        <p:spPr>
          <a:xfrm>
            <a:off x="457200" y="1344168"/>
            <a:ext cx="411480" cy="34747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8" name="Text 6"/>
          <p:cNvSpPr/>
          <p:nvPr/>
        </p:nvSpPr>
        <p:spPr>
          <a:xfrm>
            <a:off x="1005840" y="1344168"/>
            <a:ext cx="1645920" cy="347472"/>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User asks:</a:t>
            </a:r>
            <a:endParaRPr lang="en-US" sz="1100" dirty="0"/>
          </a:p>
        </p:txBody>
      </p:sp>
      <p:sp>
        <p:nvSpPr>
          <p:cNvPr id="9" name="Text 7"/>
          <p:cNvSpPr/>
          <p:nvPr/>
        </p:nvSpPr>
        <p:spPr>
          <a:xfrm>
            <a:off x="2743200" y="1344168"/>
            <a:ext cx="5760720" cy="347472"/>
          </a:xfrm>
          <a:prstGeom prst="rect">
            <a:avLst/>
          </a:prstGeom>
          <a:noFill/>
          <a:ln/>
        </p:spPr>
        <p:txBody>
          <a:bodyPr wrap="square" rtlCol="0" anchor="ctr"/>
          <a:lstStyle/>
          <a:p>
            <a:pPr marL="0" indent="0">
              <a:buNone/>
            </a:pPr>
            <a:r>
              <a:rPr lang="en-US" sz="1100" dirty="0">
                <a:solidFill>
                  <a:srgbClr val="475569"/>
                </a:solidFill>
                <a:latin typeface="Consolas" pitchFamily="34" charset="0"/>
                <a:ea typeface="Consolas" pitchFamily="34" charset="-122"/>
                <a:cs typeface="Consolas" pitchFamily="34" charset="-120"/>
              </a:rPr>
              <a:t>"Show me claims above ₹5 lakhs"</a:t>
            </a:r>
            <a:endParaRPr lang="en-US" sz="1100" dirty="0"/>
          </a:p>
        </p:txBody>
      </p:sp>
      <p:sp>
        <p:nvSpPr>
          <p:cNvPr id="10" name="Shape 8"/>
          <p:cNvSpPr/>
          <p:nvPr/>
        </p:nvSpPr>
        <p:spPr>
          <a:xfrm>
            <a:off x="457200" y="1892808"/>
            <a:ext cx="8229600" cy="566928"/>
          </a:xfrm>
          <a:prstGeom prst="rect">
            <a:avLst/>
          </a:prstGeom>
          <a:solidFill>
            <a:srgbClr val="F1F5F9"/>
          </a:solidFill>
          <a:ln/>
        </p:spPr>
        <p:txBody>
          <a:bodyPr/>
          <a:lstStyle/>
          <a:p>
            <a:endParaRPr lang="en-IN"/>
          </a:p>
        </p:txBody>
      </p:sp>
      <p:sp>
        <p:nvSpPr>
          <p:cNvPr id="11" name="Shape 9"/>
          <p:cNvSpPr/>
          <p:nvPr/>
        </p:nvSpPr>
        <p:spPr>
          <a:xfrm>
            <a:off x="457200" y="1892808"/>
            <a:ext cx="411480" cy="566928"/>
          </a:xfrm>
          <a:prstGeom prst="rect">
            <a:avLst/>
          </a:prstGeom>
          <a:solidFill>
            <a:srgbClr val="0891B2"/>
          </a:solidFill>
          <a:ln/>
        </p:spPr>
        <p:txBody>
          <a:bodyPr/>
          <a:lstStyle/>
          <a:p>
            <a:endParaRPr lang="en-IN"/>
          </a:p>
        </p:txBody>
      </p:sp>
      <p:sp>
        <p:nvSpPr>
          <p:cNvPr id="12" name="Text 10"/>
          <p:cNvSpPr/>
          <p:nvPr/>
        </p:nvSpPr>
        <p:spPr>
          <a:xfrm>
            <a:off x="457200" y="2002536"/>
            <a:ext cx="411480" cy="34747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3" name="Text 11"/>
          <p:cNvSpPr/>
          <p:nvPr/>
        </p:nvSpPr>
        <p:spPr>
          <a:xfrm>
            <a:off x="1005840" y="2002536"/>
            <a:ext cx="1645920" cy="347472"/>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calls:</a:t>
            </a:r>
            <a:endParaRPr lang="en-US" sz="1100" dirty="0"/>
          </a:p>
        </p:txBody>
      </p:sp>
      <p:sp>
        <p:nvSpPr>
          <p:cNvPr id="14" name="Text 12"/>
          <p:cNvSpPr/>
          <p:nvPr/>
        </p:nvSpPr>
        <p:spPr>
          <a:xfrm>
            <a:off x="2743200" y="2002536"/>
            <a:ext cx="5760720" cy="347472"/>
          </a:xfrm>
          <a:prstGeom prst="rect">
            <a:avLst/>
          </a:prstGeom>
          <a:noFill/>
          <a:ln/>
        </p:spPr>
        <p:txBody>
          <a:bodyPr wrap="square" rtlCol="0" anchor="ctr"/>
          <a:lstStyle/>
          <a:p>
            <a:pPr marL="0" indent="0">
              <a:buNone/>
            </a:pPr>
            <a:r>
              <a:rPr lang="en-US" sz="1100" dirty="0">
                <a:solidFill>
                  <a:srgbClr val="475569"/>
                </a:solidFill>
                <a:latin typeface="Consolas" pitchFamily="34" charset="0"/>
                <a:ea typeface="Consolas" pitchFamily="34" charset="-122"/>
                <a:cs typeface="Consolas" pitchFamily="34" charset="-120"/>
              </a:rPr>
              <a:t>describe_table("Contoso_Claims")</a:t>
            </a:r>
            <a:endParaRPr lang="en-US" sz="1100" dirty="0"/>
          </a:p>
        </p:txBody>
      </p:sp>
      <p:sp>
        <p:nvSpPr>
          <p:cNvPr id="15" name="Shape 13"/>
          <p:cNvSpPr/>
          <p:nvPr/>
        </p:nvSpPr>
        <p:spPr>
          <a:xfrm>
            <a:off x="457200" y="2551176"/>
            <a:ext cx="8229600" cy="566928"/>
          </a:xfrm>
          <a:prstGeom prst="rect">
            <a:avLst/>
          </a:prstGeom>
          <a:solidFill>
            <a:srgbClr val="F1F5F9"/>
          </a:solidFill>
          <a:ln/>
        </p:spPr>
        <p:txBody>
          <a:bodyPr/>
          <a:lstStyle/>
          <a:p>
            <a:endParaRPr lang="en-IN"/>
          </a:p>
        </p:txBody>
      </p:sp>
      <p:sp>
        <p:nvSpPr>
          <p:cNvPr id="16" name="Shape 14"/>
          <p:cNvSpPr/>
          <p:nvPr/>
        </p:nvSpPr>
        <p:spPr>
          <a:xfrm>
            <a:off x="457200" y="2551176"/>
            <a:ext cx="411480" cy="566928"/>
          </a:xfrm>
          <a:prstGeom prst="rect">
            <a:avLst/>
          </a:prstGeom>
          <a:solidFill>
            <a:srgbClr val="0891B2"/>
          </a:solidFill>
          <a:ln/>
        </p:spPr>
        <p:txBody>
          <a:bodyPr/>
          <a:lstStyle/>
          <a:p>
            <a:endParaRPr lang="en-IN"/>
          </a:p>
        </p:txBody>
      </p:sp>
      <p:sp>
        <p:nvSpPr>
          <p:cNvPr id="17" name="Text 15"/>
          <p:cNvSpPr/>
          <p:nvPr/>
        </p:nvSpPr>
        <p:spPr>
          <a:xfrm>
            <a:off x="457200" y="2660904"/>
            <a:ext cx="411480" cy="34747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8" name="Text 16"/>
          <p:cNvSpPr/>
          <p:nvPr/>
        </p:nvSpPr>
        <p:spPr>
          <a:xfrm>
            <a:off x="1005840" y="2660904"/>
            <a:ext cx="1645920" cy="347472"/>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learns:</a:t>
            </a:r>
            <a:endParaRPr lang="en-US" sz="1100" dirty="0"/>
          </a:p>
        </p:txBody>
      </p:sp>
      <p:sp>
        <p:nvSpPr>
          <p:cNvPr id="19" name="Text 17"/>
          <p:cNvSpPr/>
          <p:nvPr/>
        </p:nvSpPr>
        <p:spPr>
          <a:xfrm>
            <a:off x="2743200" y="2660904"/>
            <a:ext cx="5760720" cy="347472"/>
          </a:xfrm>
          <a:prstGeom prst="rect">
            <a:avLst/>
          </a:prstGeom>
          <a:noFill/>
          <a:ln/>
        </p:spPr>
        <p:txBody>
          <a:bodyPr wrap="square" rtlCol="0" anchor="ctr"/>
          <a:lstStyle/>
          <a:p>
            <a:pPr marL="0" indent="0">
              <a:buNone/>
            </a:pPr>
            <a:r>
              <a:rPr lang="en-US" sz="1100" dirty="0">
                <a:solidFill>
                  <a:srgbClr val="475569"/>
                </a:solidFill>
                <a:latin typeface="Consolas" pitchFamily="34" charset="0"/>
                <a:ea typeface="Consolas" pitchFamily="34" charset="-122"/>
                <a:cs typeface="Consolas" pitchFamily="34" charset="-120"/>
              </a:rPr>
              <a:t>Columns: claim_amount (currency), status (option set), etc.</a:t>
            </a:r>
            <a:endParaRPr lang="en-US" sz="1100" dirty="0"/>
          </a:p>
        </p:txBody>
      </p:sp>
      <p:sp>
        <p:nvSpPr>
          <p:cNvPr id="20" name="Shape 18"/>
          <p:cNvSpPr/>
          <p:nvPr/>
        </p:nvSpPr>
        <p:spPr>
          <a:xfrm>
            <a:off x="457200" y="3209544"/>
            <a:ext cx="8229600" cy="566928"/>
          </a:xfrm>
          <a:prstGeom prst="rect">
            <a:avLst/>
          </a:prstGeom>
          <a:solidFill>
            <a:srgbClr val="F1F5F9"/>
          </a:solidFill>
          <a:ln/>
        </p:spPr>
        <p:txBody>
          <a:bodyPr/>
          <a:lstStyle/>
          <a:p>
            <a:endParaRPr lang="en-IN"/>
          </a:p>
        </p:txBody>
      </p:sp>
      <p:sp>
        <p:nvSpPr>
          <p:cNvPr id="21" name="Shape 19"/>
          <p:cNvSpPr/>
          <p:nvPr/>
        </p:nvSpPr>
        <p:spPr>
          <a:xfrm>
            <a:off x="457200" y="3209544"/>
            <a:ext cx="411480" cy="566928"/>
          </a:xfrm>
          <a:prstGeom prst="rect">
            <a:avLst/>
          </a:prstGeom>
          <a:solidFill>
            <a:srgbClr val="0891B2"/>
          </a:solidFill>
          <a:ln/>
        </p:spPr>
        <p:txBody>
          <a:bodyPr/>
          <a:lstStyle/>
          <a:p>
            <a:endParaRPr lang="en-IN"/>
          </a:p>
        </p:txBody>
      </p:sp>
      <p:sp>
        <p:nvSpPr>
          <p:cNvPr id="22" name="Text 20"/>
          <p:cNvSpPr/>
          <p:nvPr/>
        </p:nvSpPr>
        <p:spPr>
          <a:xfrm>
            <a:off x="457200" y="3319272"/>
            <a:ext cx="411480" cy="34747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3" name="Text 21"/>
          <p:cNvSpPr/>
          <p:nvPr/>
        </p:nvSpPr>
        <p:spPr>
          <a:xfrm>
            <a:off x="1005840" y="3319272"/>
            <a:ext cx="1645920" cy="347472"/>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constructs:</a:t>
            </a:r>
            <a:endParaRPr lang="en-US" sz="1100" dirty="0"/>
          </a:p>
        </p:txBody>
      </p:sp>
      <p:sp>
        <p:nvSpPr>
          <p:cNvPr id="24" name="Text 22"/>
          <p:cNvSpPr/>
          <p:nvPr/>
        </p:nvSpPr>
        <p:spPr>
          <a:xfrm>
            <a:off x="2743200" y="3319272"/>
            <a:ext cx="5760720" cy="347472"/>
          </a:xfrm>
          <a:prstGeom prst="rect">
            <a:avLst/>
          </a:prstGeom>
          <a:noFill/>
          <a:ln/>
        </p:spPr>
        <p:txBody>
          <a:bodyPr wrap="square" rtlCol="0" anchor="ctr"/>
          <a:lstStyle/>
          <a:p>
            <a:pPr marL="0" indent="0">
              <a:buNone/>
            </a:pPr>
            <a:r>
              <a:rPr lang="en-US" sz="1100" dirty="0">
                <a:solidFill>
                  <a:srgbClr val="475569"/>
                </a:solidFill>
                <a:latin typeface="Consolas" pitchFamily="34" charset="0"/>
                <a:ea typeface="Consolas" pitchFamily="34" charset="-122"/>
                <a:cs typeface="Consolas" pitchFamily="34" charset="-120"/>
              </a:rPr>
              <a:t>read_query with filter: claim_amount &gt; 500000</a:t>
            </a:r>
            <a:endParaRPr lang="en-US" sz="1100" dirty="0"/>
          </a:p>
        </p:txBody>
      </p:sp>
      <p:sp>
        <p:nvSpPr>
          <p:cNvPr id="25" name="Shape 23"/>
          <p:cNvSpPr/>
          <p:nvPr/>
        </p:nvSpPr>
        <p:spPr>
          <a:xfrm>
            <a:off x="457200" y="3867912"/>
            <a:ext cx="8229600" cy="566928"/>
          </a:xfrm>
          <a:prstGeom prst="rect">
            <a:avLst/>
          </a:prstGeom>
          <a:solidFill>
            <a:srgbClr val="F1F5F9"/>
          </a:solidFill>
          <a:ln/>
        </p:spPr>
        <p:txBody>
          <a:bodyPr/>
          <a:lstStyle/>
          <a:p>
            <a:endParaRPr lang="en-IN"/>
          </a:p>
        </p:txBody>
      </p:sp>
      <p:sp>
        <p:nvSpPr>
          <p:cNvPr id="26" name="Shape 24"/>
          <p:cNvSpPr/>
          <p:nvPr/>
        </p:nvSpPr>
        <p:spPr>
          <a:xfrm>
            <a:off x="457200" y="3867912"/>
            <a:ext cx="411480" cy="566928"/>
          </a:xfrm>
          <a:prstGeom prst="rect">
            <a:avLst/>
          </a:prstGeom>
          <a:solidFill>
            <a:srgbClr val="0891B2"/>
          </a:solidFill>
          <a:ln/>
        </p:spPr>
        <p:txBody>
          <a:bodyPr/>
          <a:lstStyle/>
          <a:p>
            <a:endParaRPr lang="en-IN"/>
          </a:p>
        </p:txBody>
      </p:sp>
      <p:sp>
        <p:nvSpPr>
          <p:cNvPr id="27" name="Text 25"/>
          <p:cNvSpPr/>
          <p:nvPr/>
        </p:nvSpPr>
        <p:spPr>
          <a:xfrm>
            <a:off x="457200" y="3977640"/>
            <a:ext cx="411480" cy="34747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8" name="Text 26"/>
          <p:cNvSpPr/>
          <p:nvPr/>
        </p:nvSpPr>
        <p:spPr>
          <a:xfrm>
            <a:off x="1005840" y="3977640"/>
            <a:ext cx="1645920" cy="347472"/>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returns:</a:t>
            </a:r>
            <a:endParaRPr lang="en-US" sz="1100" dirty="0"/>
          </a:p>
        </p:txBody>
      </p:sp>
      <p:sp>
        <p:nvSpPr>
          <p:cNvPr id="29" name="Text 27"/>
          <p:cNvSpPr/>
          <p:nvPr/>
        </p:nvSpPr>
        <p:spPr>
          <a:xfrm>
            <a:off x="2743200" y="3977640"/>
            <a:ext cx="5760720" cy="347472"/>
          </a:xfrm>
          <a:prstGeom prst="rect">
            <a:avLst/>
          </a:prstGeom>
          <a:noFill/>
          <a:ln/>
        </p:spPr>
        <p:txBody>
          <a:bodyPr wrap="square" rtlCol="0" anchor="ctr"/>
          <a:lstStyle/>
          <a:p>
            <a:pPr marL="0" indent="0">
              <a:buNone/>
            </a:pPr>
            <a:r>
              <a:rPr lang="en-US" sz="1100" dirty="0">
                <a:solidFill>
                  <a:srgbClr val="475569"/>
                </a:solidFill>
                <a:latin typeface="Consolas" pitchFamily="34" charset="0"/>
                <a:ea typeface="Consolas" pitchFamily="34" charset="-122"/>
                <a:cs typeface="Consolas" pitchFamily="34" charset="-120"/>
              </a:rPr>
              <a:t>Natural language response with matching records</a:t>
            </a:r>
            <a:endParaRPr lang="en-US" sz="1100" dirty="0"/>
          </a:p>
        </p:txBody>
      </p:sp>
      <p:sp>
        <p:nvSpPr>
          <p:cNvPr id="30" name="Shape 28"/>
          <p:cNvSpPr/>
          <p:nvPr/>
        </p:nvSpPr>
        <p:spPr>
          <a:xfrm>
            <a:off x="0" y="4846320"/>
            <a:ext cx="9144000" cy="297180"/>
          </a:xfrm>
          <a:prstGeom prst="rect">
            <a:avLst/>
          </a:prstGeom>
          <a:solidFill>
            <a:srgbClr val="F1F5F9"/>
          </a:solidFill>
          <a:ln/>
        </p:spPr>
        <p:txBody>
          <a:bodyPr/>
          <a:lstStyle/>
          <a:p>
            <a:endParaRPr lang="en-IN"/>
          </a:p>
        </p:txBody>
      </p:sp>
      <p:sp>
        <p:nvSpPr>
          <p:cNvPr id="31" name="Text 2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32" name="Text 30"/>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4</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Knowledge</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Sources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Beyond Structured Data — Documents, Websites &amp; More</a:t>
            </a:r>
            <a:endParaRPr lang="en-US" sz="1500" dirty="0"/>
          </a:p>
        </p:txBody>
      </p:sp>
      <p:sp>
        <p:nvSpPr>
          <p:cNvPr id="6" name="Shape 4"/>
          <p:cNvSpPr/>
          <p:nvPr/>
        </p:nvSpPr>
        <p:spPr>
          <a:xfrm>
            <a:off x="0" y="4846320"/>
            <a:ext cx="9144000" cy="297180"/>
          </a:xfrm>
          <a:prstGeom prst="rect">
            <a:avLst/>
          </a:prstGeom>
          <a:solidFill>
            <a:srgbClr val="F1F5F9"/>
          </a:solidFill>
          <a:ln/>
        </p:spPr>
        <p:txBody>
          <a:bodyPr/>
          <a:lstStyle/>
          <a:p>
            <a:endParaRPr lang="en-IN"/>
          </a:p>
        </p:txBody>
      </p:sp>
      <p:sp>
        <p:nvSpPr>
          <p:cNvPr id="7" name="Text 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8" name="Text 6"/>
          <p:cNvSpPr/>
          <p:nvPr/>
        </p:nvSpPr>
        <p:spPr>
          <a:xfrm>
            <a:off x="7955280" y="489131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Supported Knowledge Sources</a:t>
            </a:r>
            <a:endParaRPr lang="en-US" sz="3000" dirty="0"/>
          </a:p>
        </p:txBody>
      </p:sp>
      <p:sp>
        <p:nvSpPr>
          <p:cNvPr id="4" name="Shape 2"/>
          <p:cNvSpPr/>
          <p:nvPr/>
        </p:nvSpPr>
        <p:spPr>
          <a:xfrm>
            <a:off x="457200" y="914400"/>
            <a:ext cx="8229600" cy="658368"/>
          </a:xfrm>
          <a:prstGeom prst="rect">
            <a:avLst/>
          </a:prstGeom>
          <a:solidFill>
            <a:srgbClr val="F1F5F9"/>
          </a:solidFill>
          <a:ln/>
        </p:spPr>
        <p:txBody>
          <a:bodyPr/>
          <a:lstStyle/>
          <a:p>
            <a:endParaRPr lang="en-IN"/>
          </a:p>
        </p:txBody>
      </p:sp>
      <p:sp>
        <p:nvSpPr>
          <p:cNvPr id="5" name="Text 3"/>
          <p:cNvSpPr/>
          <p:nvPr/>
        </p:nvSpPr>
        <p:spPr>
          <a:xfrm>
            <a:off x="640080" y="1024128"/>
            <a:ext cx="457200" cy="45720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6" name="Text 4"/>
          <p:cNvSpPr/>
          <p:nvPr/>
        </p:nvSpPr>
        <p:spPr>
          <a:xfrm>
            <a:off x="1234440" y="1051560"/>
            <a:ext cx="2103120" cy="384048"/>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Dataverse Tables</a:t>
            </a:r>
            <a:endParaRPr lang="en-US" sz="1300" dirty="0"/>
          </a:p>
        </p:txBody>
      </p:sp>
      <p:sp>
        <p:nvSpPr>
          <p:cNvPr id="7" name="Text 5"/>
          <p:cNvSpPr/>
          <p:nvPr/>
        </p:nvSpPr>
        <p:spPr>
          <a:xfrm>
            <a:off x="3383280" y="1051560"/>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Structured data with automatic schema understanding</a:t>
            </a:r>
            <a:endParaRPr lang="en-US" sz="1200" dirty="0"/>
          </a:p>
        </p:txBody>
      </p:sp>
      <p:sp>
        <p:nvSpPr>
          <p:cNvPr id="8" name="Shape 6"/>
          <p:cNvSpPr/>
          <p:nvPr/>
        </p:nvSpPr>
        <p:spPr>
          <a:xfrm>
            <a:off x="457200" y="1664208"/>
            <a:ext cx="8229600" cy="658368"/>
          </a:xfrm>
          <a:prstGeom prst="rect">
            <a:avLst/>
          </a:prstGeom>
          <a:solidFill>
            <a:srgbClr val="F1F5F9"/>
          </a:solidFill>
          <a:ln/>
        </p:spPr>
        <p:txBody>
          <a:bodyPr/>
          <a:lstStyle/>
          <a:p>
            <a:endParaRPr lang="en-IN"/>
          </a:p>
        </p:txBody>
      </p:sp>
      <p:sp>
        <p:nvSpPr>
          <p:cNvPr id="9" name="Text 7"/>
          <p:cNvSpPr/>
          <p:nvPr/>
        </p:nvSpPr>
        <p:spPr>
          <a:xfrm>
            <a:off x="640080" y="1773936"/>
            <a:ext cx="457200" cy="45720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0" name="Text 8"/>
          <p:cNvSpPr/>
          <p:nvPr/>
        </p:nvSpPr>
        <p:spPr>
          <a:xfrm>
            <a:off x="1234440" y="1801368"/>
            <a:ext cx="2103120" cy="384048"/>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PDF Documents</a:t>
            </a:r>
            <a:endParaRPr lang="en-US" sz="1300" dirty="0"/>
          </a:p>
        </p:txBody>
      </p:sp>
      <p:sp>
        <p:nvSpPr>
          <p:cNvPr id="11" name="Text 9"/>
          <p:cNvSpPr/>
          <p:nvPr/>
        </p:nvSpPr>
        <p:spPr>
          <a:xfrm>
            <a:off x="3383280" y="1801368"/>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Uploaded or linked policy documents and guides</a:t>
            </a:r>
            <a:endParaRPr lang="en-US" sz="1200" dirty="0"/>
          </a:p>
        </p:txBody>
      </p:sp>
      <p:sp>
        <p:nvSpPr>
          <p:cNvPr id="12" name="Shape 10"/>
          <p:cNvSpPr/>
          <p:nvPr/>
        </p:nvSpPr>
        <p:spPr>
          <a:xfrm>
            <a:off x="457200" y="2414016"/>
            <a:ext cx="8229600" cy="658368"/>
          </a:xfrm>
          <a:prstGeom prst="rect">
            <a:avLst/>
          </a:prstGeom>
          <a:solidFill>
            <a:srgbClr val="F1F5F9"/>
          </a:solidFill>
          <a:ln/>
        </p:spPr>
        <p:txBody>
          <a:bodyPr/>
          <a:lstStyle/>
          <a:p>
            <a:endParaRPr lang="en-IN"/>
          </a:p>
        </p:txBody>
      </p:sp>
      <p:sp>
        <p:nvSpPr>
          <p:cNvPr id="13" name="Text 11"/>
          <p:cNvSpPr/>
          <p:nvPr/>
        </p:nvSpPr>
        <p:spPr>
          <a:xfrm>
            <a:off x="640080" y="2523744"/>
            <a:ext cx="457200" cy="45720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4" name="Text 12"/>
          <p:cNvSpPr/>
          <p:nvPr/>
        </p:nvSpPr>
        <p:spPr>
          <a:xfrm>
            <a:off x="1234440" y="2551176"/>
            <a:ext cx="2103120" cy="384048"/>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Word Documents</a:t>
            </a:r>
            <a:endParaRPr lang="en-US" sz="1300" dirty="0"/>
          </a:p>
        </p:txBody>
      </p:sp>
      <p:sp>
        <p:nvSpPr>
          <p:cNvPr id="15" name="Text 13"/>
          <p:cNvSpPr/>
          <p:nvPr/>
        </p:nvSpPr>
        <p:spPr>
          <a:xfrm>
            <a:off x="3383280" y="2551176"/>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Procedures, SOPs, and internal documentation</a:t>
            </a:r>
            <a:endParaRPr lang="en-US" sz="1200" dirty="0"/>
          </a:p>
        </p:txBody>
      </p:sp>
      <p:sp>
        <p:nvSpPr>
          <p:cNvPr id="16" name="Shape 14"/>
          <p:cNvSpPr/>
          <p:nvPr/>
        </p:nvSpPr>
        <p:spPr>
          <a:xfrm>
            <a:off x="457200" y="3163824"/>
            <a:ext cx="8229600" cy="658368"/>
          </a:xfrm>
          <a:prstGeom prst="rect">
            <a:avLst/>
          </a:prstGeom>
          <a:solidFill>
            <a:srgbClr val="F1F5F9"/>
          </a:solidFill>
          <a:ln/>
        </p:spPr>
        <p:txBody>
          <a:bodyPr/>
          <a:lstStyle/>
          <a:p>
            <a:endParaRPr lang="en-IN"/>
          </a:p>
        </p:txBody>
      </p:sp>
      <p:sp>
        <p:nvSpPr>
          <p:cNvPr id="17" name="Text 15"/>
          <p:cNvSpPr/>
          <p:nvPr/>
        </p:nvSpPr>
        <p:spPr>
          <a:xfrm>
            <a:off x="640080" y="3273552"/>
            <a:ext cx="457200" cy="45720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8" name="Text 16"/>
          <p:cNvSpPr/>
          <p:nvPr/>
        </p:nvSpPr>
        <p:spPr>
          <a:xfrm>
            <a:off x="1234440" y="3300984"/>
            <a:ext cx="2103120" cy="384048"/>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SharePoint Sites</a:t>
            </a:r>
            <a:endParaRPr lang="en-US" sz="1300" dirty="0"/>
          </a:p>
        </p:txBody>
      </p:sp>
      <p:sp>
        <p:nvSpPr>
          <p:cNvPr id="19" name="Text 17"/>
          <p:cNvSpPr/>
          <p:nvPr/>
        </p:nvSpPr>
        <p:spPr>
          <a:xfrm>
            <a:off x="3383280" y="3300984"/>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Document libraries with automatic sync</a:t>
            </a:r>
            <a:endParaRPr lang="en-US" sz="1200" dirty="0"/>
          </a:p>
        </p:txBody>
      </p:sp>
      <p:sp>
        <p:nvSpPr>
          <p:cNvPr id="20" name="Shape 18"/>
          <p:cNvSpPr/>
          <p:nvPr/>
        </p:nvSpPr>
        <p:spPr>
          <a:xfrm>
            <a:off x="457200" y="3913632"/>
            <a:ext cx="8229600" cy="658368"/>
          </a:xfrm>
          <a:prstGeom prst="rect">
            <a:avLst/>
          </a:prstGeom>
          <a:solidFill>
            <a:srgbClr val="F1F5F9"/>
          </a:solidFill>
          <a:ln/>
        </p:spPr>
        <p:txBody>
          <a:bodyPr/>
          <a:lstStyle/>
          <a:p>
            <a:endParaRPr lang="en-IN"/>
          </a:p>
        </p:txBody>
      </p:sp>
      <p:sp>
        <p:nvSpPr>
          <p:cNvPr id="21" name="Text 19"/>
          <p:cNvSpPr/>
          <p:nvPr/>
        </p:nvSpPr>
        <p:spPr>
          <a:xfrm>
            <a:off x="640080" y="4023360"/>
            <a:ext cx="457200" cy="45720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2" name="Text 20"/>
          <p:cNvSpPr/>
          <p:nvPr/>
        </p:nvSpPr>
        <p:spPr>
          <a:xfrm>
            <a:off x="1234440" y="4050792"/>
            <a:ext cx="2103120" cy="384048"/>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Public Websites</a:t>
            </a:r>
            <a:endParaRPr lang="en-US" sz="1300" dirty="0"/>
          </a:p>
        </p:txBody>
      </p:sp>
      <p:sp>
        <p:nvSpPr>
          <p:cNvPr id="23" name="Text 21"/>
          <p:cNvSpPr/>
          <p:nvPr/>
        </p:nvSpPr>
        <p:spPr>
          <a:xfrm>
            <a:off x="3383280" y="4050792"/>
            <a:ext cx="5120640" cy="384048"/>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External web content (with URL patterns)</a:t>
            </a:r>
            <a:endParaRPr lang="en-US" sz="1200" dirty="0"/>
          </a:p>
        </p:txBody>
      </p:sp>
      <p:sp>
        <p:nvSpPr>
          <p:cNvPr id="24" name="Shape 22"/>
          <p:cNvSpPr/>
          <p:nvPr/>
        </p:nvSpPr>
        <p:spPr>
          <a:xfrm>
            <a:off x="0" y="4846320"/>
            <a:ext cx="9144000" cy="297180"/>
          </a:xfrm>
          <a:prstGeom prst="rect">
            <a:avLst/>
          </a:prstGeom>
          <a:solidFill>
            <a:srgbClr val="F1F5F9"/>
          </a:solidFill>
          <a:ln/>
        </p:spPr>
        <p:txBody>
          <a:bodyPr/>
          <a:lstStyle/>
          <a:p>
            <a:endParaRPr lang="en-IN"/>
          </a:p>
        </p:txBody>
      </p:sp>
      <p:sp>
        <p:nvSpPr>
          <p:cNvPr id="25" name="Text 2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6" name="Text 2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13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BFSI System Prompt Structure</a:t>
            </a:r>
            <a:endParaRPr lang="en-US" sz="2800" dirty="0"/>
          </a:p>
        </p:txBody>
      </p:sp>
      <p:sp>
        <p:nvSpPr>
          <p:cNvPr id="4" name="Shape 2"/>
          <p:cNvSpPr/>
          <p:nvPr/>
        </p:nvSpPr>
        <p:spPr>
          <a:xfrm>
            <a:off x="457200" y="868680"/>
            <a:ext cx="8229600" cy="475488"/>
          </a:xfrm>
          <a:prstGeom prst="rect">
            <a:avLst/>
          </a:prstGeom>
          <a:solidFill>
            <a:srgbClr val="F1F5F9"/>
          </a:solidFill>
          <a:ln/>
        </p:spPr>
        <p:txBody>
          <a:bodyPr/>
          <a:lstStyle/>
          <a:p>
            <a:endParaRPr lang="en-IN"/>
          </a:p>
        </p:txBody>
      </p:sp>
      <p:sp>
        <p:nvSpPr>
          <p:cNvPr id="5" name="Text 3"/>
          <p:cNvSpPr/>
          <p:nvPr/>
        </p:nvSpPr>
        <p:spPr>
          <a:xfrm>
            <a:off x="640080" y="94183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Identity</a:t>
            </a:r>
            <a:endParaRPr lang="en-US" sz="1200" dirty="0"/>
          </a:p>
        </p:txBody>
      </p:sp>
      <p:sp>
        <p:nvSpPr>
          <p:cNvPr id="6" name="Text 4"/>
          <p:cNvSpPr/>
          <p:nvPr/>
        </p:nvSpPr>
        <p:spPr>
          <a:xfrm>
            <a:off x="2560320" y="94183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Who is the agent? Name, role, organization</a:t>
            </a:r>
            <a:endParaRPr lang="en-US" sz="1100" dirty="0"/>
          </a:p>
        </p:txBody>
      </p:sp>
      <p:sp>
        <p:nvSpPr>
          <p:cNvPr id="7" name="Shape 5"/>
          <p:cNvSpPr/>
          <p:nvPr/>
        </p:nvSpPr>
        <p:spPr>
          <a:xfrm>
            <a:off x="457200" y="1417320"/>
            <a:ext cx="8229600" cy="475488"/>
          </a:xfrm>
          <a:prstGeom prst="rect">
            <a:avLst/>
          </a:prstGeom>
          <a:solidFill>
            <a:srgbClr val="F1F5F9"/>
          </a:solidFill>
          <a:ln/>
        </p:spPr>
        <p:txBody>
          <a:bodyPr/>
          <a:lstStyle/>
          <a:p>
            <a:endParaRPr lang="en-IN"/>
          </a:p>
        </p:txBody>
      </p:sp>
      <p:sp>
        <p:nvSpPr>
          <p:cNvPr id="8" name="Text 6"/>
          <p:cNvSpPr/>
          <p:nvPr/>
        </p:nvSpPr>
        <p:spPr>
          <a:xfrm>
            <a:off x="640080" y="149047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Capabilities</a:t>
            </a:r>
            <a:endParaRPr lang="en-US" sz="1200" dirty="0"/>
          </a:p>
        </p:txBody>
      </p:sp>
      <p:sp>
        <p:nvSpPr>
          <p:cNvPr id="9" name="Text 7"/>
          <p:cNvSpPr/>
          <p:nvPr/>
        </p:nvSpPr>
        <p:spPr>
          <a:xfrm>
            <a:off x="2560320" y="149047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What can the agent do? Data queries, claims, reports</a:t>
            </a:r>
            <a:endParaRPr lang="en-US" sz="1100" dirty="0"/>
          </a:p>
        </p:txBody>
      </p:sp>
      <p:sp>
        <p:nvSpPr>
          <p:cNvPr id="10" name="Shape 8"/>
          <p:cNvSpPr/>
          <p:nvPr/>
        </p:nvSpPr>
        <p:spPr>
          <a:xfrm>
            <a:off x="457200" y="1965960"/>
            <a:ext cx="8229600" cy="475488"/>
          </a:xfrm>
          <a:prstGeom prst="rect">
            <a:avLst/>
          </a:prstGeom>
          <a:solidFill>
            <a:srgbClr val="F1F5F9"/>
          </a:solidFill>
          <a:ln/>
        </p:spPr>
        <p:txBody>
          <a:bodyPr/>
          <a:lstStyle/>
          <a:p>
            <a:endParaRPr lang="en-IN"/>
          </a:p>
        </p:txBody>
      </p:sp>
      <p:sp>
        <p:nvSpPr>
          <p:cNvPr id="11" name="Text 9"/>
          <p:cNvSpPr/>
          <p:nvPr/>
        </p:nvSpPr>
        <p:spPr>
          <a:xfrm>
            <a:off x="640080" y="203911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Boundaries</a:t>
            </a:r>
            <a:endParaRPr lang="en-US" sz="1200" dirty="0"/>
          </a:p>
        </p:txBody>
      </p:sp>
      <p:sp>
        <p:nvSpPr>
          <p:cNvPr id="12" name="Text 10"/>
          <p:cNvSpPr/>
          <p:nvPr/>
        </p:nvSpPr>
        <p:spPr>
          <a:xfrm>
            <a:off x="2560320" y="203911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What can it NOT do? No medical advice, no legal opinions</a:t>
            </a:r>
            <a:endParaRPr lang="en-US" sz="1100" dirty="0"/>
          </a:p>
        </p:txBody>
      </p:sp>
      <p:sp>
        <p:nvSpPr>
          <p:cNvPr id="13" name="Shape 11"/>
          <p:cNvSpPr/>
          <p:nvPr/>
        </p:nvSpPr>
        <p:spPr>
          <a:xfrm>
            <a:off x="457200" y="2514600"/>
            <a:ext cx="8229600" cy="475488"/>
          </a:xfrm>
          <a:prstGeom prst="rect">
            <a:avLst/>
          </a:prstGeom>
          <a:solidFill>
            <a:srgbClr val="F1F5F9"/>
          </a:solidFill>
          <a:ln/>
        </p:spPr>
        <p:txBody>
          <a:bodyPr/>
          <a:lstStyle/>
          <a:p>
            <a:endParaRPr lang="en-IN"/>
          </a:p>
        </p:txBody>
      </p:sp>
      <p:sp>
        <p:nvSpPr>
          <p:cNvPr id="14" name="Text 12"/>
          <p:cNvSpPr/>
          <p:nvPr/>
        </p:nvSpPr>
        <p:spPr>
          <a:xfrm>
            <a:off x="640080" y="258775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Data Rules</a:t>
            </a:r>
            <a:endParaRPr lang="en-US" sz="1200" dirty="0"/>
          </a:p>
        </p:txBody>
      </p:sp>
      <p:sp>
        <p:nvSpPr>
          <p:cNvPr id="15" name="Text 13"/>
          <p:cNvSpPr/>
          <p:nvPr/>
        </p:nvSpPr>
        <p:spPr>
          <a:xfrm>
            <a:off x="2560320" y="258775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How to format amounts, dates, sensitive data handling</a:t>
            </a:r>
            <a:endParaRPr lang="en-US" sz="1100" dirty="0"/>
          </a:p>
        </p:txBody>
      </p:sp>
      <p:sp>
        <p:nvSpPr>
          <p:cNvPr id="16" name="Shape 14"/>
          <p:cNvSpPr/>
          <p:nvPr/>
        </p:nvSpPr>
        <p:spPr>
          <a:xfrm>
            <a:off x="457200" y="3063240"/>
            <a:ext cx="8229600" cy="475488"/>
          </a:xfrm>
          <a:prstGeom prst="rect">
            <a:avLst/>
          </a:prstGeom>
          <a:solidFill>
            <a:srgbClr val="F1F5F9"/>
          </a:solidFill>
          <a:ln/>
        </p:spPr>
        <p:txBody>
          <a:bodyPr/>
          <a:lstStyle/>
          <a:p>
            <a:endParaRPr lang="en-IN"/>
          </a:p>
        </p:txBody>
      </p:sp>
      <p:sp>
        <p:nvSpPr>
          <p:cNvPr id="17" name="Text 15"/>
          <p:cNvSpPr/>
          <p:nvPr/>
        </p:nvSpPr>
        <p:spPr>
          <a:xfrm>
            <a:off x="640080" y="313639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Compliance</a:t>
            </a:r>
            <a:endParaRPr lang="en-US" sz="1200" dirty="0"/>
          </a:p>
        </p:txBody>
      </p:sp>
      <p:sp>
        <p:nvSpPr>
          <p:cNvPr id="18" name="Text 16"/>
          <p:cNvSpPr/>
          <p:nvPr/>
        </p:nvSpPr>
        <p:spPr>
          <a:xfrm>
            <a:off x="2560320" y="313639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BFSI-specific: privacy, audit requirements, disclaimers</a:t>
            </a:r>
            <a:endParaRPr lang="en-US" sz="1100" dirty="0"/>
          </a:p>
        </p:txBody>
      </p:sp>
      <p:sp>
        <p:nvSpPr>
          <p:cNvPr id="19" name="Shape 17"/>
          <p:cNvSpPr/>
          <p:nvPr/>
        </p:nvSpPr>
        <p:spPr>
          <a:xfrm>
            <a:off x="457200" y="3611880"/>
            <a:ext cx="8229600" cy="475488"/>
          </a:xfrm>
          <a:prstGeom prst="rect">
            <a:avLst/>
          </a:prstGeom>
          <a:solidFill>
            <a:srgbClr val="F1F5F9"/>
          </a:solidFill>
          <a:ln/>
        </p:spPr>
        <p:txBody>
          <a:bodyPr/>
          <a:lstStyle/>
          <a:p>
            <a:endParaRPr lang="en-IN"/>
          </a:p>
        </p:txBody>
      </p:sp>
      <p:sp>
        <p:nvSpPr>
          <p:cNvPr id="20" name="Text 18"/>
          <p:cNvSpPr/>
          <p:nvPr/>
        </p:nvSpPr>
        <p:spPr>
          <a:xfrm>
            <a:off x="640080" y="368503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Tone</a:t>
            </a:r>
            <a:endParaRPr lang="en-US" sz="1200" dirty="0"/>
          </a:p>
        </p:txBody>
      </p:sp>
      <p:sp>
        <p:nvSpPr>
          <p:cNvPr id="21" name="Text 19"/>
          <p:cNvSpPr/>
          <p:nvPr/>
        </p:nvSpPr>
        <p:spPr>
          <a:xfrm>
            <a:off x="2560320" y="368503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Professional, empathetic, clear — not robotic</a:t>
            </a:r>
            <a:endParaRPr lang="en-US" sz="1100" dirty="0"/>
          </a:p>
        </p:txBody>
      </p:sp>
      <p:sp>
        <p:nvSpPr>
          <p:cNvPr id="22" name="Shape 20"/>
          <p:cNvSpPr/>
          <p:nvPr/>
        </p:nvSpPr>
        <p:spPr>
          <a:xfrm>
            <a:off x="457200" y="4160520"/>
            <a:ext cx="8229600" cy="475488"/>
          </a:xfrm>
          <a:prstGeom prst="rect">
            <a:avLst/>
          </a:prstGeom>
          <a:solidFill>
            <a:srgbClr val="F1F5F9"/>
          </a:solidFill>
          <a:ln/>
        </p:spPr>
        <p:txBody>
          <a:bodyPr/>
          <a:lstStyle/>
          <a:p>
            <a:endParaRPr lang="en-IN"/>
          </a:p>
        </p:txBody>
      </p:sp>
      <p:sp>
        <p:nvSpPr>
          <p:cNvPr id="23" name="Text 21"/>
          <p:cNvSpPr/>
          <p:nvPr/>
        </p:nvSpPr>
        <p:spPr>
          <a:xfrm>
            <a:off x="640080" y="4233672"/>
            <a:ext cx="1828800" cy="329184"/>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Escalation</a:t>
            </a:r>
            <a:endParaRPr lang="en-US" sz="1200" dirty="0"/>
          </a:p>
        </p:txBody>
      </p:sp>
      <p:sp>
        <p:nvSpPr>
          <p:cNvPr id="24" name="Text 22"/>
          <p:cNvSpPr/>
          <p:nvPr/>
        </p:nvSpPr>
        <p:spPr>
          <a:xfrm>
            <a:off x="2560320" y="4233672"/>
            <a:ext cx="5943600" cy="329184"/>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When and how to transfer to human agents</a:t>
            </a:r>
            <a:endParaRPr lang="en-US" sz="110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7" name="Text 25"/>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5</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Hands-On Lab</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Overview</a:t>
            </a:r>
            <a:endParaRPr lang="en-US" sz="3800" dirty="0"/>
          </a:p>
        </p:txBody>
      </p:sp>
      <p:sp>
        <p:nvSpPr>
          <p:cNvPr id="5" name="Text 3"/>
          <p:cNvSpPr/>
          <p:nvPr/>
        </p:nvSpPr>
        <p:spPr>
          <a:xfrm>
            <a:off x="731520" y="3200400"/>
            <a:ext cx="64008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Building the Contoso Insurance Operations Agent</a:t>
            </a:r>
            <a:endParaRPr lang="en-US" sz="1500" dirty="0"/>
          </a:p>
        </p:txBody>
      </p:sp>
      <p:sp>
        <p:nvSpPr>
          <p:cNvPr id="6" name="Shape 4"/>
          <p:cNvSpPr/>
          <p:nvPr/>
        </p:nvSpPr>
        <p:spPr>
          <a:xfrm>
            <a:off x="0" y="4846320"/>
            <a:ext cx="9144000" cy="297180"/>
          </a:xfrm>
          <a:prstGeom prst="rect">
            <a:avLst/>
          </a:prstGeom>
          <a:solidFill>
            <a:srgbClr val="F1F5F9"/>
          </a:solidFill>
          <a:ln/>
        </p:spPr>
        <p:txBody>
          <a:bodyPr/>
          <a:lstStyle/>
          <a:p>
            <a:endParaRPr lang="en-IN"/>
          </a:p>
        </p:txBody>
      </p:sp>
      <p:sp>
        <p:nvSpPr>
          <p:cNvPr id="7" name="Text 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8" name="Text 6"/>
          <p:cNvSpPr/>
          <p:nvPr/>
        </p:nvSpPr>
        <p:spPr>
          <a:xfrm>
            <a:off x="8020594"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15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Lab Exercise Flow</a:t>
            </a:r>
            <a:endParaRPr lang="en-US" sz="3000" dirty="0"/>
          </a:p>
        </p:txBody>
      </p:sp>
      <p:sp>
        <p:nvSpPr>
          <p:cNvPr id="4" name="Shape 2"/>
          <p:cNvSpPr/>
          <p:nvPr/>
        </p:nvSpPr>
        <p:spPr>
          <a:xfrm>
            <a:off x="457200" y="914400"/>
            <a:ext cx="8229600" cy="640080"/>
          </a:xfrm>
          <a:prstGeom prst="rect">
            <a:avLst/>
          </a:prstGeom>
          <a:solidFill>
            <a:srgbClr val="F1F5F9"/>
          </a:solidFill>
          <a:ln/>
        </p:spPr>
        <p:txBody>
          <a:bodyPr/>
          <a:lstStyle/>
          <a:p>
            <a:endParaRPr lang="en-IN"/>
          </a:p>
        </p:txBody>
      </p:sp>
      <p:sp>
        <p:nvSpPr>
          <p:cNvPr id="5" name="Text 3"/>
          <p:cNvSpPr/>
          <p:nvPr/>
        </p:nvSpPr>
        <p:spPr>
          <a:xfrm>
            <a:off x="640080" y="1051560"/>
            <a:ext cx="457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1</a:t>
            </a:r>
            <a:endParaRPr lang="en-US" sz="1600" dirty="0"/>
          </a:p>
        </p:txBody>
      </p:sp>
      <p:sp>
        <p:nvSpPr>
          <p:cNvPr id="6" name="Text 4"/>
          <p:cNvSpPr/>
          <p:nvPr/>
        </p:nvSpPr>
        <p:spPr>
          <a:xfrm>
            <a:off x="1188720" y="1078992"/>
            <a:ext cx="822960" cy="310896"/>
          </a:xfrm>
          <a:prstGeom prst="rect">
            <a:avLst/>
          </a:prstGeom>
          <a:noFill/>
          <a:ln/>
        </p:spPr>
        <p:txBody>
          <a:bodyPr wrap="square" rtlCol="0" anchor="ctr"/>
          <a:lstStyle/>
          <a:p>
            <a:pPr marL="0" indent="0">
              <a:buNone/>
            </a:pPr>
            <a:r>
              <a:rPr lang="en-US" sz="1000" dirty="0">
                <a:solidFill>
                  <a:srgbClr val="64748B"/>
                </a:solidFill>
                <a:latin typeface="Segoe UI" pitchFamily="34" charset="0"/>
                <a:ea typeface="Segoe UI" pitchFamily="34" charset="-122"/>
                <a:cs typeface="Segoe UI" pitchFamily="34" charset="-120"/>
              </a:rPr>
              <a:t>25 min</a:t>
            </a:r>
            <a:endParaRPr lang="en-US" sz="1000" dirty="0"/>
          </a:p>
        </p:txBody>
      </p:sp>
      <p:sp>
        <p:nvSpPr>
          <p:cNvPr id="7" name="Text 5"/>
          <p:cNvSpPr/>
          <p:nvPr/>
        </p:nvSpPr>
        <p:spPr>
          <a:xfrm>
            <a:off x="2103120" y="1051560"/>
            <a:ext cx="2926080" cy="36576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Create Agent &amp; Configure</a:t>
            </a:r>
            <a:endParaRPr lang="en-US" sz="1300" dirty="0"/>
          </a:p>
        </p:txBody>
      </p:sp>
      <p:sp>
        <p:nvSpPr>
          <p:cNvPr id="8" name="Text 6"/>
          <p:cNvSpPr/>
          <p:nvPr/>
        </p:nvSpPr>
        <p:spPr>
          <a:xfrm>
            <a:off x="5120640" y="1051560"/>
            <a:ext cx="329184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Name, description, system prompt, settings</a:t>
            </a:r>
            <a:endParaRPr lang="en-US" sz="1100" dirty="0"/>
          </a:p>
        </p:txBody>
      </p:sp>
      <p:sp>
        <p:nvSpPr>
          <p:cNvPr id="9" name="Shape 7"/>
          <p:cNvSpPr/>
          <p:nvPr/>
        </p:nvSpPr>
        <p:spPr>
          <a:xfrm>
            <a:off x="457200" y="1645920"/>
            <a:ext cx="8229600" cy="640080"/>
          </a:xfrm>
          <a:prstGeom prst="rect">
            <a:avLst/>
          </a:prstGeom>
          <a:solidFill>
            <a:srgbClr val="F1F5F9"/>
          </a:solidFill>
          <a:ln/>
        </p:spPr>
        <p:txBody>
          <a:bodyPr/>
          <a:lstStyle/>
          <a:p>
            <a:endParaRPr lang="en-IN"/>
          </a:p>
        </p:txBody>
      </p:sp>
      <p:sp>
        <p:nvSpPr>
          <p:cNvPr id="10" name="Text 8"/>
          <p:cNvSpPr/>
          <p:nvPr/>
        </p:nvSpPr>
        <p:spPr>
          <a:xfrm>
            <a:off x="640080" y="1783080"/>
            <a:ext cx="457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2</a:t>
            </a:r>
            <a:endParaRPr lang="en-US" sz="1600" dirty="0"/>
          </a:p>
        </p:txBody>
      </p:sp>
      <p:sp>
        <p:nvSpPr>
          <p:cNvPr id="11" name="Text 9"/>
          <p:cNvSpPr/>
          <p:nvPr/>
        </p:nvSpPr>
        <p:spPr>
          <a:xfrm>
            <a:off x="1188720" y="1810512"/>
            <a:ext cx="822960" cy="310896"/>
          </a:xfrm>
          <a:prstGeom prst="rect">
            <a:avLst/>
          </a:prstGeom>
          <a:noFill/>
          <a:ln/>
        </p:spPr>
        <p:txBody>
          <a:bodyPr wrap="square" rtlCol="0" anchor="ctr"/>
          <a:lstStyle/>
          <a:p>
            <a:pPr marL="0" indent="0">
              <a:buNone/>
            </a:pPr>
            <a:r>
              <a:rPr lang="en-US" sz="1000" dirty="0">
                <a:solidFill>
                  <a:srgbClr val="64748B"/>
                </a:solidFill>
                <a:latin typeface="Segoe UI" pitchFamily="34" charset="0"/>
                <a:ea typeface="Segoe UI" pitchFamily="34" charset="-122"/>
                <a:cs typeface="Segoe UI" pitchFamily="34" charset="-120"/>
              </a:rPr>
              <a:t>30 min</a:t>
            </a:r>
            <a:endParaRPr lang="en-US" sz="1000" dirty="0"/>
          </a:p>
        </p:txBody>
      </p:sp>
      <p:sp>
        <p:nvSpPr>
          <p:cNvPr id="12" name="Text 10"/>
          <p:cNvSpPr/>
          <p:nvPr/>
        </p:nvSpPr>
        <p:spPr>
          <a:xfrm>
            <a:off x="2103120" y="1783080"/>
            <a:ext cx="2926080" cy="36576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Add Dataverse MCP Server</a:t>
            </a:r>
            <a:endParaRPr lang="en-US" sz="1300" dirty="0"/>
          </a:p>
        </p:txBody>
      </p:sp>
      <p:sp>
        <p:nvSpPr>
          <p:cNvPr id="13" name="Text 11"/>
          <p:cNvSpPr/>
          <p:nvPr/>
        </p:nvSpPr>
        <p:spPr>
          <a:xfrm>
            <a:off x="5120640" y="1783080"/>
            <a:ext cx="329184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Connect tool, test schema discovery</a:t>
            </a:r>
            <a:endParaRPr lang="en-US" sz="1100" dirty="0"/>
          </a:p>
        </p:txBody>
      </p:sp>
      <p:sp>
        <p:nvSpPr>
          <p:cNvPr id="14" name="Shape 12"/>
          <p:cNvSpPr/>
          <p:nvPr/>
        </p:nvSpPr>
        <p:spPr>
          <a:xfrm>
            <a:off x="457200" y="2377440"/>
            <a:ext cx="8229600" cy="640080"/>
          </a:xfrm>
          <a:prstGeom prst="rect">
            <a:avLst/>
          </a:prstGeom>
          <a:solidFill>
            <a:srgbClr val="F1F5F9"/>
          </a:solidFill>
          <a:ln/>
        </p:spPr>
        <p:txBody>
          <a:bodyPr/>
          <a:lstStyle/>
          <a:p>
            <a:endParaRPr lang="en-IN"/>
          </a:p>
        </p:txBody>
      </p:sp>
      <p:sp>
        <p:nvSpPr>
          <p:cNvPr id="15" name="Text 13"/>
          <p:cNvSpPr/>
          <p:nvPr/>
        </p:nvSpPr>
        <p:spPr>
          <a:xfrm>
            <a:off x="640080" y="2514600"/>
            <a:ext cx="457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3</a:t>
            </a:r>
            <a:endParaRPr lang="en-US" sz="1600" dirty="0"/>
          </a:p>
        </p:txBody>
      </p:sp>
      <p:sp>
        <p:nvSpPr>
          <p:cNvPr id="16" name="Text 14"/>
          <p:cNvSpPr/>
          <p:nvPr/>
        </p:nvSpPr>
        <p:spPr>
          <a:xfrm>
            <a:off x="1188720" y="2542032"/>
            <a:ext cx="822960" cy="310896"/>
          </a:xfrm>
          <a:prstGeom prst="rect">
            <a:avLst/>
          </a:prstGeom>
          <a:noFill/>
          <a:ln/>
        </p:spPr>
        <p:txBody>
          <a:bodyPr wrap="square" rtlCol="0" anchor="ctr"/>
          <a:lstStyle/>
          <a:p>
            <a:pPr marL="0" indent="0">
              <a:buNone/>
            </a:pPr>
            <a:r>
              <a:rPr lang="en-US" sz="1000" dirty="0">
                <a:solidFill>
                  <a:srgbClr val="64748B"/>
                </a:solidFill>
                <a:latin typeface="Segoe UI" pitchFamily="34" charset="0"/>
                <a:ea typeface="Segoe UI" pitchFamily="34" charset="-122"/>
                <a:cs typeface="Segoe UI" pitchFamily="34" charset="-120"/>
              </a:rPr>
              <a:t>35 min</a:t>
            </a:r>
            <a:endParaRPr lang="en-US" sz="1000" dirty="0"/>
          </a:p>
        </p:txBody>
      </p:sp>
      <p:sp>
        <p:nvSpPr>
          <p:cNvPr id="17" name="Text 15"/>
          <p:cNvSpPr/>
          <p:nvPr/>
        </p:nvSpPr>
        <p:spPr>
          <a:xfrm>
            <a:off x="2103120" y="2514600"/>
            <a:ext cx="2926080" cy="36576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Build Custom Topics</a:t>
            </a:r>
            <a:endParaRPr lang="en-US" sz="1300" dirty="0"/>
          </a:p>
        </p:txBody>
      </p:sp>
      <p:sp>
        <p:nvSpPr>
          <p:cNvPr id="18" name="Text 16"/>
          <p:cNvSpPr/>
          <p:nvPr/>
        </p:nvSpPr>
        <p:spPr>
          <a:xfrm>
            <a:off x="5120640" y="2514600"/>
            <a:ext cx="329184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Claim submission, status check flows</a:t>
            </a:r>
            <a:endParaRPr lang="en-US" sz="1100" dirty="0"/>
          </a:p>
        </p:txBody>
      </p:sp>
      <p:sp>
        <p:nvSpPr>
          <p:cNvPr id="19" name="Shape 17"/>
          <p:cNvSpPr/>
          <p:nvPr/>
        </p:nvSpPr>
        <p:spPr>
          <a:xfrm>
            <a:off x="457200" y="3108960"/>
            <a:ext cx="8229600" cy="640080"/>
          </a:xfrm>
          <a:prstGeom prst="rect">
            <a:avLst/>
          </a:prstGeom>
          <a:solidFill>
            <a:srgbClr val="F1F5F9"/>
          </a:solidFill>
          <a:ln/>
        </p:spPr>
        <p:txBody>
          <a:bodyPr/>
          <a:lstStyle/>
          <a:p>
            <a:endParaRPr lang="en-IN"/>
          </a:p>
        </p:txBody>
      </p:sp>
      <p:sp>
        <p:nvSpPr>
          <p:cNvPr id="20" name="Text 18"/>
          <p:cNvSpPr/>
          <p:nvPr/>
        </p:nvSpPr>
        <p:spPr>
          <a:xfrm>
            <a:off x="640080" y="3246120"/>
            <a:ext cx="457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4</a:t>
            </a:r>
            <a:endParaRPr lang="en-US" sz="1600" dirty="0"/>
          </a:p>
        </p:txBody>
      </p:sp>
      <p:sp>
        <p:nvSpPr>
          <p:cNvPr id="21" name="Text 19"/>
          <p:cNvSpPr/>
          <p:nvPr/>
        </p:nvSpPr>
        <p:spPr>
          <a:xfrm>
            <a:off x="1188720" y="3273552"/>
            <a:ext cx="822960" cy="310896"/>
          </a:xfrm>
          <a:prstGeom prst="rect">
            <a:avLst/>
          </a:prstGeom>
          <a:noFill/>
          <a:ln/>
        </p:spPr>
        <p:txBody>
          <a:bodyPr wrap="square" rtlCol="0" anchor="ctr"/>
          <a:lstStyle/>
          <a:p>
            <a:pPr marL="0" indent="0">
              <a:buNone/>
            </a:pPr>
            <a:r>
              <a:rPr lang="en-US" sz="1000" dirty="0">
                <a:solidFill>
                  <a:srgbClr val="64748B"/>
                </a:solidFill>
                <a:latin typeface="Segoe UI" pitchFamily="34" charset="0"/>
                <a:ea typeface="Segoe UI" pitchFamily="34" charset="-122"/>
                <a:cs typeface="Segoe UI" pitchFamily="34" charset="-120"/>
              </a:rPr>
              <a:t>25 min</a:t>
            </a:r>
            <a:endParaRPr lang="en-US" sz="1000" dirty="0"/>
          </a:p>
        </p:txBody>
      </p:sp>
      <p:sp>
        <p:nvSpPr>
          <p:cNvPr id="22" name="Text 20"/>
          <p:cNvSpPr/>
          <p:nvPr/>
        </p:nvSpPr>
        <p:spPr>
          <a:xfrm>
            <a:off x="2103120" y="3246120"/>
            <a:ext cx="2926080" cy="36576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Add Knowledge Sources</a:t>
            </a:r>
            <a:endParaRPr lang="en-US" sz="1300" dirty="0"/>
          </a:p>
        </p:txBody>
      </p:sp>
      <p:sp>
        <p:nvSpPr>
          <p:cNvPr id="23" name="Text 21"/>
          <p:cNvSpPr/>
          <p:nvPr/>
        </p:nvSpPr>
        <p:spPr>
          <a:xfrm>
            <a:off x="5120640" y="3246120"/>
            <a:ext cx="329184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PDF documents, configure retrieval</a:t>
            </a:r>
            <a:endParaRPr lang="en-US" sz="1100" dirty="0"/>
          </a:p>
        </p:txBody>
      </p:sp>
      <p:sp>
        <p:nvSpPr>
          <p:cNvPr id="24" name="Shape 22"/>
          <p:cNvSpPr/>
          <p:nvPr/>
        </p:nvSpPr>
        <p:spPr>
          <a:xfrm>
            <a:off x="457200" y="3840480"/>
            <a:ext cx="8229600" cy="640080"/>
          </a:xfrm>
          <a:prstGeom prst="rect">
            <a:avLst/>
          </a:prstGeom>
          <a:solidFill>
            <a:srgbClr val="F1F5F9"/>
          </a:solidFill>
          <a:ln/>
        </p:spPr>
        <p:txBody>
          <a:bodyPr/>
          <a:lstStyle/>
          <a:p>
            <a:endParaRPr lang="en-IN"/>
          </a:p>
        </p:txBody>
      </p:sp>
      <p:sp>
        <p:nvSpPr>
          <p:cNvPr id="25" name="Text 23"/>
          <p:cNvSpPr/>
          <p:nvPr/>
        </p:nvSpPr>
        <p:spPr>
          <a:xfrm>
            <a:off x="640080" y="3977640"/>
            <a:ext cx="457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5</a:t>
            </a:r>
            <a:endParaRPr lang="en-US" sz="1600" dirty="0"/>
          </a:p>
        </p:txBody>
      </p:sp>
      <p:sp>
        <p:nvSpPr>
          <p:cNvPr id="26" name="Text 24"/>
          <p:cNvSpPr/>
          <p:nvPr/>
        </p:nvSpPr>
        <p:spPr>
          <a:xfrm>
            <a:off x="1188720" y="4005072"/>
            <a:ext cx="822960" cy="310896"/>
          </a:xfrm>
          <a:prstGeom prst="rect">
            <a:avLst/>
          </a:prstGeom>
          <a:noFill/>
          <a:ln/>
        </p:spPr>
        <p:txBody>
          <a:bodyPr wrap="square" rtlCol="0" anchor="ctr"/>
          <a:lstStyle/>
          <a:p>
            <a:pPr marL="0" indent="0">
              <a:buNone/>
            </a:pPr>
            <a:r>
              <a:rPr lang="en-US" sz="1000" dirty="0">
                <a:solidFill>
                  <a:srgbClr val="64748B"/>
                </a:solidFill>
                <a:latin typeface="Segoe UI" pitchFamily="34" charset="0"/>
                <a:ea typeface="Segoe UI" pitchFamily="34" charset="-122"/>
                <a:cs typeface="Segoe UI" pitchFamily="34" charset="-120"/>
              </a:rPr>
              <a:t>35 min</a:t>
            </a:r>
            <a:endParaRPr lang="en-US" sz="1000" dirty="0"/>
          </a:p>
        </p:txBody>
      </p:sp>
      <p:sp>
        <p:nvSpPr>
          <p:cNvPr id="27" name="Text 25"/>
          <p:cNvSpPr/>
          <p:nvPr/>
        </p:nvSpPr>
        <p:spPr>
          <a:xfrm>
            <a:off x="2103120" y="3977640"/>
            <a:ext cx="2926080" cy="36576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Test &amp; Debug</a:t>
            </a:r>
            <a:endParaRPr lang="en-US" sz="1300" dirty="0"/>
          </a:p>
        </p:txBody>
      </p:sp>
      <p:sp>
        <p:nvSpPr>
          <p:cNvPr id="28" name="Text 26"/>
          <p:cNvSpPr/>
          <p:nvPr/>
        </p:nvSpPr>
        <p:spPr>
          <a:xfrm>
            <a:off x="5120640" y="3977640"/>
            <a:ext cx="329184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Activity traces, refine prompts</a:t>
            </a:r>
            <a:endParaRPr lang="en-US" sz="110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31" name="Text 29"/>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Key Takeaways</a:t>
            </a:r>
            <a:endParaRPr lang="en-US" sz="3000" dirty="0"/>
          </a:p>
        </p:txBody>
      </p:sp>
      <p:sp>
        <p:nvSpPr>
          <p:cNvPr id="4" name="Shape 2"/>
          <p:cNvSpPr/>
          <p:nvPr/>
        </p:nvSpPr>
        <p:spPr>
          <a:xfrm>
            <a:off x="457200" y="914400"/>
            <a:ext cx="8229600" cy="457200"/>
          </a:xfrm>
          <a:prstGeom prst="rect">
            <a:avLst/>
          </a:prstGeom>
          <a:solidFill>
            <a:srgbClr val="F1F5F9"/>
          </a:solidFill>
          <a:ln/>
        </p:spPr>
        <p:txBody>
          <a:bodyPr/>
          <a:lstStyle/>
          <a:p>
            <a:endParaRPr lang="en-IN"/>
          </a:p>
        </p:txBody>
      </p:sp>
      <p:sp>
        <p:nvSpPr>
          <p:cNvPr id="5" name="Text 3"/>
          <p:cNvSpPr/>
          <p:nvPr/>
        </p:nvSpPr>
        <p:spPr>
          <a:xfrm>
            <a:off x="640080" y="987552"/>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1.</a:t>
            </a:r>
            <a:endParaRPr lang="en-US" sz="1200" dirty="0"/>
          </a:p>
        </p:txBody>
      </p:sp>
      <p:sp>
        <p:nvSpPr>
          <p:cNvPr id="6" name="Text 4"/>
          <p:cNvSpPr/>
          <p:nvPr/>
        </p:nvSpPr>
        <p:spPr>
          <a:xfrm>
            <a:off x="1097280" y="987552"/>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Five components: System Prompt, Topics, Tools, Knowledge, Channels</a:t>
            </a:r>
            <a:endParaRPr lang="en-US" sz="1200" dirty="0"/>
          </a:p>
        </p:txBody>
      </p:sp>
      <p:sp>
        <p:nvSpPr>
          <p:cNvPr id="7" name="Shape 5"/>
          <p:cNvSpPr/>
          <p:nvPr/>
        </p:nvSpPr>
        <p:spPr>
          <a:xfrm>
            <a:off x="457200" y="1435608"/>
            <a:ext cx="8229600" cy="457200"/>
          </a:xfrm>
          <a:prstGeom prst="rect">
            <a:avLst/>
          </a:prstGeom>
          <a:solidFill>
            <a:srgbClr val="F1F5F9"/>
          </a:solidFill>
          <a:ln/>
        </p:spPr>
        <p:txBody>
          <a:bodyPr/>
          <a:lstStyle/>
          <a:p>
            <a:endParaRPr lang="en-IN"/>
          </a:p>
        </p:txBody>
      </p:sp>
      <p:sp>
        <p:nvSpPr>
          <p:cNvPr id="8" name="Text 6"/>
          <p:cNvSpPr/>
          <p:nvPr/>
        </p:nvSpPr>
        <p:spPr>
          <a:xfrm>
            <a:off x="640080" y="1508760"/>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2.</a:t>
            </a:r>
            <a:endParaRPr lang="en-US" sz="1200" dirty="0"/>
          </a:p>
        </p:txBody>
      </p:sp>
      <p:sp>
        <p:nvSpPr>
          <p:cNvPr id="9" name="Text 7"/>
          <p:cNvSpPr/>
          <p:nvPr/>
        </p:nvSpPr>
        <p:spPr>
          <a:xfrm>
            <a:off x="1097280" y="1508760"/>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Generative orchestration replaces rigid if/then with LLM-powered routing</a:t>
            </a:r>
            <a:endParaRPr lang="en-US" sz="1200" dirty="0"/>
          </a:p>
        </p:txBody>
      </p:sp>
      <p:sp>
        <p:nvSpPr>
          <p:cNvPr id="10" name="Shape 8"/>
          <p:cNvSpPr/>
          <p:nvPr/>
        </p:nvSpPr>
        <p:spPr>
          <a:xfrm>
            <a:off x="457200" y="1956816"/>
            <a:ext cx="8229600" cy="457200"/>
          </a:xfrm>
          <a:prstGeom prst="rect">
            <a:avLst/>
          </a:prstGeom>
          <a:solidFill>
            <a:srgbClr val="F1F5F9"/>
          </a:solidFill>
          <a:ln/>
        </p:spPr>
        <p:txBody>
          <a:bodyPr/>
          <a:lstStyle/>
          <a:p>
            <a:endParaRPr lang="en-IN"/>
          </a:p>
        </p:txBody>
      </p:sp>
      <p:sp>
        <p:nvSpPr>
          <p:cNvPr id="11" name="Text 9"/>
          <p:cNvSpPr/>
          <p:nvPr/>
        </p:nvSpPr>
        <p:spPr>
          <a:xfrm>
            <a:off x="640080" y="2029968"/>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3.</a:t>
            </a:r>
            <a:endParaRPr lang="en-US" sz="1200" dirty="0"/>
          </a:p>
        </p:txBody>
      </p:sp>
      <p:sp>
        <p:nvSpPr>
          <p:cNvPr id="12" name="Text 10"/>
          <p:cNvSpPr/>
          <p:nvPr/>
        </p:nvSpPr>
        <p:spPr>
          <a:xfrm>
            <a:off x="1097280" y="2029968"/>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Dataverse MCP Server: 7 operations for complete data interaction</a:t>
            </a:r>
            <a:endParaRPr lang="en-US" sz="1200" dirty="0"/>
          </a:p>
        </p:txBody>
      </p:sp>
      <p:sp>
        <p:nvSpPr>
          <p:cNvPr id="13" name="Shape 11"/>
          <p:cNvSpPr/>
          <p:nvPr/>
        </p:nvSpPr>
        <p:spPr>
          <a:xfrm>
            <a:off x="457200" y="2478024"/>
            <a:ext cx="8229600" cy="457200"/>
          </a:xfrm>
          <a:prstGeom prst="rect">
            <a:avLst/>
          </a:prstGeom>
          <a:solidFill>
            <a:srgbClr val="F1F5F9"/>
          </a:solidFill>
          <a:ln/>
        </p:spPr>
        <p:txBody>
          <a:bodyPr/>
          <a:lstStyle/>
          <a:p>
            <a:endParaRPr lang="en-IN"/>
          </a:p>
        </p:txBody>
      </p:sp>
      <p:sp>
        <p:nvSpPr>
          <p:cNvPr id="14" name="Text 12"/>
          <p:cNvSpPr/>
          <p:nvPr/>
        </p:nvSpPr>
        <p:spPr>
          <a:xfrm>
            <a:off x="640080" y="2551176"/>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4.</a:t>
            </a:r>
            <a:endParaRPr lang="en-US" sz="1200" dirty="0"/>
          </a:p>
        </p:txBody>
      </p:sp>
      <p:sp>
        <p:nvSpPr>
          <p:cNvPr id="15" name="Text 13"/>
          <p:cNvSpPr/>
          <p:nvPr/>
        </p:nvSpPr>
        <p:spPr>
          <a:xfrm>
            <a:off x="1097280" y="2551176"/>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Schema-driven reasoning: agent learns table structure before querying</a:t>
            </a:r>
            <a:endParaRPr lang="en-US" sz="1200" dirty="0"/>
          </a:p>
        </p:txBody>
      </p:sp>
      <p:sp>
        <p:nvSpPr>
          <p:cNvPr id="16" name="Shape 14"/>
          <p:cNvSpPr/>
          <p:nvPr/>
        </p:nvSpPr>
        <p:spPr>
          <a:xfrm>
            <a:off x="457200" y="2999232"/>
            <a:ext cx="8229600" cy="457200"/>
          </a:xfrm>
          <a:prstGeom prst="rect">
            <a:avLst/>
          </a:prstGeom>
          <a:solidFill>
            <a:srgbClr val="F1F5F9"/>
          </a:solidFill>
          <a:ln/>
        </p:spPr>
        <p:txBody>
          <a:bodyPr/>
          <a:lstStyle/>
          <a:p>
            <a:endParaRPr lang="en-IN"/>
          </a:p>
        </p:txBody>
      </p:sp>
      <p:sp>
        <p:nvSpPr>
          <p:cNvPr id="17" name="Text 15"/>
          <p:cNvSpPr/>
          <p:nvPr/>
        </p:nvSpPr>
        <p:spPr>
          <a:xfrm>
            <a:off x="640080" y="3072384"/>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5.</a:t>
            </a:r>
            <a:endParaRPr lang="en-US" sz="1200" dirty="0"/>
          </a:p>
        </p:txBody>
      </p:sp>
      <p:sp>
        <p:nvSpPr>
          <p:cNvPr id="18" name="Text 16"/>
          <p:cNvSpPr/>
          <p:nvPr/>
        </p:nvSpPr>
        <p:spPr>
          <a:xfrm>
            <a:off x="1097280" y="3072384"/>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Knowledge sources: Dataverse, PDF, Word, SharePoint, websites</a:t>
            </a:r>
            <a:endParaRPr lang="en-US" sz="1200" dirty="0"/>
          </a:p>
        </p:txBody>
      </p:sp>
      <p:sp>
        <p:nvSpPr>
          <p:cNvPr id="19" name="Shape 17"/>
          <p:cNvSpPr/>
          <p:nvPr/>
        </p:nvSpPr>
        <p:spPr>
          <a:xfrm>
            <a:off x="457200" y="3520440"/>
            <a:ext cx="8229600" cy="457200"/>
          </a:xfrm>
          <a:prstGeom prst="rect">
            <a:avLst/>
          </a:prstGeom>
          <a:solidFill>
            <a:srgbClr val="F1F5F9"/>
          </a:solidFill>
          <a:ln/>
        </p:spPr>
        <p:txBody>
          <a:bodyPr/>
          <a:lstStyle/>
          <a:p>
            <a:endParaRPr lang="en-IN"/>
          </a:p>
        </p:txBody>
      </p:sp>
      <p:sp>
        <p:nvSpPr>
          <p:cNvPr id="20" name="Text 18"/>
          <p:cNvSpPr/>
          <p:nvPr/>
        </p:nvSpPr>
        <p:spPr>
          <a:xfrm>
            <a:off x="640080" y="3593592"/>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6.</a:t>
            </a:r>
            <a:endParaRPr lang="en-US" sz="1200" dirty="0"/>
          </a:p>
        </p:txBody>
      </p:sp>
      <p:sp>
        <p:nvSpPr>
          <p:cNvPr id="21" name="Text 19"/>
          <p:cNvSpPr/>
          <p:nvPr/>
        </p:nvSpPr>
        <p:spPr>
          <a:xfrm>
            <a:off x="1097280" y="3593592"/>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System prompt is the most important configuration element</a:t>
            </a:r>
            <a:endParaRPr lang="en-US" sz="1200" dirty="0"/>
          </a:p>
        </p:txBody>
      </p:sp>
      <p:sp>
        <p:nvSpPr>
          <p:cNvPr id="22" name="Shape 20"/>
          <p:cNvSpPr/>
          <p:nvPr/>
        </p:nvSpPr>
        <p:spPr>
          <a:xfrm>
            <a:off x="457200" y="4041648"/>
            <a:ext cx="8229600" cy="457200"/>
          </a:xfrm>
          <a:prstGeom prst="rect">
            <a:avLst/>
          </a:prstGeom>
          <a:solidFill>
            <a:srgbClr val="F1F5F9"/>
          </a:solidFill>
          <a:ln/>
        </p:spPr>
        <p:txBody>
          <a:bodyPr/>
          <a:lstStyle/>
          <a:p>
            <a:endParaRPr lang="en-IN"/>
          </a:p>
        </p:txBody>
      </p:sp>
      <p:sp>
        <p:nvSpPr>
          <p:cNvPr id="23" name="Text 21"/>
          <p:cNvSpPr/>
          <p:nvPr/>
        </p:nvSpPr>
        <p:spPr>
          <a:xfrm>
            <a:off x="640080" y="4114800"/>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7.</a:t>
            </a:r>
            <a:endParaRPr lang="en-US" sz="1200" dirty="0"/>
          </a:p>
        </p:txBody>
      </p:sp>
      <p:sp>
        <p:nvSpPr>
          <p:cNvPr id="24" name="Text 22"/>
          <p:cNvSpPr/>
          <p:nvPr/>
        </p:nvSpPr>
        <p:spPr>
          <a:xfrm>
            <a:off x="1097280" y="4114800"/>
            <a:ext cx="740664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Activity traces are essential for debugging agent behavior</a:t>
            </a:r>
            <a:endParaRPr lang="en-US" sz="120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27" name="Text 25"/>
          <p:cNvSpPr/>
          <p:nvPr/>
        </p:nvSpPr>
        <p:spPr>
          <a:xfrm>
            <a:off x="7955280" y="4818162"/>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Knowledge Check</a:t>
            </a:r>
            <a:endParaRPr lang="en-US" sz="3600" dirty="0"/>
          </a:p>
        </p:txBody>
      </p:sp>
      <p:sp>
        <p:nvSpPr>
          <p:cNvPr id="5" name="Text 3"/>
          <p:cNvSpPr/>
          <p:nvPr/>
        </p:nvSpPr>
        <p:spPr>
          <a:xfrm>
            <a:off x="914400" y="2743200"/>
            <a:ext cx="7315200" cy="365760"/>
          </a:xfrm>
          <a:prstGeom prst="rect">
            <a:avLst/>
          </a:prstGeom>
          <a:noFill/>
          <a:ln/>
        </p:spPr>
        <p:txBody>
          <a:bodyPr wrap="square" rtlCol="0" anchor="ctr"/>
          <a:lstStyle/>
          <a:p>
            <a:pPr marL="0" indent="0" algn="ctr">
              <a:buNone/>
            </a:pPr>
            <a:r>
              <a:rPr lang="en-US" sz="1400" dirty="0">
                <a:solidFill>
                  <a:srgbClr val="94A3B8"/>
                </a:solidFill>
                <a:latin typeface="Segoe UI" pitchFamily="34" charset="0"/>
                <a:ea typeface="Segoe UI" pitchFamily="34" charset="-122"/>
                <a:cs typeface="Segoe UI" pitchFamily="34" charset="-120"/>
              </a:rPr>
              <a:t>Test your understanding with 3 quick questions</a:t>
            </a:r>
            <a:endParaRPr lang="en-US" sz="1400" dirty="0"/>
          </a:p>
        </p:txBody>
      </p:sp>
      <p:sp>
        <p:nvSpPr>
          <p:cNvPr id="6" name="Text 4"/>
          <p:cNvSpPr/>
          <p:nvPr/>
        </p:nvSpPr>
        <p:spPr>
          <a:xfrm>
            <a:off x="914400" y="3200400"/>
            <a:ext cx="7315200" cy="365760"/>
          </a:xfrm>
          <a:prstGeom prst="rect">
            <a:avLst/>
          </a:prstGeom>
          <a:noFill/>
          <a:ln/>
        </p:spPr>
        <p:txBody>
          <a:bodyPr wrap="square" rtlCol="0" anchor="ctr"/>
          <a:lstStyle/>
          <a:p>
            <a:pPr marL="0" indent="0" algn="ctr">
              <a:buNone/>
            </a:pPr>
            <a:r>
              <a:rPr lang="en-US" sz="1200" dirty="0">
                <a:solidFill>
                  <a:srgbClr val="64748B"/>
                </a:solidFill>
                <a:latin typeface="Segoe UI" pitchFamily="34" charset="0"/>
                <a:ea typeface="Segoe UI" pitchFamily="34" charset="-122"/>
                <a:cs typeface="Segoe UI" pitchFamily="34" charset="-120"/>
              </a:rPr>
              <a:t>Think before you click forward!</a:t>
            </a:r>
            <a:endParaRPr lang="en-US" sz="1200" dirty="0"/>
          </a:p>
        </p:txBody>
      </p:sp>
      <p:sp>
        <p:nvSpPr>
          <p:cNvPr id="36" name="Text 25">
            <a:extLst>
              <a:ext uri="{FF2B5EF4-FFF2-40B4-BE49-F238E27FC236}">
                <a16:creationId xmlns:a16="http://schemas.microsoft.com/office/drawing/2014/main" id="{328982A2-0032-6788-A0EF-A38334D21A66}"/>
              </a:ext>
            </a:extLst>
          </p:cNvPr>
          <p:cNvSpPr/>
          <p:nvPr/>
        </p:nvSpPr>
        <p:spPr>
          <a:xfrm>
            <a:off x="7955280" y="4818162"/>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18 / 26</a:t>
            </a:r>
            <a:endParaRPr lang="en-US" sz="9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five core components of a Copilot Studio agent?</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Database, UI, API, Logic, Storage</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System Prompt, Topics, Tools, Knowledge, Channels</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Frontend, Backend, Middleware, Cache, Queue</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Input, Process, Output, Feedback, Control</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06  |  Knowledge Check</a:t>
            </a:r>
            <a:endParaRPr lang="en-US" sz="800" dirty="0"/>
          </a:p>
        </p:txBody>
      </p:sp>
      <p:sp>
        <p:nvSpPr>
          <p:cNvPr id="16" name="Text 14"/>
          <p:cNvSpPr/>
          <p:nvPr/>
        </p:nvSpPr>
        <p:spPr>
          <a:xfrm>
            <a:off x="7955280" y="482063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five core components of a Copilot Studio agent?</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Database, UI, API, Logic, Storage</a:t>
            </a:r>
            <a:endParaRPr lang="en-US" sz="1300" dirty="0"/>
          </a:p>
        </p:txBody>
      </p:sp>
      <p:sp>
        <p:nvSpPr>
          <p:cNvPr id="8" name="Shape 6"/>
          <p:cNvSpPr/>
          <p:nvPr/>
        </p:nvSpPr>
        <p:spPr>
          <a:xfrm>
            <a:off x="731520" y="2578608"/>
            <a:ext cx="7498080" cy="548640"/>
          </a:xfrm>
          <a:prstGeom prst="rect">
            <a:avLst/>
          </a:prstGeom>
          <a:solidFill>
            <a:srgbClr val="DCFCE7"/>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System Prompt, Topics, Tools, Knowledge, Channels</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Frontend, Backend, Middleware, Cache, Queue</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Input, Process, Output, Feedback, Control</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06  |  Knowledge Check</a:t>
            </a:r>
            <a:endParaRPr lang="en-US" sz="800" dirty="0"/>
          </a:p>
        </p:txBody>
      </p:sp>
      <p:sp>
        <p:nvSpPr>
          <p:cNvPr id="16" name="Text 14"/>
          <p:cNvSpPr/>
          <p:nvPr/>
        </p:nvSpPr>
        <p:spPr>
          <a:xfrm>
            <a:off x="7955280" y="48488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In schema-driven reasoning, why does the agent call describe_table before read_query?</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To verify user permissions</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To learn column names and types for constructing filters</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To check if the table exists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To count the number of records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06  |  Knowledge Check</a:t>
            </a:r>
            <a:endParaRPr lang="en-US" sz="800" dirty="0"/>
          </a:p>
        </p:txBody>
      </p:sp>
      <p:sp>
        <p:nvSpPr>
          <p:cNvPr id="16" name="Text 14"/>
          <p:cNvSpPr/>
          <p:nvPr/>
        </p:nvSpPr>
        <p:spPr>
          <a:xfrm>
            <a:off x="7955280" y="4856915"/>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In schema-driven reasoning, why does the agent call describe_table before read_query?</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To verify user permissions</a:t>
            </a:r>
            <a:endParaRPr lang="en-US" sz="1300" dirty="0"/>
          </a:p>
        </p:txBody>
      </p:sp>
      <p:sp>
        <p:nvSpPr>
          <p:cNvPr id="8" name="Shape 6"/>
          <p:cNvSpPr/>
          <p:nvPr/>
        </p:nvSpPr>
        <p:spPr>
          <a:xfrm>
            <a:off x="731520" y="2578608"/>
            <a:ext cx="7498080" cy="548640"/>
          </a:xfrm>
          <a:prstGeom prst="rect">
            <a:avLst/>
          </a:prstGeom>
          <a:solidFill>
            <a:srgbClr val="DCFCE7"/>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To learn column names and types for constructing filters</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To check if the table exists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To count the number of records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06  |  Knowledge Check</a:t>
            </a:r>
            <a:endParaRPr lang="en-US" sz="800" dirty="0"/>
          </a:p>
        </p:txBody>
      </p:sp>
      <p:sp>
        <p:nvSpPr>
          <p:cNvPr id="16" name="Text 14"/>
          <p:cNvSpPr/>
          <p:nvPr/>
        </p:nvSpPr>
        <p:spPr>
          <a:xfrm>
            <a:off x="7998823" y="484240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When should you create a custom topic vs. relying on generative orchestration?</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Always create custom topics for everything</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Never use custom topics — generative handles all</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Custom topics for guided workflows; generative for ad hoc queries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Custom topics only for error handling</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06  |  Knowledge Check</a:t>
            </a:r>
            <a:endParaRPr lang="en-US" sz="800" dirty="0"/>
          </a:p>
        </p:txBody>
      </p:sp>
      <p:sp>
        <p:nvSpPr>
          <p:cNvPr id="16" name="Text 14"/>
          <p:cNvSpPr/>
          <p:nvPr/>
        </p:nvSpPr>
        <p:spPr>
          <a:xfrm>
            <a:off x="7955280" y="482571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When should you create a custom topic vs. relying on generative orchestration?</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Always create custom topics for everything</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Never use custom topics — generative handles all</a:t>
            </a:r>
            <a:endParaRPr lang="en-US" sz="1300" dirty="0"/>
          </a:p>
        </p:txBody>
      </p:sp>
      <p:sp>
        <p:nvSpPr>
          <p:cNvPr id="10" name="Shape 8"/>
          <p:cNvSpPr/>
          <p:nvPr/>
        </p:nvSpPr>
        <p:spPr>
          <a:xfrm>
            <a:off x="731520" y="3236976"/>
            <a:ext cx="7498080" cy="548640"/>
          </a:xfrm>
          <a:prstGeom prst="rect">
            <a:avLst/>
          </a:prstGeom>
          <a:solidFill>
            <a:srgbClr val="DCFCE7"/>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Custom topics for guided workflows; generative for ad hoc queries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Custom topics only for error handling</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06  |  Knowledge Check</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What's Next?</a:t>
            </a:r>
            <a:endParaRPr lang="en-US" sz="3000" dirty="0"/>
          </a:p>
        </p:txBody>
      </p:sp>
      <p:sp>
        <p:nvSpPr>
          <p:cNvPr id="4" name="Text 2"/>
          <p:cNvSpPr/>
          <p:nvPr/>
        </p:nvSpPr>
        <p:spPr>
          <a:xfrm>
            <a:off x="640080" y="914400"/>
            <a:ext cx="7863840" cy="457200"/>
          </a:xfrm>
          <a:prstGeom prst="rect">
            <a:avLst/>
          </a:prstGeom>
          <a:noFill/>
          <a:ln/>
        </p:spPr>
        <p:txBody>
          <a:bodyPr wrap="square" rtlCol="0" anchor="ctr"/>
          <a:lstStyle/>
          <a:p>
            <a:pPr marL="0" indent="0">
              <a:buNone/>
            </a:pPr>
            <a:r>
              <a:rPr lang="en-US" sz="1800" b="1" dirty="0">
                <a:solidFill>
                  <a:srgbClr val="0891B2"/>
                </a:solidFill>
                <a:latin typeface="Segoe UI" pitchFamily="34" charset="0"/>
                <a:ea typeface="Segoe UI" pitchFamily="34" charset="-122"/>
                <a:cs typeface="Segoe UI" pitchFamily="34" charset="-120"/>
              </a:rPr>
              <a:t>Module 07: Agent Flows &amp; Deterministic Orchestration</a:t>
            </a:r>
            <a:endParaRPr lang="en-US" sz="1800" dirty="0"/>
          </a:p>
        </p:txBody>
      </p:sp>
      <p:sp>
        <p:nvSpPr>
          <p:cNvPr id="5" name="Shape 3"/>
          <p:cNvSpPr/>
          <p:nvPr/>
        </p:nvSpPr>
        <p:spPr>
          <a:xfrm>
            <a:off x="640080" y="1463040"/>
            <a:ext cx="7863840" cy="2377440"/>
          </a:xfrm>
          <a:prstGeom prst="rect">
            <a:avLst/>
          </a:prstGeom>
          <a:solidFill>
            <a:srgbClr val="F1F5F9"/>
          </a:solidFill>
          <a:ln/>
        </p:spPr>
        <p:txBody>
          <a:bodyPr/>
          <a:lstStyle/>
          <a:p>
            <a:endParaRPr lang="en-IN"/>
          </a:p>
        </p:txBody>
      </p:sp>
      <p:sp>
        <p:nvSpPr>
          <p:cNvPr id="6" name="Shape 4"/>
          <p:cNvSpPr/>
          <p:nvPr/>
        </p:nvSpPr>
        <p:spPr>
          <a:xfrm>
            <a:off x="640080" y="1463040"/>
            <a:ext cx="73152" cy="2377440"/>
          </a:xfrm>
          <a:prstGeom prst="rect">
            <a:avLst/>
          </a:prstGeom>
          <a:solidFill>
            <a:srgbClr val="0891B2"/>
          </a:solidFill>
          <a:ln/>
        </p:spPr>
        <p:txBody>
          <a:bodyPr/>
          <a:lstStyle/>
          <a:p>
            <a:endParaRPr lang="en-IN"/>
          </a:p>
        </p:txBody>
      </p:sp>
      <p:sp>
        <p:nvSpPr>
          <p:cNvPr id="7" name="Text 5"/>
          <p:cNvSpPr/>
          <p:nvPr/>
        </p:nvSpPr>
        <p:spPr>
          <a:xfrm>
            <a:off x="1005840" y="1600200"/>
            <a:ext cx="7223760" cy="210312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In this module, you built a conversational agent that responds to user messages. Module 07 makes your agent proactive with Agent Flows:</a:t>
            </a:r>
            <a:endParaRPr lang="en-US" sz="1300" dirty="0"/>
          </a:p>
          <a:p>
            <a:pPr marL="0" indent="0">
              <a:buNone/>
            </a:pP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Event-driven triggers (new claim created → auto-triage)</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Scheduled triggers (daily summaries at 8 AM)</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Instant triggers (on-demand report generation)</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Agent Flow vs Cloud Flow decision matrix</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Deterministic orchestration patterns</a:t>
            </a:r>
            <a:endParaRPr lang="en-US" sz="1300" dirty="0"/>
          </a:p>
        </p:txBody>
      </p:sp>
      <p:sp>
        <p:nvSpPr>
          <p:cNvPr id="8" name="Shape 6"/>
          <p:cNvSpPr/>
          <p:nvPr/>
        </p:nvSpPr>
        <p:spPr>
          <a:xfrm>
            <a:off x="640080" y="4023360"/>
            <a:ext cx="7863840" cy="640080"/>
          </a:xfrm>
          <a:prstGeom prst="rect">
            <a:avLst/>
          </a:prstGeom>
          <a:solidFill>
            <a:srgbClr val="FEF3C7"/>
          </a:solidFill>
          <a:ln/>
        </p:spPr>
        <p:txBody>
          <a:bodyPr/>
          <a:lstStyle/>
          <a:p>
            <a:endParaRPr lang="en-IN"/>
          </a:p>
        </p:txBody>
      </p:sp>
      <p:sp>
        <p:nvSpPr>
          <p:cNvPr id="9" name="Text 7"/>
          <p:cNvSpPr/>
          <p:nvPr/>
        </p:nvSpPr>
        <p:spPr>
          <a:xfrm>
            <a:off x="822960" y="4114800"/>
            <a:ext cx="7498080" cy="45720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Keep your Contoso Insurance Agent and Dataverse tables — Module 07 extends them with Agent Flows.</a:t>
            </a:r>
            <a:endParaRPr lang="en-US" sz="1100" dirty="0"/>
          </a:p>
        </p:txBody>
      </p:sp>
      <p:sp>
        <p:nvSpPr>
          <p:cNvPr id="10" name="Shape 8"/>
          <p:cNvSpPr/>
          <p:nvPr/>
        </p:nvSpPr>
        <p:spPr>
          <a:xfrm>
            <a:off x="0" y="4846320"/>
            <a:ext cx="9144000" cy="297180"/>
          </a:xfrm>
          <a:prstGeom prst="rect">
            <a:avLst/>
          </a:prstGeom>
          <a:solidFill>
            <a:srgbClr val="F1F5F9"/>
          </a:solidFill>
          <a:ln/>
        </p:spPr>
        <p:txBody>
          <a:bodyPr/>
          <a:lstStyle/>
          <a:p>
            <a:endParaRPr lang="en-IN"/>
          </a:p>
        </p:txBody>
      </p:sp>
      <p:sp>
        <p:nvSpPr>
          <p:cNvPr id="11" name="Text 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06</a:t>
            </a:r>
            <a:endParaRPr lang="en-US" sz="800" dirty="0"/>
          </a:p>
        </p:txBody>
      </p:sp>
      <p:sp>
        <p:nvSpPr>
          <p:cNvPr id="12" name="Text 10"/>
          <p:cNvSpPr/>
          <p:nvPr/>
        </p:nvSpPr>
        <p:spPr>
          <a:xfrm>
            <a:off x="7955280" y="4839426"/>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1828800"/>
            <a:ext cx="7315200" cy="731520"/>
          </a:xfrm>
          <a:prstGeom prst="rect">
            <a:avLst/>
          </a:prstGeom>
          <a:noFill/>
          <a:ln/>
        </p:spPr>
        <p:txBody>
          <a:bodyPr wrap="square" rtlCol="0" anchor="ctr"/>
          <a:lstStyle/>
          <a:p>
            <a:pPr marL="0" indent="0" algn="ctr">
              <a:buNone/>
            </a:pPr>
            <a:r>
              <a:rPr lang="en-US" sz="4200" b="1" dirty="0">
                <a:solidFill>
                  <a:srgbClr val="FFFFFF"/>
                </a:solidFill>
                <a:latin typeface="Segoe UI" pitchFamily="34" charset="0"/>
                <a:ea typeface="Segoe UI" pitchFamily="34" charset="-122"/>
                <a:cs typeface="Segoe UI" pitchFamily="34" charset="-120"/>
              </a:rPr>
              <a:t>Thank You</a:t>
            </a:r>
            <a:endParaRPr lang="en-US" sz="4200" dirty="0"/>
          </a:p>
        </p:txBody>
      </p:sp>
      <p:sp>
        <p:nvSpPr>
          <p:cNvPr id="5" name="Text 3"/>
          <p:cNvSpPr/>
          <p:nvPr/>
        </p:nvSpPr>
        <p:spPr>
          <a:xfrm>
            <a:off x="914400" y="2834640"/>
            <a:ext cx="7315200" cy="457200"/>
          </a:xfrm>
          <a:prstGeom prst="rect">
            <a:avLst/>
          </a:prstGeom>
          <a:noFill/>
          <a:ln/>
        </p:spPr>
        <p:txBody>
          <a:bodyPr wrap="square" rtlCol="0" anchor="ctr"/>
          <a:lstStyle/>
          <a:p>
            <a:pPr marL="0" indent="0" algn="ctr">
              <a:buNone/>
            </a:pPr>
            <a:r>
              <a:rPr lang="en-US" sz="1300" dirty="0">
                <a:solidFill>
                  <a:srgbClr val="94A3B8"/>
                </a:solidFill>
                <a:latin typeface="Segoe UI" pitchFamily="34" charset="0"/>
                <a:ea typeface="Segoe UI" pitchFamily="34" charset="-122"/>
                <a:cs typeface="Segoe UI" pitchFamily="34" charset="-120"/>
              </a:rPr>
              <a:t>Questions? Reach out to your instructor or post in the Teams channel.</a:t>
            </a:r>
            <a:endParaRPr lang="en-US" sz="1300" dirty="0"/>
          </a:p>
        </p:txBody>
      </p:sp>
      <p:sp>
        <p:nvSpPr>
          <p:cNvPr id="6" name="Text 25">
            <a:extLst>
              <a:ext uri="{FF2B5EF4-FFF2-40B4-BE49-F238E27FC236}">
                <a16:creationId xmlns:a16="http://schemas.microsoft.com/office/drawing/2014/main" id="{B63114D7-D096-6C7A-40CF-DC64F853FBD8}"/>
              </a:ext>
            </a:extLst>
          </p:cNvPr>
          <p:cNvSpPr/>
          <p:nvPr/>
        </p:nvSpPr>
        <p:spPr>
          <a:xfrm>
            <a:off x="7955280" y="4818162"/>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26 / 26</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5</TotalTime>
  <Words>3128</Words>
  <Application>Microsoft Office PowerPoint</Application>
  <PresentationFormat>On-screen Show (16:9)</PresentationFormat>
  <Paragraphs>340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06: Copilot Studio Agents Using Dataverse MCP</dc:title>
  <dc:subject>Agentic AI in Power Platform</dc:subject>
  <dc:creator>EY Training</dc:creator>
  <cp:lastModifiedBy>Jalal Khan</cp:lastModifiedBy>
  <cp:revision>6</cp:revision>
  <dcterms:created xsi:type="dcterms:W3CDTF">2026-02-05T11:38:48Z</dcterms:created>
  <dcterms:modified xsi:type="dcterms:W3CDTF">2026-02-05T18:29:07Z</dcterms:modified>
</cp:coreProperties>
</file>