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80" r:id="rId24"/>
    <p:sldId id="281" r:id="rId25"/>
    <p:sldId id="282" r:id="rId26"/>
    <p:sldId id="283" r:id="rId27"/>
    <p:sldId id="284" r:id="rId28"/>
    <p:sldId id="285" r:id="rId29"/>
    <p:sldId id="286" r:id="rId30"/>
    <p:sldId id="287" r:id="rId31"/>
    <p:sldId id="288"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10"/>
  </p:normalViewPr>
  <p:slideViewPr>
    <p:cSldViewPr snapToGrid="0" snapToObjects="1">
      <p:cViewPr varScale="1">
        <p:scale>
          <a:sx n="105" d="100"/>
          <a:sy n="105" d="100"/>
        </p:scale>
        <p:origin x="80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8250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11: Power BI as Agent Insight &amp; Feedback Loop.
This module closes the loop on everything you've built throughout the course. In Modules 06-09, you built conversational agents, autonomous flows, approval workflows, and multi-agent systems. In Module 10, you constructed a Power BI semantic model. Now, Module 11 connects everything together.
The key concept is the feedback loop: your agents generate data every time they process a request, make a decision, or delegate a task. When this data is visualised and analysed in Power BI, it creates insights that drive continuous improvement.
This is what transforms a prototype into a production system. Without this feedback loop, you have no visibility into whether your agents are working correctly, meeting SLAs, or creating compliance risk. With it, you have a data-driven operating model.
For BFSI organisations, this isn't optional — it's essential for regulatory compliance and operational excellence.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structured with one hour of theory covering the feedback loop concept, data architecture, and dashboard design principles, followed by 1.5 hours of hands-on lab work building the actual dashboards.
The three-page dashboard you'll build covers:
- Claims Operations: business volume metrics
- Agent Performance: AI system telemetry
- Approval Compliance: SLA monitoring
By the end, you'll have production-ready dashboards that give you visibility into how your entire agentic AI system is performing.
This module depends heavily on work from previous modules — you'll connect to the AgentTaskLog and ApprovalLog tables created in Modules 08-09, and build on the semantic model foundation from Module 10.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primary learning objectives for this module.
The first objective is conceptual — understanding the feedback loop is essential for seeing why dashboards matter. Without this mental model, dashboards become just pretty pictures instead of operational tools.
Objectives 2 through 4 are practical skills you'll apply in the lab: connecting Power BI to Dataverse, designing the dashboard layout, and creating the DAX measures.
Objective 5 addresses a common question: "Why do I need custom dashboards when Copilot Studio has built-in analytics?" They serve different purposes, and understanding when to use each is important.
Objective 6 is the most important: dashboards are not the endpoint — they're the starting point for action. Every insight should lead to a specific optimisation decision.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prerequisites ensure participants can complete the hands-on lab successfully.
The most important prerequisite is completing Modules 08-10. The ApprovalLog and AgentTaskLog tables created in those modules contain the telemetry data we'll visualise. If participants skipped those modules, they won't have meaningful data to work with.
The TDS endpoint setting is critical for DirectQuery mode. If it's not enabled, Power BI can only use Import mode. To check: Power Platform Admin Centre → select the environment → Settings → Features → TDS endpoint should be "On".
The Module 10 .pbix file provides the foundation — participants can either extend that model or start fresh with a new Dataverse connection.
Give participants a few minutes at the start of the lab to verify these prerequisites, especially the TDS endpoint setting.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core concept: the agent insight feedback loop.
This is the fundamental mental model that explains why dashboards matter and how they drive continuous improvement in agentic AI systems.
An agentic AI system is not static — it generates data constantly. That data, when properly captured and analysed, becomes the basis for intelligent optimisation.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feedback loop has four steps that run continuously.
Step 1: Agents Act. Your agents process requests, make decisions, delegate tasks to other agents, and escalate to humans when needed. Every action generates data.
Step 2: Dataverse Captures. Every action is automatically logged with timestamps, outcomes, durations, and decision details. This happens in the AgentTaskLog and ApprovalLog tables you created in Modules 08-09.
Step 3: Power BI Visualises. When you connect Power BI to these tables, patterns emerge: success rates, bottlenecks, SLA breaches, usage trends. These patterns weren't visible before — they only appear when you aggregate and visualise the data.
Step 4: Humans Optimise. Based on what the dashboards reveal, you take specific actions: adjust system prompts, modify approval thresholds, rebalance which agent handles which tasks, add knowledge sources.
Then the cycle repeats. As you make changes, new telemetry flows in, revealing whether your optimisations worked and what to do next.
This is what transforms a prototype into a production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contrast what happens with and without a feedback loop.
Without the feedback loop, you're operating blind. You have no idea if agents are making correct decisions, if SLAs are being met, or if compliance risks are accumulating. When problems emerge, they're often serious because they've been building up undetected. Optimisation becomes guesswork.
With the feedback loop, you have real-time visibility. You can see performance trends, catch SLA breaches early, and make data-driven optimisation decisions. Problems are detected when they're small, before they become critical.
For BFSI organisations, this is especially important. Regulators don't just want you to say your AI systems are working correctly — they want evidence. The feedback loop dashboard provides that auditable evidence: proof that SLAs are being met, that human oversight is functioning, and that decision-making is within approved boundaries.
This is why Module 11 isn't optional for production deployments — it's essential infrastructure.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where the telemetry data comes from — the six Dataverse tables that feed the Power BI dashboards.
Understanding this data architecture helps you know what metrics are available and how to build the right DAX measures.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system generates telemetry in six Dataverse tables, divided into two categories.
The first four are business data tables — the same tables you've been working with throughout the course: Customers, Policies, Claims, and Transactions. These provide the business context and volume metrics.
The last two are operational telemetry tables created in Modules 08 and 09:
The ApprovalLog table captures every human-in-the-loop approval: who requested it, who approved it, how long it took, what the outcome was. This is the data source for the Approval Compliance dashboard page.
The AgentTaskLog table captures every agent action: which agent, what task, how long it took, whether it was delegated to another agent, the outcome. This is the data source for the Agent Performance dashboard page.
These six tables together give you complete visibility: what business work is flowing through the system (Claims, Transactions) and how the AI agents are handling it (AgentTaskLog, ApprovalLog).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offers two primary modes for connecting to Dataverse. Understanding the trade-offs helps you make the right choice for your dashboards.
This is a critical architectural decision that affects data freshness, performance, and licensing requirements.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mode copies data from Dataverse into the Power BI model file. This gives you the fastest query performance and full DAX capabilities, but the data can become stale between refreshes. It's best for historical analysis where you don't need real-time data.
DirectQuery mode doesn't copy data — it sends queries to Dataverse live via the TDS endpoint. This means you always see current data with no refresh scheduling needed, but queries are slower because they go over the network. It's best for operational dashboards where you need real-time visibility.
For the lab, I recommend starting with Import mode. It's simpler to set up, doesn't require the TDS endpoint, and gives you faster iteration while learning. Once you have the dashboard working, you can switch to DirectQuery for production use.
In a real BFSI deployment, you might use both: DirectQuery for the Agent Performance page (need real-time visibility) and Import for historical Claims analysis (need fast queries over large datasets).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TDS endpoint is what makes DirectQuery possible. It exposes Dataverse tables through the SQL protocol, which Power BI understands natively.
To enable it, go to the Power Platform Admin Centre, select your environment, go to Settings → Features, and toggle the TDS endpoint to "On". It takes a few minutes to activate.
Once enabled, you can connect Power BI using DirectQuery, or even use SQL Server Management Studio to query Dataverse with T-SQL syntax.
Be aware of the limitations: TDS is read-only (you can't insert or update records through it), there's an 80MB result size limit per query, and complex queries may timeout. For dashboards, these limitations are rarely a problem, but you should know they exist.
If the TDS endpoint isn't enabled and you can't enable it (maybe you don't have admin access), you can still complete the lab using Import mode.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is why we need custom Power BI dashboards when Copilot Studio already has built-in analytics.
The answer is that they serve different purposes. Understanding when to use each helps you build the right monitoring infrastructure.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Studio's built-in analytics are great for quick health checks: Did sessions resolve successfully? Which topics are escalating? What's the user satisfaction score? They're designed for day-to-day monitoring of a single agent by non-technical users.
Custom Power BI dashboards serve different needs: cross-agent performance views (how is Agent A performing compared to Agent B?), combining business data with operational data (claims volume trends alongside agent response times), custom KPIs specific to your organisation, and compliance dashboards for regulatory requirements.
For BFSI production deployments, you need both. The built-in analytics give you quick pulse checks. The custom dashboards give you the enterprise-grade operational reporting that management and regulators expect.
The lab in this module focuses on the custom Power BI dashboards because that's where the complexity is. The built-in analytics are self-explanatory — just open Copilot Studio and look at the Analytics tab.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dashboard design you'll build in the lab. It's a three-page layout aligned to BFSI reporting needs.
Each page answers a different business question, and together they provide comprehensive visibility into your agentic AI system.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focuses on Claims Operations — the business work flowing through the system.
The business question this page answers is: "How much work is flowing through the system and what are the outcomes?"
The KPI cards at the top show headline numbers: total claims count, total claims value, average claim amount, and the claims loss ratio (which you built in Module 10).
The bar chart shows claims by status — how many are pending, approved, rejected, paid. This reveals bottlenecks in the claims process.
The line chart shows volume trends over time — are claims increasing? Decreasing? Seasonal patterns?
The pie chart shows distribution by policy type — which products are generating the most claims?
The table shows the top 10 high-value claims, so managers can focus attention on the big-ticket items.
Slicers let users filter by date range, policy type, and claim status to drill into specific segments.
This page is about business operations, not AI performance. It sets the context for the agent performance page.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focuses on Agent Performance — the AI system telemetry from the AgentTaskLog table.
The business question is: "How are the AI agents performing and where should we optimise?"
The KPI cards show agent-specific metrics: task success rate (what percentage of tasks complete successfully), average task duration (how long does it take), delegation count (how often does one agent hand off to another), and error rate.
The bar chart shows tasks by agent, so you can see the workload distribution. If one agent is handling 80% of the work, that might be a design issue.
The stacked bar shows outcomes by agent — for each agent, how many tasks succeeded, how many were delegated, how many failed. This reveals which agents are struggling.
The line chart shows response time trends. Is performance getting better or worse over time?
The table shows recent tasks with details, useful for investigating specific issues.
This page is the heart of the feedback loop. It tells you which agents need attention and what kind of optimisation might help.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3 focuses on Approval Compliance — the human-in-the-loop oversight from the ApprovalLog table.
The business question is: "Is human oversight functioning correctly and are SLAs being met?"
This is critical for BFSI compliance. Regulators want evidence that humans are actually reviewing AI decisions, that they're doing it in a timely manner, and that the approval process is working as designed.
The gauge shows SLA compliance rate with a 95% target. If this drops below target, something is wrong.
The KPI cards show operational metrics: how many approvals are pending, what's the average response time, how many are overdue.
The bar charts show approvals by outcome and response time by approver. You can see which approvers are fast and which are slow, which helps with workload balancing.
The table highlights overdue approvals — these are the items that need immediate attention.
For auditors, this page provides the compliance evidence they need: proof that human oversight is functioning, with timestamps, outcomes, and response times all visible.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DAX measures you'll create in the lab for the agent KPIs.
Task Success Rate divides successful tasks by total tasks. This is your primary agent reliability metric.
Average Task Duration tells you how long agents take to complete work. Useful as a baseline and for detecting performance degradation.
SLA Compliance Rate is critical for the approval compliance page. It divides on-time approvals by total approvals.
Delegation Count tells you how often agents are delegating to other agents. In a multi-agent architecture, high delegation might be good (specialisation) or bad (inefficiency).
Average Approval Time tells you how long humans take to review AI decisions.
Overdue Approval Count filters for pending approvals that have exceeded SLA. This is an escalation trigger — if this number is non-zero, someone needs to act.
The formulas shown are simplified. In the lab, you'll build the full versions with proper error handling and formatting.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not the endpoint — it's the starting point for action. Every insight should lead to a specific optimisation decision.
This section connects the metrics you see on the dashboard to the actions you can take to improve the system.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connects dashboard insights to specific optimisation actions.
Low Task Success Rate usually indicates a problem with the agent's instructions or knowledge. Review the system prompt, add more knowledge sources, or simplify what the agent is trying to do.
High Delegation Count might mean agents are passing work around too much. Consider consolidating specialists or rebalancing responsibilities.
Increasing SLA Breaches suggests the approval process is backing up. Consider adjusting thresholds, adding more approvers, or automating low-risk items that don't need human review.
If one agent is overloaded while others are idle, the routing logic needs adjustment. Distribute workload more evenly or add more agent instances.
High error rates on specific topics usually mean those topics need better training: more examples, clearer prompts, or fallback handling.
Slow approval response times suggest human reviewers need help: automated reminders, parallel approval paths, or auto-approve patterns for routine items.
The key point is that every metric should be actionable. If you can't do anything about a metric, why are you measuring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consolidate the key takeaways from this module.
The first takeaway is the core concept: the four-step feedback loop that transforms a prototype into a production system.
Takeaways 2 through 5 are practical details: where the data comes from, how to connect to it, when to use different tools, and how to design the dashboard.
Takeaway 6 is critical: dashboards are not the endpoint, they're the starting point for action. Every insight should drive a decision.
Takeaway 7 addresses BFSI compliance: the dashboard provides the auditable evidence that regulators require.
Together, these takeaways give you both the conceptual understanding and the practical skills to build agent monitoring infrastructure.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test your understanding of the agent insight feedback loop with three quick questions.
Take a moment to think about each answer before moving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Module 12 addresses the governance and production readiness concerns that are essential for moving from a training lab to a production BFSI environment.
You've built powerful agents, connected them to data, and created dashboards to monitor them. But before you can deploy to production, you need to ensure the system is secure, governed, and auditable.
Module 12 covers Dataverse auditing and security roles — who can access what data. MCP access boundaries — what the agents can and cannot do. Copilot Studio governance through Microsoft Purview. Capacity planning and understanding Copilot Credits. And the compliance documentation required for regulated industries.
These aren't optional extras — they're essential infrastructure for any BFSI deployment. Without proper governance, you won't get past the security review.
Module 12 ensures that the powerful agent system you've built is also ready for the scrutiny of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throughout this module on Power BI as Agent Insight &amp; Feedback Loop.
This module closed the loop on everything you've built throughout the course. You now have visibility into how your agents are performing, which enables data-driven optimisation decisions.
The feedback loop you've implemented — agents acting, Dataverse capturing, Power BI visualising, humans optimising — is what transforms a prototype into a production system. Without it, you're operating blind. With it, you have a continuous improvement engine.
The dashboards you build in the lab will serve as the operational cockpit for your agentic AI system. Use them to monitor performance, catch issues early, and make informed optimisation decisions.
See you in Module 12 for Memory, Governance &amp;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109728"/>
          </a:xfrm>
          <a:prstGeom prst="rect">
            <a:avLst/>
          </a:prstGeom>
          <a:solidFill>
            <a:srgbClr val="0891B2"/>
          </a:solidFill>
          <a:ln/>
        </p:spPr>
        <p:txBody>
          <a:bodyPr/>
          <a:lstStyle/>
          <a:p>
            <a:endParaRPr lang="en-IN"/>
          </a:p>
        </p:txBody>
      </p:sp>
      <p:sp>
        <p:nvSpPr>
          <p:cNvPr id="3" name="Shape 1"/>
          <p:cNvSpPr/>
          <p:nvPr/>
        </p:nvSpPr>
        <p:spPr>
          <a:xfrm>
            <a:off x="7315200" y="109728"/>
            <a:ext cx="1828800" cy="54864"/>
          </a:xfrm>
          <a:prstGeom prst="rect">
            <a:avLst/>
          </a:prstGeom>
          <a:solidFill>
            <a:srgbClr val="0E7490"/>
          </a:solidFill>
          <a:ln/>
        </p:spPr>
        <p:txBody>
          <a:bodyPr/>
          <a:lstStyle/>
          <a:p>
            <a:endParaRPr lang="en-IN"/>
          </a:p>
        </p:txBody>
      </p:sp>
      <p:sp>
        <p:nvSpPr>
          <p:cNvPr id="4" name="Text 2"/>
          <p:cNvSpPr/>
          <p:nvPr/>
        </p:nvSpPr>
        <p:spPr>
          <a:xfrm>
            <a:off x="274320" y="1042416"/>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MODULE 11</a:t>
            </a:r>
            <a:endParaRPr lang="en-US" sz="1300" dirty="0"/>
          </a:p>
        </p:txBody>
      </p:sp>
      <p:sp>
        <p:nvSpPr>
          <p:cNvPr id="5" name="Text 3"/>
          <p:cNvSpPr/>
          <p:nvPr/>
        </p:nvSpPr>
        <p:spPr>
          <a:xfrm>
            <a:off x="274320" y="1499616"/>
            <a:ext cx="7315200" cy="1280160"/>
          </a:xfrm>
          <a:prstGeom prst="rect">
            <a:avLst/>
          </a:prstGeom>
          <a:noFill/>
          <a:ln/>
        </p:spPr>
        <p:txBody>
          <a:bodyPr wrap="square"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Power BI as Agent</a:t>
            </a:r>
            <a:endParaRPr lang="en-US" sz="3400" dirty="0"/>
          </a:p>
          <a:p>
            <a:pPr marL="0" indent="0">
              <a:buNone/>
            </a:pPr>
            <a:r>
              <a:rPr lang="en-US" sz="3400" b="1" dirty="0">
                <a:solidFill>
                  <a:srgbClr val="FFFFFF"/>
                </a:solidFill>
                <a:latin typeface="Segoe UI" pitchFamily="34" charset="0"/>
                <a:ea typeface="Segoe UI" pitchFamily="34" charset="-122"/>
                <a:cs typeface="Segoe UI" pitchFamily="34" charset="-120"/>
              </a:rPr>
              <a:t>Insight &amp; Feedback Loop</a:t>
            </a:r>
            <a:endParaRPr lang="en-US" sz="3400" dirty="0"/>
          </a:p>
        </p:txBody>
      </p:sp>
      <p:sp>
        <p:nvSpPr>
          <p:cNvPr id="6" name="Text 4"/>
          <p:cNvSpPr/>
          <p:nvPr/>
        </p:nvSpPr>
        <p:spPr>
          <a:xfrm>
            <a:off x="274320" y="2825496"/>
            <a:ext cx="6400800" cy="457200"/>
          </a:xfrm>
          <a:prstGeom prst="rect">
            <a:avLst/>
          </a:prstGeom>
          <a:noFill/>
          <a:ln/>
        </p:spPr>
        <p:txBody>
          <a:bodyPr wrap="square" rtlCol="0" anchor="ctr"/>
          <a:lstStyle/>
          <a:p>
            <a:pPr marL="0" indent="0">
              <a:buNone/>
            </a:pPr>
            <a:r>
              <a:rPr lang="en-US" sz="2000" dirty="0">
                <a:solidFill>
                  <a:srgbClr val="22D3EE"/>
                </a:solidFill>
                <a:latin typeface="Segoe UI" pitchFamily="34" charset="0"/>
                <a:ea typeface="Segoe UI" pitchFamily="34" charset="-122"/>
                <a:cs typeface="Segoe UI" pitchFamily="34" charset="-120"/>
              </a:rPr>
              <a:t>Monitoring, Measuring &amp; Optimising Agentic AI Systems</a:t>
            </a:r>
            <a:endParaRPr lang="en-US" sz="2000" dirty="0"/>
          </a:p>
        </p:txBody>
      </p:sp>
      <p:sp>
        <p:nvSpPr>
          <p:cNvPr id="7" name="Text 5"/>
          <p:cNvSpPr/>
          <p:nvPr/>
        </p:nvSpPr>
        <p:spPr>
          <a:xfrm>
            <a:off x="274320" y="3511296"/>
            <a:ext cx="4572000" cy="365760"/>
          </a:xfrm>
          <a:prstGeom prst="rect">
            <a:avLst/>
          </a:prstGeom>
          <a:noFill/>
          <a:ln/>
        </p:spPr>
        <p:txBody>
          <a:bodyPr wrap="square" rtlCol="0" anchor="ctr"/>
          <a:lstStyle/>
          <a:p>
            <a:pPr marL="0" indent="0">
              <a:buNone/>
            </a:pPr>
            <a:r>
              <a:rPr lang="en-US" sz="1400" dirty="0">
                <a:solidFill>
                  <a:srgbClr val="94A3B8"/>
                </a:solidFill>
                <a:latin typeface="Segoe UI" pitchFamily="34" charset="0"/>
                <a:ea typeface="Segoe UI" pitchFamily="34" charset="-122"/>
                <a:cs typeface="Segoe UI" pitchFamily="34" charset="-120"/>
              </a:rPr>
              <a:t>Agentic AI in Power Platform</a:t>
            </a:r>
            <a:endParaRPr lang="en-US" sz="1400" dirty="0"/>
          </a:p>
        </p:txBody>
      </p:sp>
      <p:sp>
        <p:nvSpPr>
          <p:cNvPr id="8" name="Text 6"/>
          <p:cNvSpPr/>
          <p:nvPr/>
        </p:nvSpPr>
        <p:spPr>
          <a:xfrm>
            <a:off x="274320" y="4754880"/>
            <a:ext cx="4572000" cy="274320"/>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CONFIDENTIAL – For Training Purposes Only</a:t>
            </a:r>
            <a:endParaRPr lang="en-US" sz="900" dirty="0"/>
          </a:p>
        </p:txBody>
      </p:sp>
      <p:sp>
        <p:nvSpPr>
          <p:cNvPr id="9" name="Text 7"/>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 / 31</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Module Overview</a:t>
            </a:r>
            <a:endParaRPr lang="en-US" sz="3200" dirty="0"/>
          </a:p>
        </p:txBody>
      </p:sp>
      <p:sp>
        <p:nvSpPr>
          <p:cNvPr id="4" name="Shape 2"/>
          <p:cNvSpPr/>
          <p:nvPr/>
        </p:nvSpPr>
        <p:spPr>
          <a:xfrm>
            <a:off x="640080" y="1051560"/>
            <a:ext cx="7863840" cy="1097280"/>
          </a:xfrm>
          <a:prstGeom prst="rect">
            <a:avLst/>
          </a:prstGeom>
          <a:solidFill>
            <a:srgbClr val="F1F5F9"/>
          </a:solidFill>
          <a:ln/>
        </p:spPr>
        <p:txBody>
          <a:bodyPr/>
          <a:lstStyle/>
          <a:p>
            <a:endParaRPr lang="en-IN"/>
          </a:p>
        </p:txBody>
      </p:sp>
      <p:sp>
        <p:nvSpPr>
          <p:cNvPr id="5" name="Shape 3"/>
          <p:cNvSpPr/>
          <p:nvPr/>
        </p:nvSpPr>
        <p:spPr>
          <a:xfrm>
            <a:off x="640080" y="1051560"/>
            <a:ext cx="73152" cy="1097280"/>
          </a:xfrm>
          <a:prstGeom prst="rect">
            <a:avLst/>
          </a:prstGeom>
          <a:solidFill>
            <a:srgbClr val="0891B2"/>
          </a:solidFill>
          <a:ln/>
        </p:spPr>
        <p:txBody>
          <a:bodyPr/>
          <a:lstStyle/>
          <a:p>
            <a:endParaRPr lang="en-IN"/>
          </a:p>
        </p:txBody>
      </p:sp>
      <p:sp>
        <p:nvSpPr>
          <p:cNvPr id="6" name="Text 4"/>
          <p:cNvSpPr/>
          <p:nvPr/>
        </p:nvSpPr>
        <p:spPr>
          <a:xfrm>
            <a:off x="1005840" y="1115568"/>
            <a:ext cx="7223760" cy="960120"/>
          </a:xfrm>
          <a:prstGeom prst="rect">
            <a:avLst/>
          </a:prstGeom>
          <a:noFill/>
          <a:ln/>
        </p:spPr>
        <p:txBody>
          <a:bodyPr wrap="square" rtlCol="0" anchor="ctr"/>
          <a:lstStyle/>
          <a:p>
            <a:pPr marL="0" indent="0">
              <a:buNone/>
            </a:pPr>
            <a:r>
              <a:rPr lang="en-US" sz="1450" dirty="0">
                <a:solidFill>
                  <a:srgbClr val="1E293B"/>
                </a:solidFill>
                <a:latin typeface="Segoe UI" pitchFamily="34" charset="0"/>
                <a:ea typeface="Segoe UI" pitchFamily="34" charset="-122"/>
                <a:cs typeface="Segoe UI" pitchFamily="34" charset="-120"/>
              </a:rPr>
              <a:t>Connect Power BI to agent telemetry data in Dataverse to build operational dashboards that monitor AI agent performance, approval compliance, and claims operations — creating a continuous feedback loop for optimisation.</a:t>
            </a:r>
            <a:endParaRPr lang="en-US" sz="1450" dirty="0"/>
          </a:p>
        </p:txBody>
      </p:sp>
      <p:sp>
        <p:nvSpPr>
          <p:cNvPr id="7" name="Shape 5"/>
          <p:cNvSpPr/>
          <p:nvPr/>
        </p:nvSpPr>
        <p:spPr>
          <a:xfrm>
            <a:off x="640080" y="2468880"/>
            <a:ext cx="2468880" cy="2103120"/>
          </a:xfrm>
          <a:prstGeom prst="rect">
            <a:avLst/>
          </a:prstGeom>
          <a:solidFill>
            <a:srgbClr val="F1F5F9"/>
          </a:solidFill>
          <a:ln/>
        </p:spPr>
        <p:txBody>
          <a:bodyPr/>
          <a:lstStyle/>
          <a:p>
            <a:endParaRPr lang="en-IN"/>
          </a:p>
        </p:txBody>
      </p:sp>
      <p:sp>
        <p:nvSpPr>
          <p:cNvPr id="8" name="Text 6"/>
          <p:cNvSpPr/>
          <p:nvPr/>
        </p:nvSpPr>
        <p:spPr>
          <a:xfrm>
            <a:off x="8686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9" name="Text 7"/>
          <p:cNvSpPr/>
          <p:nvPr/>
        </p:nvSpPr>
        <p:spPr>
          <a:xfrm>
            <a:off x="8229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 hr Theory</a:t>
            </a:r>
            <a:endParaRPr lang="en-US" sz="1400" dirty="0"/>
          </a:p>
        </p:txBody>
      </p:sp>
      <p:sp>
        <p:nvSpPr>
          <p:cNvPr id="10" name="Text 8"/>
          <p:cNvSpPr/>
          <p:nvPr/>
        </p:nvSpPr>
        <p:spPr>
          <a:xfrm>
            <a:off x="8229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Feedback loop, data architecture, dashboard design</a:t>
            </a:r>
            <a:endParaRPr lang="en-US" sz="1100" dirty="0"/>
          </a:p>
        </p:txBody>
      </p:sp>
      <p:sp>
        <p:nvSpPr>
          <p:cNvPr id="11" name="Shape 9"/>
          <p:cNvSpPr/>
          <p:nvPr/>
        </p:nvSpPr>
        <p:spPr>
          <a:xfrm>
            <a:off x="3383280" y="2468880"/>
            <a:ext cx="2468880" cy="2103120"/>
          </a:xfrm>
          <a:prstGeom prst="rect">
            <a:avLst/>
          </a:prstGeom>
          <a:solidFill>
            <a:srgbClr val="F1F5F9"/>
          </a:solidFill>
          <a:ln/>
        </p:spPr>
        <p:txBody>
          <a:bodyPr/>
          <a:lstStyle/>
          <a:p>
            <a:endParaRPr lang="en-IN"/>
          </a:p>
        </p:txBody>
      </p:sp>
      <p:sp>
        <p:nvSpPr>
          <p:cNvPr id="12" name="Text 10"/>
          <p:cNvSpPr/>
          <p:nvPr/>
        </p:nvSpPr>
        <p:spPr>
          <a:xfrm>
            <a:off x="36118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3" name="Text 11"/>
          <p:cNvSpPr/>
          <p:nvPr/>
        </p:nvSpPr>
        <p:spPr>
          <a:xfrm>
            <a:off x="35661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1.5 hrs Lab</a:t>
            </a:r>
            <a:endParaRPr lang="en-US" sz="1400" dirty="0"/>
          </a:p>
        </p:txBody>
      </p:sp>
      <p:sp>
        <p:nvSpPr>
          <p:cNvPr id="14" name="Text 12"/>
          <p:cNvSpPr/>
          <p:nvPr/>
        </p:nvSpPr>
        <p:spPr>
          <a:xfrm>
            <a:off x="35661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 3-page BFSI dashboard in Power BI</a:t>
            </a:r>
            <a:endParaRPr lang="en-US" sz="1100" dirty="0"/>
          </a:p>
        </p:txBody>
      </p:sp>
      <p:sp>
        <p:nvSpPr>
          <p:cNvPr id="15" name="Shape 13"/>
          <p:cNvSpPr/>
          <p:nvPr/>
        </p:nvSpPr>
        <p:spPr>
          <a:xfrm>
            <a:off x="6126480" y="2468880"/>
            <a:ext cx="2468880" cy="2103120"/>
          </a:xfrm>
          <a:prstGeom prst="rect">
            <a:avLst/>
          </a:prstGeom>
          <a:solidFill>
            <a:srgbClr val="F1F5F9"/>
          </a:solidFill>
          <a:ln/>
        </p:spPr>
        <p:txBody>
          <a:bodyPr/>
          <a:lstStyle/>
          <a:p>
            <a:endParaRPr lang="en-IN"/>
          </a:p>
        </p:txBody>
      </p:sp>
      <p:sp>
        <p:nvSpPr>
          <p:cNvPr id="16" name="Text 14"/>
          <p:cNvSpPr/>
          <p:nvPr/>
        </p:nvSpPr>
        <p:spPr>
          <a:xfrm>
            <a:off x="63550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63093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Outcome</a:t>
            </a:r>
            <a:endParaRPr lang="en-US" sz="1400" dirty="0"/>
          </a:p>
        </p:txBody>
      </p:sp>
      <p:sp>
        <p:nvSpPr>
          <p:cNvPr id="18" name="Text 16"/>
          <p:cNvSpPr/>
          <p:nvPr/>
        </p:nvSpPr>
        <p:spPr>
          <a:xfrm>
            <a:off x="63093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Production-ready agent monitoring dashboards</a:t>
            </a:r>
            <a:endParaRPr lang="en-US" sz="11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1" name="Text 19"/>
          <p:cNvSpPr/>
          <p:nvPr/>
        </p:nvSpPr>
        <p:spPr>
          <a:xfrm>
            <a:off x="7955280" y="482491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 / 31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a:t>
            </a:r>
            <a:endParaRPr lang="en-US" sz="3200" dirty="0"/>
          </a:p>
        </p:txBody>
      </p:sp>
      <p:sp>
        <p:nvSpPr>
          <p:cNvPr id="4" name="Shape 2"/>
          <p:cNvSpPr/>
          <p:nvPr/>
        </p:nvSpPr>
        <p:spPr>
          <a:xfrm>
            <a:off x="640080" y="1051560"/>
            <a:ext cx="7863840" cy="502920"/>
          </a:xfrm>
          <a:prstGeom prst="rect">
            <a:avLst/>
          </a:prstGeom>
          <a:solidFill>
            <a:srgbClr val="F1F5F9"/>
          </a:solidFill>
          <a:ln/>
        </p:spPr>
        <p:txBody>
          <a:bodyPr/>
          <a:lstStyle/>
          <a:p>
            <a:endParaRPr lang="en-IN"/>
          </a:p>
        </p:txBody>
      </p:sp>
      <p:sp>
        <p:nvSpPr>
          <p:cNvPr id="5" name="Text 3"/>
          <p:cNvSpPr/>
          <p:nvPr/>
        </p:nvSpPr>
        <p:spPr>
          <a:xfrm>
            <a:off x="777240" y="112471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1325880" y="112471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Explain the agent insight feedback loop and how it drives continuous optimisation</a:t>
            </a:r>
            <a:endParaRPr lang="en-US" sz="1300" dirty="0"/>
          </a:p>
        </p:txBody>
      </p:sp>
      <p:sp>
        <p:nvSpPr>
          <p:cNvPr id="7" name="Shape 5"/>
          <p:cNvSpPr/>
          <p:nvPr/>
        </p:nvSpPr>
        <p:spPr>
          <a:xfrm>
            <a:off x="640080" y="1645920"/>
            <a:ext cx="7863840" cy="502920"/>
          </a:xfrm>
          <a:prstGeom prst="rect">
            <a:avLst/>
          </a:prstGeom>
          <a:solidFill>
            <a:srgbClr val="F1F5F9"/>
          </a:solidFill>
          <a:ln/>
        </p:spPr>
        <p:txBody>
          <a:bodyPr/>
          <a:lstStyle/>
          <a:p>
            <a:endParaRPr lang="en-IN"/>
          </a:p>
        </p:txBody>
      </p:sp>
      <p:sp>
        <p:nvSpPr>
          <p:cNvPr id="8" name="Text 6"/>
          <p:cNvSpPr/>
          <p:nvPr/>
        </p:nvSpPr>
        <p:spPr>
          <a:xfrm>
            <a:off x="777240" y="171907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02</a:t>
            </a:r>
            <a:endParaRPr lang="en-US" sz="1300" dirty="0"/>
          </a:p>
        </p:txBody>
      </p:sp>
      <p:sp>
        <p:nvSpPr>
          <p:cNvPr id="9" name="Text 7"/>
          <p:cNvSpPr/>
          <p:nvPr/>
        </p:nvSpPr>
        <p:spPr>
          <a:xfrm>
            <a:off x="1325880" y="171907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Connect Power BI to Dataverse using DirectQuery and Import modes</a:t>
            </a:r>
            <a:endParaRPr lang="en-US" sz="1300" dirty="0"/>
          </a:p>
        </p:txBody>
      </p:sp>
      <p:sp>
        <p:nvSpPr>
          <p:cNvPr id="10" name="Shape 8"/>
          <p:cNvSpPr/>
          <p:nvPr/>
        </p:nvSpPr>
        <p:spPr>
          <a:xfrm>
            <a:off x="640080" y="2240280"/>
            <a:ext cx="7863840" cy="502920"/>
          </a:xfrm>
          <a:prstGeom prst="rect">
            <a:avLst/>
          </a:prstGeom>
          <a:solidFill>
            <a:srgbClr val="F1F5F9"/>
          </a:solidFill>
          <a:ln/>
        </p:spPr>
        <p:txBody>
          <a:bodyPr/>
          <a:lstStyle/>
          <a:p>
            <a:endParaRPr lang="en-IN"/>
          </a:p>
        </p:txBody>
      </p:sp>
      <p:sp>
        <p:nvSpPr>
          <p:cNvPr id="11" name="Text 9"/>
          <p:cNvSpPr/>
          <p:nvPr/>
        </p:nvSpPr>
        <p:spPr>
          <a:xfrm>
            <a:off x="777240" y="231343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03</a:t>
            </a:r>
            <a:endParaRPr lang="en-US" sz="1300" dirty="0"/>
          </a:p>
        </p:txBody>
      </p:sp>
      <p:sp>
        <p:nvSpPr>
          <p:cNvPr id="12" name="Text 10"/>
          <p:cNvSpPr/>
          <p:nvPr/>
        </p:nvSpPr>
        <p:spPr>
          <a:xfrm>
            <a:off x="1325880" y="231343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Design a three-page BFSI dashboard: Claims, Agent Performance, Compliance</a:t>
            </a:r>
            <a:endParaRPr lang="en-US" sz="1300" dirty="0"/>
          </a:p>
        </p:txBody>
      </p:sp>
      <p:sp>
        <p:nvSpPr>
          <p:cNvPr id="13" name="Shape 11"/>
          <p:cNvSpPr/>
          <p:nvPr/>
        </p:nvSpPr>
        <p:spPr>
          <a:xfrm>
            <a:off x="640080" y="2834640"/>
            <a:ext cx="7863840" cy="502920"/>
          </a:xfrm>
          <a:prstGeom prst="rect">
            <a:avLst/>
          </a:prstGeom>
          <a:solidFill>
            <a:srgbClr val="F1F5F9"/>
          </a:solidFill>
          <a:ln/>
        </p:spPr>
        <p:txBody>
          <a:bodyPr/>
          <a:lstStyle/>
          <a:p>
            <a:endParaRPr lang="en-IN"/>
          </a:p>
        </p:txBody>
      </p:sp>
      <p:sp>
        <p:nvSpPr>
          <p:cNvPr id="14" name="Text 12"/>
          <p:cNvSpPr/>
          <p:nvPr/>
        </p:nvSpPr>
        <p:spPr>
          <a:xfrm>
            <a:off x="777240" y="290779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04</a:t>
            </a:r>
            <a:endParaRPr lang="en-US" sz="1300" dirty="0"/>
          </a:p>
        </p:txBody>
      </p:sp>
      <p:sp>
        <p:nvSpPr>
          <p:cNvPr id="15" name="Text 13"/>
          <p:cNvSpPr/>
          <p:nvPr/>
        </p:nvSpPr>
        <p:spPr>
          <a:xfrm>
            <a:off x="1325880" y="290779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Build DAX measures for agent KPIs: response time, delegation count, SLA rate</a:t>
            </a:r>
            <a:endParaRPr lang="en-US" sz="1300" dirty="0"/>
          </a:p>
        </p:txBody>
      </p:sp>
      <p:sp>
        <p:nvSpPr>
          <p:cNvPr id="16" name="Shape 14"/>
          <p:cNvSpPr/>
          <p:nvPr/>
        </p:nvSpPr>
        <p:spPr>
          <a:xfrm>
            <a:off x="640080" y="3429000"/>
            <a:ext cx="7863840" cy="502920"/>
          </a:xfrm>
          <a:prstGeom prst="rect">
            <a:avLst/>
          </a:prstGeom>
          <a:solidFill>
            <a:srgbClr val="F1F5F9"/>
          </a:solidFill>
          <a:ln/>
        </p:spPr>
        <p:txBody>
          <a:bodyPr/>
          <a:lstStyle/>
          <a:p>
            <a:endParaRPr lang="en-IN"/>
          </a:p>
        </p:txBody>
      </p:sp>
      <p:sp>
        <p:nvSpPr>
          <p:cNvPr id="17" name="Text 15"/>
          <p:cNvSpPr/>
          <p:nvPr/>
        </p:nvSpPr>
        <p:spPr>
          <a:xfrm>
            <a:off x="777240" y="350215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05</a:t>
            </a:r>
            <a:endParaRPr lang="en-US" sz="1300" dirty="0"/>
          </a:p>
        </p:txBody>
      </p:sp>
      <p:sp>
        <p:nvSpPr>
          <p:cNvPr id="18" name="Text 16"/>
          <p:cNvSpPr/>
          <p:nvPr/>
        </p:nvSpPr>
        <p:spPr>
          <a:xfrm>
            <a:off x="1325880" y="350215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Compare Copilot Studio built-in analytics with custom Power BI dashboards</a:t>
            </a:r>
            <a:endParaRPr lang="en-US" sz="1300" dirty="0"/>
          </a:p>
        </p:txBody>
      </p:sp>
      <p:sp>
        <p:nvSpPr>
          <p:cNvPr id="19" name="Shape 17"/>
          <p:cNvSpPr/>
          <p:nvPr/>
        </p:nvSpPr>
        <p:spPr>
          <a:xfrm>
            <a:off x="640080" y="4023360"/>
            <a:ext cx="7863840" cy="502920"/>
          </a:xfrm>
          <a:prstGeom prst="rect">
            <a:avLst/>
          </a:prstGeom>
          <a:solidFill>
            <a:srgbClr val="F1F5F9"/>
          </a:solidFill>
          <a:ln/>
        </p:spPr>
        <p:txBody>
          <a:bodyPr/>
          <a:lstStyle/>
          <a:p>
            <a:endParaRPr lang="en-IN"/>
          </a:p>
        </p:txBody>
      </p:sp>
      <p:sp>
        <p:nvSpPr>
          <p:cNvPr id="20" name="Text 18"/>
          <p:cNvSpPr/>
          <p:nvPr/>
        </p:nvSpPr>
        <p:spPr>
          <a:xfrm>
            <a:off x="777240" y="409651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06</a:t>
            </a:r>
            <a:endParaRPr lang="en-US" sz="1300" dirty="0"/>
          </a:p>
        </p:txBody>
      </p:sp>
      <p:sp>
        <p:nvSpPr>
          <p:cNvPr id="21" name="Text 19"/>
          <p:cNvSpPr/>
          <p:nvPr/>
        </p:nvSpPr>
        <p:spPr>
          <a:xfrm>
            <a:off x="1325880" y="409651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Translate dashboard insights into specific agent optimisation actions</a:t>
            </a:r>
            <a:endParaRPr lang="en-US" sz="1300" dirty="0"/>
          </a:p>
        </p:txBody>
      </p:sp>
      <p:sp>
        <p:nvSpPr>
          <p:cNvPr id="22" name="Shape 20"/>
          <p:cNvSpPr/>
          <p:nvPr/>
        </p:nvSpPr>
        <p:spPr>
          <a:xfrm>
            <a:off x="0" y="4846320"/>
            <a:ext cx="9144000" cy="297180"/>
          </a:xfrm>
          <a:prstGeom prst="rect">
            <a:avLst/>
          </a:prstGeom>
          <a:solidFill>
            <a:srgbClr val="F1F5F9"/>
          </a:solidFill>
          <a:ln/>
        </p:spPr>
        <p:txBody>
          <a:bodyPr/>
          <a:lstStyle/>
          <a:p>
            <a:endParaRPr lang="en-IN"/>
          </a:p>
        </p:txBody>
      </p:sp>
      <p:sp>
        <p:nvSpPr>
          <p:cNvPr id="23" name="Text 21"/>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4" name="Text 22"/>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 / 31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Prerequisites</a:t>
            </a:r>
            <a:endParaRPr lang="en-US" sz="3000" dirty="0"/>
          </a:p>
        </p:txBody>
      </p:sp>
      <p:sp>
        <p:nvSpPr>
          <p:cNvPr id="4" name="Text 2"/>
          <p:cNvSpPr/>
          <p:nvPr/>
        </p:nvSpPr>
        <p:spPr>
          <a:xfrm>
            <a:off x="640080" y="77724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Required before the hands-on lab:</a:t>
            </a:r>
            <a:endParaRPr lang="en-US" sz="1200" dirty="0"/>
          </a:p>
        </p:txBody>
      </p:sp>
      <p:sp>
        <p:nvSpPr>
          <p:cNvPr id="5" name="Shape 3"/>
          <p:cNvSpPr/>
          <p:nvPr/>
        </p:nvSpPr>
        <p:spPr>
          <a:xfrm>
            <a:off x="457200" y="1143000"/>
            <a:ext cx="8229600" cy="548640"/>
          </a:xfrm>
          <a:prstGeom prst="rect">
            <a:avLst/>
          </a:prstGeom>
          <a:solidFill>
            <a:srgbClr val="F1F5F9"/>
          </a:solidFill>
          <a:ln/>
        </p:spPr>
        <p:txBody>
          <a:bodyPr/>
          <a:lstStyle/>
          <a:p>
            <a:endParaRPr lang="en-IN"/>
          </a:p>
        </p:txBody>
      </p:sp>
      <p:sp>
        <p:nvSpPr>
          <p:cNvPr id="6" name="Text 4"/>
          <p:cNvSpPr/>
          <p:nvPr/>
        </p:nvSpPr>
        <p:spPr>
          <a:xfrm>
            <a:off x="594360" y="1252728"/>
            <a:ext cx="411480" cy="329184"/>
          </a:xfrm>
          <a:prstGeom prst="rect">
            <a:avLst/>
          </a:prstGeom>
          <a:noFill/>
          <a:ln/>
        </p:spPr>
        <p:txBody>
          <a:bodyPr wrap="square" rtlCol="0" anchor="ctr"/>
          <a:lstStyle/>
          <a:p>
            <a:pPr marL="0" indent="0">
              <a:buNone/>
            </a:pPr>
            <a:r>
              <a:rPr lang="en-US" sz="1600" dirty="0">
                <a:solidFill>
                  <a:srgbClr val="0891B2"/>
                </a:solidFill>
              </a:rPr>
              <a:t>✓</a:t>
            </a:r>
            <a:endParaRPr lang="en-US" sz="1600" dirty="0"/>
          </a:p>
        </p:txBody>
      </p:sp>
      <p:sp>
        <p:nvSpPr>
          <p:cNvPr id="7" name="Text 5"/>
          <p:cNvSpPr/>
          <p:nvPr/>
        </p:nvSpPr>
        <p:spPr>
          <a:xfrm>
            <a:off x="1097280" y="1252728"/>
            <a:ext cx="2743200" cy="329184"/>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Modules 08–10 Complete</a:t>
            </a:r>
            <a:endParaRPr lang="en-US" sz="1200" dirty="0"/>
          </a:p>
        </p:txBody>
      </p:sp>
      <p:sp>
        <p:nvSpPr>
          <p:cNvPr id="8" name="Text 6"/>
          <p:cNvSpPr/>
          <p:nvPr/>
        </p:nvSpPr>
        <p:spPr>
          <a:xfrm>
            <a:off x="3931920" y="1252728"/>
            <a:ext cx="4572000" cy="329184"/>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ApprovalLog and AgentTaskLog tables should have records</a:t>
            </a:r>
            <a:endParaRPr lang="en-US" sz="1100" dirty="0"/>
          </a:p>
        </p:txBody>
      </p:sp>
      <p:sp>
        <p:nvSpPr>
          <p:cNvPr id="9" name="Shape 7"/>
          <p:cNvSpPr/>
          <p:nvPr/>
        </p:nvSpPr>
        <p:spPr>
          <a:xfrm>
            <a:off x="457200" y="1783080"/>
            <a:ext cx="8229600" cy="548640"/>
          </a:xfrm>
          <a:prstGeom prst="rect">
            <a:avLst/>
          </a:prstGeom>
          <a:solidFill>
            <a:srgbClr val="F1F5F9"/>
          </a:solidFill>
          <a:ln/>
        </p:spPr>
        <p:txBody>
          <a:bodyPr/>
          <a:lstStyle/>
          <a:p>
            <a:endParaRPr lang="en-IN"/>
          </a:p>
        </p:txBody>
      </p:sp>
      <p:sp>
        <p:nvSpPr>
          <p:cNvPr id="10" name="Text 8"/>
          <p:cNvSpPr/>
          <p:nvPr/>
        </p:nvSpPr>
        <p:spPr>
          <a:xfrm>
            <a:off x="594360" y="1892808"/>
            <a:ext cx="411480" cy="329184"/>
          </a:xfrm>
          <a:prstGeom prst="rect">
            <a:avLst/>
          </a:prstGeom>
          <a:noFill/>
          <a:ln/>
        </p:spPr>
        <p:txBody>
          <a:bodyPr wrap="square" rtlCol="0" anchor="ctr"/>
          <a:lstStyle/>
          <a:p>
            <a:pPr marL="0" indent="0">
              <a:buNone/>
            </a:pPr>
            <a:r>
              <a:rPr lang="en-US" sz="1600" dirty="0">
                <a:solidFill>
                  <a:srgbClr val="0891B2"/>
                </a:solidFill>
              </a:rPr>
              <a:t>📊</a:t>
            </a:r>
            <a:endParaRPr lang="en-US" sz="1600" dirty="0"/>
          </a:p>
        </p:txBody>
      </p:sp>
      <p:sp>
        <p:nvSpPr>
          <p:cNvPr id="11" name="Text 9"/>
          <p:cNvSpPr/>
          <p:nvPr/>
        </p:nvSpPr>
        <p:spPr>
          <a:xfrm>
            <a:off x="1097280" y="1892808"/>
            <a:ext cx="2743200" cy="329184"/>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Power BI Desktop</a:t>
            </a:r>
            <a:endParaRPr lang="en-US" sz="1200" dirty="0"/>
          </a:p>
        </p:txBody>
      </p:sp>
      <p:sp>
        <p:nvSpPr>
          <p:cNvPr id="12" name="Text 10"/>
          <p:cNvSpPr/>
          <p:nvPr/>
        </p:nvSpPr>
        <p:spPr>
          <a:xfrm>
            <a:off x="3931920" y="1892808"/>
            <a:ext cx="4572000" cy="329184"/>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Latest version (same workstation used in Module 10)</a:t>
            </a:r>
            <a:endParaRPr lang="en-US" sz="1100" dirty="0"/>
          </a:p>
        </p:txBody>
      </p:sp>
      <p:sp>
        <p:nvSpPr>
          <p:cNvPr id="13" name="Shape 11"/>
          <p:cNvSpPr/>
          <p:nvPr/>
        </p:nvSpPr>
        <p:spPr>
          <a:xfrm>
            <a:off x="457200" y="2423160"/>
            <a:ext cx="8229600" cy="548640"/>
          </a:xfrm>
          <a:prstGeom prst="rect">
            <a:avLst/>
          </a:prstGeom>
          <a:solidFill>
            <a:srgbClr val="F1F5F9"/>
          </a:solidFill>
          <a:ln/>
        </p:spPr>
        <p:txBody>
          <a:bodyPr/>
          <a:lstStyle/>
          <a:p>
            <a:endParaRPr lang="en-IN"/>
          </a:p>
        </p:txBody>
      </p:sp>
      <p:sp>
        <p:nvSpPr>
          <p:cNvPr id="14" name="Text 12"/>
          <p:cNvSpPr/>
          <p:nvPr/>
        </p:nvSpPr>
        <p:spPr>
          <a:xfrm>
            <a:off x="594360" y="2532888"/>
            <a:ext cx="411480" cy="329184"/>
          </a:xfrm>
          <a:prstGeom prst="rect">
            <a:avLst/>
          </a:prstGeom>
          <a:noFill/>
          <a:ln/>
        </p:spPr>
        <p:txBody>
          <a:bodyPr wrap="square" rtlCol="0" anchor="ctr"/>
          <a:lstStyle/>
          <a:p>
            <a:pPr marL="0" indent="0">
              <a:buNone/>
            </a:pPr>
            <a:r>
              <a:rPr lang="en-US" sz="1600" dirty="0">
                <a:solidFill>
                  <a:srgbClr val="0891B2"/>
                </a:solidFill>
              </a:rPr>
              <a:t>🔑</a:t>
            </a:r>
            <a:endParaRPr lang="en-US" sz="1600" dirty="0"/>
          </a:p>
        </p:txBody>
      </p:sp>
      <p:sp>
        <p:nvSpPr>
          <p:cNvPr id="15" name="Text 13"/>
          <p:cNvSpPr/>
          <p:nvPr/>
        </p:nvSpPr>
        <p:spPr>
          <a:xfrm>
            <a:off x="1097280" y="2532888"/>
            <a:ext cx="2743200" cy="329184"/>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Power BI Pro/PPU License</a:t>
            </a:r>
            <a:endParaRPr lang="en-US" sz="1200" dirty="0"/>
          </a:p>
        </p:txBody>
      </p:sp>
      <p:sp>
        <p:nvSpPr>
          <p:cNvPr id="16" name="Text 14"/>
          <p:cNvSpPr/>
          <p:nvPr/>
        </p:nvSpPr>
        <p:spPr>
          <a:xfrm>
            <a:off x="3931920" y="2532888"/>
            <a:ext cx="4572000" cy="329184"/>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For publishing to Power BI Service (trial acceptable)</a:t>
            </a:r>
            <a:endParaRPr lang="en-US" sz="1100" dirty="0"/>
          </a:p>
        </p:txBody>
      </p:sp>
      <p:sp>
        <p:nvSpPr>
          <p:cNvPr id="17" name="Shape 15"/>
          <p:cNvSpPr/>
          <p:nvPr/>
        </p:nvSpPr>
        <p:spPr>
          <a:xfrm>
            <a:off x="457200" y="3063240"/>
            <a:ext cx="8229600" cy="548640"/>
          </a:xfrm>
          <a:prstGeom prst="rect">
            <a:avLst/>
          </a:prstGeom>
          <a:solidFill>
            <a:srgbClr val="F1F5F9"/>
          </a:solidFill>
          <a:ln/>
        </p:spPr>
        <p:txBody>
          <a:bodyPr/>
          <a:lstStyle/>
          <a:p>
            <a:endParaRPr lang="en-IN"/>
          </a:p>
        </p:txBody>
      </p:sp>
      <p:sp>
        <p:nvSpPr>
          <p:cNvPr id="18" name="Text 16"/>
          <p:cNvSpPr/>
          <p:nvPr/>
        </p:nvSpPr>
        <p:spPr>
          <a:xfrm>
            <a:off x="594360" y="3172968"/>
            <a:ext cx="411480" cy="329184"/>
          </a:xfrm>
          <a:prstGeom prst="rect">
            <a:avLst/>
          </a:prstGeom>
          <a:noFill/>
          <a:ln/>
        </p:spPr>
        <p:txBody>
          <a:bodyPr wrap="square" rtlCol="0" anchor="ctr"/>
          <a:lstStyle/>
          <a:p>
            <a:pPr marL="0" indent="0">
              <a:buNone/>
            </a:pPr>
            <a:r>
              <a:rPr lang="en-US" sz="1600" dirty="0">
                <a:solidFill>
                  <a:srgbClr val="0891B2"/>
                </a:solidFill>
              </a:rPr>
              <a:t>⚙️</a:t>
            </a:r>
            <a:endParaRPr lang="en-US" sz="1600" dirty="0"/>
          </a:p>
        </p:txBody>
      </p:sp>
      <p:sp>
        <p:nvSpPr>
          <p:cNvPr id="19" name="Text 17"/>
          <p:cNvSpPr/>
          <p:nvPr/>
        </p:nvSpPr>
        <p:spPr>
          <a:xfrm>
            <a:off x="1097280" y="3172968"/>
            <a:ext cx="2743200" cy="329184"/>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TDS Endpoint Enabled</a:t>
            </a:r>
            <a:endParaRPr lang="en-US" sz="1200" dirty="0"/>
          </a:p>
        </p:txBody>
      </p:sp>
      <p:sp>
        <p:nvSpPr>
          <p:cNvPr id="20" name="Text 18"/>
          <p:cNvSpPr/>
          <p:nvPr/>
        </p:nvSpPr>
        <p:spPr>
          <a:xfrm>
            <a:off x="3931920" y="3172968"/>
            <a:ext cx="4572000" cy="329184"/>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Power Platform Admin Centre → Settings → Features → TDS = On</a:t>
            </a:r>
            <a:endParaRPr lang="en-US" sz="1100" dirty="0"/>
          </a:p>
        </p:txBody>
      </p:sp>
      <p:sp>
        <p:nvSpPr>
          <p:cNvPr id="21" name="Shape 19"/>
          <p:cNvSpPr/>
          <p:nvPr/>
        </p:nvSpPr>
        <p:spPr>
          <a:xfrm>
            <a:off x="457200" y="3703320"/>
            <a:ext cx="8229600" cy="548640"/>
          </a:xfrm>
          <a:prstGeom prst="rect">
            <a:avLst/>
          </a:prstGeom>
          <a:solidFill>
            <a:srgbClr val="F1F5F9"/>
          </a:solidFill>
          <a:ln/>
        </p:spPr>
        <p:txBody>
          <a:bodyPr/>
          <a:lstStyle/>
          <a:p>
            <a:endParaRPr lang="en-IN"/>
          </a:p>
        </p:txBody>
      </p:sp>
      <p:sp>
        <p:nvSpPr>
          <p:cNvPr id="22" name="Text 20"/>
          <p:cNvSpPr/>
          <p:nvPr/>
        </p:nvSpPr>
        <p:spPr>
          <a:xfrm>
            <a:off x="594360" y="3813048"/>
            <a:ext cx="411480" cy="329184"/>
          </a:xfrm>
          <a:prstGeom prst="rect">
            <a:avLst/>
          </a:prstGeom>
          <a:noFill/>
          <a:ln/>
        </p:spPr>
        <p:txBody>
          <a:bodyPr wrap="square" rtlCol="0" anchor="ctr"/>
          <a:lstStyle/>
          <a:p>
            <a:pPr marL="0" indent="0">
              <a:buNone/>
            </a:pPr>
            <a:r>
              <a:rPr lang="en-US" sz="1600" dirty="0">
                <a:solidFill>
                  <a:srgbClr val="0891B2"/>
                </a:solidFill>
              </a:rPr>
              <a:t>📁</a:t>
            </a:r>
            <a:endParaRPr lang="en-US" sz="1600" dirty="0"/>
          </a:p>
        </p:txBody>
      </p:sp>
      <p:sp>
        <p:nvSpPr>
          <p:cNvPr id="23" name="Text 21"/>
          <p:cNvSpPr/>
          <p:nvPr/>
        </p:nvSpPr>
        <p:spPr>
          <a:xfrm>
            <a:off x="1097280" y="3813048"/>
            <a:ext cx="2743200" cy="329184"/>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Module 10 .pbix File</a:t>
            </a:r>
            <a:endParaRPr lang="en-US" sz="1200" dirty="0"/>
          </a:p>
        </p:txBody>
      </p:sp>
      <p:sp>
        <p:nvSpPr>
          <p:cNvPr id="24" name="Text 22"/>
          <p:cNvSpPr/>
          <p:nvPr/>
        </p:nvSpPr>
        <p:spPr>
          <a:xfrm>
            <a:off x="3931920" y="3813048"/>
            <a:ext cx="4572000" cy="329184"/>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Contoso Insurance model or fresh Dataverse connection</a:t>
            </a:r>
            <a:endParaRPr lang="en-US" sz="110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7" name="Text 25"/>
          <p:cNvSpPr/>
          <p:nvPr/>
        </p:nvSpPr>
        <p:spPr>
          <a:xfrm>
            <a:off x="7955280" y="4846683"/>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4 / 31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1</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The Agent Insight</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Feedback Loop</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From Data to Decisions to Optimisation</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5 / 31</a:t>
            </a:r>
            <a:endParaRPr lang="en-US" sz="9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The Four-Step Feedback Loop</a:t>
            </a:r>
            <a:endParaRPr lang="en-US" sz="3000" dirty="0"/>
          </a:p>
        </p:txBody>
      </p:sp>
      <p:sp>
        <p:nvSpPr>
          <p:cNvPr id="4" name="Shape 2"/>
          <p:cNvSpPr/>
          <p:nvPr/>
        </p:nvSpPr>
        <p:spPr>
          <a:xfrm>
            <a:off x="457200" y="960120"/>
            <a:ext cx="8229600" cy="804672"/>
          </a:xfrm>
          <a:prstGeom prst="rect">
            <a:avLst/>
          </a:prstGeom>
          <a:solidFill>
            <a:srgbClr val="F1F5F9"/>
          </a:solidFill>
          <a:ln/>
        </p:spPr>
        <p:txBody>
          <a:bodyPr/>
          <a:lstStyle/>
          <a:p>
            <a:endParaRPr lang="en-IN"/>
          </a:p>
        </p:txBody>
      </p:sp>
      <p:sp>
        <p:nvSpPr>
          <p:cNvPr id="5" name="Shape 3"/>
          <p:cNvSpPr/>
          <p:nvPr/>
        </p:nvSpPr>
        <p:spPr>
          <a:xfrm>
            <a:off x="457200" y="960120"/>
            <a:ext cx="548640" cy="804672"/>
          </a:xfrm>
          <a:prstGeom prst="rect">
            <a:avLst/>
          </a:prstGeom>
          <a:solidFill>
            <a:srgbClr val="0891B2"/>
          </a:solidFill>
          <a:ln/>
        </p:spPr>
        <p:txBody>
          <a:bodyPr/>
          <a:lstStyle/>
          <a:p>
            <a:endParaRPr lang="en-IN"/>
          </a:p>
        </p:txBody>
      </p:sp>
      <p:sp>
        <p:nvSpPr>
          <p:cNvPr id="6" name="Text 4"/>
          <p:cNvSpPr/>
          <p:nvPr/>
        </p:nvSpPr>
        <p:spPr>
          <a:xfrm>
            <a:off x="457200" y="1188720"/>
            <a:ext cx="548640" cy="347472"/>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7" name="Text 5"/>
          <p:cNvSpPr/>
          <p:nvPr/>
        </p:nvSpPr>
        <p:spPr>
          <a:xfrm>
            <a:off x="1097280" y="1143000"/>
            <a:ext cx="457200" cy="438912"/>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8" name="Text 6"/>
          <p:cNvSpPr/>
          <p:nvPr/>
        </p:nvSpPr>
        <p:spPr>
          <a:xfrm>
            <a:off x="1645920" y="1097280"/>
            <a:ext cx="2011680" cy="530352"/>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Agents Act</a:t>
            </a:r>
            <a:endParaRPr lang="en-US" sz="1400" dirty="0"/>
          </a:p>
        </p:txBody>
      </p:sp>
      <p:sp>
        <p:nvSpPr>
          <p:cNvPr id="9" name="Text 7"/>
          <p:cNvSpPr/>
          <p:nvPr/>
        </p:nvSpPr>
        <p:spPr>
          <a:xfrm>
            <a:off x="3749040" y="1161288"/>
            <a:ext cx="4754880" cy="402336"/>
          </a:xfrm>
          <a:prstGeom prst="rect">
            <a:avLst/>
          </a:prstGeom>
          <a:noFill/>
          <a:ln/>
        </p:spPr>
        <p:txBody>
          <a:bodyPr wrap="square" rtlCol="0" anchor="ctr"/>
          <a:lstStyle/>
          <a:p>
            <a:pPr marL="0" indent="0">
              <a:buNone/>
            </a:pPr>
            <a:r>
              <a:rPr lang="en-US" sz="1150" dirty="0">
                <a:solidFill>
                  <a:srgbClr val="475569"/>
                </a:solidFill>
                <a:latin typeface="Segoe UI" pitchFamily="34" charset="0"/>
                <a:ea typeface="Segoe UI" pitchFamily="34" charset="-122"/>
                <a:cs typeface="Segoe UI" pitchFamily="34" charset="-120"/>
              </a:rPr>
              <a:t>Process requests, make decisions, delegate tasks, escalate to humans</a:t>
            </a:r>
            <a:endParaRPr lang="en-US" sz="1150" dirty="0"/>
          </a:p>
        </p:txBody>
      </p:sp>
      <p:sp>
        <p:nvSpPr>
          <p:cNvPr id="10" name="Shape 8"/>
          <p:cNvSpPr/>
          <p:nvPr/>
        </p:nvSpPr>
        <p:spPr>
          <a:xfrm>
            <a:off x="457200" y="1874520"/>
            <a:ext cx="8229600" cy="804672"/>
          </a:xfrm>
          <a:prstGeom prst="rect">
            <a:avLst/>
          </a:prstGeom>
          <a:solidFill>
            <a:srgbClr val="F1F5F9"/>
          </a:solidFill>
          <a:ln/>
        </p:spPr>
        <p:txBody>
          <a:bodyPr/>
          <a:lstStyle/>
          <a:p>
            <a:endParaRPr lang="en-IN"/>
          </a:p>
        </p:txBody>
      </p:sp>
      <p:sp>
        <p:nvSpPr>
          <p:cNvPr id="11" name="Shape 9"/>
          <p:cNvSpPr/>
          <p:nvPr/>
        </p:nvSpPr>
        <p:spPr>
          <a:xfrm>
            <a:off x="457200" y="1874520"/>
            <a:ext cx="548640" cy="804672"/>
          </a:xfrm>
          <a:prstGeom prst="rect">
            <a:avLst/>
          </a:prstGeom>
          <a:solidFill>
            <a:srgbClr val="0891B2"/>
          </a:solidFill>
          <a:ln/>
        </p:spPr>
        <p:txBody>
          <a:bodyPr/>
          <a:lstStyle/>
          <a:p>
            <a:endParaRPr lang="en-IN"/>
          </a:p>
        </p:txBody>
      </p:sp>
      <p:sp>
        <p:nvSpPr>
          <p:cNvPr id="12" name="Text 10"/>
          <p:cNvSpPr/>
          <p:nvPr/>
        </p:nvSpPr>
        <p:spPr>
          <a:xfrm>
            <a:off x="457200" y="2103120"/>
            <a:ext cx="548640" cy="347472"/>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3" name="Text 11"/>
          <p:cNvSpPr/>
          <p:nvPr/>
        </p:nvSpPr>
        <p:spPr>
          <a:xfrm>
            <a:off x="1097280" y="2057400"/>
            <a:ext cx="457200" cy="438912"/>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4" name="Text 12"/>
          <p:cNvSpPr/>
          <p:nvPr/>
        </p:nvSpPr>
        <p:spPr>
          <a:xfrm>
            <a:off x="1645920" y="2011680"/>
            <a:ext cx="2011680" cy="530352"/>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Dataverse Captures</a:t>
            </a:r>
            <a:endParaRPr lang="en-US" sz="1400" dirty="0"/>
          </a:p>
        </p:txBody>
      </p:sp>
      <p:sp>
        <p:nvSpPr>
          <p:cNvPr id="15" name="Text 13"/>
          <p:cNvSpPr/>
          <p:nvPr/>
        </p:nvSpPr>
        <p:spPr>
          <a:xfrm>
            <a:off x="3749040" y="2075688"/>
            <a:ext cx="4754880" cy="402336"/>
          </a:xfrm>
          <a:prstGeom prst="rect">
            <a:avLst/>
          </a:prstGeom>
          <a:noFill/>
          <a:ln/>
        </p:spPr>
        <p:txBody>
          <a:bodyPr wrap="square" rtlCol="0" anchor="ctr"/>
          <a:lstStyle/>
          <a:p>
            <a:pPr marL="0" indent="0">
              <a:buNone/>
            </a:pPr>
            <a:r>
              <a:rPr lang="en-US" sz="1150" dirty="0">
                <a:solidFill>
                  <a:srgbClr val="475569"/>
                </a:solidFill>
                <a:latin typeface="Segoe UI" pitchFamily="34" charset="0"/>
                <a:ea typeface="Segoe UI" pitchFamily="34" charset="-122"/>
                <a:cs typeface="Segoe UI" pitchFamily="34" charset="-120"/>
              </a:rPr>
              <a:t>Every action is logged: timestamps, outcomes, durations, decisions</a:t>
            </a:r>
            <a:endParaRPr lang="en-US" sz="1150" dirty="0"/>
          </a:p>
        </p:txBody>
      </p:sp>
      <p:sp>
        <p:nvSpPr>
          <p:cNvPr id="16" name="Shape 14"/>
          <p:cNvSpPr/>
          <p:nvPr/>
        </p:nvSpPr>
        <p:spPr>
          <a:xfrm>
            <a:off x="457200" y="2788920"/>
            <a:ext cx="8229600" cy="804672"/>
          </a:xfrm>
          <a:prstGeom prst="rect">
            <a:avLst/>
          </a:prstGeom>
          <a:solidFill>
            <a:srgbClr val="F1F5F9"/>
          </a:solidFill>
          <a:ln/>
        </p:spPr>
        <p:txBody>
          <a:bodyPr/>
          <a:lstStyle/>
          <a:p>
            <a:endParaRPr lang="en-IN"/>
          </a:p>
        </p:txBody>
      </p:sp>
      <p:sp>
        <p:nvSpPr>
          <p:cNvPr id="17" name="Shape 15"/>
          <p:cNvSpPr/>
          <p:nvPr/>
        </p:nvSpPr>
        <p:spPr>
          <a:xfrm>
            <a:off x="457200" y="2788920"/>
            <a:ext cx="548640" cy="804672"/>
          </a:xfrm>
          <a:prstGeom prst="rect">
            <a:avLst/>
          </a:prstGeom>
          <a:solidFill>
            <a:srgbClr val="0891B2"/>
          </a:solidFill>
          <a:ln/>
        </p:spPr>
        <p:txBody>
          <a:bodyPr/>
          <a:lstStyle/>
          <a:p>
            <a:endParaRPr lang="en-IN"/>
          </a:p>
        </p:txBody>
      </p:sp>
      <p:sp>
        <p:nvSpPr>
          <p:cNvPr id="18" name="Text 16"/>
          <p:cNvSpPr/>
          <p:nvPr/>
        </p:nvSpPr>
        <p:spPr>
          <a:xfrm>
            <a:off x="457200" y="3017520"/>
            <a:ext cx="548640" cy="347472"/>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9" name="Text 17"/>
          <p:cNvSpPr/>
          <p:nvPr/>
        </p:nvSpPr>
        <p:spPr>
          <a:xfrm>
            <a:off x="1097280" y="2971800"/>
            <a:ext cx="457200" cy="438912"/>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0" name="Text 18"/>
          <p:cNvSpPr/>
          <p:nvPr/>
        </p:nvSpPr>
        <p:spPr>
          <a:xfrm>
            <a:off x="1645920" y="2926080"/>
            <a:ext cx="2011680" cy="530352"/>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Power BI Visualises</a:t>
            </a:r>
            <a:endParaRPr lang="en-US" sz="1400" dirty="0"/>
          </a:p>
        </p:txBody>
      </p:sp>
      <p:sp>
        <p:nvSpPr>
          <p:cNvPr id="21" name="Text 19"/>
          <p:cNvSpPr/>
          <p:nvPr/>
        </p:nvSpPr>
        <p:spPr>
          <a:xfrm>
            <a:off x="3749040" y="2990088"/>
            <a:ext cx="4754880" cy="402336"/>
          </a:xfrm>
          <a:prstGeom prst="rect">
            <a:avLst/>
          </a:prstGeom>
          <a:noFill/>
          <a:ln/>
        </p:spPr>
        <p:txBody>
          <a:bodyPr wrap="square" rtlCol="0" anchor="ctr"/>
          <a:lstStyle/>
          <a:p>
            <a:pPr marL="0" indent="0">
              <a:buNone/>
            </a:pPr>
            <a:r>
              <a:rPr lang="en-US" sz="1150" dirty="0">
                <a:solidFill>
                  <a:srgbClr val="475569"/>
                </a:solidFill>
                <a:latin typeface="Segoe UI" pitchFamily="34" charset="0"/>
                <a:ea typeface="Segoe UI" pitchFamily="34" charset="-122"/>
                <a:cs typeface="Segoe UI" pitchFamily="34" charset="-120"/>
              </a:rPr>
              <a:t>Patterns emerge: success rates, bottlenecks, SLA breaches, trends</a:t>
            </a:r>
            <a:endParaRPr lang="en-US" sz="1150" dirty="0"/>
          </a:p>
        </p:txBody>
      </p:sp>
      <p:sp>
        <p:nvSpPr>
          <p:cNvPr id="22" name="Shape 20"/>
          <p:cNvSpPr/>
          <p:nvPr/>
        </p:nvSpPr>
        <p:spPr>
          <a:xfrm>
            <a:off x="457200" y="3703320"/>
            <a:ext cx="8229600" cy="804672"/>
          </a:xfrm>
          <a:prstGeom prst="rect">
            <a:avLst/>
          </a:prstGeom>
          <a:solidFill>
            <a:srgbClr val="F1F5F9"/>
          </a:solidFill>
          <a:ln/>
        </p:spPr>
        <p:txBody>
          <a:bodyPr/>
          <a:lstStyle/>
          <a:p>
            <a:endParaRPr lang="en-IN"/>
          </a:p>
        </p:txBody>
      </p:sp>
      <p:sp>
        <p:nvSpPr>
          <p:cNvPr id="23" name="Shape 21"/>
          <p:cNvSpPr/>
          <p:nvPr/>
        </p:nvSpPr>
        <p:spPr>
          <a:xfrm>
            <a:off x="457200" y="3703320"/>
            <a:ext cx="548640" cy="804672"/>
          </a:xfrm>
          <a:prstGeom prst="rect">
            <a:avLst/>
          </a:prstGeom>
          <a:solidFill>
            <a:srgbClr val="0891B2"/>
          </a:solidFill>
          <a:ln/>
        </p:spPr>
        <p:txBody>
          <a:bodyPr/>
          <a:lstStyle/>
          <a:p>
            <a:endParaRPr lang="en-IN"/>
          </a:p>
        </p:txBody>
      </p:sp>
      <p:sp>
        <p:nvSpPr>
          <p:cNvPr id="24" name="Text 22"/>
          <p:cNvSpPr/>
          <p:nvPr/>
        </p:nvSpPr>
        <p:spPr>
          <a:xfrm>
            <a:off x="457200" y="3931920"/>
            <a:ext cx="548640" cy="347472"/>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25" name="Text 23"/>
          <p:cNvSpPr/>
          <p:nvPr/>
        </p:nvSpPr>
        <p:spPr>
          <a:xfrm>
            <a:off x="1097280" y="3886200"/>
            <a:ext cx="457200" cy="438912"/>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6" name="Text 24"/>
          <p:cNvSpPr/>
          <p:nvPr/>
        </p:nvSpPr>
        <p:spPr>
          <a:xfrm>
            <a:off x="1645920" y="3840480"/>
            <a:ext cx="2011680" cy="530352"/>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Humans Optimise</a:t>
            </a:r>
            <a:endParaRPr lang="en-US" sz="1400" dirty="0"/>
          </a:p>
        </p:txBody>
      </p:sp>
      <p:sp>
        <p:nvSpPr>
          <p:cNvPr id="27" name="Text 25"/>
          <p:cNvSpPr/>
          <p:nvPr/>
        </p:nvSpPr>
        <p:spPr>
          <a:xfrm>
            <a:off x="3749040" y="3904488"/>
            <a:ext cx="4754880" cy="402336"/>
          </a:xfrm>
          <a:prstGeom prst="rect">
            <a:avLst/>
          </a:prstGeom>
          <a:noFill/>
          <a:ln/>
        </p:spPr>
        <p:txBody>
          <a:bodyPr wrap="square" rtlCol="0" anchor="ctr"/>
          <a:lstStyle/>
          <a:p>
            <a:pPr marL="0" indent="0">
              <a:buNone/>
            </a:pPr>
            <a:r>
              <a:rPr lang="en-US" sz="1150" dirty="0">
                <a:solidFill>
                  <a:srgbClr val="475569"/>
                </a:solidFill>
                <a:latin typeface="Segoe UI" pitchFamily="34" charset="0"/>
                <a:ea typeface="Segoe UI" pitchFamily="34" charset="-122"/>
                <a:cs typeface="Segoe UI" pitchFamily="34" charset="-120"/>
              </a:rPr>
              <a:t>Adjust prompts, modify thresholds, rebalance delegation, add knowledge</a:t>
            </a:r>
            <a:endParaRPr lang="en-US" sz="1150" dirty="0"/>
          </a:p>
        </p:txBody>
      </p:sp>
      <p:sp>
        <p:nvSpPr>
          <p:cNvPr id="28" name="Text 26"/>
          <p:cNvSpPr/>
          <p:nvPr/>
        </p:nvSpPr>
        <p:spPr>
          <a:xfrm>
            <a:off x="6400800" y="4572000"/>
            <a:ext cx="2286000" cy="274320"/>
          </a:xfrm>
          <a:prstGeom prst="rect">
            <a:avLst/>
          </a:prstGeom>
          <a:noFill/>
          <a:ln/>
        </p:spPr>
        <p:txBody>
          <a:bodyPr wrap="square" rtlCol="0" anchor="ctr"/>
          <a:lstStyle/>
          <a:p>
            <a:pPr marL="0" indent="0" algn="r">
              <a:buNone/>
            </a:pPr>
            <a:r>
              <a:rPr lang="en-US" sz="1100" b="1" dirty="0">
                <a:solidFill>
                  <a:srgbClr val="0891B2"/>
                </a:solidFill>
                <a:latin typeface="Segoe UI" pitchFamily="34" charset="0"/>
                <a:ea typeface="Segoe UI" pitchFamily="34" charset="-122"/>
                <a:cs typeface="Segoe UI" pitchFamily="34" charset="-120"/>
              </a:rPr>
              <a:t>↻ Continuous Cycle</a:t>
            </a:r>
            <a:endParaRPr lang="en-US" sz="110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31" name="Text 29"/>
          <p:cNvSpPr/>
          <p:nvPr/>
        </p:nvSpPr>
        <p:spPr>
          <a:xfrm>
            <a:off x="7955280" y="4846683"/>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6 / 31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Why the Feedback Loop Matters</a:t>
            </a:r>
            <a:endParaRPr lang="en-US" sz="2800" dirty="0"/>
          </a:p>
        </p:txBody>
      </p:sp>
      <p:sp>
        <p:nvSpPr>
          <p:cNvPr id="4" name="Shape 2"/>
          <p:cNvSpPr/>
          <p:nvPr/>
        </p:nvSpPr>
        <p:spPr>
          <a:xfrm>
            <a:off x="457200" y="914400"/>
            <a:ext cx="4023360" cy="2011680"/>
          </a:xfrm>
          <a:prstGeom prst="rect">
            <a:avLst/>
          </a:prstGeom>
          <a:solidFill>
            <a:srgbClr val="F1F5F9"/>
          </a:solidFill>
          <a:ln/>
        </p:spPr>
        <p:txBody>
          <a:bodyPr/>
          <a:lstStyle/>
          <a:p>
            <a:endParaRPr lang="en-IN"/>
          </a:p>
        </p:txBody>
      </p:sp>
      <p:sp>
        <p:nvSpPr>
          <p:cNvPr id="5" name="Shape 3"/>
          <p:cNvSpPr/>
          <p:nvPr/>
        </p:nvSpPr>
        <p:spPr>
          <a:xfrm>
            <a:off x="457200" y="914400"/>
            <a:ext cx="4023360" cy="457200"/>
          </a:xfrm>
          <a:prstGeom prst="rect">
            <a:avLst/>
          </a:prstGeom>
          <a:solidFill>
            <a:srgbClr val="FEE2E2"/>
          </a:solidFill>
          <a:ln/>
        </p:spPr>
        <p:txBody>
          <a:bodyPr/>
          <a:lstStyle/>
          <a:p>
            <a:endParaRPr lang="en-IN"/>
          </a:p>
        </p:txBody>
      </p:sp>
      <p:sp>
        <p:nvSpPr>
          <p:cNvPr id="6" name="Text 4"/>
          <p:cNvSpPr/>
          <p:nvPr/>
        </p:nvSpPr>
        <p:spPr>
          <a:xfrm>
            <a:off x="640080" y="960120"/>
            <a:ext cx="3657600" cy="365760"/>
          </a:xfrm>
          <a:prstGeom prst="rect">
            <a:avLst/>
          </a:prstGeom>
          <a:noFill/>
          <a:ln/>
        </p:spPr>
        <p:txBody>
          <a:bodyPr wrap="square" rtlCol="0" anchor="ctr"/>
          <a:lstStyle/>
          <a:p>
            <a:pPr marL="0" indent="0">
              <a:buNone/>
            </a:pPr>
            <a:r>
              <a:rPr lang="en-US" sz="1200" b="1" dirty="0">
                <a:solidFill>
                  <a:srgbClr val="EF4444"/>
                </a:solidFill>
                <a:latin typeface="Segoe UI" pitchFamily="34" charset="0"/>
                <a:ea typeface="Segoe UI" pitchFamily="34" charset="-122"/>
                <a:cs typeface="Segoe UI" pitchFamily="34" charset="-120"/>
              </a:rPr>
              <a:t>❌ Without Feedback Loop</a:t>
            </a:r>
            <a:endParaRPr lang="en-US" sz="1200" dirty="0"/>
          </a:p>
        </p:txBody>
      </p:sp>
      <p:sp>
        <p:nvSpPr>
          <p:cNvPr id="7" name="Text 5"/>
          <p:cNvSpPr/>
          <p:nvPr/>
        </p:nvSpPr>
        <p:spPr>
          <a:xfrm>
            <a:off x="640080" y="1417320"/>
            <a:ext cx="3657600" cy="137160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 No visibility into agent accuracy</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SLA breaches go undetected</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Compliance gaps accumulate</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Optimisation is guesswork</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Production risks are hidden</a:t>
            </a:r>
            <a:endParaRPr lang="en-US" sz="1100" dirty="0"/>
          </a:p>
        </p:txBody>
      </p:sp>
      <p:sp>
        <p:nvSpPr>
          <p:cNvPr id="8" name="Shape 6"/>
          <p:cNvSpPr/>
          <p:nvPr/>
        </p:nvSpPr>
        <p:spPr>
          <a:xfrm>
            <a:off x="4663440" y="914400"/>
            <a:ext cx="4023360" cy="2011680"/>
          </a:xfrm>
          <a:prstGeom prst="rect">
            <a:avLst/>
          </a:prstGeom>
          <a:solidFill>
            <a:srgbClr val="F1F5F9"/>
          </a:solidFill>
          <a:ln/>
        </p:spPr>
        <p:txBody>
          <a:bodyPr/>
          <a:lstStyle/>
          <a:p>
            <a:endParaRPr lang="en-IN"/>
          </a:p>
        </p:txBody>
      </p:sp>
      <p:sp>
        <p:nvSpPr>
          <p:cNvPr id="9" name="Shape 7"/>
          <p:cNvSpPr/>
          <p:nvPr/>
        </p:nvSpPr>
        <p:spPr>
          <a:xfrm>
            <a:off x="4663440" y="914400"/>
            <a:ext cx="4023360" cy="457200"/>
          </a:xfrm>
          <a:prstGeom prst="rect">
            <a:avLst/>
          </a:prstGeom>
          <a:solidFill>
            <a:srgbClr val="DCFCE7"/>
          </a:solidFill>
          <a:ln/>
        </p:spPr>
        <p:txBody>
          <a:bodyPr/>
          <a:lstStyle/>
          <a:p>
            <a:endParaRPr lang="en-IN"/>
          </a:p>
        </p:txBody>
      </p:sp>
      <p:sp>
        <p:nvSpPr>
          <p:cNvPr id="10" name="Text 8"/>
          <p:cNvSpPr/>
          <p:nvPr/>
        </p:nvSpPr>
        <p:spPr>
          <a:xfrm>
            <a:off x="4846320" y="960120"/>
            <a:ext cx="3657600" cy="365760"/>
          </a:xfrm>
          <a:prstGeom prst="rect">
            <a:avLst/>
          </a:prstGeom>
          <a:noFill/>
          <a:ln/>
        </p:spPr>
        <p:txBody>
          <a:bodyPr wrap="square" rtlCol="0" anchor="ctr"/>
          <a:lstStyle/>
          <a:p>
            <a:pPr marL="0" indent="0">
              <a:buNone/>
            </a:pPr>
            <a:r>
              <a:rPr lang="en-US" sz="1200" b="1" dirty="0">
                <a:solidFill>
                  <a:srgbClr val="22C55E"/>
                </a:solidFill>
                <a:latin typeface="Segoe UI" pitchFamily="34" charset="0"/>
                <a:ea typeface="Segoe UI" pitchFamily="34" charset="-122"/>
                <a:cs typeface="Segoe UI" pitchFamily="34" charset="-120"/>
              </a:rPr>
              <a:t>✓ With Feedback Loop</a:t>
            </a:r>
            <a:endParaRPr lang="en-US" sz="1200" dirty="0"/>
          </a:p>
        </p:txBody>
      </p:sp>
      <p:sp>
        <p:nvSpPr>
          <p:cNvPr id="11" name="Text 9"/>
          <p:cNvSpPr/>
          <p:nvPr/>
        </p:nvSpPr>
        <p:spPr>
          <a:xfrm>
            <a:off x="4846320" y="1417320"/>
            <a:ext cx="3657600" cy="137160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 Real-time performance visibility</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Proactive SLA management</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Auditable compliance evidence</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Data-driven optimisation</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Early warning of issues</a:t>
            </a:r>
            <a:endParaRPr lang="en-US" sz="1100" dirty="0"/>
          </a:p>
        </p:txBody>
      </p:sp>
      <p:sp>
        <p:nvSpPr>
          <p:cNvPr id="12" name="Shape 10"/>
          <p:cNvSpPr/>
          <p:nvPr/>
        </p:nvSpPr>
        <p:spPr>
          <a:xfrm>
            <a:off x="457200" y="3108960"/>
            <a:ext cx="8229600" cy="1280160"/>
          </a:xfrm>
          <a:prstGeom prst="rect">
            <a:avLst/>
          </a:prstGeom>
          <a:solidFill>
            <a:srgbClr val="FEF3C7"/>
          </a:solidFill>
          <a:ln/>
        </p:spPr>
        <p:txBody>
          <a:bodyPr/>
          <a:lstStyle/>
          <a:p>
            <a:endParaRPr lang="en-IN"/>
          </a:p>
        </p:txBody>
      </p:sp>
      <p:sp>
        <p:nvSpPr>
          <p:cNvPr id="13" name="Text 11"/>
          <p:cNvSpPr/>
          <p:nvPr/>
        </p:nvSpPr>
        <p:spPr>
          <a:xfrm>
            <a:off x="640080" y="3200400"/>
            <a:ext cx="7863840" cy="365760"/>
          </a:xfrm>
          <a:prstGeom prst="rect">
            <a:avLst/>
          </a:prstGeom>
          <a:noFill/>
          <a:ln/>
        </p:spPr>
        <p:txBody>
          <a:bodyPr wrap="square" rtlCol="0" anchor="ctr"/>
          <a:lstStyle/>
          <a:p>
            <a:pPr marL="0" indent="0">
              <a:buNone/>
            </a:pPr>
            <a:r>
              <a:rPr lang="en-US" sz="1200" b="1" dirty="0">
                <a:solidFill>
                  <a:srgbClr val="F59E0B"/>
                </a:solidFill>
                <a:latin typeface="Segoe UI" pitchFamily="34" charset="0"/>
                <a:ea typeface="Segoe UI" pitchFamily="34" charset="-122"/>
                <a:cs typeface="Segoe UI" pitchFamily="34" charset="-120"/>
              </a:rPr>
              <a:t>⚠️ For BFSI Compliance</a:t>
            </a:r>
            <a:endParaRPr lang="en-US" sz="1200" dirty="0"/>
          </a:p>
        </p:txBody>
      </p:sp>
      <p:sp>
        <p:nvSpPr>
          <p:cNvPr id="14" name="Text 12"/>
          <p:cNvSpPr/>
          <p:nvPr/>
        </p:nvSpPr>
        <p:spPr>
          <a:xfrm>
            <a:off x="640080" y="3611880"/>
            <a:ext cx="7863840" cy="68580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Regulators require evidence that AI systems are operating within defined parameters. The feedback loop dashboard provides auditable proof of SLA compliance, human oversight functioning correctly, and decision-making within approved boundaries.</a:t>
            </a:r>
            <a:endParaRPr lang="en-US" sz="1100" dirty="0"/>
          </a:p>
        </p:txBody>
      </p:sp>
      <p:sp>
        <p:nvSpPr>
          <p:cNvPr id="15" name="Shape 13"/>
          <p:cNvSpPr/>
          <p:nvPr/>
        </p:nvSpPr>
        <p:spPr>
          <a:xfrm>
            <a:off x="0" y="4846320"/>
            <a:ext cx="9144000" cy="297180"/>
          </a:xfrm>
          <a:prstGeom prst="rect">
            <a:avLst/>
          </a:prstGeom>
          <a:solidFill>
            <a:srgbClr val="F1F5F9"/>
          </a:solidFill>
          <a:ln/>
        </p:spPr>
        <p:txBody>
          <a:bodyPr/>
          <a:lstStyle/>
          <a:p>
            <a:endParaRPr lang="en-IN"/>
          </a:p>
        </p:txBody>
      </p:sp>
      <p:sp>
        <p:nvSpPr>
          <p:cNvPr id="16" name="Text 1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17" name="Text 15"/>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7 / 31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2</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Telemetry Data</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Architecture</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Six Dataverse Tables as Telemetry Sources</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8 / 31</a:t>
            </a:r>
            <a:endParaRPr lang="en-US" sz="9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Six Dataverse Tables for Telemetry</a:t>
            </a:r>
            <a:endParaRPr lang="en-US" sz="2800" dirty="0"/>
          </a:p>
        </p:txBody>
      </p:sp>
      <p:sp>
        <p:nvSpPr>
          <p:cNvPr id="4" name="Text 2"/>
          <p:cNvSpPr/>
          <p:nvPr/>
        </p:nvSpPr>
        <p:spPr>
          <a:xfrm>
            <a:off x="640080" y="868680"/>
            <a:ext cx="7315200" cy="27432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Business Data Tables:</a:t>
            </a:r>
            <a:endParaRPr lang="en-US" sz="1200" dirty="0"/>
          </a:p>
        </p:txBody>
      </p:sp>
      <p:sp>
        <p:nvSpPr>
          <p:cNvPr id="5" name="Shape 3"/>
          <p:cNvSpPr/>
          <p:nvPr/>
        </p:nvSpPr>
        <p:spPr>
          <a:xfrm>
            <a:off x="457200" y="1188720"/>
            <a:ext cx="8229600" cy="384048"/>
          </a:xfrm>
          <a:prstGeom prst="rect">
            <a:avLst/>
          </a:prstGeom>
          <a:solidFill>
            <a:srgbClr val="F1F5F9"/>
          </a:solidFill>
          <a:ln/>
        </p:spPr>
        <p:txBody>
          <a:bodyPr/>
          <a:lstStyle/>
          <a:p>
            <a:endParaRPr lang="en-IN"/>
          </a:p>
        </p:txBody>
      </p:sp>
      <p:sp>
        <p:nvSpPr>
          <p:cNvPr id="6" name="Text 4"/>
          <p:cNvSpPr/>
          <p:nvPr/>
        </p:nvSpPr>
        <p:spPr>
          <a:xfrm>
            <a:off x="548640" y="1225296"/>
            <a:ext cx="365760" cy="310896"/>
          </a:xfrm>
          <a:prstGeom prst="rect">
            <a:avLst/>
          </a:prstGeom>
          <a:noFill/>
          <a:ln/>
        </p:spPr>
        <p:txBody>
          <a:bodyPr wrap="square" rtlCol="0" anchor="ctr"/>
          <a:lstStyle/>
          <a:p>
            <a:pPr marL="0" indent="0">
              <a:buNone/>
            </a:pPr>
            <a:r>
              <a:rPr lang="en-US" sz="1200" dirty="0">
                <a:solidFill>
                  <a:srgbClr val="000000"/>
                </a:solidFill>
              </a:rPr>
              <a:t>📊</a:t>
            </a:r>
            <a:endParaRPr lang="en-US" sz="1200" dirty="0"/>
          </a:p>
        </p:txBody>
      </p:sp>
      <p:sp>
        <p:nvSpPr>
          <p:cNvPr id="7" name="Text 5"/>
          <p:cNvSpPr/>
          <p:nvPr/>
        </p:nvSpPr>
        <p:spPr>
          <a:xfrm>
            <a:off x="1005840" y="1243584"/>
            <a:ext cx="2377440" cy="274320"/>
          </a:xfrm>
          <a:prstGeom prst="rect">
            <a:avLst/>
          </a:prstGeom>
          <a:noFill/>
          <a:ln/>
        </p:spPr>
        <p:txBody>
          <a:bodyPr wrap="square" rtlCol="0" anchor="ctr"/>
          <a:lstStyle/>
          <a:p>
            <a:pPr marL="0" indent="0">
              <a:buNone/>
            </a:pPr>
            <a:r>
              <a:rPr lang="en-US" sz="1050" b="1" dirty="0">
                <a:solidFill>
                  <a:srgbClr val="1E293B"/>
                </a:solidFill>
                <a:latin typeface="Consolas" pitchFamily="34" charset="0"/>
                <a:ea typeface="Consolas" pitchFamily="34" charset="-122"/>
                <a:cs typeface="Consolas" pitchFamily="34" charset="-120"/>
              </a:rPr>
              <a:t>Contoso_Customers</a:t>
            </a:r>
            <a:endParaRPr lang="en-US" sz="1050" dirty="0"/>
          </a:p>
        </p:txBody>
      </p:sp>
      <p:sp>
        <p:nvSpPr>
          <p:cNvPr id="8" name="Text 6"/>
          <p:cNvSpPr/>
          <p:nvPr/>
        </p:nvSpPr>
        <p:spPr>
          <a:xfrm>
            <a:off x="3566160" y="1243584"/>
            <a:ext cx="4937760" cy="27432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Customer demographics, risk profiles, segments</a:t>
            </a:r>
            <a:endParaRPr lang="en-US" sz="1050" dirty="0"/>
          </a:p>
        </p:txBody>
      </p:sp>
      <p:sp>
        <p:nvSpPr>
          <p:cNvPr id="9" name="Shape 7"/>
          <p:cNvSpPr/>
          <p:nvPr/>
        </p:nvSpPr>
        <p:spPr>
          <a:xfrm>
            <a:off x="457200" y="1627632"/>
            <a:ext cx="8229600" cy="384048"/>
          </a:xfrm>
          <a:prstGeom prst="rect">
            <a:avLst/>
          </a:prstGeom>
          <a:solidFill>
            <a:srgbClr val="F1F5F9"/>
          </a:solidFill>
          <a:ln/>
        </p:spPr>
        <p:txBody>
          <a:bodyPr/>
          <a:lstStyle/>
          <a:p>
            <a:endParaRPr lang="en-IN"/>
          </a:p>
        </p:txBody>
      </p:sp>
      <p:sp>
        <p:nvSpPr>
          <p:cNvPr id="10" name="Text 8"/>
          <p:cNvSpPr/>
          <p:nvPr/>
        </p:nvSpPr>
        <p:spPr>
          <a:xfrm>
            <a:off x="548640" y="1664208"/>
            <a:ext cx="365760" cy="310896"/>
          </a:xfrm>
          <a:prstGeom prst="rect">
            <a:avLst/>
          </a:prstGeom>
          <a:noFill/>
          <a:ln/>
        </p:spPr>
        <p:txBody>
          <a:bodyPr wrap="square" rtlCol="0" anchor="ctr"/>
          <a:lstStyle/>
          <a:p>
            <a:pPr marL="0" indent="0">
              <a:buNone/>
            </a:pPr>
            <a:r>
              <a:rPr lang="en-US" sz="1200" dirty="0">
                <a:solidFill>
                  <a:srgbClr val="000000"/>
                </a:solidFill>
              </a:rPr>
              <a:t>📊</a:t>
            </a:r>
            <a:endParaRPr lang="en-US" sz="1200" dirty="0"/>
          </a:p>
        </p:txBody>
      </p:sp>
      <p:sp>
        <p:nvSpPr>
          <p:cNvPr id="11" name="Text 9"/>
          <p:cNvSpPr/>
          <p:nvPr/>
        </p:nvSpPr>
        <p:spPr>
          <a:xfrm>
            <a:off x="1005840" y="1682496"/>
            <a:ext cx="2377440" cy="274320"/>
          </a:xfrm>
          <a:prstGeom prst="rect">
            <a:avLst/>
          </a:prstGeom>
          <a:noFill/>
          <a:ln/>
        </p:spPr>
        <p:txBody>
          <a:bodyPr wrap="square" rtlCol="0" anchor="ctr"/>
          <a:lstStyle/>
          <a:p>
            <a:pPr marL="0" indent="0">
              <a:buNone/>
            </a:pPr>
            <a:r>
              <a:rPr lang="en-US" sz="1050" b="1" dirty="0">
                <a:solidFill>
                  <a:srgbClr val="1E293B"/>
                </a:solidFill>
                <a:latin typeface="Consolas" pitchFamily="34" charset="0"/>
                <a:ea typeface="Consolas" pitchFamily="34" charset="-122"/>
                <a:cs typeface="Consolas" pitchFamily="34" charset="-120"/>
              </a:rPr>
              <a:t>Contoso_Policies</a:t>
            </a:r>
            <a:endParaRPr lang="en-US" sz="1050" dirty="0"/>
          </a:p>
        </p:txBody>
      </p:sp>
      <p:sp>
        <p:nvSpPr>
          <p:cNvPr id="12" name="Text 10"/>
          <p:cNvSpPr/>
          <p:nvPr/>
        </p:nvSpPr>
        <p:spPr>
          <a:xfrm>
            <a:off x="3566160" y="1682496"/>
            <a:ext cx="4937760" cy="27432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Policy details, premiums, coverage, status</a:t>
            </a:r>
            <a:endParaRPr lang="en-US" sz="1050" dirty="0"/>
          </a:p>
        </p:txBody>
      </p:sp>
      <p:sp>
        <p:nvSpPr>
          <p:cNvPr id="13" name="Shape 11"/>
          <p:cNvSpPr/>
          <p:nvPr/>
        </p:nvSpPr>
        <p:spPr>
          <a:xfrm>
            <a:off x="457200" y="2066544"/>
            <a:ext cx="8229600" cy="384048"/>
          </a:xfrm>
          <a:prstGeom prst="rect">
            <a:avLst/>
          </a:prstGeom>
          <a:solidFill>
            <a:srgbClr val="F1F5F9"/>
          </a:solidFill>
          <a:ln/>
        </p:spPr>
        <p:txBody>
          <a:bodyPr/>
          <a:lstStyle/>
          <a:p>
            <a:endParaRPr lang="en-IN"/>
          </a:p>
        </p:txBody>
      </p:sp>
      <p:sp>
        <p:nvSpPr>
          <p:cNvPr id="14" name="Text 12"/>
          <p:cNvSpPr/>
          <p:nvPr/>
        </p:nvSpPr>
        <p:spPr>
          <a:xfrm>
            <a:off x="548640" y="2103120"/>
            <a:ext cx="365760" cy="310896"/>
          </a:xfrm>
          <a:prstGeom prst="rect">
            <a:avLst/>
          </a:prstGeom>
          <a:noFill/>
          <a:ln/>
        </p:spPr>
        <p:txBody>
          <a:bodyPr wrap="square" rtlCol="0" anchor="ctr"/>
          <a:lstStyle/>
          <a:p>
            <a:pPr marL="0" indent="0">
              <a:buNone/>
            </a:pPr>
            <a:r>
              <a:rPr lang="en-US" sz="1200" dirty="0">
                <a:solidFill>
                  <a:srgbClr val="000000"/>
                </a:solidFill>
              </a:rPr>
              <a:t>📊</a:t>
            </a:r>
            <a:endParaRPr lang="en-US" sz="1200" dirty="0"/>
          </a:p>
        </p:txBody>
      </p:sp>
      <p:sp>
        <p:nvSpPr>
          <p:cNvPr id="15" name="Text 13"/>
          <p:cNvSpPr/>
          <p:nvPr/>
        </p:nvSpPr>
        <p:spPr>
          <a:xfrm>
            <a:off x="1005840" y="2121408"/>
            <a:ext cx="2377440" cy="274320"/>
          </a:xfrm>
          <a:prstGeom prst="rect">
            <a:avLst/>
          </a:prstGeom>
          <a:noFill/>
          <a:ln/>
        </p:spPr>
        <p:txBody>
          <a:bodyPr wrap="square" rtlCol="0" anchor="ctr"/>
          <a:lstStyle/>
          <a:p>
            <a:pPr marL="0" indent="0">
              <a:buNone/>
            </a:pPr>
            <a:r>
              <a:rPr lang="en-US" sz="1050" b="1" dirty="0">
                <a:solidFill>
                  <a:srgbClr val="1E293B"/>
                </a:solidFill>
                <a:latin typeface="Consolas" pitchFamily="34" charset="0"/>
                <a:ea typeface="Consolas" pitchFamily="34" charset="-122"/>
                <a:cs typeface="Consolas" pitchFamily="34" charset="-120"/>
              </a:rPr>
              <a:t>Contoso_Claims</a:t>
            </a:r>
            <a:endParaRPr lang="en-US" sz="1050" dirty="0"/>
          </a:p>
        </p:txBody>
      </p:sp>
      <p:sp>
        <p:nvSpPr>
          <p:cNvPr id="16" name="Text 14"/>
          <p:cNvSpPr/>
          <p:nvPr/>
        </p:nvSpPr>
        <p:spPr>
          <a:xfrm>
            <a:off x="3566160" y="2121408"/>
            <a:ext cx="4937760" cy="27432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Claims filed, amounts, outcomes, processing</a:t>
            </a:r>
            <a:endParaRPr lang="en-US" sz="1050" dirty="0"/>
          </a:p>
        </p:txBody>
      </p:sp>
      <p:sp>
        <p:nvSpPr>
          <p:cNvPr id="17" name="Shape 15"/>
          <p:cNvSpPr/>
          <p:nvPr/>
        </p:nvSpPr>
        <p:spPr>
          <a:xfrm>
            <a:off x="457200" y="2505456"/>
            <a:ext cx="8229600" cy="384048"/>
          </a:xfrm>
          <a:prstGeom prst="rect">
            <a:avLst/>
          </a:prstGeom>
          <a:solidFill>
            <a:srgbClr val="F1F5F9"/>
          </a:solidFill>
          <a:ln/>
        </p:spPr>
        <p:txBody>
          <a:bodyPr/>
          <a:lstStyle/>
          <a:p>
            <a:endParaRPr lang="en-IN"/>
          </a:p>
        </p:txBody>
      </p:sp>
      <p:sp>
        <p:nvSpPr>
          <p:cNvPr id="18" name="Text 16"/>
          <p:cNvSpPr/>
          <p:nvPr/>
        </p:nvSpPr>
        <p:spPr>
          <a:xfrm>
            <a:off x="548640" y="2542032"/>
            <a:ext cx="365760" cy="310896"/>
          </a:xfrm>
          <a:prstGeom prst="rect">
            <a:avLst/>
          </a:prstGeom>
          <a:noFill/>
          <a:ln/>
        </p:spPr>
        <p:txBody>
          <a:bodyPr wrap="square" rtlCol="0" anchor="ctr"/>
          <a:lstStyle/>
          <a:p>
            <a:pPr marL="0" indent="0">
              <a:buNone/>
            </a:pPr>
            <a:r>
              <a:rPr lang="en-US" sz="1200" dirty="0">
                <a:solidFill>
                  <a:srgbClr val="000000"/>
                </a:solidFill>
              </a:rPr>
              <a:t>📊</a:t>
            </a:r>
            <a:endParaRPr lang="en-US" sz="1200" dirty="0"/>
          </a:p>
        </p:txBody>
      </p:sp>
      <p:sp>
        <p:nvSpPr>
          <p:cNvPr id="19" name="Text 17"/>
          <p:cNvSpPr/>
          <p:nvPr/>
        </p:nvSpPr>
        <p:spPr>
          <a:xfrm>
            <a:off x="1005840" y="2560320"/>
            <a:ext cx="2377440" cy="274320"/>
          </a:xfrm>
          <a:prstGeom prst="rect">
            <a:avLst/>
          </a:prstGeom>
          <a:noFill/>
          <a:ln/>
        </p:spPr>
        <p:txBody>
          <a:bodyPr wrap="square" rtlCol="0" anchor="ctr"/>
          <a:lstStyle/>
          <a:p>
            <a:pPr marL="0" indent="0">
              <a:buNone/>
            </a:pPr>
            <a:r>
              <a:rPr lang="en-US" sz="1050" b="1" dirty="0">
                <a:solidFill>
                  <a:srgbClr val="1E293B"/>
                </a:solidFill>
                <a:latin typeface="Consolas" pitchFamily="34" charset="0"/>
                <a:ea typeface="Consolas" pitchFamily="34" charset="-122"/>
                <a:cs typeface="Consolas" pitchFamily="34" charset="-120"/>
              </a:rPr>
              <a:t>Contoso_Transactions</a:t>
            </a:r>
            <a:endParaRPr lang="en-US" sz="1050" dirty="0"/>
          </a:p>
        </p:txBody>
      </p:sp>
      <p:sp>
        <p:nvSpPr>
          <p:cNvPr id="20" name="Text 18"/>
          <p:cNvSpPr/>
          <p:nvPr/>
        </p:nvSpPr>
        <p:spPr>
          <a:xfrm>
            <a:off x="3566160" y="2560320"/>
            <a:ext cx="4937760" cy="27432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Financial transactions, payments, refunds</a:t>
            </a:r>
            <a:endParaRPr lang="en-US" sz="1050" dirty="0"/>
          </a:p>
        </p:txBody>
      </p:sp>
      <p:sp>
        <p:nvSpPr>
          <p:cNvPr id="21" name="Text 19"/>
          <p:cNvSpPr/>
          <p:nvPr/>
        </p:nvSpPr>
        <p:spPr>
          <a:xfrm>
            <a:off x="640080" y="3063240"/>
            <a:ext cx="7315200" cy="274320"/>
          </a:xfrm>
          <a:prstGeom prst="rect">
            <a:avLst/>
          </a:prstGeom>
          <a:noFill/>
          <a:ln/>
        </p:spPr>
        <p:txBody>
          <a:bodyPr wrap="square" rtlCol="0" anchor="ctr"/>
          <a:lstStyle/>
          <a:p>
            <a:pPr marL="0" indent="0">
              <a:buNone/>
            </a:pPr>
            <a:r>
              <a:rPr lang="en-US" sz="1200" b="1" dirty="0">
                <a:solidFill>
                  <a:srgbClr val="7C3AED"/>
                </a:solidFill>
                <a:latin typeface="Segoe UI" pitchFamily="34" charset="0"/>
                <a:ea typeface="Segoe UI" pitchFamily="34" charset="-122"/>
                <a:cs typeface="Segoe UI" pitchFamily="34" charset="-120"/>
              </a:rPr>
              <a:t>Operational Telemetry Tables (from Modules 08–09):</a:t>
            </a:r>
            <a:endParaRPr lang="en-US" sz="1200" dirty="0"/>
          </a:p>
        </p:txBody>
      </p:sp>
      <p:sp>
        <p:nvSpPr>
          <p:cNvPr id="22" name="Shape 20"/>
          <p:cNvSpPr/>
          <p:nvPr/>
        </p:nvSpPr>
        <p:spPr>
          <a:xfrm>
            <a:off x="457200" y="3383280"/>
            <a:ext cx="8229600" cy="475488"/>
          </a:xfrm>
          <a:prstGeom prst="rect">
            <a:avLst/>
          </a:prstGeom>
          <a:solidFill>
            <a:srgbClr val="EDE9FE"/>
          </a:solidFill>
          <a:ln/>
        </p:spPr>
        <p:txBody>
          <a:bodyPr/>
          <a:lstStyle/>
          <a:p>
            <a:endParaRPr lang="en-IN"/>
          </a:p>
        </p:txBody>
      </p:sp>
      <p:sp>
        <p:nvSpPr>
          <p:cNvPr id="23" name="Text 21"/>
          <p:cNvSpPr/>
          <p:nvPr/>
        </p:nvSpPr>
        <p:spPr>
          <a:xfrm>
            <a:off x="548640" y="3456432"/>
            <a:ext cx="365760" cy="329184"/>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4" name="Text 22"/>
          <p:cNvSpPr/>
          <p:nvPr/>
        </p:nvSpPr>
        <p:spPr>
          <a:xfrm>
            <a:off x="1005840" y="3456432"/>
            <a:ext cx="2560320" cy="329184"/>
          </a:xfrm>
          <a:prstGeom prst="rect">
            <a:avLst/>
          </a:prstGeom>
          <a:noFill/>
          <a:ln/>
        </p:spPr>
        <p:txBody>
          <a:bodyPr wrap="square" rtlCol="0" anchor="ctr"/>
          <a:lstStyle/>
          <a:p>
            <a:pPr marL="0" indent="0">
              <a:buNone/>
            </a:pPr>
            <a:r>
              <a:rPr lang="en-US" sz="1050" b="1" dirty="0">
                <a:solidFill>
                  <a:srgbClr val="7C3AED"/>
                </a:solidFill>
                <a:latin typeface="Consolas" pitchFamily="34" charset="0"/>
                <a:ea typeface="Consolas" pitchFamily="34" charset="-122"/>
                <a:cs typeface="Consolas" pitchFamily="34" charset="-120"/>
              </a:rPr>
              <a:t>Contoso_ApprovalLog</a:t>
            </a:r>
            <a:endParaRPr lang="en-US" sz="1050" dirty="0"/>
          </a:p>
        </p:txBody>
      </p:sp>
      <p:sp>
        <p:nvSpPr>
          <p:cNvPr id="25" name="Text 23"/>
          <p:cNvSpPr/>
          <p:nvPr/>
        </p:nvSpPr>
        <p:spPr>
          <a:xfrm>
            <a:off x="3657600" y="3456432"/>
            <a:ext cx="365760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Approval requests, response times, outcomes, approvers</a:t>
            </a:r>
            <a:endParaRPr lang="en-US" sz="1000" dirty="0"/>
          </a:p>
        </p:txBody>
      </p:sp>
      <p:sp>
        <p:nvSpPr>
          <p:cNvPr id="26" name="Text 24"/>
          <p:cNvSpPr/>
          <p:nvPr/>
        </p:nvSpPr>
        <p:spPr>
          <a:xfrm>
            <a:off x="7498080" y="3456432"/>
            <a:ext cx="1005840" cy="329184"/>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Module 08</a:t>
            </a:r>
            <a:endParaRPr lang="en-US" sz="900" dirty="0"/>
          </a:p>
        </p:txBody>
      </p:sp>
      <p:sp>
        <p:nvSpPr>
          <p:cNvPr id="27" name="Shape 25"/>
          <p:cNvSpPr/>
          <p:nvPr/>
        </p:nvSpPr>
        <p:spPr>
          <a:xfrm>
            <a:off x="457200" y="3931920"/>
            <a:ext cx="8229600" cy="475488"/>
          </a:xfrm>
          <a:prstGeom prst="rect">
            <a:avLst/>
          </a:prstGeom>
          <a:solidFill>
            <a:srgbClr val="EDE9FE"/>
          </a:solidFill>
          <a:ln/>
        </p:spPr>
        <p:txBody>
          <a:bodyPr/>
          <a:lstStyle/>
          <a:p>
            <a:endParaRPr lang="en-IN"/>
          </a:p>
        </p:txBody>
      </p:sp>
      <p:sp>
        <p:nvSpPr>
          <p:cNvPr id="28" name="Text 26"/>
          <p:cNvSpPr/>
          <p:nvPr/>
        </p:nvSpPr>
        <p:spPr>
          <a:xfrm>
            <a:off x="548640" y="4005072"/>
            <a:ext cx="365760" cy="329184"/>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9" name="Text 27"/>
          <p:cNvSpPr/>
          <p:nvPr/>
        </p:nvSpPr>
        <p:spPr>
          <a:xfrm>
            <a:off x="1005840" y="4005072"/>
            <a:ext cx="2560320" cy="329184"/>
          </a:xfrm>
          <a:prstGeom prst="rect">
            <a:avLst/>
          </a:prstGeom>
          <a:noFill/>
          <a:ln/>
        </p:spPr>
        <p:txBody>
          <a:bodyPr wrap="square" rtlCol="0" anchor="ctr"/>
          <a:lstStyle/>
          <a:p>
            <a:pPr marL="0" indent="0">
              <a:buNone/>
            </a:pPr>
            <a:r>
              <a:rPr lang="en-US" sz="1050" b="1" dirty="0">
                <a:solidFill>
                  <a:srgbClr val="7C3AED"/>
                </a:solidFill>
                <a:latin typeface="Consolas" pitchFamily="34" charset="0"/>
                <a:ea typeface="Consolas" pitchFamily="34" charset="-122"/>
                <a:cs typeface="Consolas" pitchFamily="34" charset="-120"/>
              </a:rPr>
              <a:t>Contoso_AgentTaskLog</a:t>
            </a:r>
            <a:endParaRPr lang="en-US" sz="1050" dirty="0"/>
          </a:p>
        </p:txBody>
      </p:sp>
      <p:sp>
        <p:nvSpPr>
          <p:cNvPr id="30" name="Text 28"/>
          <p:cNvSpPr/>
          <p:nvPr/>
        </p:nvSpPr>
        <p:spPr>
          <a:xfrm>
            <a:off x="3657600" y="4005072"/>
            <a:ext cx="365760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Agent actions, delegation chains, durations, status</a:t>
            </a:r>
            <a:endParaRPr lang="en-US" sz="1000" dirty="0"/>
          </a:p>
        </p:txBody>
      </p:sp>
      <p:sp>
        <p:nvSpPr>
          <p:cNvPr id="31" name="Text 29"/>
          <p:cNvSpPr/>
          <p:nvPr/>
        </p:nvSpPr>
        <p:spPr>
          <a:xfrm>
            <a:off x="7498080" y="4005072"/>
            <a:ext cx="1005840" cy="329184"/>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Module 09</a:t>
            </a:r>
            <a:endParaRPr lang="en-US" sz="900" dirty="0"/>
          </a:p>
        </p:txBody>
      </p:sp>
      <p:sp>
        <p:nvSpPr>
          <p:cNvPr id="32" name="Shape 30"/>
          <p:cNvSpPr/>
          <p:nvPr/>
        </p:nvSpPr>
        <p:spPr>
          <a:xfrm>
            <a:off x="0" y="4846320"/>
            <a:ext cx="9144000" cy="297180"/>
          </a:xfrm>
          <a:prstGeom prst="rect">
            <a:avLst/>
          </a:prstGeom>
          <a:solidFill>
            <a:srgbClr val="F1F5F9"/>
          </a:solidFill>
          <a:ln/>
        </p:spPr>
        <p:txBody>
          <a:bodyPr/>
          <a:lstStyle/>
          <a:p>
            <a:endParaRPr lang="en-IN"/>
          </a:p>
        </p:txBody>
      </p:sp>
      <p:sp>
        <p:nvSpPr>
          <p:cNvPr id="33" name="Text 31"/>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34" name="Text 32"/>
          <p:cNvSpPr/>
          <p:nvPr/>
        </p:nvSpPr>
        <p:spPr>
          <a:xfrm>
            <a:off x="8001000" y="4821936"/>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9 / 31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3</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Power BI</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Connection Modes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Import vs DirectQuery for Dataverse</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10 / 31</a:t>
            </a:r>
            <a:endParaRPr lang="en-US" sz="9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Import vs DirectQuery</a:t>
            </a:r>
            <a:endParaRPr lang="en-US" sz="2800" dirty="0"/>
          </a:p>
        </p:txBody>
      </p:sp>
      <p:sp>
        <p:nvSpPr>
          <p:cNvPr id="4" name="Shape 2"/>
          <p:cNvSpPr/>
          <p:nvPr/>
        </p:nvSpPr>
        <p:spPr>
          <a:xfrm>
            <a:off x="457200" y="914400"/>
            <a:ext cx="4023360" cy="3200400"/>
          </a:xfrm>
          <a:prstGeom prst="rect">
            <a:avLst/>
          </a:prstGeom>
          <a:solidFill>
            <a:srgbClr val="F1F5F9"/>
          </a:solidFill>
          <a:ln/>
        </p:spPr>
        <p:txBody>
          <a:bodyPr/>
          <a:lstStyle/>
          <a:p>
            <a:endParaRPr lang="en-IN"/>
          </a:p>
        </p:txBody>
      </p:sp>
      <p:sp>
        <p:nvSpPr>
          <p:cNvPr id="5" name="Shape 3"/>
          <p:cNvSpPr/>
          <p:nvPr/>
        </p:nvSpPr>
        <p:spPr>
          <a:xfrm>
            <a:off x="457200" y="914400"/>
            <a:ext cx="4023360" cy="457200"/>
          </a:xfrm>
          <a:prstGeom prst="rect">
            <a:avLst/>
          </a:prstGeom>
          <a:solidFill>
            <a:srgbClr val="4F46E5"/>
          </a:solidFill>
          <a:ln/>
        </p:spPr>
        <p:txBody>
          <a:bodyPr/>
          <a:lstStyle/>
          <a:p>
            <a:endParaRPr lang="en-IN"/>
          </a:p>
        </p:txBody>
      </p:sp>
      <p:sp>
        <p:nvSpPr>
          <p:cNvPr id="6" name="Text 4"/>
          <p:cNvSpPr/>
          <p:nvPr/>
        </p:nvSpPr>
        <p:spPr>
          <a:xfrm>
            <a:off x="640080" y="960120"/>
            <a:ext cx="3657600" cy="36576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 Import Mode</a:t>
            </a:r>
            <a:endParaRPr lang="en-US" sz="1200" dirty="0"/>
          </a:p>
        </p:txBody>
      </p:sp>
      <p:sp>
        <p:nvSpPr>
          <p:cNvPr id="7" name="Text 5"/>
          <p:cNvSpPr/>
          <p:nvPr/>
        </p:nvSpPr>
        <p:spPr>
          <a:xfrm>
            <a:off x="640080" y="1417320"/>
            <a:ext cx="3657600" cy="2560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How it works: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Copies data into Power BI model</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Fastest query performance</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Full DAX capabilities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Works with any Dataverse</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Best for historical analysis</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Data can be stale</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Scheduled refresh needed</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Large models = large files</a:t>
            </a:r>
            <a:endParaRPr lang="en-US" sz="1050" dirty="0"/>
          </a:p>
        </p:txBody>
      </p:sp>
      <p:sp>
        <p:nvSpPr>
          <p:cNvPr id="8" name="Shape 6"/>
          <p:cNvSpPr/>
          <p:nvPr/>
        </p:nvSpPr>
        <p:spPr>
          <a:xfrm>
            <a:off x="4663440" y="914400"/>
            <a:ext cx="4023360" cy="3200400"/>
          </a:xfrm>
          <a:prstGeom prst="rect">
            <a:avLst/>
          </a:prstGeom>
          <a:solidFill>
            <a:srgbClr val="F1F5F9"/>
          </a:solidFill>
          <a:ln/>
        </p:spPr>
        <p:txBody>
          <a:bodyPr/>
          <a:lstStyle/>
          <a:p>
            <a:endParaRPr lang="en-IN"/>
          </a:p>
        </p:txBody>
      </p:sp>
      <p:sp>
        <p:nvSpPr>
          <p:cNvPr id="9" name="Shape 7"/>
          <p:cNvSpPr/>
          <p:nvPr/>
        </p:nvSpPr>
        <p:spPr>
          <a:xfrm>
            <a:off x="4663440" y="914400"/>
            <a:ext cx="4023360" cy="457200"/>
          </a:xfrm>
          <a:prstGeom prst="rect">
            <a:avLst/>
          </a:prstGeom>
          <a:solidFill>
            <a:srgbClr val="EA580C"/>
          </a:solidFill>
          <a:ln/>
        </p:spPr>
        <p:txBody>
          <a:bodyPr/>
          <a:lstStyle/>
          <a:p>
            <a:endParaRPr lang="en-IN"/>
          </a:p>
        </p:txBody>
      </p:sp>
      <p:sp>
        <p:nvSpPr>
          <p:cNvPr id="10" name="Text 8"/>
          <p:cNvSpPr/>
          <p:nvPr/>
        </p:nvSpPr>
        <p:spPr>
          <a:xfrm>
            <a:off x="4846320" y="960120"/>
            <a:ext cx="3657600" cy="36576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 DirectQuery Mode</a:t>
            </a:r>
            <a:endParaRPr lang="en-US" sz="1200" dirty="0"/>
          </a:p>
        </p:txBody>
      </p:sp>
      <p:sp>
        <p:nvSpPr>
          <p:cNvPr id="11" name="Text 9"/>
          <p:cNvSpPr/>
          <p:nvPr/>
        </p:nvSpPr>
        <p:spPr>
          <a:xfrm>
            <a:off x="4846320" y="1417320"/>
            <a:ext cx="3657600" cy="2560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How it works: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Queries Dataverse live via TDS</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Always current data</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No refresh scheduling</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Small .pbix file size</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Best for operational dashboards</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Slower queries (network)</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Requires TDS endpoint</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Some DAX limitations</a:t>
            </a:r>
            <a:endParaRPr lang="en-US" sz="1050" dirty="0"/>
          </a:p>
        </p:txBody>
      </p:sp>
      <p:sp>
        <p:nvSpPr>
          <p:cNvPr id="12" name="Shape 10"/>
          <p:cNvSpPr/>
          <p:nvPr/>
        </p:nvSpPr>
        <p:spPr>
          <a:xfrm>
            <a:off x="457200" y="4251960"/>
            <a:ext cx="8229600" cy="502920"/>
          </a:xfrm>
          <a:prstGeom prst="rect">
            <a:avLst/>
          </a:prstGeom>
          <a:solidFill>
            <a:srgbClr val="DCFCE7"/>
          </a:solidFill>
          <a:ln/>
        </p:spPr>
        <p:txBody>
          <a:bodyPr/>
          <a:lstStyle/>
          <a:p>
            <a:endParaRPr lang="en-IN"/>
          </a:p>
        </p:txBody>
      </p:sp>
      <p:sp>
        <p:nvSpPr>
          <p:cNvPr id="13" name="Text 11"/>
          <p:cNvSpPr/>
          <p:nvPr/>
        </p:nvSpPr>
        <p:spPr>
          <a:xfrm>
            <a:off x="640080" y="4315968"/>
            <a:ext cx="7863840" cy="384048"/>
          </a:xfrm>
          <a:prstGeom prst="rect">
            <a:avLst/>
          </a:prstGeom>
          <a:noFill/>
          <a:ln/>
        </p:spPr>
        <p:txBody>
          <a:bodyPr wrap="square" rtlCol="0" anchor="ctr"/>
          <a:lstStyle/>
          <a:p>
            <a:pPr marL="0" indent="0">
              <a:buNone/>
            </a:pPr>
            <a:r>
              <a:rPr lang="en-US" sz="1050" dirty="0">
                <a:solidFill>
                  <a:srgbClr val="22C55E"/>
                </a:solidFill>
                <a:latin typeface="Segoe UI" pitchFamily="34" charset="0"/>
                <a:ea typeface="Segoe UI" pitchFamily="34" charset="-122"/>
                <a:cs typeface="Segoe UI" pitchFamily="34" charset="-120"/>
              </a:rPr>
              <a:t>💡 Lab Recommendation: Start with Import mode for learning, then switch to DirectQuery for production operational dashboards</a:t>
            </a:r>
            <a:endParaRPr lang="en-US" sz="105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11 / 31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Dataverse TDS Endpoint</a:t>
            </a:r>
            <a:endParaRPr lang="en-US" sz="2800" dirty="0"/>
          </a:p>
        </p:txBody>
      </p:sp>
      <p:sp>
        <p:nvSpPr>
          <p:cNvPr id="4" name="Shape 2"/>
          <p:cNvSpPr/>
          <p:nvPr/>
        </p:nvSpPr>
        <p:spPr>
          <a:xfrm>
            <a:off x="640080" y="914400"/>
            <a:ext cx="7863840" cy="914400"/>
          </a:xfrm>
          <a:prstGeom prst="rect">
            <a:avLst/>
          </a:prstGeom>
          <a:solidFill>
            <a:srgbClr val="F1F5F9"/>
          </a:solidFill>
          <a:ln/>
        </p:spPr>
        <p:txBody>
          <a:bodyPr/>
          <a:lstStyle/>
          <a:p>
            <a:endParaRPr lang="en-IN"/>
          </a:p>
        </p:txBody>
      </p:sp>
      <p:sp>
        <p:nvSpPr>
          <p:cNvPr id="5" name="Shape 3"/>
          <p:cNvSpPr/>
          <p:nvPr/>
        </p:nvSpPr>
        <p:spPr>
          <a:xfrm>
            <a:off x="640080" y="914400"/>
            <a:ext cx="73152" cy="914400"/>
          </a:xfrm>
          <a:prstGeom prst="rect">
            <a:avLst/>
          </a:prstGeom>
          <a:solidFill>
            <a:srgbClr val="0891B2"/>
          </a:solidFill>
          <a:ln/>
        </p:spPr>
        <p:txBody>
          <a:bodyPr/>
          <a:lstStyle/>
          <a:p>
            <a:endParaRPr lang="en-IN"/>
          </a:p>
        </p:txBody>
      </p:sp>
      <p:sp>
        <p:nvSpPr>
          <p:cNvPr id="6" name="Text 4"/>
          <p:cNvSpPr/>
          <p:nvPr/>
        </p:nvSpPr>
        <p:spPr>
          <a:xfrm>
            <a:off x="1005840" y="1005840"/>
            <a:ext cx="7223760" cy="73152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The Tabular Data Stream (TDS) endpoint allows Power BI (and other tools like SQL Server Management Studio) to connect to Dataverse using the SQL query protocol. This is what enables DirectQuery mode.</a:t>
            </a:r>
            <a:endParaRPr lang="en-US" sz="1300" dirty="0"/>
          </a:p>
        </p:txBody>
      </p:sp>
      <p:sp>
        <p:nvSpPr>
          <p:cNvPr id="7" name="Text 5"/>
          <p:cNvSpPr/>
          <p:nvPr/>
        </p:nvSpPr>
        <p:spPr>
          <a:xfrm>
            <a:off x="640080" y="2011680"/>
            <a:ext cx="7315200" cy="32004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How to Enable TDS Endpoint:</a:t>
            </a:r>
            <a:endParaRPr lang="en-US" sz="1300" dirty="0"/>
          </a:p>
        </p:txBody>
      </p:sp>
      <p:sp>
        <p:nvSpPr>
          <p:cNvPr id="8" name="Text 6"/>
          <p:cNvSpPr/>
          <p:nvPr/>
        </p:nvSpPr>
        <p:spPr>
          <a:xfrm>
            <a:off x="640080" y="2377440"/>
            <a:ext cx="365760" cy="36576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1.</a:t>
            </a:r>
            <a:endParaRPr lang="en-US" sz="1200" dirty="0"/>
          </a:p>
        </p:txBody>
      </p:sp>
      <p:sp>
        <p:nvSpPr>
          <p:cNvPr id="9" name="Text 7"/>
          <p:cNvSpPr/>
          <p:nvPr/>
        </p:nvSpPr>
        <p:spPr>
          <a:xfrm>
            <a:off x="1051560" y="2377440"/>
            <a:ext cx="749808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Navigate to Power Platform Admin Centre (admin.powerplatform.microsoft.com)</a:t>
            </a:r>
            <a:endParaRPr lang="en-US" sz="1200" dirty="0"/>
          </a:p>
        </p:txBody>
      </p:sp>
      <p:sp>
        <p:nvSpPr>
          <p:cNvPr id="10" name="Text 8"/>
          <p:cNvSpPr/>
          <p:nvPr/>
        </p:nvSpPr>
        <p:spPr>
          <a:xfrm>
            <a:off x="640080" y="2834640"/>
            <a:ext cx="365760" cy="36576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2.</a:t>
            </a:r>
            <a:endParaRPr lang="en-US" sz="1200" dirty="0"/>
          </a:p>
        </p:txBody>
      </p:sp>
      <p:sp>
        <p:nvSpPr>
          <p:cNvPr id="11" name="Text 9"/>
          <p:cNvSpPr/>
          <p:nvPr/>
        </p:nvSpPr>
        <p:spPr>
          <a:xfrm>
            <a:off x="1051560" y="2834640"/>
            <a:ext cx="749808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Select your environment → Settings → Features</a:t>
            </a:r>
            <a:endParaRPr lang="en-US" sz="1200" dirty="0"/>
          </a:p>
        </p:txBody>
      </p:sp>
      <p:sp>
        <p:nvSpPr>
          <p:cNvPr id="12" name="Text 10"/>
          <p:cNvSpPr/>
          <p:nvPr/>
        </p:nvSpPr>
        <p:spPr>
          <a:xfrm>
            <a:off x="640080" y="3291840"/>
            <a:ext cx="365760" cy="36576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3.</a:t>
            </a:r>
            <a:endParaRPr lang="en-US" sz="1200" dirty="0"/>
          </a:p>
        </p:txBody>
      </p:sp>
      <p:sp>
        <p:nvSpPr>
          <p:cNvPr id="13" name="Text 11"/>
          <p:cNvSpPr/>
          <p:nvPr/>
        </p:nvSpPr>
        <p:spPr>
          <a:xfrm>
            <a:off x="1051560" y="3291840"/>
            <a:ext cx="749808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Find "TDS endpoint" setting → Toggle to "On"</a:t>
            </a:r>
            <a:endParaRPr lang="en-US" sz="1200" dirty="0"/>
          </a:p>
        </p:txBody>
      </p:sp>
      <p:sp>
        <p:nvSpPr>
          <p:cNvPr id="14" name="Text 12"/>
          <p:cNvSpPr/>
          <p:nvPr/>
        </p:nvSpPr>
        <p:spPr>
          <a:xfrm>
            <a:off x="640080" y="3749040"/>
            <a:ext cx="365760" cy="36576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4.</a:t>
            </a:r>
            <a:endParaRPr lang="en-US" sz="1200" dirty="0"/>
          </a:p>
        </p:txBody>
      </p:sp>
      <p:sp>
        <p:nvSpPr>
          <p:cNvPr id="15" name="Text 13"/>
          <p:cNvSpPr/>
          <p:nvPr/>
        </p:nvSpPr>
        <p:spPr>
          <a:xfrm>
            <a:off x="1051560" y="3749040"/>
            <a:ext cx="749808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Wait 5-10 minutes for the endpoint to activate</a:t>
            </a:r>
            <a:endParaRPr lang="en-US" sz="1200" dirty="0"/>
          </a:p>
        </p:txBody>
      </p:sp>
      <p:sp>
        <p:nvSpPr>
          <p:cNvPr id="16" name="Shape 14"/>
          <p:cNvSpPr/>
          <p:nvPr/>
        </p:nvSpPr>
        <p:spPr>
          <a:xfrm>
            <a:off x="457200" y="4251960"/>
            <a:ext cx="8229600" cy="502920"/>
          </a:xfrm>
          <a:prstGeom prst="rect">
            <a:avLst/>
          </a:prstGeom>
          <a:solidFill>
            <a:srgbClr val="FEF3C7"/>
          </a:solidFill>
          <a:ln/>
        </p:spPr>
        <p:txBody>
          <a:bodyPr/>
          <a:lstStyle/>
          <a:p>
            <a:endParaRPr lang="en-IN"/>
          </a:p>
        </p:txBody>
      </p:sp>
      <p:sp>
        <p:nvSpPr>
          <p:cNvPr id="17" name="Text 15"/>
          <p:cNvSpPr/>
          <p:nvPr/>
        </p:nvSpPr>
        <p:spPr>
          <a:xfrm>
            <a:off x="640080" y="4315968"/>
            <a:ext cx="7863840" cy="384048"/>
          </a:xfrm>
          <a:prstGeom prst="rect">
            <a:avLst/>
          </a:prstGeom>
          <a:noFill/>
          <a:ln/>
        </p:spPr>
        <p:txBody>
          <a:bodyPr wrap="square" rtlCol="0" anchor="ctr"/>
          <a:lstStyle/>
          <a:p>
            <a:pPr marL="0" indent="0">
              <a:buNone/>
            </a:pPr>
            <a:r>
              <a:rPr lang="en-US" sz="1050" dirty="0">
                <a:solidFill>
                  <a:srgbClr val="F59E0B"/>
                </a:solidFill>
                <a:latin typeface="Segoe UI" pitchFamily="34" charset="0"/>
                <a:ea typeface="Segoe UI" pitchFamily="34" charset="-122"/>
                <a:cs typeface="Segoe UI" pitchFamily="34" charset="-120"/>
              </a:rPr>
              <a:t>⚠️ TDS Limitations: Read-only, 80MB result size limit, some complex queries may timeout. For write operations, use Web API.</a:t>
            </a:r>
            <a:endParaRPr lang="en-US" sz="1050" dirty="0"/>
          </a:p>
        </p:txBody>
      </p:sp>
      <p:sp>
        <p:nvSpPr>
          <p:cNvPr id="18" name="Shape 16"/>
          <p:cNvSpPr/>
          <p:nvPr/>
        </p:nvSpPr>
        <p:spPr>
          <a:xfrm>
            <a:off x="0" y="4846320"/>
            <a:ext cx="9144000" cy="297180"/>
          </a:xfrm>
          <a:prstGeom prst="rect">
            <a:avLst/>
          </a:prstGeom>
          <a:solidFill>
            <a:srgbClr val="F1F5F9"/>
          </a:solidFill>
          <a:ln/>
        </p:spPr>
        <p:txBody>
          <a:bodyPr/>
          <a:lstStyle/>
          <a:p>
            <a:endParaRPr lang="en-IN"/>
          </a:p>
        </p:txBody>
      </p:sp>
      <p:sp>
        <p:nvSpPr>
          <p:cNvPr id="19" name="Text 1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0" name="Text 18"/>
          <p:cNvSpPr/>
          <p:nvPr/>
        </p:nvSpPr>
        <p:spPr>
          <a:xfrm>
            <a:off x="7955280" y="489204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12 / 31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4</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Built-in Analytics vs</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Custom Dashboards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When to Use Each Approach</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13 / 31</a:t>
            </a:r>
            <a:endParaRPr lang="en-US" sz="9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Built-in vs Custom Analytics</a:t>
            </a:r>
            <a:endParaRPr lang="en-US" sz="2800" dirty="0"/>
          </a:p>
        </p:txBody>
      </p:sp>
      <p:sp>
        <p:nvSpPr>
          <p:cNvPr id="4" name="Shape 2"/>
          <p:cNvSpPr/>
          <p:nvPr/>
        </p:nvSpPr>
        <p:spPr>
          <a:xfrm>
            <a:off x="457200" y="868680"/>
            <a:ext cx="4023360" cy="3108960"/>
          </a:xfrm>
          <a:prstGeom prst="rect">
            <a:avLst/>
          </a:prstGeom>
          <a:solidFill>
            <a:srgbClr val="F1F5F9"/>
          </a:solidFill>
          <a:ln/>
        </p:spPr>
        <p:txBody>
          <a:bodyPr/>
          <a:lstStyle/>
          <a:p>
            <a:endParaRPr lang="en-IN"/>
          </a:p>
        </p:txBody>
      </p:sp>
      <p:sp>
        <p:nvSpPr>
          <p:cNvPr id="5" name="Shape 3"/>
          <p:cNvSpPr/>
          <p:nvPr/>
        </p:nvSpPr>
        <p:spPr>
          <a:xfrm>
            <a:off x="457200" y="868680"/>
            <a:ext cx="4023360" cy="457200"/>
          </a:xfrm>
          <a:prstGeom prst="rect">
            <a:avLst/>
          </a:prstGeom>
          <a:solidFill>
            <a:srgbClr val="4F46E5"/>
          </a:solidFill>
          <a:ln/>
        </p:spPr>
        <p:txBody>
          <a:bodyPr/>
          <a:lstStyle/>
          <a:p>
            <a:endParaRPr lang="en-IN"/>
          </a:p>
        </p:txBody>
      </p:sp>
      <p:sp>
        <p:nvSpPr>
          <p:cNvPr id="6" name="Text 4"/>
          <p:cNvSpPr/>
          <p:nvPr/>
        </p:nvSpPr>
        <p:spPr>
          <a:xfrm>
            <a:off x="640080" y="914400"/>
            <a:ext cx="3657600" cy="36576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 Copilot Studio Built-in</a:t>
            </a:r>
            <a:endParaRPr lang="en-US" sz="1100" dirty="0"/>
          </a:p>
        </p:txBody>
      </p:sp>
      <p:sp>
        <p:nvSpPr>
          <p:cNvPr id="7" name="Text 5"/>
          <p:cNvSpPr/>
          <p:nvPr/>
        </p:nvSpPr>
        <p:spPr>
          <a:xfrm>
            <a:off x="640080" y="1371600"/>
            <a:ext cx="3657600" cy="246888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Purpose: Quick agent health checks</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Session outcomes (resolved, escalated)</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Resolution rates per topic</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Escalation metrics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User satisfaction scores</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Best for:</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Day-to-day agent monitoring</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Single-agent views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Non-technical users</a:t>
            </a:r>
            <a:endParaRPr lang="en-US" sz="1050" dirty="0"/>
          </a:p>
        </p:txBody>
      </p:sp>
      <p:sp>
        <p:nvSpPr>
          <p:cNvPr id="8" name="Shape 6"/>
          <p:cNvSpPr/>
          <p:nvPr/>
        </p:nvSpPr>
        <p:spPr>
          <a:xfrm>
            <a:off x="4663440" y="868680"/>
            <a:ext cx="4023360" cy="3108960"/>
          </a:xfrm>
          <a:prstGeom prst="rect">
            <a:avLst/>
          </a:prstGeom>
          <a:solidFill>
            <a:srgbClr val="F1F5F9"/>
          </a:solidFill>
          <a:ln/>
        </p:spPr>
        <p:txBody>
          <a:bodyPr/>
          <a:lstStyle/>
          <a:p>
            <a:endParaRPr lang="en-IN"/>
          </a:p>
        </p:txBody>
      </p:sp>
      <p:sp>
        <p:nvSpPr>
          <p:cNvPr id="9" name="Shape 7"/>
          <p:cNvSpPr/>
          <p:nvPr/>
        </p:nvSpPr>
        <p:spPr>
          <a:xfrm>
            <a:off x="4663440" y="868680"/>
            <a:ext cx="4023360" cy="457200"/>
          </a:xfrm>
          <a:prstGeom prst="rect">
            <a:avLst/>
          </a:prstGeom>
          <a:solidFill>
            <a:srgbClr val="EA580C"/>
          </a:solidFill>
          <a:ln/>
        </p:spPr>
        <p:txBody>
          <a:bodyPr/>
          <a:lstStyle/>
          <a:p>
            <a:endParaRPr lang="en-IN"/>
          </a:p>
        </p:txBody>
      </p:sp>
      <p:sp>
        <p:nvSpPr>
          <p:cNvPr id="10" name="Text 8"/>
          <p:cNvSpPr/>
          <p:nvPr/>
        </p:nvSpPr>
        <p:spPr>
          <a:xfrm>
            <a:off x="4846320" y="914400"/>
            <a:ext cx="3657600" cy="36576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 Custom Power BI Dashboards</a:t>
            </a:r>
            <a:endParaRPr lang="en-US" sz="1100" dirty="0"/>
          </a:p>
        </p:txBody>
      </p:sp>
      <p:sp>
        <p:nvSpPr>
          <p:cNvPr id="11" name="Text 9"/>
          <p:cNvSpPr/>
          <p:nvPr/>
        </p:nvSpPr>
        <p:spPr>
          <a:xfrm>
            <a:off x="4846320" y="1371600"/>
            <a:ext cx="3657600" cy="246888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Purpose: Enterprise operational reporting</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Cross-agent performance views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Business + operational data combined</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Custom KPIs and SLA tracking</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Compliance dashboards</a:t>
            </a:r>
            <a:endParaRPr lang="en-US" sz="1050" dirty="0"/>
          </a:p>
          <a:p>
            <a:pPr marL="0" indent="0">
              <a:buNone/>
            </a:pP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Best for:</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Management reporting</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Multi-agent architectures</a:t>
            </a:r>
            <a:endParaRPr lang="en-US" sz="1050" dirty="0"/>
          </a:p>
          <a:p>
            <a:pPr marL="0" indent="0">
              <a:buNone/>
            </a:pPr>
            <a:r>
              <a:rPr lang="en-US" sz="1050" dirty="0">
                <a:solidFill>
                  <a:srgbClr val="1E293B"/>
                </a:solidFill>
                <a:latin typeface="Segoe UI" pitchFamily="34" charset="0"/>
                <a:ea typeface="Segoe UI" pitchFamily="34" charset="-122"/>
                <a:cs typeface="Segoe UI" pitchFamily="34" charset="-120"/>
              </a:rPr>
              <a:t>• BFSI regulatory compliance</a:t>
            </a:r>
            <a:endParaRPr lang="en-US" sz="1050" dirty="0"/>
          </a:p>
        </p:txBody>
      </p:sp>
      <p:sp>
        <p:nvSpPr>
          <p:cNvPr id="12" name="Shape 10"/>
          <p:cNvSpPr/>
          <p:nvPr/>
        </p:nvSpPr>
        <p:spPr>
          <a:xfrm>
            <a:off x="457200" y="4114800"/>
            <a:ext cx="8229600" cy="640080"/>
          </a:xfrm>
          <a:prstGeom prst="rect">
            <a:avLst/>
          </a:prstGeom>
          <a:solidFill>
            <a:srgbClr val="DCFCE7"/>
          </a:solidFill>
          <a:ln/>
        </p:spPr>
        <p:txBody>
          <a:bodyPr/>
          <a:lstStyle/>
          <a:p>
            <a:endParaRPr lang="en-IN"/>
          </a:p>
        </p:txBody>
      </p:sp>
      <p:sp>
        <p:nvSpPr>
          <p:cNvPr id="13" name="Text 11"/>
          <p:cNvSpPr/>
          <p:nvPr/>
        </p:nvSpPr>
        <p:spPr>
          <a:xfrm>
            <a:off x="640080" y="4187952"/>
            <a:ext cx="7863840" cy="502920"/>
          </a:xfrm>
          <a:prstGeom prst="rect">
            <a:avLst/>
          </a:prstGeom>
          <a:noFill/>
          <a:ln/>
        </p:spPr>
        <p:txBody>
          <a:bodyPr wrap="square" rtlCol="0" anchor="ctr"/>
          <a:lstStyle/>
          <a:p>
            <a:pPr marL="0" indent="0">
              <a:buNone/>
            </a:pPr>
            <a:r>
              <a:rPr lang="en-US" sz="1100" dirty="0">
                <a:solidFill>
                  <a:srgbClr val="22C55E"/>
                </a:solidFill>
                <a:latin typeface="Segoe UI" pitchFamily="34" charset="0"/>
                <a:ea typeface="Segoe UI" pitchFamily="34" charset="-122"/>
                <a:cs typeface="Segoe UI" pitchFamily="34" charset="-120"/>
              </a:rPr>
              <a:t>✓ BFSI Production Needs Both: Built-in for daily health checks + Custom dashboards for enterprise reporting, compliance, and management decisions</a:t>
            </a:r>
            <a:endParaRPr lang="en-US" sz="11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16" name="Text 14"/>
          <p:cNvSpPr/>
          <p:nvPr/>
        </p:nvSpPr>
        <p:spPr>
          <a:xfrm>
            <a:off x="8046720" y="489204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14 / 31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5</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Three-Page BFSI</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Dashboard Design</a:t>
            </a:r>
            <a:endParaRPr lang="en-US" sz="3800" dirty="0"/>
          </a:p>
        </p:txBody>
      </p:sp>
      <p:sp>
        <p:nvSpPr>
          <p:cNvPr id="5" name="Text 3"/>
          <p:cNvSpPr/>
          <p:nvPr/>
        </p:nvSpPr>
        <p:spPr>
          <a:xfrm>
            <a:off x="731520" y="3200400"/>
            <a:ext cx="64008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Claims Operations • Agent Performance • Approval Compliance</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15 / 31</a:t>
            </a:r>
            <a:endParaRPr lang="en-US" sz="9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Page 1: Claims Operations</a:t>
            </a:r>
            <a:endParaRPr lang="en-US" sz="2800" dirty="0"/>
          </a:p>
        </p:txBody>
      </p:sp>
      <p:sp>
        <p:nvSpPr>
          <p:cNvPr id="4" name="Shape 2"/>
          <p:cNvSpPr/>
          <p:nvPr/>
        </p:nvSpPr>
        <p:spPr>
          <a:xfrm>
            <a:off x="640080" y="868680"/>
            <a:ext cx="7863840" cy="548640"/>
          </a:xfrm>
          <a:prstGeom prst="rect">
            <a:avLst/>
          </a:prstGeom>
          <a:solidFill>
            <a:srgbClr val="F1F5F9"/>
          </a:solidFill>
          <a:ln/>
        </p:spPr>
        <p:txBody>
          <a:bodyPr/>
          <a:lstStyle/>
          <a:p>
            <a:endParaRPr lang="en-IN"/>
          </a:p>
        </p:txBody>
      </p:sp>
      <p:sp>
        <p:nvSpPr>
          <p:cNvPr id="5" name="Shape 3"/>
          <p:cNvSpPr/>
          <p:nvPr/>
        </p:nvSpPr>
        <p:spPr>
          <a:xfrm>
            <a:off x="640080" y="868680"/>
            <a:ext cx="73152" cy="548640"/>
          </a:xfrm>
          <a:prstGeom prst="rect">
            <a:avLst/>
          </a:prstGeom>
          <a:solidFill>
            <a:srgbClr val="0891B2"/>
          </a:solidFill>
          <a:ln/>
        </p:spPr>
        <p:txBody>
          <a:bodyPr/>
          <a:lstStyle/>
          <a:p>
            <a:endParaRPr lang="en-IN"/>
          </a:p>
        </p:txBody>
      </p:sp>
      <p:sp>
        <p:nvSpPr>
          <p:cNvPr id="6" name="Text 4"/>
          <p:cNvSpPr/>
          <p:nvPr/>
        </p:nvSpPr>
        <p:spPr>
          <a:xfrm>
            <a:off x="1005840" y="960120"/>
            <a:ext cx="7223760" cy="365760"/>
          </a:xfrm>
          <a:prstGeom prst="rect">
            <a:avLst/>
          </a:prstGeom>
          <a:noFill/>
          <a:ln/>
        </p:spPr>
        <p:txBody>
          <a:bodyPr wrap="square" rtlCol="0" anchor="ctr"/>
          <a:lstStyle/>
          <a:p>
            <a:pPr marL="0" indent="0">
              <a:buNone/>
            </a:pPr>
            <a:r>
              <a:rPr lang="en-US" sz="1300" i="1" dirty="0">
                <a:solidFill>
                  <a:srgbClr val="1E293B"/>
                </a:solidFill>
                <a:latin typeface="Segoe UI" pitchFamily="34" charset="0"/>
                <a:ea typeface="Segoe UI" pitchFamily="34" charset="-122"/>
                <a:cs typeface="Segoe UI" pitchFamily="34" charset="-120"/>
              </a:rPr>
              <a:t>Business Question: "How much work is flowing through the system and what are the outcomes?"</a:t>
            </a:r>
            <a:endParaRPr lang="en-US" sz="1300" dirty="0"/>
          </a:p>
        </p:txBody>
      </p:sp>
      <p:sp>
        <p:nvSpPr>
          <p:cNvPr id="7" name="Text 5"/>
          <p:cNvSpPr/>
          <p:nvPr/>
        </p:nvSpPr>
        <p:spPr>
          <a:xfrm>
            <a:off x="640080" y="1554480"/>
            <a:ext cx="7315200" cy="32004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Key Visuals:</a:t>
            </a:r>
            <a:endParaRPr lang="en-US" sz="1200" dirty="0"/>
          </a:p>
        </p:txBody>
      </p:sp>
      <p:sp>
        <p:nvSpPr>
          <p:cNvPr id="8" name="Shape 6"/>
          <p:cNvSpPr/>
          <p:nvPr/>
        </p:nvSpPr>
        <p:spPr>
          <a:xfrm>
            <a:off x="457200" y="1920240"/>
            <a:ext cx="8229600" cy="402336"/>
          </a:xfrm>
          <a:prstGeom prst="rect">
            <a:avLst/>
          </a:prstGeom>
          <a:solidFill>
            <a:srgbClr val="F1F5F9"/>
          </a:solidFill>
          <a:ln/>
        </p:spPr>
        <p:txBody>
          <a:bodyPr/>
          <a:lstStyle/>
          <a:p>
            <a:endParaRPr lang="en-IN"/>
          </a:p>
        </p:txBody>
      </p:sp>
      <p:sp>
        <p:nvSpPr>
          <p:cNvPr id="9" name="Text 7"/>
          <p:cNvSpPr/>
          <p:nvPr/>
        </p:nvSpPr>
        <p:spPr>
          <a:xfrm>
            <a:off x="640080" y="19751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KPI Cards</a:t>
            </a:r>
            <a:endParaRPr lang="en-US" sz="1050" dirty="0"/>
          </a:p>
        </p:txBody>
      </p:sp>
      <p:sp>
        <p:nvSpPr>
          <p:cNvPr id="10" name="Text 8"/>
          <p:cNvSpPr/>
          <p:nvPr/>
        </p:nvSpPr>
        <p:spPr>
          <a:xfrm>
            <a:off x="2194560" y="19751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Total Claims, Claims Value, Avg Claim Amount, Claims Loss Ratio</a:t>
            </a:r>
            <a:endParaRPr lang="en-US" sz="1050" dirty="0"/>
          </a:p>
        </p:txBody>
      </p:sp>
      <p:sp>
        <p:nvSpPr>
          <p:cNvPr id="11" name="Shape 9"/>
          <p:cNvSpPr/>
          <p:nvPr/>
        </p:nvSpPr>
        <p:spPr>
          <a:xfrm>
            <a:off x="457200" y="2377440"/>
            <a:ext cx="8229600" cy="402336"/>
          </a:xfrm>
          <a:prstGeom prst="rect">
            <a:avLst/>
          </a:prstGeom>
          <a:solidFill>
            <a:srgbClr val="F1F5F9"/>
          </a:solidFill>
          <a:ln/>
        </p:spPr>
        <p:txBody>
          <a:bodyPr/>
          <a:lstStyle/>
          <a:p>
            <a:endParaRPr lang="en-IN"/>
          </a:p>
        </p:txBody>
      </p:sp>
      <p:sp>
        <p:nvSpPr>
          <p:cNvPr id="12" name="Text 10"/>
          <p:cNvSpPr/>
          <p:nvPr/>
        </p:nvSpPr>
        <p:spPr>
          <a:xfrm>
            <a:off x="640080" y="24323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Bar Chart</a:t>
            </a:r>
            <a:endParaRPr lang="en-US" sz="1050" dirty="0"/>
          </a:p>
        </p:txBody>
      </p:sp>
      <p:sp>
        <p:nvSpPr>
          <p:cNvPr id="13" name="Text 11"/>
          <p:cNvSpPr/>
          <p:nvPr/>
        </p:nvSpPr>
        <p:spPr>
          <a:xfrm>
            <a:off x="2194560" y="24323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Claims by Status (Pending, Approved, Rejected, Paid)</a:t>
            </a:r>
            <a:endParaRPr lang="en-US" sz="1050" dirty="0"/>
          </a:p>
        </p:txBody>
      </p:sp>
      <p:sp>
        <p:nvSpPr>
          <p:cNvPr id="14" name="Shape 12"/>
          <p:cNvSpPr/>
          <p:nvPr/>
        </p:nvSpPr>
        <p:spPr>
          <a:xfrm>
            <a:off x="457200" y="2834640"/>
            <a:ext cx="8229600" cy="402336"/>
          </a:xfrm>
          <a:prstGeom prst="rect">
            <a:avLst/>
          </a:prstGeom>
          <a:solidFill>
            <a:srgbClr val="F1F5F9"/>
          </a:solidFill>
          <a:ln/>
        </p:spPr>
        <p:txBody>
          <a:bodyPr/>
          <a:lstStyle/>
          <a:p>
            <a:endParaRPr lang="en-IN"/>
          </a:p>
        </p:txBody>
      </p:sp>
      <p:sp>
        <p:nvSpPr>
          <p:cNvPr id="15" name="Text 13"/>
          <p:cNvSpPr/>
          <p:nvPr/>
        </p:nvSpPr>
        <p:spPr>
          <a:xfrm>
            <a:off x="640080" y="28895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Line Chart</a:t>
            </a:r>
            <a:endParaRPr lang="en-US" sz="1050" dirty="0"/>
          </a:p>
        </p:txBody>
      </p:sp>
      <p:sp>
        <p:nvSpPr>
          <p:cNvPr id="16" name="Text 14"/>
          <p:cNvSpPr/>
          <p:nvPr/>
        </p:nvSpPr>
        <p:spPr>
          <a:xfrm>
            <a:off x="2194560" y="28895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Claims Volume Trend over Time</a:t>
            </a:r>
            <a:endParaRPr lang="en-US" sz="1050" dirty="0"/>
          </a:p>
        </p:txBody>
      </p:sp>
      <p:sp>
        <p:nvSpPr>
          <p:cNvPr id="17" name="Shape 15"/>
          <p:cNvSpPr/>
          <p:nvPr/>
        </p:nvSpPr>
        <p:spPr>
          <a:xfrm>
            <a:off x="457200" y="3291840"/>
            <a:ext cx="8229600" cy="402336"/>
          </a:xfrm>
          <a:prstGeom prst="rect">
            <a:avLst/>
          </a:prstGeom>
          <a:solidFill>
            <a:srgbClr val="F1F5F9"/>
          </a:solidFill>
          <a:ln/>
        </p:spPr>
        <p:txBody>
          <a:bodyPr/>
          <a:lstStyle/>
          <a:p>
            <a:endParaRPr lang="en-IN"/>
          </a:p>
        </p:txBody>
      </p:sp>
      <p:sp>
        <p:nvSpPr>
          <p:cNvPr id="18" name="Text 16"/>
          <p:cNvSpPr/>
          <p:nvPr/>
        </p:nvSpPr>
        <p:spPr>
          <a:xfrm>
            <a:off x="640080" y="33467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Pie Chart</a:t>
            </a:r>
            <a:endParaRPr lang="en-US" sz="1050" dirty="0"/>
          </a:p>
        </p:txBody>
      </p:sp>
      <p:sp>
        <p:nvSpPr>
          <p:cNvPr id="19" name="Text 17"/>
          <p:cNvSpPr/>
          <p:nvPr/>
        </p:nvSpPr>
        <p:spPr>
          <a:xfrm>
            <a:off x="2194560" y="33467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Claims by Policy Type Distribution</a:t>
            </a:r>
            <a:endParaRPr lang="en-US" sz="1050" dirty="0"/>
          </a:p>
        </p:txBody>
      </p:sp>
      <p:sp>
        <p:nvSpPr>
          <p:cNvPr id="20" name="Shape 18"/>
          <p:cNvSpPr/>
          <p:nvPr/>
        </p:nvSpPr>
        <p:spPr>
          <a:xfrm>
            <a:off x="457200" y="3749040"/>
            <a:ext cx="8229600" cy="402336"/>
          </a:xfrm>
          <a:prstGeom prst="rect">
            <a:avLst/>
          </a:prstGeom>
          <a:solidFill>
            <a:srgbClr val="F1F5F9"/>
          </a:solidFill>
          <a:ln/>
        </p:spPr>
        <p:txBody>
          <a:bodyPr/>
          <a:lstStyle/>
          <a:p>
            <a:endParaRPr lang="en-IN"/>
          </a:p>
        </p:txBody>
      </p:sp>
      <p:sp>
        <p:nvSpPr>
          <p:cNvPr id="21" name="Text 19"/>
          <p:cNvSpPr/>
          <p:nvPr/>
        </p:nvSpPr>
        <p:spPr>
          <a:xfrm>
            <a:off x="640080" y="38039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Table</a:t>
            </a:r>
            <a:endParaRPr lang="en-US" sz="1050" dirty="0"/>
          </a:p>
        </p:txBody>
      </p:sp>
      <p:sp>
        <p:nvSpPr>
          <p:cNvPr id="22" name="Text 20"/>
          <p:cNvSpPr/>
          <p:nvPr/>
        </p:nvSpPr>
        <p:spPr>
          <a:xfrm>
            <a:off x="2194560" y="38039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Top 10 High-Value Claims with Details</a:t>
            </a:r>
            <a:endParaRPr lang="en-US" sz="1050" dirty="0"/>
          </a:p>
        </p:txBody>
      </p:sp>
      <p:sp>
        <p:nvSpPr>
          <p:cNvPr id="23" name="Shape 21"/>
          <p:cNvSpPr/>
          <p:nvPr/>
        </p:nvSpPr>
        <p:spPr>
          <a:xfrm>
            <a:off x="457200" y="4206240"/>
            <a:ext cx="8229600" cy="402336"/>
          </a:xfrm>
          <a:prstGeom prst="rect">
            <a:avLst/>
          </a:prstGeom>
          <a:solidFill>
            <a:srgbClr val="F1F5F9"/>
          </a:solidFill>
          <a:ln/>
        </p:spPr>
        <p:txBody>
          <a:bodyPr/>
          <a:lstStyle/>
          <a:p>
            <a:endParaRPr lang="en-IN"/>
          </a:p>
        </p:txBody>
      </p:sp>
      <p:sp>
        <p:nvSpPr>
          <p:cNvPr id="24" name="Text 22"/>
          <p:cNvSpPr/>
          <p:nvPr/>
        </p:nvSpPr>
        <p:spPr>
          <a:xfrm>
            <a:off x="640080" y="42611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Slicers</a:t>
            </a:r>
            <a:endParaRPr lang="en-US" sz="1050" dirty="0"/>
          </a:p>
        </p:txBody>
      </p:sp>
      <p:sp>
        <p:nvSpPr>
          <p:cNvPr id="25" name="Text 23"/>
          <p:cNvSpPr/>
          <p:nvPr/>
        </p:nvSpPr>
        <p:spPr>
          <a:xfrm>
            <a:off x="2194560" y="42611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Date Range, Policy Type, Claim Status</a:t>
            </a:r>
            <a:endParaRPr lang="en-US" sz="1050" dirty="0"/>
          </a:p>
        </p:txBody>
      </p:sp>
      <p:sp>
        <p:nvSpPr>
          <p:cNvPr id="26" name="Shape 24"/>
          <p:cNvSpPr/>
          <p:nvPr/>
        </p:nvSpPr>
        <p:spPr>
          <a:xfrm>
            <a:off x="0" y="4846320"/>
            <a:ext cx="9144000" cy="297180"/>
          </a:xfrm>
          <a:prstGeom prst="rect">
            <a:avLst/>
          </a:prstGeom>
          <a:solidFill>
            <a:srgbClr val="F1F5F9"/>
          </a:solidFill>
          <a:ln/>
        </p:spPr>
        <p:txBody>
          <a:bodyPr/>
          <a:lstStyle/>
          <a:p>
            <a:endParaRPr lang="en-IN"/>
          </a:p>
        </p:txBody>
      </p:sp>
      <p:sp>
        <p:nvSpPr>
          <p:cNvPr id="27" name="Text 2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8" name="Text 26"/>
          <p:cNvSpPr/>
          <p:nvPr/>
        </p:nvSpPr>
        <p:spPr>
          <a:xfrm>
            <a:off x="7955280" y="484777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16 / 31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Page 2: Agent Performance</a:t>
            </a:r>
            <a:endParaRPr lang="en-US" sz="2800" dirty="0"/>
          </a:p>
        </p:txBody>
      </p:sp>
      <p:sp>
        <p:nvSpPr>
          <p:cNvPr id="4" name="Shape 2"/>
          <p:cNvSpPr/>
          <p:nvPr/>
        </p:nvSpPr>
        <p:spPr>
          <a:xfrm>
            <a:off x="640080" y="868680"/>
            <a:ext cx="7863840" cy="548640"/>
          </a:xfrm>
          <a:prstGeom prst="rect">
            <a:avLst/>
          </a:prstGeom>
          <a:solidFill>
            <a:srgbClr val="EDE9FE"/>
          </a:solidFill>
          <a:ln/>
        </p:spPr>
        <p:txBody>
          <a:bodyPr/>
          <a:lstStyle/>
          <a:p>
            <a:endParaRPr lang="en-IN"/>
          </a:p>
        </p:txBody>
      </p:sp>
      <p:sp>
        <p:nvSpPr>
          <p:cNvPr id="5" name="Shape 3"/>
          <p:cNvSpPr/>
          <p:nvPr/>
        </p:nvSpPr>
        <p:spPr>
          <a:xfrm>
            <a:off x="640080" y="868680"/>
            <a:ext cx="73152" cy="548640"/>
          </a:xfrm>
          <a:prstGeom prst="rect">
            <a:avLst/>
          </a:prstGeom>
          <a:solidFill>
            <a:srgbClr val="0891B2"/>
          </a:solidFill>
          <a:ln/>
        </p:spPr>
        <p:txBody>
          <a:bodyPr/>
          <a:lstStyle/>
          <a:p>
            <a:endParaRPr lang="en-IN"/>
          </a:p>
        </p:txBody>
      </p:sp>
      <p:sp>
        <p:nvSpPr>
          <p:cNvPr id="6" name="Text 4"/>
          <p:cNvSpPr/>
          <p:nvPr/>
        </p:nvSpPr>
        <p:spPr>
          <a:xfrm>
            <a:off x="1005840" y="960120"/>
            <a:ext cx="7223760" cy="365760"/>
          </a:xfrm>
          <a:prstGeom prst="rect">
            <a:avLst/>
          </a:prstGeom>
          <a:noFill/>
          <a:ln/>
        </p:spPr>
        <p:txBody>
          <a:bodyPr wrap="square" rtlCol="0" anchor="ctr"/>
          <a:lstStyle/>
          <a:p>
            <a:pPr marL="0" indent="0">
              <a:buNone/>
            </a:pPr>
            <a:r>
              <a:rPr lang="en-US" sz="1300" i="1" dirty="0">
                <a:solidFill>
                  <a:srgbClr val="1E293B"/>
                </a:solidFill>
                <a:latin typeface="Segoe UI" pitchFamily="34" charset="0"/>
                <a:ea typeface="Segoe UI" pitchFamily="34" charset="-122"/>
                <a:cs typeface="Segoe UI" pitchFamily="34" charset="-120"/>
              </a:rPr>
              <a:t>Business Question: "How are the AI agents performing and where should we optimize?"</a:t>
            </a:r>
            <a:endParaRPr lang="en-US" sz="1300" dirty="0"/>
          </a:p>
        </p:txBody>
      </p:sp>
      <p:sp>
        <p:nvSpPr>
          <p:cNvPr id="7" name="Text 5"/>
          <p:cNvSpPr/>
          <p:nvPr/>
        </p:nvSpPr>
        <p:spPr>
          <a:xfrm>
            <a:off x="640080" y="1554480"/>
            <a:ext cx="7315200" cy="320040"/>
          </a:xfrm>
          <a:prstGeom prst="rect">
            <a:avLst/>
          </a:prstGeom>
          <a:noFill/>
          <a:ln/>
        </p:spPr>
        <p:txBody>
          <a:bodyPr wrap="square" rtlCol="0" anchor="ctr"/>
          <a:lstStyle/>
          <a:p>
            <a:pPr marL="0" indent="0">
              <a:buNone/>
            </a:pPr>
            <a:r>
              <a:rPr lang="en-US" sz="1200" b="1" dirty="0">
                <a:solidFill>
                  <a:srgbClr val="7C3AED"/>
                </a:solidFill>
                <a:latin typeface="Segoe UI" pitchFamily="34" charset="0"/>
                <a:ea typeface="Segoe UI" pitchFamily="34" charset="-122"/>
                <a:cs typeface="Segoe UI" pitchFamily="34" charset="-120"/>
              </a:rPr>
              <a:t>Key Visuals:</a:t>
            </a:r>
            <a:endParaRPr lang="en-US" sz="1200" dirty="0"/>
          </a:p>
        </p:txBody>
      </p:sp>
      <p:sp>
        <p:nvSpPr>
          <p:cNvPr id="8" name="Shape 6"/>
          <p:cNvSpPr/>
          <p:nvPr/>
        </p:nvSpPr>
        <p:spPr>
          <a:xfrm>
            <a:off x="457200" y="1920240"/>
            <a:ext cx="8229600" cy="402336"/>
          </a:xfrm>
          <a:prstGeom prst="rect">
            <a:avLst/>
          </a:prstGeom>
          <a:solidFill>
            <a:srgbClr val="F1F5F9"/>
          </a:solidFill>
          <a:ln/>
        </p:spPr>
        <p:txBody>
          <a:bodyPr/>
          <a:lstStyle/>
          <a:p>
            <a:endParaRPr lang="en-IN"/>
          </a:p>
        </p:txBody>
      </p:sp>
      <p:sp>
        <p:nvSpPr>
          <p:cNvPr id="9" name="Text 7"/>
          <p:cNvSpPr/>
          <p:nvPr/>
        </p:nvSpPr>
        <p:spPr>
          <a:xfrm>
            <a:off x="640080" y="19751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KPI Cards</a:t>
            </a:r>
            <a:endParaRPr lang="en-US" sz="1050" dirty="0"/>
          </a:p>
        </p:txBody>
      </p:sp>
      <p:sp>
        <p:nvSpPr>
          <p:cNvPr id="10" name="Text 8"/>
          <p:cNvSpPr/>
          <p:nvPr/>
        </p:nvSpPr>
        <p:spPr>
          <a:xfrm>
            <a:off x="2194560" y="19751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Task Success Rate, Avg Task Duration, Delegation Count, Error Rate</a:t>
            </a:r>
            <a:endParaRPr lang="en-US" sz="1050" dirty="0"/>
          </a:p>
        </p:txBody>
      </p:sp>
      <p:sp>
        <p:nvSpPr>
          <p:cNvPr id="11" name="Shape 9"/>
          <p:cNvSpPr/>
          <p:nvPr/>
        </p:nvSpPr>
        <p:spPr>
          <a:xfrm>
            <a:off x="457200" y="2377440"/>
            <a:ext cx="8229600" cy="402336"/>
          </a:xfrm>
          <a:prstGeom prst="rect">
            <a:avLst/>
          </a:prstGeom>
          <a:solidFill>
            <a:srgbClr val="F1F5F9"/>
          </a:solidFill>
          <a:ln/>
        </p:spPr>
        <p:txBody>
          <a:bodyPr/>
          <a:lstStyle/>
          <a:p>
            <a:endParaRPr lang="en-IN"/>
          </a:p>
        </p:txBody>
      </p:sp>
      <p:sp>
        <p:nvSpPr>
          <p:cNvPr id="12" name="Text 10"/>
          <p:cNvSpPr/>
          <p:nvPr/>
        </p:nvSpPr>
        <p:spPr>
          <a:xfrm>
            <a:off x="640080" y="24323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Bar Chart</a:t>
            </a:r>
            <a:endParaRPr lang="en-US" sz="1050" dirty="0"/>
          </a:p>
        </p:txBody>
      </p:sp>
      <p:sp>
        <p:nvSpPr>
          <p:cNvPr id="13" name="Text 11"/>
          <p:cNvSpPr/>
          <p:nvPr/>
        </p:nvSpPr>
        <p:spPr>
          <a:xfrm>
            <a:off x="2194560" y="24323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Tasks by Agent (Triage, Processor, Reviewer, Coordinator)</a:t>
            </a:r>
            <a:endParaRPr lang="en-US" sz="1050" dirty="0"/>
          </a:p>
        </p:txBody>
      </p:sp>
      <p:sp>
        <p:nvSpPr>
          <p:cNvPr id="14" name="Shape 12"/>
          <p:cNvSpPr/>
          <p:nvPr/>
        </p:nvSpPr>
        <p:spPr>
          <a:xfrm>
            <a:off x="457200" y="2834640"/>
            <a:ext cx="8229600" cy="402336"/>
          </a:xfrm>
          <a:prstGeom prst="rect">
            <a:avLst/>
          </a:prstGeom>
          <a:solidFill>
            <a:srgbClr val="F1F5F9"/>
          </a:solidFill>
          <a:ln/>
        </p:spPr>
        <p:txBody>
          <a:bodyPr/>
          <a:lstStyle/>
          <a:p>
            <a:endParaRPr lang="en-IN"/>
          </a:p>
        </p:txBody>
      </p:sp>
      <p:sp>
        <p:nvSpPr>
          <p:cNvPr id="15" name="Text 13"/>
          <p:cNvSpPr/>
          <p:nvPr/>
        </p:nvSpPr>
        <p:spPr>
          <a:xfrm>
            <a:off x="640080" y="28895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Stacked Bar</a:t>
            </a:r>
            <a:endParaRPr lang="en-US" sz="1050" dirty="0"/>
          </a:p>
        </p:txBody>
      </p:sp>
      <p:sp>
        <p:nvSpPr>
          <p:cNvPr id="16" name="Text 14"/>
          <p:cNvSpPr/>
          <p:nvPr/>
        </p:nvSpPr>
        <p:spPr>
          <a:xfrm>
            <a:off x="2194560" y="28895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Task Outcomes by Agent (Success, Delegated, Failed)</a:t>
            </a:r>
            <a:endParaRPr lang="en-US" sz="1050" dirty="0"/>
          </a:p>
        </p:txBody>
      </p:sp>
      <p:sp>
        <p:nvSpPr>
          <p:cNvPr id="17" name="Shape 15"/>
          <p:cNvSpPr/>
          <p:nvPr/>
        </p:nvSpPr>
        <p:spPr>
          <a:xfrm>
            <a:off x="457200" y="3291840"/>
            <a:ext cx="8229600" cy="402336"/>
          </a:xfrm>
          <a:prstGeom prst="rect">
            <a:avLst/>
          </a:prstGeom>
          <a:solidFill>
            <a:srgbClr val="F1F5F9"/>
          </a:solidFill>
          <a:ln/>
        </p:spPr>
        <p:txBody>
          <a:bodyPr/>
          <a:lstStyle/>
          <a:p>
            <a:endParaRPr lang="en-IN"/>
          </a:p>
        </p:txBody>
      </p:sp>
      <p:sp>
        <p:nvSpPr>
          <p:cNvPr id="18" name="Text 16"/>
          <p:cNvSpPr/>
          <p:nvPr/>
        </p:nvSpPr>
        <p:spPr>
          <a:xfrm>
            <a:off x="640080" y="33467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Line Chart</a:t>
            </a:r>
            <a:endParaRPr lang="en-US" sz="1050" dirty="0"/>
          </a:p>
        </p:txBody>
      </p:sp>
      <p:sp>
        <p:nvSpPr>
          <p:cNvPr id="19" name="Text 17"/>
          <p:cNvSpPr/>
          <p:nvPr/>
        </p:nvSpPr>
        <p:spPr>
          <a:xfrm>
            <a:off x="2194560" y="33467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Average Response Time Trend</a:t>
            </a:r>
            <a:endParaRPr lang="en-US" sz="1050" dirty="0"/>
          </a:p>
        </p:txBody>
      </p:sp>
      <p:sp>
        <p:nvSpPr>
          <p:cNvPr id="20" name="Shape 18"/>
          <p:cNvSpPr/>
          <p:nvPr/>
        </p:nvSpPr>
        <p:spPr>
          <a:xfrm>
            <a:off x="457200" y="3749040"/>
            <a:ext cx="8229600" cy="402336"/>
          </a:xfrm>
          <a:prstGeom prst="rect">
            <a:avLst/>
          </a:prstGeom>
          <a:solidFill>
            <a:srgbClr val="F1F5F9"/>
          </a:solidFill>
          <a:ln/>
        </p:spPr>
        <p:txBody>
          <a:bodyPr/>
          <a:lstStyle/>
          <a:p>
            <a:endParaRPr lang="en-IN"/>
          </a:p>
        </p:txBody>
      </p:sp>
      <p:sp>
        <p:nvSpPr>
          <p:cNvPr id="21" name="Text 19"/>
          <p:cNvSpPr/>
          <p:nvPr/>
        </p:nvSpPr>
        <p:spPr>
          <a:xfrm>
            <a:off x="640080" y="38039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Table</a:t>
            </a:r>
            <a:endParaRPr lang="en-US" sz="1050" dirty="0"/>
          </a:p>
        </p:txBody>
      </p:sp>
      <p:sp>
        <p:nvSpPr>
          <p:cNvPr id="22" name="Text 20"/>
          <p:cNvSpPr/>
          <p:nvPr/>
        </p:nvSpPr>
        <p:spPr>
          <a:xfrm>
            <a:off x="2194560" y="38039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Recent Agent Tasks with Status and Duration</a:t>
            </a:r>
            <a:endParaRPr lang="en-US" sz="1050" dirty="0"/>
          </a:p>
        </p:txBody>
      </p:sp>
      <p:sp>
        <p:nvSpPr>
          <p:cNvPr id="23" name="Shape 21"/>
          <p:cNvSpPr/>
          <p:nvPr/>
        </p:nvSpPr>
        <p:spPr>
          <a:xfrm>
            <a:off x="457200" y="4206240"/>
            <a:ext cx="8229600" cy="402336"/>
          </a:xfrm>
          <a:prstGeom prst="rect">
            <a:avLst/>
          </a:prstGeom>
          <a:solidFill>
            <a:srgbClr val="F1F5F9"/>
          </a:solidFill>
          <a:ln/>
        </p:spPr>
        <p:txBody>
          <a:bodyPr/>
          <a:lstStyle/>
          <a:p>
            <a:endParaRPr lang="en-IN"/>
          </a:p>
        </p:txBody>
      </p:sp>
      <p:sp>
        <p:nvSpPr>
          <p:cNvPr id="24" name="Text 22"/>
          <p:cNvSpPr/>
          <p:nvPr/>
        </p:nvSpPr>
        <p:spPr>
          <a:xfrm>
            <a:off x="640080" y="42611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Slicers</a:t>
            </a:r>
            <a:endParaRPr lang="en-US" sz="1050" dirty="0"/>
          </a:p>
        </p:txBody>
      </p:sp>
      <p:sp>
        <p:nvSpPr>
          <p:cNvPr id="25" name="Text 23"/>
          <p:cNvSpPr/>
          <p:nvPr/>
        </p:nvSpPr>
        <p:spPr>
          <a:xfrm>
            <a:off x="2194560" y="42611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Date Range, Agent Name, Task Type, Status</a:t>
            </a:r>
            <a:endParaRPr lang="en-US" sz="1050" dirty="0"/>
          </a:p>
        </p:txBody>
      </p:sp>
      <p:sp>
        <p:nvSpPr>
          <p:cNvPr id="26" name="Shape 24"/>
          <p:cNvSpPr/>
          <p:nvPr/>
        </p:nvSpPr>
        <p:spPr>
          <a:xfrm>
            <a:off x="0" y="4846320"/>
            <a:ext cx="9144000" cy="297180"/>
          </a:xfrm>
          <a:prstGeom prst="rect">
            <a:avLst/>
          </a:prstGeom>
          <a:solidFill>
            <a:srgbClr val="F1F5F9"/>
          </a:solidFill>
          <a:ln/>
        </p:spPr>
        <p:txBody>
          <a:bodyPr/>
          <a:lstStyle/>
          <a:p>
            <a:endParaRPr lang="en-IN"/>
          </a:p>
        </p:txBody>
      </p:sp>
      <p:sp>
        <p:nvSpPr>
          <p:cNvPr id="27" name="Text 2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8" name="Text 26"/>
          <p:cNvSpPr/>
          <p:nvPr/>
        </p:nvSpPr>
        <p:spPr>
          <a:xfrm>
            <a:off x="7933508"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17 / 31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Page 3: Approval Compliance</a:t>
            </a:r>
            <a:endParaRPr lang="en-US" sz="2800" dirty="0"/>
          </a:p>
        </p:txBody>
      </p:sp>
      <p:sp>
        <p:nvSpPr>
          <p:cNvPr id="4" name="Shape 2"/>
          <p:cNvSpPr/>
          <p:nvPr/>
        </p:nvSpPr>
        <p:spPr>
          <a:xfrm>
            <a:off x="640080" y="868680"/>
            <a:ext cx="7863840" cy="548640"/>
          </a:xfrm>
          <a:prstGeom prst="rect">
            <a:avLst/>
          </a:prstGeom>
          <a:solidFill>
            <a:srgbClr val="FEF3C7"/>
          </a:solidFill>
          <a:ln/>
        </p:spPr>
        <p:txBody>
          <a:bodyPr/>
          <a:lstStyle/>
          <a:p>
            <a:endParaRPr lang="en-IN"/>
          </a:p>
        </p:txBody>
      </p:sp>
      <p:sp>
        <p:nvSpPr>
          <p:cNvPr id="5" name="Shape 3"/>
          <p:cNvSpPr/>
          <p:nvPr/>
        </p:nvSpPr>
        <p:spPr>
          <a:xfrm>
            <a:off x="640080" y="868680"/>
            <a:ext cx="73152" cy="548640"/>
          </a:xfrm>
          <a:prstGeom prst="rect">
            <a:avLst/>
          </a:prstGeom>
          <a:solidFill>
            <a:srgbClr val="0891B2"/>
          </a:solidFill>
          <a:ln/>
        </p:spPr>
        <p:txBody>
          <a:bodyPr/>
          <a:lstStyle/>
          <a:p>
            <a:endParaRPr lang="en-IN"/>
          </a:p>
        </p:txBody>
      </p:sp>
      <p:sp>
        <p:nvSpPr>
          <p:cNvPr id="6" name="Text 4"/>
          <p:cNvSpPr/>
          <p:nvPr/>
        </p:nvSpPr>
        <p:spPr>
          <a:xfrm>
            <a:off x="1005840" y="960120"/>
            <a:ext cx="7223760" cy="365760"/>
          </a:xfrm>
          <a:prstGeom prst="rect">
            <a:avLst/>
          </a:prstGeom>
          <a:noFill/>
          <a:ln/>
        </p:spPr>
        <p:txBody>
          <a:bodyPr wrap="square" rtlCol="0" anchor="ctr"/>
          <a:lstStyle/>
          <a:p>
            <a:pPr marL="0" indent="0">
              <a:buNone/>
            </a:pPr>
            <a:r>
              <a:rPr lang="en-US" sz="1300" i="1" dirty="0">
                <a:solidFill>
                  <a:srgbClr val="1E293B"/>
                </a:solidFill>
                <a:latin typeface="Segoe UI" pitchFamily="34" charset="0"/>
                <a:ea typeface="Segoe UI" pitchFamily="34" charset="-122"/>
                <a:cs typeface="Segoe UI" pitchFamily="34" charset="-120"/>
              </a:rPr>
              <a:t>Business Question: "Is human oversight functioning correctly and are SLAs being met?"</a:t>
            </a:r>
            <a:endParaRPr lang="en-US" sz="1300" dirty="0"/>
          </a:p>
        </p:txBody>
      </p:sp>
      <p:sp>
        <p:nvSpPr>
          <p:cNvPr id="7" name="Text 5"/>
          <p:cNvSpPr/>
          <p:nvPr/>
        </p:nvSpPr>
        <p:spPr>
          <a:xfrm>
            <a:off x="640080" y="1554480"/>
            <a:ext cx="7315200" cy="320040"/>
          </a:xfrm>
          <a:prstGeom prst="rect">
            <a:avLst/>
          </a:prstGeom>
          <a:noFill/>
          <a:ln/>
        </p:spPr>
        <p:txBody>
          <a:bodyPr wrap="square" rtlCol="0" anchor="ctr"/>
          <a:lstStyle/>
          <a:p>
            <a:pPr marL="0" indent="0">
              <a:buNone/>
            </a:pPr>
            <a:r>
              <a:rPr lang="en-US" sz="1200" b="1" dirty="0">
                <a:solidFill>
                  <a:srgbClr val="F59E0B"/>
                </a:solidFill>
                <a:latin typeface="Segoe UI" pitchFamily="34" charset="0"/>
                <a:ea typeface="Segoe UI" pitchFamily="34" charset="-122"/>
                <a:cs typeface="Segoe UI" pitchFamily="34" charset="-120"/>
              </a:rPr>
              <a:t>Key Visuals:</a:t>
            </a:r>
            <a:endParaRPr lang="en-US" sz="1200" dirty="0"/>
          </a:p>
        </p:txBody>
      </p:sp>
      <p:sp>
        <p:nvSpPr>
          <p:cNvPr id="8" name="Shape 6"/>
          <p:cNvSpPr/>
          <p:nvPr/>
        </p:nvSpPr>
        <p:spPr>
          <a:xfrm>
            <a:off x="457200" y="1920240"/>
            <a:ext cx="8229600" cy="402336"/>
          </a:xfrm>
          <a:prstGeom prst="rect">
            <a:avLst/>
          </a:prstGeom>
          <a:solidFill>
            <a:srgbClr val="F1F5F9"/>
          </a:solidFill>
          <a:ln/>
        </p:spPr>
        <p:txBody>
          <a:bodyPr/>
          <a:lstStyle/>
          <a:p>
            <a:endParaRPr lang="en-IN"/>
          </a:p>
        </p:txBody>
      </p:sp>
      <p:sp>
        <p:nvSpPr>
          <p:cNvPr id="9" name="Text 7"/>
          <p:cNvSpPr/>
          <p:nvPr/>
        </p:nvSpPr>
        <p:spPr>
          <a:xfrm>
            <a:off x="640080" y="19751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Gauge</a:t>
            </a:r>
            <a:endParaRPr lang="en-US" sz="1050" dirty="0"/>
          </a:p>
        </p:txBody>
      </p:sp>
      <p:sp>
        <p:nvSpPr>
          <p:cNvPr id="10" name="Text 8"/>
          <p:cNvSpPr/>
          <p:nvPr/>
        </p:nvSpPr>
        <p:spPr>
          <a:xfrm>
            <a:off x="2194560" y="19751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SLA Compliance Rate (target: 95%)</a:t>
            </a:r>
            <a:endParaRPr lang="en-US" sz="1050" dirty="0"/>
          </a:p>
        </p:txBody>
      </p:sp>
      <p:sp>
        <p:nvSpPr>
          <p:cNvPr id="11" name="Shape 9"/>
          <p:cNvSpPr/>
          <p:nvPr/>
        </p:nvSpPr>
        <p:spPr>
          <a:xfrm>
            <a:off x="457200" y="2377440"/>
            <a:ext cx="8229600" cy="402336"/>
          </a:xfrm>
          <a:prstGeom prst="rect">
            <a:avLst/>
          </a:prstGeom>
          <a:solidFill>
            <a:srgbClr val="F1F5F9"/>
          </a:solidFill>
          <a:ln/>
        </p:spPr>
        <p:txBody>
          <a:bodyPr/>
          <a:lstStyle/>
          <a:p>
            <a:endParaRPr lang="en-IN"/>
          </a:p>
        </p:txBody>
      </p:sp>
      <p:sp>
        <p:nvSpPr>
          <p:cNvPr id="12" name="Text 10"/>
          <p:cNvSpPr/>
          <p:nvPr/>
        </p:nvSpPr>
        <p:spPr>
          <a:xfrm>
            <a:off x="640080" y="24323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KPI Cards</a:t>
            </a:r>
            <a:endParaRPr lang="en-US" sz="1050" dirty="0"/>
          </a:p>
        </p:txBody>
      </p:sp>
      <p:sp>
        <p:nvSpPr>
          <p:cNvPr id="13" name="Text 11"/>
          <p:cNvSpPr/>
          <p:nvPr/>
        </p:nvSpPr>
        <p:spPr>
          <a:xfrm>
            <a:off x="2194560" y="24323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Pending Approvals, Avg Response Time, Overdue Count</a:t>
            </a:r>
            <a:endParaRPr lang="en-US" sz="1050" dirty="0"/>
          </a:p>
        </p:txBody>
      </p:sp>
      <p:sp>
        <p:nvSpPr>
          <p:cNvPr id="14" name="Shape 12"/>
          <p:cNvSpPr/>
          <p:nvPr/>
        </p:nvSpPr>
        <p:spPr>
          <a:xfrm>
            <a:off x="457200" y="2834640"/>
            <a:ext cx="8229600" cy="402336"/>
          </a:xfrm>
          <a:prstGeom prst="rect">
            <a:avLst/>
          </a:prstGeom>
          <a:solidFill>
            <a:srgbClr val="F1F5F9"/>
          </a:solidFill>
          <a:ln/>
        </p:spPr>
        <p:txBody>
          <a:bodyPr/>
          <a:lstStyle/>
          <a:p>
            <a:endParaRPr lang="en-IN"/>
          </a:p>
        </p:txBody>
      </p:sp>
      <p:sp>
        <p:nvSpPr>
          <p:cNvPr id="15" name="Text 13"/>
          <p:cNvSpPr/>
          <p:nvPr/>
        </p:nvSpPr>
        <p:spPr>
          <a:xfrm>
            <a:off x="640080" y="28895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Bar Chart</a:t>
            </a:r>
            <a:endParaRPr lang="en-US" sz="1050" dirty="0"/>
          </a:p>
        </p:txBody>
      </p:sp>
      <p:sp>
        <p:nvSpPr>
          <p:cNvPr id="16" name="Text 14"/>
          <p:cNvSpPr/>
          <p:nvPr/>
        </p:nvSpPr>
        <p:spPr>
          <a:xfrm>
            <a:off x="2194560" y="28895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Approvals by Outcome (Approved, Rejected, Expired)</a:t>
            </a:r>
            <a:endParaRPr lang="en-US" sz="1050" dirty="0"/>
          </a:p>
        </p:txBody>
      </p:sp>
      <p:sp>
        <p:nvSpPr>
          <p:cNvPr id="17" name="Shape 15"/>
          <p:cNvSpPr/>
          <p:nvPr/>
        </p:nvSpPr>
        <p:spPr>
          <a:xfrm>
            <a:off x="457200" y="3291840"/>
            <a:ext cx="8229600" cy="402336"/>
          </a:xfrm>
          <a:prstGeom prst="rect">
            <a:avLst/>
          </a:prstGeom>
          <a:solidFill>
            <a:srgbClr val="F1F5F9"/>
          </a:solidFill>
          <a:ln/>
        </p:spPr>
        <p:txBody>
          <a:bodyPr/>
          <a:lstStyle/>
          <a:p>
            <a:endParaRPr lang="en-IN"/>
          </a:p>
        </p:txBody>
      </p:sp>
      <p:sp>
        <p:nvSpPr>
          <p:cNvPr id="18" name="Text 16"/>
          <p:cNvSpPr/>
          <p:nvPr/>
        </p:nvSpPr>
        <p:spPr>
          <a:xfrm>
            <a:off x="640080" y="33467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Bar Chart</a:t>
            </a:r>
            <a:endParaRPr lang="en-US" sz="1050" dirty="0"/>
          </a:p>
        </p:txBody>
      </p:sp>
      <p:sp>
        <p:nvSpPr>
          <p:cNvPr id="19" name="Text 17"/>
          <p:cNvSpPr/>
          <p:nvPr/>
        </p:nvSpPr>
        <p:spPr>
          <a:xfrm>
            <a:off x="2194560" y="33467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Response Time by Approver</a:t>
            </a:r>
            <a:endParaRPr lang="en-US" sz="1050" dirty="0"/>
          </a:p>
        </p:txBody>
      </p:sp>
      <p:sp>
        <p:nvSpPr>
          <p:cNvPr id="20" name="Shape 18"/>
          <p:cNvSpPr/>
          <p:nvPr/>
        </p:nvSpPr>
        <p:spPr>
          <a:xfrm>
            <a:off x="457200" y="3749040"/>
            <a:ext cx="8229600" cy="402336"/>
          </a:xfrm>
          <a:prstGeom prst="rect">
            <a:avLst/>
          </a:prstGeom>
          <a:solidFill>
            <a:srgbClr val="F1F5F9"/>
          </a:solidFill>
          <a:ln/>
        </p:spPr>
        <p:txBody>
          <a:bodyPr/>
          <a:lstStyle/>
          <a:p>
            <a:endParaRPr lang="en-IN"/>
          </a:p>
        </p:txBody>
      </p:sp>
      <p:sp>
        <p:nvSpPr>
          <p:cNvPr id="21" name="Text 19"/>
          <p:cNvSpPr/>
          <p:nvPr/>
        </p:nvSpPr>
        <p:spPr>
          <a:xfrm>
            <a:off x="640080" y="38039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Table</a:t>
            </a:r>
            <a:endParaRPr lang="en-US" sz="1050" dirty="0"/>
          </a:p>
        </p:txBody>
      </p:sp>
      <p:sp>
        <p:nvSpPr>
          <p:cNvPr id="22" name="Text 20"/>
          <p:cNvSpPr/>
          <p:nvPr/>
        </p:nvSpPr>
        <p:spPr>
          <a:xfrm>
            <a:off x="2194560" y="38039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Overdue Approvals Requiring Attention</a:t>
            </a:r>
            <a:endParaRPr lang="en-US" sz="1050" dirty="0"/>
          </a:p>
        </p:txBody>
      </p:sp>
      <p:sp>
        <p:nvSpPr>
          <p:cNvPr id="23" name="Shape 21"/>
          <p:cNvSpPr/>
          <p:nvPr/>
        </p:nvSpPr>
        <p:spPr>
          <a:xfrm>
            <a:off x="457200" y="4206240"/>
            <a:ext cx="8229600" cy="402336"/>
          </a:xfrm>
          <a:prstGeom prst="rect">
            <a:avLst/>
          </a:prstGeom>
          <a:solidFill>
            <a:srgbClr val="F1F5F9"/>
          </a:solidFill>
          <a:ln/>
        </p:spPr>
        <p:txBody>
          <a:bodyPr/>
          <a:lstStyle/>
          <a:p>
            <a:endParaRPr lang="en-IN"/>
          </a:p>
        </p:txBody>
      </p:sp>
      <p:sp>
        <p:nvSpPr>
          <p:cNvPr id="24" name="Text 22"/>
          <p:cNvSpPr/>
          <p:nvPr/>
        </p:nvSpPr>
        <p:spPr>
          <a:xfrm>
            <a:off x="640080" y="4261104"/>
            <a:ext cx="1463040" cy="292608"/>
          </a:xfrm>
          <a:prstGeom prst="rect">
            <a:avLst/>
          </a:prstGeom>
          <a:noFill/>
          <a:ln/>
        </p:spPr>
        <p:txBody>
          <a:bodyPr wrap="square" rtlCol="0" anchor="ctr"/>
          <a:lstStyle/>
          <a:p>
            <a:pPr marL="0" indent="0">
              <a:buNone/>
            </a:pPr>
            <a:r>
              <a:rPr lang="en-US" sz="1050" b="1" dirty="0">
                <a:solidFill>
                  <a:srgbClr val="1E293B"/>
                </a:solidFill>
                <a:latin typeface="Segoe UI" pitchFamily="34" charset="0"/>
                <a:ea typeface="Segoe UI" pitchFamily="34" charset="-122"/>
                <a:cs typeface="Segoe UI" pitchFamily="34" charset="-120"/>
              </a:rPr>
              <a:t>Slicers</a:t>
            </a:r>
            <a:endParaRPr lang="en-US" sz="1050" dirty="0"/>
          </a:p>
        </p:txBody>
      </p:sp>
      <p:sp>
        <p:nvSpPr>
          <p:cNvPr id="25" name="Text 23"/>
          <p:cNvSpPr/>
          <p:nvPr/>
        </p:nvSpPr>
        <p:spPr>
          <a:xfrm>
            <a:off x="2194560" y="4261104"/>
            <a:ext cx="6309360" cy="292608"/>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Date Range, Approver, Approval Type, SLA Status</a:t>
            </a:r>
            <a:endParaRPr lang="en-US" sz="1050" dirty="0"/>
          </a:p>
        </p:txBody>
      </p:sp>
      <p:sp>
        <p:nvSpPr>
          <p:cNvPr id="26" name="Shape 24"/>
          <p:cNvSpPr/>
          <p:nvPr/>
        </p:nvSpPr>
        <p:spPr>
          <a:xfrm>
            <a:off x="0" y="4846320"/>
            <a:ext cx="9144000" cy="297180"/>
          </a:xfrm>
          <a:prstGeom prst="rect">
            <a:avLst/>
          </a:prstGeom>
          <a:solidFill>
            <a:srgbClr val="F1F5F9"/>
          </a:solidFill>
          <a:ln/>
        </p:spPr>
        <p:txBody>
          <a:bodyPr/>
          <a:lstStyle/>
          <a:p>
            <a:endParaRPr lang="en-IN"/>
          </a:p>
        </p:txBody>
      </p:sp>
      <p:sp>
        <p:nvSpPr>
          <p:cNvPr id="27" name="Text 2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8" name="Text 26"/>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18 / 31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Key DAX Measures for Agent KPIs</a:t>
            </a:r>
            <a:endParaRPr lang="en-US" sz="2800" dirty="0"/>
          </a:p>
        </p:txBody>
      </p:sp>
      <p:sp>
        <p:nvSpPr>
          <p:cNvPr id="4" name="Shape 2"/>
          <p:cNvSpPr/>
          <p:nvPr/>
        </p:nvSpPr>
        <p:spPr>
          <a:xfrm>
            <a:off x="457200" y="868680"/>
            <a:ext cx="8229600" cy="594360"/>
          </a:xfrm>
          <a:prstGeom prst="rect">
            <a:avLst/>
          </a:prstGeom>
          <a:solidFill>
            <a:srgbClr val="F1F5F9"/>
          </a:solidFill>
          <a:ln/>
        </p:spPr>
        <p:txBody>
          <a:bodyPr/>
          <a:lstStyle/>
          <a:p>
            <a:endParaRPr lang="en-IN"/>
          </a:p>
        </p:txBody>
      </p:sp>
      <p:sp>
        <p:nvSpPr>
          <p:cNvPr id="5" name="Text 3"/>
          <p:cNvSpPr/>
          <p:nvPr/>
        </p:nvSpPr>
        <p:spPr>
          <a:xfrm>
            <a:off x="640080" y="923544"/>
            <a:ext cx="2011680" cy="256032"/>
          </a:xfrm>
          <a:prstGeom prst="rect">
            <a:avLst/>
          </a:prstGeom>
          <a:noFill/>
          <a:ln/>
        </p:spPr>
        <p:txBody>
          <a:bodyPr wrap="square" rtlCol="0" anchor="ctr"/>
          <a:lstStyle/>
          <a:p>
            <a:pPr marL="0" indent="0">
              <a:buNone/>
            </a:pPr>
            <a:r>
              <a:rPr lang="en-US" sz="1050" b="1" dirty="0">
                <a:solidFill>
                  <a:srgbClr val="0891B2"/>
                </a:solidFill>
                <a:latin typeface="Segoe UI" pitchFamily="34" charset="0"/>
                <a:ea typeface="Segoe UI" pitchFamily="34" charset="-122"/>
                <a:cs typeface="Segoe UI" pitchFamily="34" charset="-120"/>
              </a:rPr>
              <a:t>Task Success Rate</a:t>
            </a:r>
            <a:endParaRPr lang="en-US" sz="1050" dirty="0"/>
          </a:p>
        </p:txBody>
      </p:sp>
      <p:sp>
        <p:nvSpPr>
          <p:cNvPr id="6" name="Text 4"/>
          <p:cNvSpPr/>
          <p:nvPr/>
        </p:nvSpPr>
        <p:spPr>
          <a:xfrm>
            <a:off x="640080" y="1179576"/>
            <a:ext cx="5760720" cy="228600"/>
          </a:xfrm>
          <a:prstGeom prst="rect">
            <a:avLst/>
          </a:prstGeom>
          <a:noFill/>
          <a:ln/>
        </p:spPr>
        <p:txBody>
          <a:bodyPr wrap="square"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DIVIDE(COUNTROWS(FILTER(AgentTaskLog, Status="Success")), COUNTROWS(AgentTaskLog), 0)</a:t>
            </a:r>
            <a:endParaRPr lang="en-US" sz="850" dirty="0"/>
          </a:p>
        </p:txBody>
      </p:sp>
      <p:sp>
        <p:nvSpPr>
          <p:cNvPr id="7" name="Text 5"/>
          <p:cNvSpPr/>
          <p:nvPr/>
        </p:nvSpPr>
        <p:spPr>
          <a:xfrm>
            <a:off x="6583680" y="1033272"/>
            <a:ext cx="1920240" cy="274320"/>
          </a:xfrm>
          <a:prstGeom prst="rect">
            <a:avLst/>
          </a:prstGeom>
          <a:noFill/>
          <a:ln/>
        </p:spPr>
        <p:txBody>
          <a:bodyPr wrap="square" rtlCol="0" anchor="ctr"/>
          <a:lstStyle/>
          <a:p>
            <a:pPr marL="0" indent="0">
              <a:buNone/>
            </a:pPr>
            <a:r>
              <a:rPr lang="en-US" sz="950" dirty="0">
                <a:solidFill>
                  <a:srgbClr val="64748B"/>
                </a:solidFill>
                <a:latin typeface="Segoe UI" pitchFamily="34" charset="0"/>
                <a:ea typeface="Segoe UI" pitchFamily="34" charset="-122"/>
                <a:cs typeface="Segoe UI" pitchFamily="34" charset="-120"/>
              </a:rPr>
              <a:t>Agent reliability</a:t>
            </a:r>
            <a:endParaRPr lang="en-US" sz="950" dirty="0"/>
          </a:p>
        </p:txBody>
      </p:sp>
      <p:sp>
        <p:nvSpPr>
          <p:cNvPr id="8" name="Shape 6"/>
          <p:cNvSpPr/>
          <p:nvPr/>
        </p:nvSpPr>
        <p:spPr>
          <a:xfrm>
            <a:off x="457200" y="1527048"/>
            <a:ext cx="8229600" cy="594360"/>
          </a:xfrm>
          <a:prstGeom prst="rect">
            <a:avLst/>
          </a:prstGeom>
          <a:solidFill>
            <a:srgbClr val="F1F5F9"/>
          </a:solidFill>
          <a:ln/>
        </p:spPr>
        <p:txBody>
          <a:bodyPr/>
          <a:lstStyle/>
          <a:p>
            <a:endParaRPr lang="en-IN"/>
          </a:p>
        </p:txBody>
      </p:sp>
      <p:sp>
        <p:nvSpPr>
          <p:cNvPr id="9" name="Text 7"/>
          <p:cNvSpPr/>
          <p:nvPr/>
        </p:nvSpPr>
        <p:spPr>
          <a:xfrm>
            <a:off x="640080" y="1581912"/>
            <a:ext cx="2011680" cy="256032"/>
          </a:xfrm>
          <a:prstGeom prst="rect">
            <a:avLst/>
          </a:prstGeom>
          <a:noFill/>
          <a:ln/>
        </p:spPr>
        <p:txBody>
          <a:bodyPr wrap="square" rtlCol="0" anchor="ctr"/>
          <a:lstStyle/>
          <a:p>
            <a:pPr marL="0" indent="0">
              <a:buNone/>
            </a:pPr>
            <a:r>
              <a:rPr lang="en-US" sz="1050" b="1" dirty="0">
                <a:solidFill>
                  <a:srgbClr val="0891B2"/>
                </a:solidFill>
                <a:latin typeface="Segoe UI" pitchFamily="34" charset="0"/>
                <a:ea typeface="Segoe UI" pitchFamily="34" charset="-122"/>
                <a:cs typeface="Segoe UI" pitchFamily="34" charset="-120"/>
              </a:rPr>
              <a:t>Avg Task Duration</a:t>
            </a:r>
            <a:endParaRPr lang="en-US" sz="1050" dirty="0"/>
          </a:p>
        </p:txBody>
      </p:sp>
      <p:sp>
        <p:nvSpPr>
          <p:cNvPr id="10" name="Text 8"/>
          <p:cNvSpPr/>
          <p:nvPr/>
        </p:nvSpPr>
        <p:spPr>
          <a:xfrm>
            <a:off x="640080" y="1837944"/>
            <a:ext cx="5760720" cy="228600"/>
          </a:xfrm>
          <a:prstGeom prst="rect">
            <a:avLst/>
          </a:prstGeom>
          <a:noFill/>
          <a:ln/>
        </p:spPr>
        <p:txBody>
          <a:bodyPr wrap="square"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AVERAGE(AgentTaskLog[DurationSeconds])</a:t>
            </a:r>
            <a:endParaRPr lang="en-US" sz="850" dirty="0"/>
          </a:p>
        </p:txBody>
      </p:sp>
      <p:sp>
        <p:nvSpPr>
          <p:cNvPr id="11" name="Text 9"/>
          <p:cNvSpPr/>
          <p:nvPr/>
        </p:nvSpPr>
        <p:spPr>
          <a:xfrm>
            <a:off x="6583680" y="1691640"/>
            <a:ext cx="1920240" cy="274320"/>
          </a:xfrm>
          <a:prstGeom prst="rect">
            <a:avLst/>
          </a:prstGeom>
          <a:noFill/>
          <a:ln/>
        </p:spPr>
        <p:txBody>
          <a:bodyPr wrap="square" rtlCol="0" anchor="ctr"/>
          <a:lstStyle/>
          <a:p>
            <a:pPr marL="0" indent="0">
              <a:buNone/>
            </a:pPr>
            <a:r>
              <a:rPr lang="en-US" sz="950" dirty="0">
                <a:solidFill>
                  <a:srgbClr val="64748B"/>
                </a:solidFill>
                <a:latin typeface="Segoe UI" pitchFamily="34" charset="0"/>
                <a:ea typeface="Segoe UI" pitchFamily="34" charset="-122"/>
                <a:cs typeface="Segoe UI" pitchFamily="34" charset="-120"/>
              </a:rPr>
              <a:t>Performance baseline</a:t>
            </a:r>
            <a:endParaRPr lang="en-US" sz="950" dirty="0"/>
          </a:p>
        </p:txBody>
      </p:sp>
      <p:sp>
        <p:nvSpPr>
          <p:cNvPr id="12" name="Shape 10"/>
          <p:cNvSpPr/>
          <p:nvPr/>
        </p:nvSpPr>
        <p:spPr>
          <a:xfrm>
            <a:off x="457200" y="2185416"/>
            <a:ext cx="8229600" cy="594360"/>
          </a:xfrm>
          <a:prstGeom prst="rect">
            <a:avLst/>
          </a:prstGeom>
          <a:solidFill>
            <a:srgbClr val="F1F5F9"/>
          </a:solidFill>
          <a:ln/>
        </p:spPr>
        <p:txBody>
          <a:bodyPr/>
          <a:lstStyle/>
          <a:p>
            <a:endParaRPr lang="en-IN"/>
          </a:p>
        </p:txBody>
      </p:sp>
      <p:sp>
        <p:nvSpPr>
          <p:cNvPr id="13" name="Text 11"/>
          <p:cNvSpPr/>
          <p:nvPr/>
        </p:nvSpPr>
        <p:spPr>
          <a:xfrm>
            <a:off x="640080" y="2240280"/>
            <a:ext cx="2011680" cy="256032"/>
          </a:xfrm>
          <a:prstGeom prst="rect">
            <a:avLst/>
          </a:prstGeom>
          <a:noFill/>
          <a:ln/>
        </p:spPr>
        <p:txBody>
          <a:bodyPr wrap="square" rtlCol="0" anchor="ctr"/>
          <a:lstStyle/>
          <a:p>
            <a:pPr marL="0" indent="0">
              <a:buNone/>
            </a:pPr>
            <a:r>
              <a:rPr lang="en-US" sz="1050" b="1" dirty="0">
                <a:solidFill>
                  <a:srgbClr val="0891B2"/>
                </a:solidFill>
                <a:latin typeface="Segoe UI" pitchFamily="34" charset="0"/>
                <a:ea typeface="Segoe UI" pitchFamily="34" charset="-122"/>
                <a:cs typeface="Segoe UI" pitchFamily="34" charset="-120"/>
              </a:rPr>
              <a:t>SLA Compliance Rate</a:t>
            </a:r>
            <a:endParaRPr lang="en-US" sz="1050" dirty="0"/>
          </a:p>
        </p:txBody>
      </p:sp>
      <p:sp>
        <p:nvSpPr>
          <p:cNvPr id="14" name="Text 12"/>
          <p:cNvSpPr/>
          <p:nvPr/>
        </p:nvSpPr>
        <p:spPr>
          <a:xfrm>
            <a:off x="640080" y="2496312"/>
            <a:ext cx="5760720" cy="228600"/>
          </a:xfrm>
          <a:prstGeom prst="rect">
            <a:avLst/>
          </a:prstGeom>
          <a:noFill/>
          <a:ln/>
        </p:spPr>
        <p:txBody>
          <a:bodyPr wrap="square"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DIVIDE(COUNTROWS(FILTER(ApprovalLog, ResponseTime &lt;= SLATarget)), COUNTROWS(ApprovalLog), 0)</a:t>
            </a:r>
            <a:endParaRPr lang="en-US" sz="850" dirty="0"/>
          </a:p>
        </p:txBody>
      </p:sp>
      <p:sp>
        <p:nvSpPr>
          <p:cNvPr id="15" name="Text 13"/>
          <p:cNvSpPr/>
          <p:nvPr/>
        </p:nvSpPr>
        <p:spPr>
          <a:xfrm>
            <a:off x="6583680" y="2350008"/>
            <a:ext cx="1920240" cy="274320"/>
          </a:xfrm>
          <a:prstGeom prst="rect">
            <a:avLst/>
          </a:prstGeom>
          <a:noFill/>
          <a:ln/>
        </p:spPr>
        <p:txBody>
          <a:bodyPr wrap="square" rtlCol="0" anchor="ctr"/>
          <a:lstStyle/>
          <a:p>
            <a:pPr marL="0" indent="0">
              <a:buNone/>
            </a:pPr>
            <a:r>
              <a:rPr lang="en-US" sz="950" dirty="0">
                <a:solidFill>
                  <a:srgbClr val="64748B"/>
                </a:solidFill>
                <a:latin typeface="Segoe UI" pitchFamily="34" charset="0"/>
                <a:ea typeface="Segoe UI" pitchFamily="34" charset="-122"/>
                <a:cs typeface="Segoe UI" pitchFamily="34" charset="-120"/>
              </a:rPr>
              <a:t>SLA monitoring</a:t>
            </a:r>
            <a:endParaRPr lang="en-US" sz="950" dirty="0"/>
          </a:p>
        </p:txBody>
      </p:sp>
      <p:sp>
        <p:nvSpPr>
          <p:cNvPr id="16" name="Shape 14"/>
          <p:cNvSpPr/>
          <p:nvPr/>
        </p:nvSpPr>
        <p:spPr>
          <a:xfrm>
            <a:off x="457200" y="2843784"/>
            <a:ext cx="8229600" cy="594360"/>
          </a:xfrm>
          <a:prstGeom prst="rect">
            <a:avLst/>
          </a:prstGeom>
          <a:solidFill>
            <a:srgbClr val="F1F5F9"/>
          </a:solidFill>
          <a:ln/>
        </p:spPr>
        <p:txBody>
          <a:bodyPr/>
          <a:lstStyle/>
          <a:p>
            <a:endParaRPr lang="en-IN"/>
          </a:p>
        </p:txBody>
      </p:sp>
      <p:sp>
        <p:nvSpPr>
          <p:cNvPr id="17" name="Text 15"/>
          <p:cNvSpPr/>
          <p:nvPr/>
        </p:nvSpPr>
        <p:spPr>
          <a:xfrm>
            <a:off x="640080" y="2898648"/>
            <a:ext cx="2011680" cy="256032"/>
          </a:xfrm>
          <a:prstGeom prst="rect">
            <a:avLst/>
          </a:prstGeom>
          <a:noFill/>
          <a:ln/>
        </p:spPr>
        <p:txBody>
          <a:bodyPr wrap="square" rtlCol="0" anchor="ctr"/>
          <a:lstStyle/>
          <a:p>
            <a:pPr marL="0" indent="0">
              <a:buNone/>
            </a:pPr>
            <a:r>
              <a:rPr lang="en-US" sz="1050" b="1" dirty="0">
                <a:solidFill>
                  <a:srgbClr val="0891B2"/>
                </a:solidFill>
                <a:latin typeface="Segoe UI" pitchFamily="34" charset="0"/>
                <a:ea typeface="Segoe UI" pitchFamily="34" charset="-122"/>
                <a:cs typeface="Segoe UI" pitchFamily="34" charset="-120"/>
              </a:rPr>
              <a:t>Delegation Count</a:t>
            </a:r>
            <a:endParaRPr lang="en-US" sz="1050" dirty="0"/>
          </a:p>
        </p:txBody>
      </p:sp>
      <p:sp>
        <p:nvSpPr>
          <p:cNvPr id="18" name="Text 16"/>
          <p:cNvSpPr/>
          <p:nvPr/>
        </p:nvSpPr>
        <p:spPr>
          <a:xfrm>
            <a:off x="640080" y="3154680"/>
            <a:ext cx="5760720" cy="228600"/>
          </a:xfrm>
          <a:prstGeom prst="rect">
            <a:avLst/>
          </a:prstGeom>
          <a:noFill/>
          <a:ln/>
        </p:spPr>
        <p:txBody>
          <a:bodyPr wrap="square"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COUNTROWS(FILTER(AgentTaskLog, WasDelegated = TRUE))</a:t>
            </a:r>
            <a:endParaRPr lang="en-US" sz="850" dirty="0"/>
          </a:p>
        </p:txBody>
      </p:sp>
      <p:sp>
        <p:nvSpPr>
          <p:cNvPr id="19" name="Text 17"/>
          <p:cNvSpPr/>
          <p:nvPr/>
        </p:nvSpPr>
        <p:spPr>
          <a:xfrm>
            <a:off x="6583680" y="3008376"/>
            <a:ext cx="1920240" cy="274320"/>
          </a:xfrm>
          <a:prstGeom prst="rect">
            <a:avLst/>
          </a:prstGeom>
          <a:noFill/>
          <a:ln/>
        </p:spPr>
        <p:txBody>
          <a:bodyPr wrap="square" rtlCol="0" anchor="ctr"/>
          <a:lstStyle/>
          <a:p>
            <a:pPr marL="0" indent="0">
              <a:buNone/>
            </a:pPr>
            <a:r>
              <a:rPr lang="en-US" sz="950" dirty="0">
                <a:solidFill>
                  <a:srgbClr val="64748B"/>
                </a:solidFill>
                <a:latin typeface="Segoe UI" pitchFamily="34" charset="0"/>
                <a:ea typeface="Segoe UI" pitchFamily="34" charset="-122"/>
                <a:cs typeface="Segoe UI" pitchFamily="34" charset="-120"/>
              </a:rPr>
              <a:t>Multi-agent usage</a:t>
            </a:r>
            <a:endParaRPr lang="en-US" sz="950" dirty="0"/>
          </a:p>
        </p:txBody>
      </p:sp>
      <p:sp>
        <p:nvSpPr>
          <p:cNvPr id="20" name="Shape 18"/>
          <p:cNvSpPr/>
          <p:nvPr/>
        </p:nvSpPr>
        <p:spPr>
          <a:xfrm>
            <a:off x="457200" y="3502152"/>
            <a:ext cx="8229600" cy="594360"/>
          </a:xfrm>
          <a:prstGeom prst="rect">
            <a:avLst/>
          </a:prstGeom>
          <a:solidFill>
            <a:srgbClr val="F1F5F9"/>
          </a:solidFill>
          <a:ln/>
        </p:spPr>
        <p:txBody>
          <a:bodyPr/>
          <a:lstStyle/>
          <a:p>
            <a:endParaRPr lang="en-IN"/>
          </a:p>
        </p:txBody>
      </p:sp>
      <p:sp>
        <p:nvSpPr>
          <p:cNvPr id="21" name="Text 19"/>
          <p:cNvSpPr/>
          <p:nvPr/>
        </p:nvSpPr>
        <p:spPr>
          <a:xfrm>
            <a:off x="640080" y="3557016"/>
            <a:ext cx="2011680" cy="256032"/>
          </a:xfrm>
          <a:prstGeom prst="rect">
            <a:avLst/>
          </a:prstGeom>
          <a:noFill/>
          <a:ln/>
        </p:spPr>
        <p:txBody>
          <a:bodyPr wrap="square" rtlCol="0" anchor="ctr"/>
          <a:lstStyle/>
          <a:p>
            <a:pPr marL="0" indent="0">
              <a:buNone/>
            </a:pPr>
            <a:r>
              <a:rPr lang="en-US" sz="1050" b="1" dirty="0">
                <a:solidFill>
                  <a:srgbClr val="0891B2"/>
                </a:solidFill>
                <a:latin typeface="Segoe UI" pitchFamily="34" charset="0"/>
                <a:ea typeface="Segoe UI" pitchFamily="34" charset="-122"/>
                <a:cs typeface="Segoe UI" pitchFamily="34" charset="-120"/>
              </a:rPr>
              <a:t>Avg Approval Time</a:t>
            </a:r>
            <a:endParaRPr lang="en-US" sz="1050" dirty="0"/>
          </a:p>
        </p:txBody>
      </p:sp>
      <p:sp>
        <p:nvSpPr>
          <p:cNvPr id="22" name="Text 20"/>
          <p:cNvSpPr/>
          <p:nvPr/>
        </p:nvSpPr>
        <p:spPr>
          <a:xfrm>
            <a:off x="640080" y="3813048"/>
            <a:ext cx="5760720" cy="228600"/>
          </a:xfrm>
          <a:prstGeom prst="rect">
            <a:avLst/>
          </a:prstGeom>
          <a:noFill/>
          <a:ln/>
        </p:spPr>
        <p:txBody>
          <a:bodyPr wrap="square"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AVERAGE(ApprovalLog[ResponseTimeMinutes])</a:t>
            </a:r>
            <a:endParaRPr lang="en-US" sz="850" dirty="0"/>
          </a:p>
        </p:txBody>
      </p:sp>
      <p:sp>
        <p:nvSpPr>
          <p:cNvPr id="23" name="Text 21"/>
          <p:cNvSpPr/>
          <p:nvPr/>
        </p:nvSpPr>
        <p:spPr>
          <a:xfrm>
            <a:off x="6583680" y="3666744"/>
            <a:ext cx="1920240" cy="274320"/>
          </a:xfrm>
          <a:prstGeom prst="rect">
            <a:avLst/>
          </a:prstGeom>
          <a:noFill/>
          <a:ln/>
        </p:spPr>
        <p:txBody>
          <a:bodyPr wrap="square" rtlCol="0" anchor="ctr"/>
          <a:lstStyle/>
          <a:p>
            <a:pPr marL="0" indent="0">
              <a:buNone/>
            </a:pPr>
            <a:r>
              <a:rPr lang="en-US" sz="950" dirty="0">
                <a:solidFill>
                  <a:srgbClr val="64748B"/>
                </a:solidFill>
                <a:latin typeface="Segoe UI" pitchFamily="34" charset="0"/>
                <a:ea typeface="Segoe UI" pitchFamily="34" charset="-122"/>
                <a:cs typeface="Segoe UI" pitchFamily="34" charset="-120"/>
              </a:rPr>
              <a:t>Approval efficiency</a:t>
            </a:r>
            <a:endParaRPr lang="en-US" sz="950" dirty="0"/>
          </a:p>
        </p:txBody>
      </p:sp>
      <p:sp>
        <p:nvSpPr>
          <p:cNvPr id="24" name="Shape 22"/>
          <p:cNvSpPr/>
          <p:nvPr/>
        </p:nvSpPr>
        <p:spPr>
          <a:xfrm>
            <a:off x="457200" y="4160520"/>
            <a:ext cx="8229600" cy="594360"/>
          </a:xfrm>
          <a:prstGeom prst="rect">
            <a:avLst/>
          </a:prstGeom>
          <a:solidFill>
            <a:srgbClr val="F1F5F9"/>
          </a:solidFill>
          <a:ln/>
        </p:spPr>
        <p:txBody>
          <a:bodyPr/>
          <a:lstStyle/>
          <a:p>
            <a:endParaRPr lang="en-IN"/>
          </a:p>
        </p:txBody>
      </p:sp>
      <p:sp>
        <p:nvSpPr>
          <p:cNvPr id="25" name="Text 23"/>
          <p:cNvSpPr/>
          <p:nvPr/>
        </p:nvSpPr>
        <p:spPr>
          <a:xfrm>
            <a:off x="640080" y="4215384"/>
            <a:ext cx="2011680" cy="256032"/>
          </a:xfrm>
          <a:prstGeom prst="rect">
            <a:avLst/>
          </a:prstGeom>
          <a:noFill/>
          <a:ln/>
        </p:spPr>
        <p:txBody>
          <a:bodyPr wrap="square" rtlCol="0" anchor="ctr"/>
          <a:lstStyle/>
          <a:p>
            <a:pPr marL="0" indent="0">
              <a:buNone/>
            </a:pPr>
            <a:r>
              <a:rPr lang="en-US" sz="1050" b="1" dirty="0">
                <a:solidFill>
                  <a:srgbClr val="0891B2"/>
                </a:solidFill>
                <a:latin typeface="Segoe UI" pitchFamily="34" charset="0"/>
                <a:ea typeface="Segoe UI" pitchFamily="34" charset="-122"/>
                <a:cs typeface="Segoe UI" pitchFamily="34" charset="-120"/>
              </a:rPr>
              <a:t>Overdue Approval Count</a:t>
            </a:r>
            <a:endParaRPr lang="en-US" sz="1050" dirty="0"/>
          </a:p>
        </p:txBody>
      </p:sp>
      <p:sp>
        <p:nvSpPr>
          <p:cNvPr id="26" name="Text 24"/>
          <p:cNvSpPr/>
          <p:nvPr/>
        </p:nvSpPr>
        <p:spPr>
          <a:xfrm>
            <a:off x="640080" y="4471416"/>
            <a:ext cx="5760720" cy="228600"/>
          </a:xfrm>
          <a:prstGeom prst="rect">
            <a:avLst/>
          </a:prstGeom>
          <a:noFill/>
          <a:ln/>
        </p:spPr>
        <p:txBody>
          <a:bodyPr wrap="square"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COUNTROWS(FILTER(ApprovalLog, Status="Pending" &amp;&amp; ResponseTime &gt; SLA))</a:t>
            </a:r>
            <a:endParaRPr lang="en-US" sz="850" dirty="0"/>
          </a:p>
        </p:txBody>
      </p:sp>
      <p:sp>
        <p:nvSpPr>
          <p:cNvPr id="27" name="Text 25"/>
          <p:cNvSpPr/>
          <p:nvPr/>
        </p:nvSpPr>
        <p:spPr>
          <a:xfrm>
            <a:off x="6583680" y="4325112"/>
            <a:ext cx="1920240" cy="274320"/>
          </a:xfrm>
          <a:prstGeom prst="rect">
            <a:avLst/>
          </a:prstGeom>
          <a:noFill/>
          <a:ln/>
        </p:spPr>
        <p:txBody>
          <a:bodyPr wrap="square" rtlCol="0" anchor="ctr"/>
          <a:lstStyle/>
          <a:p>
            <a:pPr marL="0" indent="0">
              <a:buNone/>
            </a:pPr>
            <a:r>
              <a:rPr lang="en-US" sz="950" dirty="0">
                <a:solidFill>
                  <a:srgbClr val="64748B"/>
                </a:solidFill>
                <a:latin typeface="Segoe UI" pitchFamily="34" charset="0"/>
                <a:ea typeface="Segoe UI" pitchFamily="34" charset="-122"/>
                <a:cs typeface="Segoe UI" pitchFamily="34" charset="-120"/>
              </a:rPr>
              <a:t>Escalation trigger</a:t>
            </a:r>
            <a:endParaRPr lang="en-US" sz="95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30" name="Text 28"/>
          <p:cNvSpPr/>
          <p:nvPr/>
        </p:nvSpPr>
        <p:spPr>
          <a:xfrm>
            <a:off x="7955280" y="4822226"/>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19 / 31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6</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From Insight</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to Action</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Closing the Loop with Optimisation Decisions</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20 / 31</a:t>
            </a:r>
            <a:endParaRPr lang="en-US" sz="9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Dashboard Insight → Optimisation Action</a:t>
            </a:r>
            <a:endParaRPr lang="en-US" sz="2600" dirty="0"/>
          </a:p>
        </p:txBody>
      </p:sp>
      <p:sp>
        <p:nvSpPr>
          <p:cNvPr id="4" name="Shape 2"/>
          <p:cNvSpPr/>
          <p:nvPr/>
        </p:nvSpPr>
        <p:spPr>
          <a:xfrm>
            <a:off x="457200" y="868680"/>
            <a:ext cx="8229600" cy="594360"/>
          </a:xfrm>
          <a:prstGeom prst="rect">
            <a:avLst/>
          </a:prstGeom>
          <a:solidFill>
            <a:srgbClr val="F1F5F9"/>
          </a:solidFill>
          <a:ln/>
        </p:spPr>
        <p:txBody>
          <a:bodyPr/>
          <a:lstStyle/>
          <a:p>
            <a:endParaRPr lang="en-IN"/>
          </a:p>
        </p:txBody>
      </p:sp>
      <p:sp>
        <p:nvSpPr>
          <p:cNvPr id="5" name="Text 3"/>
          <p:cNvSpPr/>
          <p:nvPr/>
        </p:nvSpPr>
        <p:spPr>
          <a:xfrm>
            <a:off x="548640" y="1005840"/>
            <a:ext cx="365760" cy="320040"/>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6" name="Text 4"/>
          <p:cNvSpPr/>
          <p:nvPr/>
        </p:nvSpPr>
        <p:spPr>
          <a:xfrm>
            <a:off x="1005840" y="1005840"/>
            <a:ext cx="256032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Low Task Success Rate</a:t>
            </a:r>
            <a:endParaRPr lang="en-US" sz="1100" dirty="0"/>
          </a:p>
        </p:txBody>
      </p:sp>
      <p:sp>
        <p:nvSpPr>
          <p:cNvPr id="7" name="Text 5"/>
          <p:cNvSpPr/>
          <p:nvPr/>
        </p:nvSpPr>
        <p:spPr>
          <a:xfrm>
            <a:off x="3611880" y="1005840"/>
            <a:ext cx="365760" cy="320040"/>
          </a:xfrm>
          <a:prstGeom prst="rect">
            <a:avLst/>
          </a:prstGeom>
          <a:noFill/>
          <a:ln/>
        </p:spPr>
        <p:txBody>
          <a:bodyPr wrap="square" rtlCol="0" anchor="ctr"/>
          <a:lstStyle/>
          <a:p>
            <a:pPr marL="0" indent="0">
              <a:buNone/>
            </a:pPr>
            <a:r>
              <a:rPr lang="en-US" sz="1400" dirty="0">
                <a:solidFill>
                  <a:srgbClr val="0891B2"/>
                </a:solidFill>
                <a:latin typeface="Segoe UI" pitchFamily="34" charset="0"/>
                <a:ea typeface="Segoe UI" pitchFamily="34" charset="-122"/>
                <a:cs typeface="Segoe UI" pitchFamily="34" charset="-120"/>
              </a:rPr>
              <a:t>→</a:t>
            </a:r>
            <a:endParaRPr lang="en-US" sz="1400" dirty="0"/>
          </a:p>
        </p:txBody>
      </p:sp>
      <p:sp>
        <p:nvSpPr>
          <p:cNvPr id="8" name="Text 6"/>
          <p:cNvSpPr/>
          <p:nvPr/>
        </p:nvSpPr>
        <p:spPr>
          <a:xfrm>
            <a:off x="4023360" y="1005840"/>
            <a:ext cx="448056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Review system prompts, add knowledge sources, simplify task scope</a:t>
            </a:r>
            <a:endParaRPr lang="en-US" sz="1050" dirty="0"/>
          </a:p>
        </p:txBody>
      </p:sp>
      <p:sp>
        <p:nvSpPr>
          <p:cNvPr id="9" name="Shape 7"/>
          <p:cNvSpPr/>
          <p:nvPr/>
        </p:nvSpPr>
        <p:spPr>
          <a:xfrm>
            <a:off x="457200" y="1527048"/>
            <a:ext cx="8229600" cy="594360"/>
          </a:xfrm>
          <a:prstGeom prst="rect">
            <a:avLst/>
          </a:prstGeom>
          <a:solidFill>
            <a:srgbClr val="F1F5F9"/>
          </a:solidFill>
          <a:ln/>
        </p:spPr>
        <p:txBody>
          <a:bodyPr/>
          <a:lstStyle/>
          <a:p>
            <a:endParaRPr lang="en-IN"/>
          </a:p>
        </p:txBody>
      </p:sp>
      <p:sp>
        <p:nvSpPr>
          <p:cNvPr id="10" name="Text 8"/>
          <p:cNvSpPr/>
          <p:nvPr/>
        </p:nvSpPr>
        <p:spPr>
          <a:xfrm>
            <a:off x="548640" y="1664208"/>
            <a:ext cx="365760" cy="320040"/>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1" name="Text 9"/>
          <p:cNvSpPr/>
          <p:nvPr/>
        </p:nvSpPr>
        <p:spPr>
          <a:xfrm>
            <a:off x="1005840" y="1664208"/>
            <a:ext cx="256032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High Delegation Count</a:t>
            </a:r>
            <a:endParaRPr lang="en-US" sz="1100" dirty="0"/>
          </a:p>
        </p:txBody>
      </p:sp>
      <p:sp>
        <p:nvSpPr>
          <p:cNvPr id="12" name="Text 10"/>
          <p:cNvSpPr/>
          <p:nvPr/>
        </p:nvSpPr>
        <p:spPr>
          <a:xfrm>
            <a:off x="3611880" y="1664208"/>
            <a:ext cx="365760" cy="320040"/>
          </a:xfrm>
          <a:prstGeom prst="rect">
            <a:avLst/>
          </a:prstGeom>
          <a:noFill/>
          <a:ln/>
        </p:spPr>
        <p:txBody>
          <a:bodyPr wrap="square" rtlCol="0" anchor="ctr"/>
          <a:lstStyle/>
          <a:p>
            <a:pPr marL="0" indent="0">
              <a:buNone/>
            </a:pPr>
            <a:r>
              <a:rPr lang="en-US" sz="1400" dirty="0">
                <a:solidFill>
                  <a:srgbClr val="0891B2"/>
                </a:solidFill>
                <a:latin typeface="Segoe UI" pitchFamily="34" charset="0"/>
                <a:ea typeface="Segoe UI" pitchFamily="34" charset="-122"/>
                <a:cs typeface="Segoe UI" pitchFamily="34" charset="-120"/>
              </a:rPr>
              <a:t>→</a:t>
            </a:r>
            <a:endParaRPr lang="en-US" sz="1400" dirty="0"/>
          </a:p>
        </p:txBody>
      </p:sp>
      <p:sp>
        <p:nvSpPr>
          <p:cNvPr id="13" name="Text 11"/>
          <p:cNvSpPr/>
          <p:nvPr/>
        </p:nvSpPr>
        <p:spPr>
          <a:xfrm>
            <a:off x="4023360" y="1664208"/>
            <a:ext cx="448056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Rebalance agent responsibilities, consolidate specialists</a:t>
            </a:r>
            <a:endParaRPr lang="en-US" sz="1050" dirty="0"/>
          </a:p>
        </p:txBody>
      </p:sp>
      <p:sp>
        <p:nvSpPr>
          <p:cNvPr id="14" name="Shape 12"/>
          <p:cNvSpPr/>
          <p:nvPr/>
        </p:nvSpPr>
        <p:spPr>
          <a:xfrm>
            <a:off x="457200" y="2185416"/>
            <a:ext cx="8229600" cy="594360"/>
          </a:xfrm>
          <a:prstGeom prst="rect">
            <a:avLst/>
          </a:prstGeom>
          <a:solidFill>
            <a:srgbClr val="F1F5F9"/>
          </a:solidFill>
          <a:ln/>
        </p:spPr>
        <p:txBody>
          <a:bodyPr/>
          <a:lstStyle/>
          <a:p>
            <a:endParaRPr lang="en-IN"/>
          </a:p>
        </p:txBody>
      </p:sp>
      <p:sp>
        <p:nvSpPr>
          <p:cNvPr id="15" name="Text 13"/>
          <p:cNvSpPr/>
          <p:nvPr/>
        </p:nvSpPr>
        <p:spPr>
          <a:xfrm>
            <a:off x="548640" y="2322576"/>
            <a:ext cx="365760" cy="320040"/>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6" name="Text 14"/>
          <p:cNvSpPr/>
          <p:nvPr/>
        </p:nvSpPr>
        <p:spPr>
          <a:xfrm>
            <a:off x="1005840" y="2322576"/>
            <a:ext cx="256032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SLA Breaches Increasing</a:t>
            </a:r>
            <a:endParaRPr lang="en-US" sz="1100" dirty="0"/>
          </a:p>
        </p:txBody>
      </p:sp>
      <p:sp>
        <p:nvSpPr>
          <p:cNvPr id="17" name="Text 15"/>
          <p:cNvSpPr/>
          <p:nvPr/>
        </p:nvSpPr>
        <p:spPr>
          <a:xfrm>
            <a:off x="3611880" y="2322576"/>
            <a:ext cx="365760" cy="320040"/>
          </a:xfrm>
          <a:prstGeom prst="rect">
            <a:avLst/>
          </a:prstGeom>
          <a:noFill/>
          <a:ln/>
        </p:spPr>
        <p:txBody>
          <a:bodyPr wrap="square" rtlCol="0" anchor="ctr"/>
          <a:lstStyle/>
          <a:p>
            <a:pPr marL="0" indent="0">
              <a:buNone/>
            </a:pPr>
            <a:r>
              <a:rPr lang="en-US" sz="1400" dirty="0">
                <a:solidFill>
                  <a:srgbClr val="0891B2"/>
                </a:solidFill>
                <a:latin typeface="Segoe UI" pitchFamily="34" charset="0"/>
                <a:ea typeface="Segoe UI" pitchFamily="34" charset="-122"/>
                <a:cs typeface="Segoe UI" pitchFamily="34" charset="-120"/>
              </a:rPr>
              <a:t>→</a:t>
            </a:r>
            <a:endParaRPr lang="en-US" sz="1400" dirty="0"/>
          </a:p>
        </p:txBody>
      </p:sp>
      <p:sp>
        <p:nvSpPr>
          <p:cNvPr id="18" name="Text 16"/>
          <p:cNvSpPr/>
          <p:nvPr/>
        </p:nvSpPr>
        <p:spPr>
          <a:xfrm>
            <a:off x="4023360" y="2322576"/>
            <a:ext cx="448056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Adjust thresholds, add approvers, automate low-risk items</a:t>
            </a:r>
            <a:endParaRPr lang="en-US" sz="1050" dirty="0"/>
          </a:p>
        </p:txBody>
      </p:sp>
      <p:sp>
        <p:nvSpPr>
          <p:cNvPr id="19" name="Shape 17"/>
          <p:cNvSpPr/>
          <p:nvPr/>
        </p:nvSpPr>
        <p:spPr>
          <a:xfrm>
            <a:off x="457200" y="2843784"/>
            <a:ext cx="8229600" cy="594360"/>
          </a:xfrm>
          <a:prstGeom prst="rect">
            <a:avLst/>
          </a:prstGeom>
          <a:solidFill>
            <a:srgbClr val="F1F5F9"/>
          </a:solidFill>
          <a:ln/>
        </p:spPr>
        <p:txBody>
          <a:bodyPr/>
          <a:lstStyle/>
          <a:p>
            <a:endParaRPr lang="en-IN"/>
          </a:p>
        </p:txBody>
      </p:sp>
      <p:sp>
        <p:nvSpPr>
          <p:cNvPr id="20" name="Text 18"/>
          <p:cNvSpPr/>
          <p:nvPr/>
        </p:nvSpPr>
        <p:spPr>
          <a:xfrm>
            <a:off x="548640" y="2980944"/>
            <a:ext cx="365760" cy="320040"/>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1" name="Text 19"/>
          <p:cNvSpPr/>
          <p:nvPr/>
        </p:nvSpPr>
        <p:spPr>
          <a:xfrm>
            <a:off x="1005840" y="2980944"/>
            <a:ext cx="256032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One Agent Overloaded</a:t>
            </a:r>
            <a:endParaRPr lang="en-US" sz="1100" dirty="0"/>
          </a:p>
        </p:txBody>
      </p:sp>
      <p:sp>
        <p:nvSpPr>
          <p:cNvPr id="22" name="Text 20"/>
          <p:cNvSpPr/>
          <p:nvPr/>
        </p:nvSpPr>
        <p:spPr>
          <a:xfrm>
            <a:off x="3611880" y="2980944"/>
            <a:ext cx="365760" cy="320040"/>
          </a:xfrm>
          <a:prstGeom prst="rect">
            <a:avLst/>
          </a:prstGeom>
          <a:noFill/>
          <a:ln/>
        </p:spPr>
        <p:txBody>
          <a:bodyPr wrap="square" rtlCol="0" anchor="ctr"/>
          <a:lstStyle/>
          <a:p>
            <a:pPr marL="0" indent="0">
              <a:buNone/>
            </a:pPr>
            <a:r>
              <a:rPr lang="en-US" sz="1400" dirty="0">
                <a:solidFill>
                  <a:srgbClr val="0891B2"/>
                </a:solidFill>
                <a:latin typeface="Segoe UI" pitchFamily="34" charset="0"/>
                <a:ea typeface="Segoe UI" pitchFamily="34" charset="-122"/>
                <a:cs typeface="Segoe UI" pitchFamily="34" charset="-120"/>
              </a:rPr>
              <a:t>→</a:t>
            </a:r>
            <a:endParaRPr lang="en-US" sz="1400" dirty="0"/>
          </a:p>
        </p:txBody>
      </p:sp>
      <p:sp>
        <p:nvSpPr>
          <p:cNvPr id="23" name="Text 21"/>
          <p:cNvSpPr/>
          <p:nvPr/>
        </p:nvSpPr>
        <p:spPr>
          <a:xfrm>
            <a:off x="4023360" y="2980944"/>
            <a:ext cx="448056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Distribute workload, add agent instances, refine routing logic</a:t>
            </a:r>
            <a:endParaRPr lang="en-US" sz="1050" dirty="0"/>
          </a:p>
        </p:txBody>
      </p:sp>
      <p:sp>
        <p:nvSpPr>
          <p:cNvPr id="24" name="Shape 22"/>
          <p:cNvSpPr/>
          <p:nvPr/>
        </p:nvSpPr>
        <p:spPr>
          <a:xfrm>
            <a:off x="457200" y="3502152"/>
            <a:ext cx="8229600" cy="594360"/>
          </a:xfrm>
          <a:prstGeom prst="rect">
            <a:avLst/>
          </a:prstGeom>
          <a:solidFill>
            <a:srgbClr val="F1F5F9"/>
          </a:solidFill>
          <a:ln/>
        </p:spPr>
        <p:txBody>
          <a:bodyPr/>
          <a:lstStyle/>
          <a:p>
            <a:endParaRPr lang="en-IN"/>
          </a:p>
        </p:txBody>
      </p:sp>
      <p:sp>
        <p:nvSpPr>
          <p:cNvPr id="25" name="Text 23"/>
          <p:cNvSpPr/>
          <p:nvPr/>
        </p:nvSpPr>
        <p:spPr>
          <a:xfrm>
            <a:off x="548640" y="3639312"/>
            <a:ext cx="365760" cy="320040"/>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26" name="Text 24"/>
          <p:cNvSpPr/>
          <p:nvPr/>
        </p:nvSpPr>
        <p:spPr>
          <a:xfrm>
            <a:off x="1005840" y="3639312"/>
            <a:ext cx="256032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High Error Rate on Topic</a:t>
            </a:r>
            <a:endParaRPr lang="en-US" sz="1100" dirty="0"/>
          </a:p>
        </p:txBody>
      </p:sp>
      <p:sp>
        <p:nvSpPr>
          <p:cNvPr id="27" name="Text 25"/>
          <p:cNvSpPr/>
          <p:nvPr/>
        </p:nvSpPr>
        <p:spPr>
          <a:xfrm>
            <a:off x="3611880" y="3639312"/>
            <a:ext cx="365760" cy="320040"/>
          </a:xfrm>
          <a:prstGeom prst="rect">
            <a:avLst/>
          </a:prstGeom>
          <a:noFill/>
          <a:ln/>
        </p:spPr>
        <p:txBody>
          <a:bodyPr wrap="square" rtlCol="0" anchor="ctr"/>
          <a:lstStyle/>
          <a:p>
            <a:pPr marL="0" indent="0">
              <a:buNone/>
            </a:pPr>
            <a:r>
              <a:rPr lang="en-US" sz="1400" dirty="0">
                <a:solidFill>
                  <a:srgbClr val="0891B2"/>
                </a:solidFill>
                <a:latin typeface="Segoe UI" pitchFamily="34" charset="0"/>
                <a:ea typeface="Segoe UI" pitchFamily="34" charset="-122"/>
                <a:cs typeface="Segoe UI" pitchFamily="34" charset="-120"/>
              </a:rPr>
              <a:t>→</a:t>
            </a:r>
            <a:endParaRPr lang="en-US" sz="1400" dirty="0"/>
          </a:p>
        </p:txBody>
      </p:sp>
      <p:sp>
        <p:nvSpPr>
          <p:cNvPr id="28" name="Text 26"/>
          <p:cNvSpPr/>
          <p:nvPr/>
        </p:nvSpPr>
        <p:spPr>
          <a:xfrm>
            <a:off x="4023360" y="3639312"/>
            <a:ext cx="448056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Add training examples, improve prompt specificity, add fallbacks</a:t>
            </a:r>
            <a:endParaRPr lang="en-US" sz="1050" dirty="0"/>
          </a:p>
        </p:txBody>
      </p:sp>
      <p:sp>
        <p:nvSpPr>
          <p:cNvPr id="29" name="Shape 27"/>
          <p:cNvSpPr/>
          <p:nvPr/>
        </p:nvSpPr>
        <p:spPr>
          <a:xfrm>
            <a:off x="457200" y="4160520"/>
            <a:ext cx="8229600" cy="594360"/>
          </a:xfrm>
          <a:prstGeom prst="rect">
            <a:avLst/>
          </a:prstGeom>
          <a:solidFill>
            <a:srgbClr val="F1F5F9"/>
          </a:solidFill>
          <a:ln/>
        </p:spPr>
        <p:txBody>
          <a:bodyPr/>
          <a:lstStyle/>
          <a:p>
            <a:endParaRPr lang="en-IN"/>
          </a:p>
        </p:txBody>
      </p:sp>
      <p:sp>
        <p:nvSpPr>
          <p:cNvPr id="30" name="Text 28"/>
          <p:cNvSpPr/>
          <p:nvPr/>
        </p:nvSpPr>
        <p:spPr>
          <a:xfrm>
            <a:off x="548640" y="4297680"/>
            <a:ext cx="365760" cy="320040"/>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31" name="Text 29"/>
          <p:cNvSpPr/>
          <p:nvPr/>
        </p:nvSpPr>
        <p:spPr>
          <a:xfrm>
            <a:off x="1005840" y="4297680"/>
            <a:ext cx="256032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Slow Approval Response</a:t>
            </a:r>
            <a:endParaRPr lang="en-US" sz="1100" dirty="0"/>
          </a:p>
        </p:txBody>
      </p:sp>
      <p:sp>
        <p:nvSpPr>
          <p:cNvPr id="32" name="Text 30"/>
          <p:cNvSpPr/>
          <p:nvPr/>
        </p:nvSpPr>
        <p:spPr>
          <a:xfrm>
            <a:off x="3611880" y="4297680"/>
            <a:ext cx="365760" cy="320040"/>
          </a:xfrm>
          <a:prstGeom prst="rect">
            <a:avLst/>
          </a:prstGeom>
          <a:noFill/>
          <a:ln/>
        </p:spPr>
        <p:txBody>
          <a:bodyPr wrap="square" rtlCol="0" anchor="ctr"/>
          <a:lstStyle/>
          <a:p>
            <a:pPr marL="0" indent="0">
              <a:buNone/>
            </a:pPr>
            <a:r>
              <a:rPr lang="en-US" sz="1400" dirty="0">
                <a:solidFill>
                  <a:srgbClr val="0891B2"/>
                </a:solidFill>
                <a:latin typeface="Segoe UI" pitchFamily="34" charset="0"/>
                <a:ea typeface="Segoe UI" pitchFamily="34" charset="-122"/>
                <a:cs typeface="Segoe UI" pitchFamily="34" charset="-120"/>
              </a:rPr>
              <a:t>→</a:t>
            </a:r>
            <a:endParaRPr lang="en-US" sz="1400" dirty="0"/>
          </a:p>
        </p:txBody>
      </p:sp>
      <p:sp>
        <p:nvSpPr>
          <p:cNvPr id="33" name="Text 31"/>
          <p:cNvSpPr/>
          <p:nvPr/>
        </p:nvSpPr>
        <p:spPr>
          <a:xfrm>
            <a:off x="4023360" y="4297680"/>
            <a:ext cx="448056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Escalation reminders, parallel approvers, auto-approve patterns</a:t>
            </a:r>
            <a:endParaRPr lang="en-US" sz="1050" dirty="0"/>
          </a:p>
        </p:txBody>
      </p:sp>
      <p:sp>
        <p:nvSpPr>
          <p:cNvPr id="34" name="Shape 32"/>
          <p:cNvSpPr/>
          <p:nvPr/>
        </p:nvSpPr>
        <p:spPr>
          <a:xfrm>
            <a:off x="0" y="4846320"/>
            <a:ext cx="9144000" cy="297180"/>
          </a:xfrm>
          <a:prstGeom prst="rect">
            <a:avLst/>
          </a:prstGeom>
          <a:solidFill>
            <a:srgbClr val="F1F5F9"/>
          </a:solidFill>
          <a:ln/>
        </p:spPr>
        <p:txBody>
          <a:bodyPr/>
          <a:lstStyle/>
          <a:p>
            <a:endParaRPr lang="en-IN"/>
          </a:p>
        </p:txBody>
      </p:sp>
      <p:sp>
        <p:nvSpPr>
          <p:cNvPr id="35" name="Text 3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36" name="Text 34"/>
          <p:cNvSpPr/>
          <p:nvPr/>
        </p:nvSpPr>
        <p:spPr>
          <a:xfrm>
            <a:off x="7955280" y="481888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21 / 31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Key Takeaways</a:t>
            </a:r>
            <a:endParaRPr lang="en-US" sz="3000" dirty="0"/>
          </a:p>
        </p:txBody>
      </p:sp>
      <p:sp>
        <p:nvSpPr>
          <p:cNvPr id="4" name="Shape 2"/>
          <p:cNvSpPr/>
          <p:nvPr/>
        </p:nvSpPr>
        <p:spPr>
          <a:xfrm>
            <a:off x="457200" y="914400"/>
            <a:ext cx="8229600" cy="457200"/>
          </a:xfrm>
          <a:prstGeom prst="rect">
            <a:avLst/>
          </a:prstGeom>
          <a:solidFill>
            <a:srgbClr val="F1F5F9"/>
          </a:solidFill>
          <a:ln/>
        </p:spPr>
        <p:txBody>
          <a:bodyPr/>
          <a:lstStyle/>
          <a:p>
            <a:endParaRPr lang="en-IN"/>
          </a:p>
        </p:txBody>
      </p:sp>
      <p:sp>
        <p:nvSpPr>
          <p:cNvPr id="5" name="Text 3"/>
          <p:cNvSpPr/>
          <p:nvPr/>
        </p:nvSpPr>
        <p:spPr>
          <a:xfrm>
            <a:off x="640080" y="987552"/>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1.</a:t>
            </a:r>
            <a:endParaRPr lang="en-US" sz="1200" dirty="0"/>
          </a:p>
        </p:txBody>
      </p:sp>
      <p:sp>
        <p:nvSpPr>
          <p:cNvPr id="6" name="Text 4"/>
          <p:cNvSpPr/>
          <p:nvPr/>
        </p:nvSpPr>
        <p:spPr>
          <a:xfrm>
            <a:off x="1097280" y="987552"/>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The feedback loop: Agents Act → Dataverse Captures → Power BI Visualises → Humans Optimise</a:t>
            </a:r>
            <a:endParaRPr lang="en-US" sz="1100" dirty="0"/>
          </a:p>
        </p:txBody>
      </p:sp>
      <p:sp>
        <p:nvSpPr>
          <p:cNvPr id="7" name="Shape 5"/>
          <p:cNvSpPr/>
          <p:nvPr/>
        </p:nvSpPr>
        <p:spPr>
          <a:xfrm>
            <a:off x="457200" y="1435608"/>
            <a:ext cx="8229600" cy="457200"/>
          </a:xfrm>
          <a:prstGeom prst="rect">
            <a:avLst/>
          </a:prstGeom>
          <a:solidFill>
            <a:srgbClr val="F1F5F9"/>
          </a:solidFill>
          <a:ln/>
        </p:spPr>
        <p:txBody>
          <a:bodyPr/>
          <a:lstStyle/>
          <a:p>
            <a:endParaRPr lang="en-IN"/>
          </a:p>
        </p:txBody>
      </p:sp>
      <p:sp>
        <p:nvSpPr>
          <p:cNvPr id="8" name="Text 6"/>
          <p:cNvSpPr/>
          <p:nvPr/>
        </p:nvSpPr>
        <p:spPr>
          <a:xfrm>
            <a:off x="640080" y="1508760"/>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2.</a:t>
            </a:r>
            <a:endParaRPr lang="en-US" sz="1200" dirty="0"/>
          </a:p>
        </p:txBody>
      </p:sp>
      <p:sp>
        <p:nvSpPr>
          <p:cNvPr id="9" name="Text 7"/>
          <p:cNvSpPr/>
          <p:nvPr/>
        </p:nvSpPr>
        <p:spPr>
          <a:xfrm>
            <a:off x="1097280" y="1508760"/>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Six Dataverse tables provide telemetry: 4 business + 2 operational (AgentTaskLog, ApprovalLog)</a:t>
            </a:r>
            <a:endParaRPr lang="en-US" sz="1100" dirty="0"/>
          </a:p>
        </p:txBody>
      </p:sp>
      <p:sp>
        <p:nvSpPr>
          <p:cNvPr id="10" name="Shape 8"/>
          <p:cNvSpPr/>
          <p:nvPr/>
        </p:nvSpPr>
        <p:spPr>
          <a:xfrm>
            <a:off x="457200" y="1956816"/>
            <a:ext cx="8229600" cy="457200"/>
          </a:xfrm>
          <a:prstGeom prst="rect">
            <a:avLst/>
          </a:prstGeom>
          <a:solidFill>
            <a:srgbClr val="F1F5F9"/>
          </a:solidFill>
          <a:ln/>
        </p:spPr>
        <p:txBody>
          <a:bodyPr/>
          <a:lstStyle/>
          <a:p>
            <a:endParaRPr lang="en-IN"/>
          </a:p>
        </p:txBody>
      </p:sp>
      <p:sp>
        <p:nvSpPr>
          <p:cNvPr id="11" name="Text 9"/>
          <p:cNvSpPr/>
          <p:nvPr/>
        </p:nvSpPr>
        <p:spPr>
          <a:xfrm>
            <a:off x="640080" y="2029968"/>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3.</a:t>
            </a:r>
            <a:endParaRPr lang="en-US" sz="1200" dirty="0"/>
          </a:p>
        </p:txBody>
      </p:sp>
      <p:sp>
        <p:nvSpPr>
          <p:cNvPr id="12" name="Text 10"/>
          <p:cNvSpPr/>
          <p:nvPr/>
        </p:nvSpPr>
        <p:spPr>
          <a:xfrm>
            <a:off x="1097280" y="2029968"/>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Import mode for historical analysis; DirectQuery for real-time operational dashboards</a:t>
            </a:r>
            <a:endParaRPr lang="en-US" sz="1100" dirty="0"/>
          </a:p>
        </p:txBody>
      </p:sp>
      <p:sp>
        <p:nvSpPr>
          <p:cNvPr id="13" name="Shape 11"/>
          <p:cNvSpPr/>
          <p:nvPr/>
        </p:nvSpPr>
        <p:spPr>
          <a:xfrm>
            <a:off x="457200" y="2478024"/>
            <a:ext cx="8229600" cy="457200"/>
          </a:xfrm>
          <a:prstGeom prst="rect">
            <a:avLst/>
          </a:prstGeom>
          <a:solidFill>
            <a:srgbClr val="F1F5F9"/>
          </a:solidFill>
          <a:ln/>
        </p:spPr>
        <p:txBody>
          <a:bodyPr/>
          <a:lstStyle/>
          <a:p>
            <a:endParaRPr lang="en-IN"/>
          </a:p>
        </p:txBody>
      </p:sp>
      <p:sp>
        <p:nvSpPr>
          <p:cNvPr id="14" name="Text 12"/>
          <p:cNvSpPr/>
          <p:nvPr/>
        </p:nvSpPr>
        <p:spPr>
          <a:xfrm>
            <a:off x="640080" y="2551176"/>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4.</a:t>
            </a:r>
            <a:endParaRPr lang="en-US" sz="1200" dirty="0"/>
          </a:p>
        </p:txBody>
      </p:sp>
      <p:sp>
        <p:nvSpPr>
          <p:cNvPr id="15" name="Text 13"/>
          <p:cNvSpPr/>
          <p:nvPr/>
        </p:nvSpPr>
        <p:spPr>
          <a:xfrm>
            <a:off x="1097280" y="2551176"/>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Built-in analytics for daily health checks; Custom dashboards for enterprise reporting</a:t>
            </a:r>
            <a:endParaRPr lang="en-US" sz="1100" dirty="0"/>
          </a:p>
        </p:txBody>
      </p:sp>
      <p:sp>
        <p:nvSpPr>
          <p:cNvPr id="16" name="Shape 14"/>
          <p:cNvSpPr/>
          <p:nvPr/>
        </p:nvSpPr>
        <p:spPr>
          <a:xfrm>
            <a:off x="457200" y="2999232"/>
            <a:ext cx="8229600" cy="457200"/>
          </a:xfrm>
          <a:prstGeom prst="rect">
            <a:avLst/>
          </a:prstGeom>
          <a:solidFill>
            <a:srgbClr val="F1F5F9"/>
          </a:solidFill>
          <a:ln/>
        </p:spPr>
        <p:txBody>
          <a:bodyPr/>
          <a:lstStyle/>
          <a:p>
            <a:endParaRPr lang="en-IN"/>
          </a:p>
        </p:txBody>
      </p:sp>
      <p:sp>
        <p:nvSpPr>
          <p:cNvPr id="17" name="Text 15"/>
          <p:cNvSpPr/>
          <p:nvPr/>
        </p:nvSpPr>
        <p:spPr>
          <a:xfrm>
            <a:off x="640080" y="3072384"/>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5.</a:t>
            </a:r>
            <a:endParaRPr lang="en-US" sz="1200" dirty="0"/>
          </a:p>
        </p:txBody>
      </p:sp>
      <p:sp>
        <p:nvSpPr>
          <p:cNvPr id="18" name="Text 16"/>
          <p:cNvSpPr/>
          <p:nvPr/>
        </p:nvSpPr>
        <p:spPr>
          <a:xfrm>
            <a:off x="1097280" y="3072384"/>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Three-page BFSI design: Claims Operations, Agent Performance, Approval Compliance</a:t>
            </a:r>
            <a:endParaRPr lang="en-US" sz="1100" dirty="0"/>
          </a:p>
        </p:txBody>
      </p:sp>
      <p:sp>
        <p:nvSpPr>
          <p:cNvPr id="19" name="Shape 17"/>
          <p:cNvSpPr/>
          <p:nvPr/>
        </p:nvSpPr>
        <p:spPr>
          <a:xfrm>
            <a:off x="457200" y="3520440"/>
            <a:ext cx="8229600" cy="457200"/>
          </a:xfrm>
          <a:prstGeom prst="rect">
            <a:avLst/>
          </a:prstGeom>
          <a:solidFill>
            <a:srgbClr val="F1F5F9"/>
          </a:solidFill>
          <a:ln/>
        </p:spPr>
        <p:txBody>
          <a:bodyPr/>
          <a:lstStyle/>
          <a:p>
            <a:endParaRPr lang="en-IN"/>
          </a:p>
        </p:txBody>
      </p:sp>
      <p:sp>
        <p:nvSpPr>
          <p:cNvPr id="20" name="Text 18"/>
          <p:cNvSpPr/>
          <p:nvPr/>
        </p:nvSpPr>
        <p:spPr>
          <a:xfrm>
            <a:off x="640080" y="3593592"/>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6.</a:t>
            </a:r>
            <a:endParaRPr lang="en-US" sz="1200" dirty="0"/>
          </a:p>
        </p:txBody>
      </p:sp>
      <p:sp>
        <p:nvSpPr>
          <p:cNvPr id="21" name="Text 19"/>
          <p:cNvSpPr/>
          <p:nvPr/>
        </p:nvSpPr>
        <p:spPr>
          <a:xfrm>
            <a:off x="1097280" y="3593592"/>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Every dashboard insight should map to a specific optimisation action</a:t>
            </a:r>
            <a:endParaRPr lang="en-US" sz="1100" dirty="0"/>
          </a:p>
        </p:txBody>
      </p:sp>
      <p:sp>
        <p:nvSpPr>
          <p:cNvPr id="22" name="Shape 20"/>
          <p:cNvSpPr/>
          <p:nvPr/>
        </p:nvSpPr>
        <p:spPr>
          <a:xfrm>
            <a:off x="457200" y="4041648"/>
            <a:ext cx="8229600" cy="457200"/>
          </a:xfrm>
          <a:prstGeom prst="rect">
            <a:avLst/>
          </a:prstGeom>
          <a:solidFill>
            <a:srgbClr val="F1F5F9"/>
          </a:solidFill>
          <a:ln/>
        </p:spPr>
        <p:txBody>
          <a:bodyPr/>
          <a:lstStyle/>
          <a:p>
            <a:endParaRPr lang="en-IN"/>
          </a:p>
        </p:txBody>
      </p:sp>
      <p:sp>
        <p:nvSpPr>
          <p:cNvPr id="23" name="Text 21"/>
          <p:cNvSpPr/>
          <p:nvPr/>
        </p:nvSpPr>
        <p:spPr>
          <a:xfrm>
            <a:off x="640080" y="4114800"/>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7.</a:t>
            </a:r>
            <a:endParaRPr lang="en-US" sz="1200" dirty="0"/>
          </a:p>
        </p:txBody>
      </p:sp>
      <p:sp>
        <p:nvSpPr>
          <p:cNvPr id="24" name="Text 22"/>
          <p:cNvSpPr/>
          <p:nvPr/>
        </p:nvSpPr>
        <p:spPr>
          <a:xfrm>
            <a:off x="1097280" y="4114800"/>
            <a:ext cx="7406640" cy="310896"/>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For BFSI compliance: dashboards provide auditable evidence of AI oversight</a:t>
            </a:r>
            <a:endParaRPr lang="en-US" sz="110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27" name="Text 25"/>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22 / 31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Knowledge Check</a:t>
            </a:r>
            <a:endParaRPr lang="en-US" sz="3600" dirty="0"/>
          </a:p>
        </p:txBody>
      </p:sp>
      <p:sp>
        <p:nvSpPr>
          <p:cNvPr id="5" name="Text 3"/>
          <p:cNvSpPr/>
          <p:nvPr/>
        </p:nvSpPr>
        <p:spPr>
          <a:xfrm>
            <a:off x="914400" y="2743200"/>
            <a:ext cx="7315200" cy="365760"/>
          </a:xfrm>
          <a:prstGeom prst="rect">
            <a:avLst/>
          </a:prstGeom>
          <a:noFill/>
          <a:ln/>
        </p:spPr>
        <p:txBody>
          <a:bodyPr wrap="square" rtlCol="0" anchor="ctr"/>
          <a:lstStyle/>
          <a:p>
            <a:pPr marL="0" indent="0" algn="ctr">
              <a:buNone/>
            </a:pPr>
            <a:r>
              <a:rPr lang="en-US" sz="1400" dirty="0">
                <a:solidFill>
                  <a:srgbClr val="94A3B8"/>
                </a:solidFill>
                <a:latin typeface="Segoe UI" pitchFamily="34" charset="0"/>
                <a:ea typeface="Segoe UI" pitchFamily="34" charset="-122"/>
                <a:cs typeface="Segoe UI" pitchFamily="34" charset="-120"/>
              </a:rPr>
              <a:t>Test your understanding with 3 quick questions</a:t>
            </a:r>
            <a:endParaRPr lang="en-US" sz="1400" dirty="0"/>
          </a:p>
        </p:txBody>
      </p:sp>
      <p:sp>
        <p:nvSpPr>
          <p:cNvPr id="6" name="Text 4"/>
          <p:cNvSpPr/>
          <p:nvPr/>
        </p:nvSpPr>
        <p:spPr>
          <a:xfrm>
            <a:off x="914400" y="3200400"/>
            <a:ext cx="7315200" cy="365760"/>
          </a:xfrm>
          <a:prstGeom prst="rect">
            <a:avLst/>
          </a:prstGeom>
          <a:noFill/>
          <a:ln/>
        </p:spPr>
        <p:txBody>
          <a:bodyPr wrap="square" rtlCol="0" anchor="ctr"/>
          <a:lstStyle/>
          <a:p>
            <a:pPr marL="0" indent="0" algn="ctr">
              <a:buNone/>
            </a:pPr>
            <a:r>
              <a:rPr lang="en-US" sz="1200" dirty="0">
                <a:solidFill>
                  <a:srgbClr val="64748B"/>
                </a:solidFill>
                <a:latin typeface="Segoe UI" pitchFamily="34" charset="0"/>
                <a:ea typeface="Segoe UI" pitchFamily="34" charset="-122"/>
                <a:cs typeface="Segoe UI" pitchFamily="34" charset="-120"/>
              </a:rPr>
              <a:t>Think before you click forward!</a:t>
            </a:r>
            <a:endParaRPr lang="en-US" sz="1200" dirty="0"/>
          </a:p>
        </p:txBody>
      </p:sp>
      <p:sp>
        <p:nvSpPr>
          <p:cNvPr id="11" name="Text 25">
            <a:extLst>
              <a:ext uri="{FF2B5EF4-FFF2-40B4-BE49-F238E27FC236}">
                <a16:creationId xmlns:a16="http://schemas.microsoft.com/office/drawing/2014/main" id="{62556BB3-BB97-EE1D-EAB4-2536A715704A}"/>
              </a:ext>
            </a:extLst>
          </p:cNvPr>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23 / 31</a:t>
            </a:r>
            <a:endParaRPr lang="en-US" sz="900"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four steps of the agent insight feedback loop?</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Design → Build → Test → Deploy</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Agents Act → Dataverse Captures → Power BI Visualises → Humans Optimise</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Collect → Store → Analyse → Report</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Input → Process → Output → Archive</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11  |  Knowledge Check</a:t>
            </a:r>
            <a:endParaRPr lang="en-US" sz="800" dirty="0"/>
          </a:p>
        </p:txBody>
      </p:sp>
      <p:sp>
        <p:nvSpPr>
          <p:cNvPr id="16" name="Text 14"/>
          <p:cNvSpPr/>
          <p:nvPr/>
        </p:nvSpPr>
        <p:spPr>
          <a:xfrm>
            <a:off x="7955280" y="482571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24 / 31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four steps of the agent insight feedback loop?</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Design → Build → Test → Deploy</a:t>
            </a:r>
            <a:endParaRPr lang="en-US" sz="1300" dirty="0"/>
          </a:p>
        </p:txBody>
      </p:sp>
      <p:sp>
        <p:nvSpPr>
          <p:cNvPr id="8" name="Shape 6"/>
          <p:cNvSpPr/>
          <p:nvPr/>
        </p:nvSpPr>
        <p:spPr>
          <a:xfrm>
            <a:off x="731520" y="2578608"/>
            <a:ext cx="7498080" cy="548640"/>
          </a:xfrm>
          <a:prstGeom prst="rect">
            <a:avLst/>
          </a:prstGeom>
          <a:solidFill>
            <a:srgbClr val="DCFCE7"/>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Agents Act → Dataverse Captures → Power BI Visualises → Humans Optimise</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Collect → Store → Analyse → Report</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Input → Process → Output → Archive</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11  |  Knowledge Check</a:t>
            </a:r>
            <a:endParaRPr lang="en-US" sz="800" dirty="0"/>
          </a:p>
        </p:txBody>
      </p:sp>
      <p:sp>
        <p:nvSpPr>
          <p:cNvPr id="16" name="Text 14"/>
          <p:cNvSpPr/>
          <p:nvPr/>
        </p:nvSpPr>
        <p:spPr>
          <a:xfrm>
            <a:off x="7984309"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25 / 31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When should you use DirectQuery instead of Import mode for Dataverse connections?</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When you need the fastest query performance</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When you want to minimize .pbix file size</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When you need real-time data for operational dashboards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When the TDS endpoint is disabled</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11  |  Knowledge Check</a:t>
            </a:r>
            <a:endParaRPr lang="en-US" sz="800" dirty="0"/>
          </a:p>
        </p:txBody>
      </p:sp>
      <p:sp>
        <p:nvSpPr>
          <p:cNvPr id="16" name="Text 14"/>
          <p:cNvSpPr/>
          <p:nvPr/>
        </p:nvSpPr>
        <p:spPr>
          <a:xfrm>
            <a:off x="804672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26 / 31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When should you use DirectQuery instead of Import mode for Dataverse connections?</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When you need the fastest query performance</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When you want to minimize .pbix file size</a:t>
            </a:r>
            <a:endParaRPr lang="en-US" sz="1300" dirty="0"/>
          </a:p>
        </p:txBody>
      </p:sp>
      <p:sp>
        <p:nvSpPr>
          <p:cNvPr id="10" name="Shape 8"/>
          <p:cNvSpPr/>
          <p:nvPr/>
        </p:nvSpPr>
        <p:spPr>
          <a:xfrm>
            <a:off x="731520" y="3236976"/>
            <a:ext cx="7498080" cy="548640"/>
          </a:xfrm>
          <a:prstGeom prst="rect">
            <a:avLst/>
          </a:prstGeom>
          <a:solidFill>
            <a:srgbClr val="DCFCE7"/>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When you need real-time data for operational dashboards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When the TDS endpoint is disabled</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11  |  Knowledge Check</a:t>
            </a:r>
            <a:endParaRPr lang="en-US" sz="800" dirty="0"/>
          </a:p>
        </p:txBody>
      </p:sp>
      <p:sp>
        <p:nvSpPr>
          <p:cNvPr id="16" name="Text 14"/>
          <p:cNvSpPr/>
          <p:nvPr/>
        </p:nvSpPr>
        <p:spPr>
          <a:xfrm>
            <a:off x="7969794" y="484022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27 / 31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business question does the Approval Compliance page answer?</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How much work is flowing through the system?</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How are the AI agents performing?</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Is human oversight functioning correctly and are SLAs being met?</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What are the claims volume trends?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11  |  Knowledge Check</a:t>
            </a:r>
            <a:endParaRPr lang="en-US" sz="800" dirty="0"/>
          </a:p>
        </p:txBody>
      </p:sp>
      <p:sp>
        <p:nvSpPr>
          <p:cNvPr id="16" name="Text 14"/>
          <p:cNvSpPr/>
          <p:nvPr/>
        </p:nvSpPr>
        <p:spPr>
          <a:xfrm>
            <a:off x="7955280" y="4856915"/>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28 / 31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business question does the Approval Compliance page answer?</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How much work is flowing through the system?</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How are the AI agents performing?</a:t>
            </a:r>
            <a:endParaRPr lang="en-US" sz="1300" dirty="0"/>
          </a:p>
        </p:txBody>
      </p:sp>
      <p:sp>
        <p:nvSpPr>
          <p:cNvPr id="10" name="Shape 8"/>
          <p:cNvSpPr/>
          <p:nvPr/>
        </p:nvSpPr>
        <p:spPr>
          <a:xfrm>
            <a:off x="731520" y="3236976"/>
            <a:ext cx="7498080" cy="548640"/>
          </a:xfrm>
          <a:prstGeom prst="rect">
            <a:avLst/>
          </a:prstGeom>
          <a:solidFill>
            <a:srgbClr val="DCFCE7"/>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Is human oversight functioning correctly and are SLAs being met?</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What are the claims volume trends?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11  |  Knowledge Check</a:t>
            </a:r>
            <a:endParaRPr lang="en-US" sz="800" dirty="0"/>
          </a:p>
        </p:txBody>
      </p:sp>
      <p:sp>
        <p:nvSpPr>
          <p:cNvPr id="16" name="Text 14"/>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29 / 31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What's Next?</a:t>
            </a:r>
            <a:endParaRPr lang="en-US" sz="3000" dirty="0"/>
          </a:p>
        </p:txBody>
      </p:sp>
      <p:sp>
        <p:nvSpPr>
          <p:cNvPr id="4" name="Text 2"/>
          <p:cNvSpPr/>
          <p:nvPr/>
        </p:nvSpPr>
        <p:spPr>
          <a:xfrm>
            <a:off x="640080" y="914400"/>
            <a:ext cx="7863840" cy="457200"/>
          </a:xfrm>
          <a:prstGeom prst="rect">
            <a:avLst/>
          </a:prstGeom>
          <a:noFill/>
          <a:ln/>
        </p:spPr>
        <p:txBody>
          <a:bodyPr wrap="square" rtlCol="0" anchor="ctr"/>
          <a:lstStyle/>
          <a:p>
            <a:pPr marL="0" indent="0">
              <a:buNone/>
            </a:pPr>
            <a:r>
              <a:rPr lang="en-US" sz="1800" b="1" dirty="0">
                <a:solidFill>
                  <a:srgbClr val="0891B2"/>
                </a:solidFill>
                <a:latin typeface="Segoe UI" pitchFamily="34" charset="0"/>
                <a:ea typeface="Segoe UI" pitchFamily="34" charset="-122"/>
                <a:cs typeface="Segoe UI" pitchFamily="34" charset="-120"/>
              </a:rPr>
              <a:t>Module 12: Memory, Governance &amp; Production Readiness</a:t>
            </a:r>
            <a:endParaRPr lang="en-US" sz="1800" dirty="0"/>
          </a:p>
        </p:txBody>
      </p:sp>
      <p:sp>
        <p:nvSpPr>
          <p:cNvPr id="5" name="Shape 3"/>
          <p:cNvSpPr/>
          <p:nvPr/>
        </p:nvSpPr>
        <p:spPr>
          <a:xfrm>
            <a:off x="640080" y="1463040"/>
            <a:ext cx="7863840" cy="2377440"/>
          </a:xfrm>
          <a:prstGeom prst="rect">
            <a:avLst/>
          </a:prstGeom>
          <a:solidFill>
            <a:srgbClr val="F1F5F9"/>
          </a:solidFill>
          <a:ln/>
        </p:spPr>
        <p:txBody>
          <a:bodyPr/>
          <a:lstStyle/>
          <a:p>
            <a:endParaRPr lang="en-IN"/>
          </a:p>
        </p:txBody>
      </p:sp>
      <p:sp>
        <p:nvSpPr>
          <p:cNvPr id="6" name="Shape 4"/>
          <p:cNvSpPr/>
          <p:nvPr/>
        </p:nvSpPr>
        <p:spPr>
          <a:xfrm>
            <a:off x="640080" y="1463040"/>
            <a:ext cx="73152" cy="2377440"/>
          </a:xfrm>
          <a:prstGeom prst="rect">
            <a:avLst/>
          </a:prstGeom>
          <a:solidFill>
            <a:srgbClr val="0891B2"/>
          </a:solidFill>
          <a:ln/>
        </p:spPr>
        <p:txBody>
          <a:bodyPr/>
          <a:lstStyle/>
          <a:p>
            <a:endParaRPr lang="en-IN"/>
          </a:p>
        </p:txBody>
      </p:sp>
      <p:sp>
        <p:nvSpPr>
          <p:cNvPr id="7" name="Text 5"/>
          <p:cNvSpPr/>
          <p:nvPr/>
        </p:nvSpPr>
        <p:spPr>
          <a:xfrm>
            <a:off x="1005840" y="1600200"/>
            <a:ext cx="7223760" cy="210312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Module 12 addresses the operational concerns needed to move from training lab to production BFSI environment:</a:t>
            </a:r>
            <a:endParaRPr lang="en-US" sz="1300" dirty="0"/>
          </a:p>
          <a:p>
            <a:pPr marL="0" indent="0">
              <a:buNone/>
            </a:pP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Dataverse auditing and security roles</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MCP access boundaries and governance</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Copilot Studio governance via Microsoft Purview</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Capacity planning and Copilot Credits</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Compliance documentation for regulated industries</a:t>
            </a:r>
            <a:endParaRPr lang="en-US" sz="1300" dirty="0"/>
          </a:p>
        </p:txBody>
      </p:sp>
      <p:sp>
        <p:nvSpPr>
          <p:cNvPr id="8" name="Shape 6"/>
          <p:cNvSpPr/>
          <p:nvPr/>
        </p:nvSpPr>
        <p:spPr>
          <a:xfrm>
            <a:off x="640080" y="4023360"/>
            <a:ext cx="7863840" cy="640080"/>
          </a:xfrm>
          <a:prstGeom prst="rect">
            <a:avLst/>
          </a:prstGeom>
          <a:solidFill>
            <a:srgbClr val="FEF3C7"/>
          </a:solidFill>
          <a:ln/>
        </p:spPr>
        <p:txBody>
          <a:bodyPr/>
          <a:lstStyle/>
          <a:p>
            <a:endParaRPr lang="en-IN"/>
          </a:p>
        </p:txBody>
      </p:sp>
      <p:sp>
        <p:nvSpPr>
          <p:cNvPr id="9" name="Text 7"/>
          <p:cNvSpPr/>
          <p:nvPr/>
        </p:nvSpPr>
        <p:spPr>
          <a:xfrm>
            <a:off x="822960" y="4114800"/>
            <a:ext cx="7498080" cy="45720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Module 12 ensures your agent system is secure, governed, and auditable for production.</a:t>
            </a:r>
            <a:endParaRPr lang="en-US" sz="1100" dirty="0"/>
          </a:p>
        </p:txBody>
      </p:sp>
      <p:sp>
        <p:nvSpPr>
          <p:cNvPr id="10" name="Shape 8"/>
          <p:cNvSpPr/>
          <p:nvPr/>
        </p:nvSpPr>
        <p:spPr>
          <a:xfrm>
            <a:off x="0" y="4846320"/>
            <a:ext cx="9144000" cy="297180"/>
          </a:xfrm>
          <a:prstGeom prst="rect">
            <a:avLst/>
          </a:prstGeom>
          <a:solidFill>
            <a:srgbClr val="F1F5F9"/>
          </a:solidFill>
          <a:ln/>
        </p:spPr>
        <p:txBody>
          <a:bodyPr/>
          <a:lstStyle/>
          <a:p>
            <a:endParaRPr lang="en-IN"/>
          </a:p>
        </p:txBody>
      </p:sp>
      <p:sp>
        <p:nvSpPr>
          <p:cNvPr id="11" name="Text 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11</a:t>
            </a:r>
            <a:endParaRPr lang="en-US" sz="800" dirty="0"/>
          </a:p>
        </p:txBody>
      </p:sp>
      <p:sp>
        <p:nvSpPr>
          <p:cNvPr id="12" name="Text 10"/>
          <p:cNvSpPr/>
          <p:nvPr/>
        </p:nvSpPr>
        <p:spPr>
          <a:xfrm>
            <a:off x="7959634" y="483514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30 / 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1828800"/>
            <a:ext cx="7315200" cy="731520"/>
          </a:xfrm>
          <a:prstGeom prst="rect">
            <a:avLst/>
          </a:prstGeom>
          <a:noFill/>
          <a:ln/>
        </p:spPr>
        <p:txBody>
          <a:bodyPr wrap="square" rtlCol="0" anchor="ctr"/>
          <a:lstStyle/>
          <a:p>
            <a:pPr marL="0" indent="0" algn="ctr">
              <a:buNone/>
            </a:pPr>
            <a:r>
              <a:rPr lang="en-US" sz="4200" b="1" dirty="0">
                <a:solidFill>
                  <a:srgbClr val="FFFFFF"/>
                </a:solidFill>
                <a:latin typeface="Segoe UI" pitchFamily="34" charset="0"/>
                <a:ea typeface="Segoe UI" pitchFamily="34" charset="-122"/>
                <a:cs typeface="Segoe UI" pitchFamily="34" charset="-120"/>
              </a:rPr>
              <a:t>Thank You</a:t>
            </a:r>
            <a:endParaRPr lang="en-US" sz="4200" dirty="0"/>
          </a:p>
        </p:txBody>
      </p:sp>
      <p:sp>
        <p:nvSpPr>
          <p:cNvPr id="5" name="Text 3"/>
          <p:cNvSpPr/>
          <p:nvPr/>
        </p:nvSpPr>
        <p:spPr>
          <a:xfrm>
            <a:off x="914400" y="2834640"/>
            <a:ext cx="7315200" cy="457200"/>
          </a:xfrm>
          <a:prstGeom prst="rect">
            <a:avLst/>
          </a:prstGeom>
          <a:noFill/>
          <a:ln/>
        </p:spPr>
        <p:txBody>
          <a:bodyPr wrap="square" rtlCol="0" anchor="ctr"/>
          <a:lstStyle/>
          <a:p>
            <a:pPr marL="0" indent="0" algn="ctr">
              <a:buNone/>
            </a:pPr>
            <a:r>
              <a:rPr lang="en-US" sz="1300" dirty="0">
                <a:solidFill>
                  <a:srgbClr val="94A3B8"/>
                </a:solidFill>
                <a:latin typeface="Segoe UI" pitchFamily="34" charset="0"/>
                <a:ea typeface="Segoe UI" pitchFamily="34" charset="-122"/>
                <a:cs typeface="Segoe UI" pitchFamily="34" charset="-120"/>
              </a:rPr>
              <a:t>Questions? Reach out to your instructor or post in the Teams channel.</a:t>
            </a:r>
            <a:endParaRPr lang="en-US" sz="1300" dirty="0"/>
          </a:p>
        </p:txBody>
      </p:sp>
      <p:sp>
        <p:nvSpPr>
          <p:cNvPr id="6" name="Text 25">
            <a:extLst>
              <a:ext uri="{FF2B5EF4-FFF2-40B4-BE49-F238E27FC236}">
                <a16:creationId xmlns:a16="http://schemas.microsoft.com/office/drawing/2014/main" id="{EE525C37-4902-40D9-D8D3-BED8893751CA}"/>
              </a:ext>
            </a:extLst>
          </p:cNvPr>
          <p:cNvSpPr/>
          <p:nvPr/>
        </p:nvSpPr>
        <p:spPr>
          <a:xfrm>
            <a:off x="8064137" y="4814316"/>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31 / 31</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8</TotalTime>
  <Words>5737</Words>
  <Application>Microsoft Office PowerPoint</Application>
  <PresentationFormat>On-screen Show (16:9)</PresentationFormat>
  <Paragraphs>455</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 Power BI as Agent Insight &amp; Feedback Loop</dc:title>
  <dc:subject>Agentic AI in Power Platform</dc:subject>
  <dc:creator>EY Training</dc:creator>
  <cp:lastModifiedBy>Jalal Khan</cp:lastModifiedBy>
  <cp:revision>22</cp:revision>
  <dcterms:created xsi:type="dcterms:W3CDTF">2026-02-05T12:59:16Z</dcterms:created>
  <dcterms:modified xsi:type="dcterms:W3CDTF">2026-02-05T19:33:41Z</dcterms:modified>
</cp:coreProperties>
</file>