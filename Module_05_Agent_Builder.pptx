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78"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10"/>
  </p:normalViewPr>
  <p:slideViewPr>
    <p:cSldViewPr snapToGrid="0" snapToObjects="1">
      <p:cViewPr varScale="1">
        <p:scale>
          <a:sx n="102" d="100"/>
          <a:sy n="102" d="100"/>
        </p:scale>
        <p:origin x="92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7592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05: Agent Builder — From App to Agent. This module is part of the Agentic AI in Power Platform training series, prepared specifically for EY developers working in the BFSI (Banking, Financial Services, and Insurance) sector.
This session runs for approximately 3 hours, split into 1 hour of theory covering Agent Builder concepts and architecture, followed by 2 hours of hands-on lab work where you will convert a canvas app into a Copilot Studio agent.
Agent Builder is a Generally Available feature in Power Apps that represents a transformative capability: it takes your existing canvas apps — the ones your teams have already built and refined — and converts them into AI-powered conversational agents. Instead of users navigating through screens and forms, they can now accomplish the same tasks through natural language conversation.
This module sits at a critical point in our learning journey. In Module 02, you learned to design data tables with Plan Designer. In Module 03, you built canvas apps with Vibe. In Module 04, you configured the Dataverse MCP Server to expose data to AI agents. Now, in Module 05, you will close the loop by converting those canvas apps into fully functional agents.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stage for the entire module. Agent Builder is a feature within Power Apps that analyses an existing canvas app and generates a Copilot Studio agent from its metadata. Rather than requiring developers to manually define every topic, action, and knowledge source for a new agent, Agent Builder automatically extracts this information from the app's screens, controls, formulas, data connections, and business rules.
The core value proposition is simple: if you already have a canvas app that does something useful — processing claims, onboarding customers, managing policies — Agent Builder can convert that app into a conversational agent that accomplishes the same goals through natural language interaction, powered by AI.
For BFSI organisations in particular, this is transformative. Think about how many canvas apps your teams currently maintain for claims processing, customer onboarding, policy lookups, and transaction monitoring. Agent Builder lets you leverage all the business logic already embedded in those apps — claim validation rules, KYC verification steps, premium calculation formulas — without having to recreate it all manually in a new agent.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the eight key learning objectives for Module 05. By the end of this session, participants should be able to accomplish all of these.
First, you need to understand what Agent Builder actually is and how it fits into the broader pipeline we have been building throughout this course. Second, you will learn about the four categories of information that Agent Builder extracts: goals, steps, knowledge, and triggers. Third, not all canvas apps are suitable — you will learn what makes an app compatible. Fourth and fifth, you will execute the full workflow in the lab and learn to refine the output. Sixth, you will connect the generated agent to the Dataverse MCP Server. Finally, you will learn when to use Agent Builder versus building manually, and apply everything to our Contoso Insurance scenario.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practical structure and prerequisites. The module is divided into Part A (1 hour theory) and Part B (2 hours hands-on lab). Prerequisites include Modules 01-04 completion, a developer environment with Dataverse and the four BFSI sample tables, a working canvas app, Power Apps Premium and Copilot Studio licenses, and the Dataverse MCP Server enabled.
The pipeline diagram shows how Module 05 fits into the overall learning journey: Plan Designer creates tables, Vibe creates apps, MCP exposes data, and Agent Builder converts apps into agents.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Builder is a feature within Power Apps that analyses an existing canvas app and generates a Copilot Studio agent from its metadata. It reads the structure of your app — screens, controls, formulas, data connections, and business rules — to understand what the app does and how it does it.
The paradigm shift is key: traditional canvas apps are screen-based where users navigate forms and buttons. Agents are conversation-based where users describe what they want in natural language. Agent Builder bridges these two paradigms.
It was announced at Build 2025 and became Generally Available as part of the 2025 Release Wave 1 update. Currently it supports canvas apps, with model-driven app support on the roadmap.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Builder performs a four-category extraction from canvas app metadata. Goals are high-level objectives derived from screen structure. Steps are sequential actions derived from control layout and validations. Knowledge sources come from data connections, help text, and document libraries. Triggers define when the agent activates.
For example, a claims app with screens for Submit Claim, View Status, and Approve Claim would generate three corresponding goals. Each screen's controls then become the steps within those goals. Connected Dataverse tables and SharePoint lists become knowledge sources. And the app's launch context and event patterns become triggers.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how Agent Builder maps app elements to agent goals. When it sees a Submit New Claim screen with form inputs and a Patch() button, it generates a goal about helping users submit claims. A dashboard screen becomes a goal about showing overviews. A lookup screen becomes a goal about finding information.
The key insight: if your app puts everything on one screen, Agent Builder produces one vague goal. Distinct screens produce distinct, well-defined goals. This is why the compatibility requirements emphasise distinct screen structure.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are sequential actions required to accomplish a goal. Agent Builder reads each control on the screen, checks whether they are required, what input they expect, and what validation rules apply. A dropdown becomes a selection step, a lookup becomes a search step, a currency input with validation becomes a collection-and-validation step, and a Patch() button becomes the data creation step.
These steps map directly to Copilot Studio topics — each step becomes a conversation turn where the agent asks, the user responds, and the agent proceeds.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sources extend beyond Dataverse. Agent Builder identifies connected data sources, but you can add PDF documents (policy wordings, compliance guides), Word documents (SOPs, manuals), SharePoint pages (intranet content), and public websites manually in Copilot Studio.
For BFSI, this means agents can reference insurance product PDFs, KYC compliance documents, claims processing SOPs, and structured customer data — all in a single conversation.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Triggers define when and how the agent activates. Conversational triggers (default) fire when a user sends a message. Event-driven triggers fire on Dataverse record changes. Scheduled triggers run on a timer. Deep link triggers activate with pre-filled context from a URL.
Agent Builder automatically configures the conversational trigger. Event-driven, scheduled, and deep link triggers need manual configuration in Copilot Studio.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stages are: 1) Select App and load metadata, 2) Configure Goal in natural language, 3) Review Extraction and modify as needed, 4) Generate Agent in Copilot Studio, 5) Refine and Publish — test, add MCP tools, refine topics, and publish to channels.
The key message: Agent Builder gives you a 60-80% head start, but refinement is always needed. Think of it like AI-generated code — it gets you most of the way, but requires human review.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clarifies what Agent Builder handles automatically versus what needs manual work. The most critical point: Agent Builder does NOT configure the Dataverse MCP Server connection. You must manually add it as a tool from the Tools tab in Copilot Studio. Without this step, the agent cannot access live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Agent Builder when you have an existing canvas app with 3-10 screens and domain logic in formulas. Use manual creation for net-new agents, complex orchestration, or when business logic lives in plugins and external APIs. For BFSI, Agent Builder excels at claims, policy, and onboarding apps; manual creation is better for compliance reporting and multi-agent scenarios.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compatibility requirements: Dataverse connections with active formulas, distinct screen structure, meaningful control names, required field markers, and standard Power Apps patterns. The quick tip: renaming default controls like TextInput1 to txt_CustomerName dramatically improves extraction quality.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Builder generates six types of artefacts: Agent Name and Description, System Prompt/Instructions, Topics (conversation flows), Actions (data operations), Knowledge Sources, and Trigger Configuration. Each needs refinement — updating names, adding BFSI tone to prompts, reviewing trigger phrases, connecting to MCP Server, and adding additional knowledge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five-layer architecture: App Layer (original canvas app, remains operational), Conversion Layer (Agent Builder, one-time process), Agent Layer (generated Copilot Studio agent), Data Layer (Dataverse MCP Server — must be added manually), and Data Store (Dataverse tables). Both app and agent coexist, serving form-based and conversational preferences respectively.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BFSI scenarios: Claims Submission (60% faster), Policy Lookup (instant info), Customer Onboarding (fewer errors), Transaction Monitoring (conversational insights), and Renewal Management (25% fewer lapsed policies). Agent Builder enables rapid conversion of existing app portfolios into conversational agents.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starter app has five screens: Home (dashboard), Submit Claim (form), Claim Detail (view/update), Customer Lookup (search), and Policy Browser (filter). Three setup options: use Module 03's Vibe app, create a blank canvas app manually, or use Vibe with the provided prompt.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to the summary section. We have covered the core theory — now let us review the key takeaways before moving to the hands-on lab.</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 Agent Builder is GA and extracts four categories from app metadata. The extraction is comprehensive across screens, controls, and formulas. It provides a 60-80% head start but always requires refinement. The MCP Server must be added manually. Knowledge sources support PDF, Word, SharePoint, websites, and Dataverse.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Remaining takeaways: Compatibility requirements are specific (Dataverse, named controls, distinct screens, standard patterns). BFSI organisations benefit from rapid app-to-agent conversion. The original app remains operational alongside the agent. Agent Builder completes the full pipeline from tables to apps to data access to agents.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knowledge check questions covering all key topics: what Agent Builder is, four extraction categories, compatibility requirements, control naming, the five-stage workflow, limitations, MCP Server configuration, knowledge source types, decision criteria for Agent Builder vs. manual, and pipeline integration.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materials include Microsoft Learn documentation for Agent Builder, the Power Apps May 2025 blog post, Power Apps 2025 Release Wave 1 overview, Copilot Studio documentation, Agent Academy, and Power Platform Community forums.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during the theory portion. You now understand Agent Builder's extraction process, workflow, compatibility requirements, and MCP architecture. Time to put this knowledge into practice in the hands-on lab — converting the Contoso Insurance Claims app into a conversational agent.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06 teaches building agents from scratch in Copilot Studio with full control over topics, orchestration, and MCP tools. Related modules span the full course from Plan Designer through the capstone project.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9.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7589520" y="1371600"/>
            <a:ext cx="1005840" cy="1005840"/>
          </a:xfrm>
          <a:prstGeom prst="rect">
            <a:avLst/>
          </a:prstGeom>
        </p:spPr>
      </p:pic>
      <p:sp>
        <p:nvSpPr>
          <p:cNvPr id="5" name="Text 2"/>
          <p:cNvSpPr/>
          <p:nvPr/>
        </p:nvSpPr>
        <p:spPr>
          <a:xfrm>
            <a:off x="731520" y="1097280"/>
            <a:ext cx="4572000" cy="320040"/>
          </a:xfrm>
          <a:prstGeom prst="rect">
            <a:avLst/>
          </a:prstGeom>
          <a:noFill/>
          <a:ln/>
        </p:spPr>
        <p:txBody>
          <a:bodyPr wrap="square" lIns="0" tIns="0" rIns="0" bIns="0" rtlCol="0" anchor="ctr"/>
          <a:lstStyle/>
          <a:p>
            <a:pPr marL="0" indent="0">
              <a:buNone/>
            </a:pPr>
            <a:r>
              <a:rPr lang="en-US" sz="1400" b="1" kern="0" spc="500" dirty="0">
                <a:solidFill>
                  <a:srgbClr val="06B6D4"/>
                </a:solidFill>
                <a:latin typeface="Calibri" pitchFamily="34" charset="0"/>
                <a:ea typeface="Calibri" pitchFamily="34" charset="-122"/>
                <a:cs typeface="Calibri" pitchFamily="34" charset="-120"/>
              </a:rPr>
              <a:t>MODULE 05</a:t>
            </a:r>
            <a:endParaRPr lang="en-US" sz="1400" dirty="0"/>
          </a:p>
        </p:txBody>
      </p:sp>
      <p:sp>
        <p:nvSpPr>
          <p:cNvPr id="6" name="Text 3"/>
          <p:cNvSpPr/>
          <p:nvPr/>
        </p:nvSpPr>
        <p:spPr>
          <a:xfrm>
            <a:off x="731520" y="1554480"/>
            <a:ext cx="6400800" cy="73152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Agent Builder</a:t>
            </a:r>
            <a:endParaRPr lang="en-US" sz="4000" dirty="0"/>
          </a:p>
        </p:txBody>
      </p:sp>
      <p:sp>
        <p:nvSpPr>
          <p:cNvPr id="7" name="Text 4"/>
          <p:cNvSpPr/>
          <p:nvPr/>
        </p:nvSpPr>
        <p:spPr>
          <a:xfrm>
            <a:off x="731520" y="2240280"/>
            <a:ext cx="6400800" cy="502920"/>
          </a:xfrm>
          <a:prstGeom prst="rect">
            <a:avLst/>
          </a:prstGeom>
          <a:noFill/>
          <a:ln/>
        </p:spPr>
        <p:txBody>
          <a:bodyPr wrap="square" lIns="0" tIns="0" rIns="0" bIns="0" rtlCol="0" anchor="ctr"/>
          <a:lstStyle/>
          <a:p>
            <a:pPr marL="0" indent="0">
              <a:buNone/>
            </a:pPr>
            <a:r>
              <a:rPr lang="en-US" sz="2600" i="1" dirty="0">
                <a:solidFill>
                  <a:srgbClr val="06B6D4"/>
                </a:solidFill>
                <a:latin typeface="Georgia" pitchFamily="34" charset="0"/>
                <a:ea typeface="Georgia" pitchFamily="34" charset="-122"/>
                <a:cs typeface="Georgia" pitchFamily="34" charset="-120"/>
              </a:rPr>
              <a:t>From App to Agent</a:t>
            </a:r>
            <a:endParaRPr lang="en-US" sz="2600" dirty="0"/>
          </a:p>
        </p:txBody>
      </p:sp>
      <p:sp>
        <p:nvSpPr>
          <p:cNvPr id="8" name="Shape 5"/>
          <p:cNvSpPr/>
          <p:nvPr/>
        </p:nvSpPr>
        <p:spPr>
          <a:xfrm>
            <a:off x="731520" y="2926080"/>
            <a:ext cx="2286000" cy="36576"/>
          </a:xfrm>
          <a:prstGeom prst="rect">
            <a:avLst/>
          </a:prstGeom>
          <a:solidFill>
            <a:srgbClr val="0891B2"/>
          </a:solidFill>
          <a:ln/>
        </p:spPr>
        <p:txBody>
          <a:bodyPr/>
          <a:lstStyle/>
          <a:p>
            <a:endParaRPr lang="en-IN"/>
          </a:p>
        </p:txBody>
      </p:sp>
      <p:sp>
        <p:nvSpPr>
          <p:cNvPr id="9" name="Text 6"/>
          <p:cNvSpPr/>
          <p:nvPr/>
        </p:nvSpPr>
        <p:spPr>
          <a:xfrm>
            <a:off x="731520" y="3154680"/>
            <a:ext cx="5486400" cy="2743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Agentic AI in Power Platform</a:t>
            </a:r>
            <a:endParaRPr lang="en-US" sz="1400" dirty="0"/>
          </a:p>
        </p:txBody>
      </p:sp>
      <p:sp>
        <p:nvSpPr>
          <p:cNvPr id="11" name="Text 8"/>
          <p:cNvSpPr/>
          <p:nvPr/>
        </p:nvSpPr>
        <p:spPr>
          <a:xfrm>
            <a:off x="731520" y="3749040"/>
            <a:ext cx="548640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Duration: 3 Hours</a:t>
            </a:r>
            <a:endParaRPr lang="en-US" sz="1100" dirty="0"/>
          </a:p>
        </p:txBody>
      </p:sp>
      <p:sp>
        <p:nvSpPr>
          <p:cNvPr id="12" name="Shape 9"/>
          <p:cNvSpPr/>
          <p:nvPr/>
        </p:nvSpPr>
        <p:spPr>
          <a:xfrm>
            <a:off x="0" y="4892040"/>
            <a:ext cx="9144000" cy="251460"/>
          </a:xfrm>
          <a:prstGeom prst="rect">
            <a:avLst/>
          </a:prstGeom>
          <a:solidFill>
            <a:srgbClr val="0891B2"/>
          </a:solidFill>
          <a:ln/>
        </p:spPr>
        <p:txBody>
          <a:bodyPr/>
          <a:lstStyle/>
          <a:p>
            <a:endParaRPr lang="en-IN"/>
          </a:p>
        </p:txBody>
      </p:sp>
      <p:sp>
        <p:nvSpPr>
          <p:cNvPr id="13" name="Text 10"/>
          <p:cNvSpPr/>
          <p:nvPr/>
        </p:nvSpPr>
        <p:spPr>
          <a:xfrm>
            <a:off x="457200" y="4892040"/>
            <a:ext cx="8229600" cy="25146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CONFIDENTIAL – For Training Purpose only</a:t>
            </a:r>
            <a:endParaRPr lang="en-US" sz="800" dirty="0"/>
          </a:p>
        </p:txBody>
      </p:sp>
      <p:sp>
        <p:nvSpPr>
          <p:cNvPr id="3" name="Text 2">
            <a:extLst>
              <a:ext uri="{FF2B5EF4-FFF2-40B4-BE49-F238E27FC236}">
                <a16:creationId xmlns:a16="http://schemas.microsoft.com/office/drawing/2014/main" id="{3DE0B0DD-388C-43AD-4CEA-0B4DC9E5B4F4}"/>
              </a:ext>
            </a:extLst>
          </p:cNvPr>
          <p:cNvSpPr/>
          <p:nvPr/>
        </p:nvSpPr>
        <p:spPr>
          <a:xfrm>
            <a:off x="8001000" y="4869180"/>
            <a:ext cx="914400" cy="274320"/>
          </a:xfrm>
          <a:prstGeom prst="rect">
            <a:avLst/>
          </a:prstGeom>
          <a:noFill/>
          <a:ln/>
        </p:spPr>
        <p:txBody>
          <a:bodyPr wrap="square" rtlCol="0" anchor="ctr"/>
          <a:lstStyle/>
          <a:p>
            <a:pPr marL="0" indent="0" algn="r">
              <a:buNone/>
            </a:pPr>
            <a:r>
              <a:rPr lang="en-US" sz="900" dirty="0">
                <a:solidFill>
                  <a:schemeClr val="bg1"/>
                </a:solidFill>
                <a:latin typeface="Calibri" pitchFamily="34" charset="0"/>
                <a:ea typeface="Calibri" pitchFamily="34" charset="-122"/>
                <a:cs typeface="Calibri" pitchFamily="34" charset="-120"/>
              </a:rPr>
              <a:t>1 / 25</a:t>
            </a:r>
            <a:endParaRPr lang="en-US" sz="9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01</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Module Overview</a:t>
            </a:r>
            <a:endParaRPr lang="en-US" sz="2200" dirty="0"/>
          </a:p>
        </p:txBody>
      </p:sp>
      <p:sp>
        <p:nvSpPr>
          <p:cNvPr id="8" name="Shape 6"/>
          <p:cNvSpPr/>
          <p:nvPr/>
        </p:nvSpPr>
        <p:spPr>
          <a:xfrm>
            <a:off x="457200" y="1005840"/>
            <a:ext cx="8229600" cy="19202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Shape 7"/>
          <p:cNvSpPr/>
          <p:nvPr/>
        </p:nvSpPr>
        <p:spPr>
          <a:xfrm>
            <a:off x="457200" y="1005840"/>
            <a:ext cx="64008" cy="1920240"/>
          </a:xfrm>
          <a:prstGeom prst="rect">
            <a:avLst/>
          </a:prstGeom>
          <a:solidFill>
            <a:srgbClr val="0891B2"/>
          </a:solidFill>
          <a:ln/>
        </p:spPr>
        <p:txBody>
          <a:bodyPr/>
          <a:lstStyle/>
          <a:p>
            <a:endParaRPr lang="en-IN"/>
          </a:p>
        </p:txBody>
      </p:sp>
      <p:sp>
        <p:nvSpPr>
          <p:cNvPr id="10" name="Text 8"/>
          <p:cNvSpPr/>
          <p:nvPr/>
        </p:nvSpPr>
        <p:spPr>
          <a:xfrm>
            <a:off x="777240" y="1097280"/>
            <a:ext cx="7680960" cy="320040"/>
          </a:xfrm>
          <a:prstGeom prst="rect">
            <a:avLst/>
          </a:prstGeom>
          <a:noFill/>
          <a:ln/>
        </p:spPr>
        <p:txBody>
          <a:bodyPr wrap="square" lIns="0" tIns="0" rIns="0" bIns="0" rtlCol="0" anchor="ctr"/>
          <a:lstStyle/>
          <a:p>
            <a:pPr marL="0" indent="0">
              <a:buNone/>
            </a:pPr>
            <a:r>
              <a:rPr lang="en-US" sz="1600" b="1" dirty="0">
                <a:solidFill>
                  <a:srgbClr val="1E293B"/>
                </a:solidFill>
                <a:latin typeface="Georgia" pitchFamily="34" charset="0"/>
                <a:ea typeface="Georgia" pitchFamily="34" charset="-122"/>
                <a:cs typeface="Georgia" pitchFamily="34" charset="-120"/>
              </a:rPr>
              <a:t>What This Module Covers</a:t>
            </a:r>
            <a:endParaRPr lang="en-US" sz="1600" dirty="0"/>
          </a:p>
        </p:txBody>
      </p:sp>
      <p:sp>
        <p:nvSpPr>
          <p:cNvPr id="11" name="Text 9"/>
          <p:cNvSpPr/>
          <p:nvPr/>
        </p:nvSpPr>
        <p:spPr>
          <a:xfrm>
            <a:off x="777240" y="1463040"/>
            <a:ext cx="7680960" cy="1280160"/>
          </a:xfrm>
          <a:prstGeom prst="rect">
            <a:avLst/>
          </a:prstGeom>
          <a:noFill/>
          <a:ln/>
        </p:spPr>
        <p:txBody>
          <a:bodyPr wrap="square" lIns="0" tIns="0" rIns="0" bIns="0" rtlCol="0" anchor="ctr"/>
          <a:lstStyle/>
          <a:p>
            <a:pPr marL="0" indent="0">
              <a:lnSpc>
                <a:spcPct val="130000"/>
              </a:lnSpc>
              <a:buNone/>
            </a:pPr>
            <a:r>
              <a:rPr lang="en-US" sz="1300" dirty="0">
                <a:solidFill>
                  <a:srgbClr val="334155"/>
                </a:solidFill>
                <a:latin typeface="Calibri" pitchFamily="34" charset="0"/>
                <a:ea typeface="Calibri" pitchFamily="34" charset="-122"/>
                <a:cs typeface="Calibri" pitchFamily="34" charset="-120"/>
              </a:rPr>
              <a:t>This module introduces Agent Builder — the Power Apps feature that converts existing canvas apps into Copilot Studio agents. Agent Builder analyses an app's screens, controls, formulas, data connections, and business rules to extract goals, steps, knowledge, and triggers, then generates a fully functional agent in Copilot Studio.</a:t>
            </a:r>
            <a:endParaRPr lang="en-US" sz="1300" dirty="0"/>
          </a:p>
        </p:txBody>
      </p:sp>
      <p:sp>
        <p:nvSpPr>
          <p:cNvPr id="12" name="Shape 10"/>
          <p:cNvSpPr/>
          <p:nvPr/>
        </p:nvSpPr>
        <p:spPr>
          <a:xfrm>
            <a:off x="457200" y="3154680"/>
            <a:ext cx="8229600" cy="1508760"/>
          </a:xfrm>
          <a:prstGeom prst="rect">
            <a:avLst/>
          </a:prstGeom>
          <a:solidFill>
            <a:srgbClr val="0F1B2D"/>
          </a:solidFill>
          <a:ln/>
          <a:effectLst>
            <a:outerShdw blurRad="76200" dist="25400" dir="8100000" algn="bl" rotWithShape="0">
              <a:srgbClr val="000000">
                <a:alpha val="12000"/>
              </a:srgbClr>
            </a:outerShdw>
          </a:effectLst>
        </p:spPr>
        <p:txBody>
          <a:bodyPr/>
          <a:lstStyle/>
          <a:p>
            <a:endParaRPr lang="en-IN"/>
          </a:p>
        </p:txBody>
      </p:sp>
      <p:pic>
        <p:nvPicPr>
          <p:cNvPr id="13" name="Image 0" descr="preencoded.png"/>
          <p:cNvPicPr>
            <a:picLocks noChangeAspect="1"/>
          </p:cNvPicPr>
          <p:nvPr/>
        </p:nvPicPr>
        <p:blipFill>
          <a:blip r:embed="rId3"/>
          <a:stretch>
            <a:fillRect/>
          </a:stretch>
        </p:blipFill>
        <p:spPr>
          <a:xfrm>
            <a:off x="731520" y="3291840"/>
            <a:ext cx="365760" cy="365760"/>
          </a:xfrm>
          <a:prstGeom prst="rect">
            <a:avLst/>
          </a:prstGeom>
        </p:spPr>
      </p:pic>
      <p:sp>
        <p:nvSpPr>
          <p:cNvPr id="14" name="Text 11"/>
          <p:cNvSpPr/>
          <p:nvPr/>
        </p:nvSpPr>
        <p:spPr>
          <a:xfrm>
            <a:off x="1234440" y="3291840"/>
            <a:ext cx="4572000" cy="274320"/>
          </a:xfrm>
          <a:prstGeom prst="rect">
            <a:avLst/>
          </a:prstGeom>
          <a:noFill/>
          <a:ln/>
        </p:spPr>
        <p:txBody>
          <a:bodyPr wrap="square" lIns="0" tIns="0" rIns="0" bIns="0" rtlCol="0" anchor="ctr"/>
          <a:lstStyle/>
          <a:p>
            <a:pPr marL="0" indent="0">
              <a:buNone/>
            </a:pPr>
            <a:r>
              <a:rPr lang="en-US" sz="1100" b="1" kern="0" spc="200" dirty="0">
                <a:solidFill>
                  <a:srgbClr val="06B6D4"/>
                </a:solidFill>
                <a:latin typeface="Calibri" pitchFamily="34" charset="0"/>
                <a:ea typeface="Calibri" pitchFamily="34" charset="-122"/>
                <a:cs typeface="Calibri" pitchFamily="34" charset="-120"/>
              </a:rPr>
              <a:t>WHY THIS MODULE MATTERS</a:t>
            </a:r>
            <a:endParaRPr lang="en-US" sz="1100" dirty="0"/>
          </a:p>
        </p:txBody>
      </p:sp>
      <p:sp>
        <p:nvSpPr>
          <p:cNvPr id="15" name="Text 12"/>
          <p:cNvSpPr/>
          <p:nvPr/>
        </p:nvSpPr>
        <p:spPr>
          <a:xfrm>
            <a:off x="731520" y="3703320"/>
            <a:ext cx="7680960" cy="822960"/>
          </a:xfrm>
          <a:prstGeom prst="rect">
            <a:avLst/>
          </a:prstGeom>
          <a:noFill/>
          <a:ln/>
        </p:spPr>
        <p:txBody>
          <a:bodyPr wrap="square" lIns="0" tIns="0" rIns="0" bIns="0" rtlCol="0" anchor="ctr"/>
          <a:lstStyle/>
          <a:p>
            <a:pPr marL="0" indent="0">
              <a:lnSpc>
                <a:spcPct val="125000"/>
              </a:lnSpc>
              <a:buNone/>
            </a:pPr>
            <a:r>
              <a:rPr lang="en-US" sz="1200" dirty="0">
                <a:solidFill>
                  <a:srgbClr val="E2E8F0"/>
                </a:solidFill>
                <a:latin typeface="Calibri" pitchFamily="34" charset="0"/>
                <a:ea typeface="Calibri" pitchFamily="34" charset="-122"/>
                <a:cs typeface="Calibri" pitchFamily="34" charset="-120"/>
              </a:rPr>
              <a:t>BFSI organisations have hundreds of existing Power Apps canvas apps for claims processing, customer onboarding, policy management, and transaction monitoring. Agent Builder enables these organisations to convert their existing investment into conversational agents without rebuilding from scratch. This is the "From App to Agent" transformation.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01</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Learning Objectives</a:t>
            </a:r>
            <a:endParaRPr lang="en-US" sz="2200" dirty="0"/>
          </a:p>
        </p:txBody>
      </p:sp>
      <p:sp>
        <p:nvSpPr>
          <p:cNvPr id="8" name="Shape 6"/>
          <p:cNvSpPr/>
          <p:nvPr/>
        </p:nvSpPr>
        <p:spPr>
          <a:xfrm>
            <a:off x="457200" y="960120"/>
            <a:ext cx="8229600" cy="43891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pic>
        <p:nvPicPr>
          <p:cNvPr id="9" name="Image 0" descr="preencoded.png"/>
          <p:cNvPicPr>
            <a:picLocks noChangeAspect="1"/>
          </p:cNvPicPr>
          <p:nvPr/>
        </p:nvPicPr>
        <p:blipFill>
          <a:blip r:embed="rId3"/>
          <a:stretch>
            <a:fillRect/>
          </a:stretch>
        </p:blipFill>
        <p:spPr>
          <a:xfrm>
            <a:off x="640080" y="1042416"/>
            <a:ext cx="274320" cy="274320"/>
          </a:xfrm>
          <a:prstGeom prst="rect">
            <a:avLst/>
          </a:prstGeom>
        </p:spPr>
      </p:pic>
      <p:sp>
        <p:nvSpPr>
          <p:cNvPr id="10" name="Text 7"/>
          <p:cNvSpPr/>
          <p:nvPr/>
        </p:nvSpPr>
        <p:spPr>
          <a:xfrm>
            <a:off x="1097280" y="960120"/>
            <a:ext cx="7315200" cy="43891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Explain what Agent Builder is, how it works, and its role in the Power Apps-to-Copilot Studio pipeline</a:t>
            </a:r>
            <a:endParaRPr lang="en-US" sz="1150" dirty="0"/>
          </a:p>
        </p:txBody>
      </p:sp>
      <p:sp>
        <p:nvSpPr>
          <p:cNvPr id="11" name="Shape 8"/>
          <p:cNvSpPr/>
          <p:nvPr/>
        </p:nvSpPr>
        <p:spPr>
          <a:xfrm>
            <a:off x="457200" y="1435608"/>
            <a:ext cx="8229600" cy="438912"/>
          </a:xfrm>
          <a:prstGeom prst="rect">
            <a:avLst/>
          </a:prstGeom>
          <a:solidFill>
            <a:srgbClr val="F0F9FF"/>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640080" y="1517904"/>
            <a:ext cx="274320" cy="274320"/>
          </a:xfrm>
          <a:prstGeom prst="rect">
            <a:avLst/>
          </a:prstGeom>
        </p:spPr>
      </p:pic>
      <p:sp>
        <p:nvSpPr>
          <p:cNvPr id="13" name="Text 9"/>
          <p:cNvSpPr/>
          <p:nvPr/>
        </p:nvSpPr>
        <p:spPr>
          <a:xfrm>
            <a:off x="1097280" y="1435608"/>
            <a:ext cx="7315200" cy="43891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Describe the four extraction categories: goals, steps, knowledge, and triggers</a:t>
            </a:r>
            <a:endParaRPr lang="en-US" sz="1150" dirty="0"/>
          </a:p>
        </p:txBody>
      </p:sp>
      <p:sp>
        <p:nvSpPr>
          <p:cNvPr id="14" name="Shape 10"/>
          <p:cNvSpPr/>
          <p:nvPr/>
        </p:nvSpPr>
        <p:spPr>
          <a:xfrm>
            <a:off x="457200" y="1911096"/>
            <a:ext cx="8229600" cy="43891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pic>
        <p:nvPicPr>
          <p:cNvPr id="15" name="Image 2" descr="preencoded.png"/>
          <p:cNvPicPr>
            <a:picLocks noChangeAspect="1"/>
          </p:cNvPicPr>
          <p:nvPr/>
        </p:nvPicPr>
        <p:blipFill>
          <a:blip r:embed="rId5"/>
          <a:stretch>
            <a:fillRect/>
          </a:stretch>
        </p:blipFill>
        <p:spPr>
          <a:xfrm>
            <a:off x="640080" y="1993392"/>
            <a:ext cx="274320" cy="274320"/>
          </a:xfrm>
          <a:prstGeom prst="rect">
            <a:avLst/>
          </a:prstGeom>
        </p:spPr>
      </p:pic>
      <p:sp>
        <p:nvSpPr>
          <p:cNvPr id="16" name="Text 11"/>
          <p:cNvSpPr/>
          <p:nvPr/>
        </p:nvSpPr>
        <p:spPr>
          <a:xfrm>
            <a:off x="1097280" y="1911096"/>
            <a:ext cx="7315200" cy="43891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Identify canvas app prerequisites and compatibility requirements for Agent Builder</a:t>
            </a:r>
            <a:endParaRPr lang="en-US" sz="1150" dirty="0"/>
          </a:p>
        </p:txBody>
      </p:sp>
      <p:sp>
        <p:nvSpPr>
          <p:cNvPr id="17" name="Shape 12"/>
          <p:cNvSpPr/>
          <p:nvPr/>
        </p:nvSpPr>
        <p:spPr>
          <a:xfrm>
            <a:off x="457200" y="2386584"/>
            <a:ext cx="8229600" cy="438912"/>
          </a:xfrm>
          <a:prstGeom prst="rect">
            <a:avLst/>
          </a:prstGeom>
          <a:solidFill>
            <a:srgbClr val="F0F9FF"/>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640080" y="2468880"/>
            <a:ext cx="274320" cy="274320"/>
          </a:xfrm>
          <a:prstGeom prst="rect">
            <a:avLst/>
          </a:prstGeom>
        </p:spPr>
      </p:pic>
      <p:sp>
        <p:nvSpPr>
          <p:cNvPr id="19" name="Text 13"/>
          <p:cNvSpPr/>
          <p:nvPr/>
        </p:nvSpPr>
        <p:spPr>
          <a:xfrm>
            <a:off x="1097280" y="2386584"/>
            <a:ext cx="7315200" cy="43891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Execute the end-to-end Agent Builder workflow from app selection to Copilot Studio publication</a:t>
            </a:r>
            <a:endParaRPr lang="en-US" sz="1150" dirty="0"/>
          </a:p>
        </p:txBody>
      </p:sp>
      <p:sp>
        <p:nvSpPr>
          <p:cNvPr id="20" name="Shape 14"/>
          <p:cNvSpPr/>
          <p:nvPr/>
        </p:nvSpPr>
        <p:spPr>
          <a:xfrm>
            <a:off x="457200" y="2862072"/>
            <a:ext cx="8229600" cy="43891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pic>
        <p:nvPicPr>
          <p:cNvPr id="21" name="Image 4" descr="preencoded.png"/>
          <p:cNvPicPr>
            <a:picLocks noChangeAspect="1"/>
          </p:cNvPicPr>
          <p:nvPr/>
        </p:nvPicPr>
        <p:blipFill>
          <a:blip r:embed="rId7"/>
          <a:stretch>
            <a:fillRect/>
          </a:stretch>
        </p:blipFill>
        <p:spPr>
          <a:xfrm>
            <a:off x="640080" y="2944368"/>
            <a:ext cx="274320" cy="274320"/>
          </a:xfrm>
          <a:prstGeom prst="rect">
            <a:avLst/>
          </a:prstGeom>
        </p:spPr>
      </p:pic>
      <p:sp>
        <p:nvSpPr>
          <p:cNvPr id="22" name="Text 15"/>
          <p:cNvSpPr/>
          <p:nvPr/>
        </p:nvSpPr>
        <p:spPr>
          <a:xfrm>
            <a:off x="1097280" y="2862072"/>
            <a:ext cx="7315200" cy="43891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Review, refine, and test the generated agent — modify topics, add knowledge sources, configure triggers</a:t>
            </a:r>
            <a:endParaRPr lang="en-US" sz="1150" dirty="0"/>
          </a:p>
        </p:txBody>
      </p:sp>
      <p:sp>
        <p:nvSpPr>
          <p:cNvPr id="23" name="Shape 16"/>
          <p:cNvSpPr/>
          <p:nvPr/>
        </p:nvSpPr>
        <p:spPr>
          <a:xfrm>
            <a:off x="457200" y="3337560"/>
            <a:ext cx="8229600" cy="438912"/>
          </a:xfrm>
          <a:prstGeom prst="rect">
            <a:avLst/>
          </a:prstGeom>
          <a:solidFill>
            <a:srgbClr val="F0F9FF"/>
          </a:solidFill>
          <a:ln/>
        </p:spPr>
        <p:txBody>
          <a:bodyPr/>
          <a:lstStyle/>
          <a:p>
            <a:endParaRPr lang="en-IN"/>
          </a:p>
        </p:txBody>
      </p:sp>
      <p:pic>
        <p:nvPicPr>
          <p:cNvPr id="24" name="Image 5" descr="preencoded.png"/>
          <p:cNvPicPr>
            <a:picLocks noChangeAspect="1"/>
          </p:cNvPicPr>
          <p:nvPr/>
        </p:nvPicPr>
        <p:blipFill>
          <a:blip r:embed="rId8"/>
          <a:stretch>
            <a:fillRect/>
          </a:stretch>
        </p:blipFill>
        <p:spPr>
          <a:xfrm>
            <a:off x="640080" y="3419856"/>
            <a:ext cx="274320" cy="274320"/>
          </a:xfrm>
          <a:prstGeom prst="rect">
            <a:avLst/>
          </a:prstGeom>
        </p:spPr>
      </p:pic>
      <p:sp>
        <p:nvSpPr>
          <p:cNvPr id="25" name="Text 17"/>
          <p:cNvSpPr/>
          <p:nvPr/>
        </p:nvSpPr>
        <p:spPr>
          <a:xfrm>
            <a:off x="1097280" y="3337560"/>
            <a:ext cx="7315200" cy="43891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Connect the generated agent to the Dataverse MCP Server and validate data operations</a:t>
            </a:r>
            <a:endParaRPr lang="en-US" sz="1150" dirty="0"/>
          </a:p>
        </p:txBody>
      </p:sp>
      <p:sp>
        <p:nvSpPr>
          <p:cNvPr id="26" name="Shape 18"/>
          <p:cNvSpPr/>
          <p:nvPr/>
        </p:nvSpPr>
        <p:spPr>
          <a:xfrm>
            <a:off x="457200" y="3813048"/>
            <a:ext cx="8229600" cy="43891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pic>
        <p:nvPicPr>
          <p:cNvPr id="27" name="Image 6" descr="preencoded.png"/>
          <p:cNvPicPr>
            <a:picLocks noChangeAspect="1"/>
          </p:cNvPicPr>
          <p:nvPr/>
        </p:nvPicPr>
        <p:blipFill>
          <a:blip r:embed="rId9"/>
          <a:stretch>
            <a:fillRect/>
          </a:stretch>
        </p:blipFill>
        <p:spPr>
          <a:xfrm>
            <a:off x="640080" y="3895344"/>
            <a:ext cx="274320" cy="274320"/>
          </a:xfrm>
          <a:prstGeom prst="rect">
            <a:avLst/>
          </a:prstGeom>
        </p:spPr>
      </p:pic>
      <p:sp>
        <p:nvSpPr>
          <p:cNvPr id="28" name="Text 19"/>
          <p:cNvSpPr/>
          <p:nvPr/>
        </p:nvSpPr>
        <p:spPr>
          <a:xfrm>
            <a:off x="1097280" y="3813048"/>
            <a:ext cx="7315200" cy="43891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Compare Agent Builder with manual agent creation and identify when each approach is appropriate</a:t>
            </a:r>
            <a:endParaRPr lang="en-US" sz="1150" dirty="0"/>
          </a:p>
        </p:txBody>
      </p:sp>
      <p:sp>
        <p:nvSpPr>
          <p:cNvPr id="29" name="Shape 20"/>
          <p:cNvSpPr/>
          <p:nvPr/>
        </p:nvSpPr>
        <p:spPr>
          <a:xfrm>
            <a:off x="457200" y="4288536"/>
            <a:ext cx="8229600" cy="438912"/>
          </a:xfrm>
          <a:prstGeom prst="rect">
            <a:avLst/>
          </a:prstGeom>
          <a:solidFill>
            <a:srgbClr val="F0F9FF"/>
          </a:solidFill>
          <a:ln/>
        </p:spPr>
        <p:txBody>
          <a:bodyPr/>
          <a:lstStyle/>
          <a:p>
            <a:endParaRPr lang="en-IN"/>
          </a:p>
        </p:txBody>
      </p:sp>
      <p:pic>
        <p:nvPicPr>
          <p:cNvPr id="30" name="Image 7" descr="preencoded.png"/>
          <p:cNvPicPr>
            <a:picLocks noChangeAspect="1"/>
          </p:cNvPicPr>
          <p:nvPr/>
        </p:nvPicPr>
        <p:blipFill>
          <a:blip r:embed="rId10"/>
          <a:stretch>
            <a:fillRect/>
          </a:stretch>
        </p:blipFill>
        <p:spPr>
          <a:xfrm>
            <a:off x="640080" y="4370832"/>
            <a:ext cx="274320" cy="274320"/>
          </a:xfrm>
          <a:prstGeom prst="rect">
            <a:avLst/>
          </a:prstGeom>
        </p:spPr>
      </p:pic>
      <p:sp>
        <p:nvSpPr>
          <p:cNvPr id="31" name="Text 21"/>
          <p:cNvSpPr/>
          <p:nvPr/>
        </p:nvSpPr>
        <p:spPr>
          <a:xfrm>
            <a:off x="1097280" y="4288536"/>
            <a:ext cx="7315200" cy="43891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Apply Agent Builder to a BFSI scenario: converting a Contoso Insurance claims app into a conversational agent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4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01</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Module Structure &amp; Prerequisites</a:t>
            </a:r>
            <a:endParaRPr lang="en-US" sz="2200" dirty="0"/>
          </a:p>
        </p:txBody>
      </p:sp>
      <p:sp>
        <p:nvSpPr>
          <p:cNvPr id="8" name="Shape 6"/>
          <p:cNvSpPr/>
          <p:nvPr/>
        </p:nvSpPr>
        <p:spPr>
          <a:xfrm>
            <a:off x="457200" y="1005840"/>
            <a:ext cx="384048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Shape 7"/>
          <p:cNvSpPr/>
          <p:nvPr/>
        </p:nvSpPr>
        <p:spPr>
          <a:xfrm>
            <a:off x="457200" y="1005840"/>
            <a:ext cx="64008" cy="1645920"/>
          </a:xfrm>
          <a:prstGeom prst="rect">
            <a:avLst/>
          </a:prstGeom>
          <a:solidFill>
            <a:srgbClr val="0891B2"/>
          </a:solidFill>
          <a:ln/>
        </p:spPr>
        <p:txBody>
          <a:bodyPr/>
          <a:lstStyle/>
          <a:p>
            <a:endParaRPr lang="en-IN"/>
          </a:p>
        </p:txBody>
      </p:sp>
      <p:sp>
        <p:nvSpPr>
          <p:cNvPr id="10" name="Text 8"/>
          <p:cNvSpPr/>
          <p:nvPr/>
        </p:nvSpPr>
        <p:spPr>
          <a:xfrm>
            <a:off x="731520" y="1097280"/>
            <a:ext cx="3200400" cy="274320"/>
          </a:xfrm>
          <a:prstGeom prst="rect">
            <a:avLst/>
          </a:prstGeom>
          <a:noFill/>
          <a:ln/>
        </p:spPr>
        <p:txBody>
          <a:bodyPr wrap="square" lIns="0" tIns="0" rIns="0" bIns="0" rtlCol="0" anchor="ctr"/>
          <a:lstStyle/>
          <a:p>
            <a:pPr marL="0" indent="0">
              <a:buNone/>
            </a:pPr>
            <a:r>
              <a:rPr lang="en-US" sz="1400" b="1" dirty="0">
                <a:solidFill>
                  <a:srgbClr val="1E293B"/>
                </a:solidFill>
                <a:latin typeface="Georgia" pitchFamily="34" charset="0"/>
                <a:ea typeface="Georgia" pitchFamily="34" charset="-122"/>
                <a:cs typeface="Georgia" pitchFamily="34" charset="-120"/>
              </a:rPr>
              <a:t>Module Structure</a:t>
            </a:r>
            <a:endParaRPr lang="en-US" sz="1400" dirty="0"/>
          </a:p>
        </p:txBody>
      </p:sp>
      <p:pic>
        <p:nvPicPr>
          <p:cNvPr id="11" name="Image 0" descr="preencoded.png"/>
          <p:cNvPicPr>
            <a:picLocks noChangeAspect="1"/>
          </p:cNvPicPr>
          <p:nvPr/>
        </p:nvPicPr>
        <p:blipFill>
          <a:blip r:embed="rId3"/>
          <a:stretch>
            <a:fillRect/>
          </a:stretch>
        </p:blipFill>
        <p:spPr>
          <a:xfrm>
            <a:off x="731520" y="1508760"/>
            <a:ext cx="228600" cy="228600"/>
          </a:xfrm>
          <a:prstGeom prst="rect">
            <a:avLst/>
          </a:prstGeom>
        </p:spPr>
      </p:pic>
      <p:sp>
        <p:nvSpPr>
          <p:cNvPr id="12" name="Text 9"/>
          <p:cNvSpPr/>
          <p:nvPr/>
        </p:nvSpPr>
        <p:spPr>
          <a:xfrm>
            <a:off x="1051560" y="1508760"/>
            <a:ext cx="3017520" cy="22860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Part A — Theory: Concepts &amp; Architecture</a:t>
            </a:r>
            <a:endParaRPr lang="en-US" sz="1100" dirty="0"/>
          </a:p>
        </p:txBody>
      </p:sp>
      <p:sp>
        <p:nvSpPr>
          <p:cNvPr id="13" name="Text 10"/>
          <p:cNvSpPr/>
          <p:nvPr/>
        </p:nvSpPr>
        <p:spPr>
          <a:xfrm>
            <a:off x="1051560" y="1737360"/>
            <a:ext cx="3017520" cy="18288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1 Hour</a:t>
            </a:r>
            <a:endParaRPr lang="en-US" sz="1000" dirty="0"/>
          </a:p>
        </p:txBody>
      </p:sp>
      <p:pic>
        <p:nvPicPr>
          <p:cNvPr id="14" name="Image 1" descr="preencoded.png"/>
          <p:cNvPicPr>
            <a:picLocks noChangeAspect="1"/>
          </p:cNvPicPr>
          <p:nvPr/>
        </p:nvPicPr>
        <p:blipFill>
          <a:blip r:embed="rId4"/>
          <a:stretch>
            <a:fillRect/>
          </a:stretch>
        </p:blipFill>
        <p:spPr>
          <a:xfrm>
            <a:off x="731520" y="2057400"/>
            <a:ext cx="228600" cy="228600"/>
          </a:xfrm>
          <a:prstGeom prst="rect">
            <a:avLst/>
          </a:prstGeom>
        </p:spPr>
      </p:pic>
      <p:sp>
        <p:nvSpPr>
          <p:cNvPr id="15" name="Text 11"/>
          <p:cNvSpPr/>
          <p:nvPr/>
        </p:nvSpPr>
        <p:spPr>
          <a:xfrm>
            <a:off x="1051560" y="2057400"/>
            <a:ext cx="3017520" cy="22860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Part B — Hands-On Lab: Converting an App</a:t>
            </a:r>
            <a:endParaRPr lang="en-US" sz="1100" dirty="0"/>
          </a:p>
        </p:txBody>
      </p:sp>
      <p:sp>
        <p:nvSpPr>
          <p:cNvPr id="16" name="Text 12"/>
          <p:cNvSpPr/>
          <p:nvPr/>
        </p:nvSpPr>
        <p:spPr>
          <a:xfrm>
            <a:off x="1051560" y="2286000"/>
            <a:ext cx="3017520" cy="18288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2 Hours</a:t>
            </a:r>
            <a:endParaRPr lang="en-US" sz="1000" dirty="0"/>
          </a:p>
        </p:txBody>
      </p:sp>
      <p:sp>
        <p:nvSpPr>
          <p:cNvPr id="17" name="Shape 13"/>
          <p:cNvSpPr/>
          <p:nvPr/>
        </p:nvSpPr>
        <p:spPr>
          <a:xfrm>
            <a:off x="4846320" y="1005840"/>
            <a:ext cx="384048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8" name="Shape 14"/>
          <p:cNvSpPr/>
          <p:nvPr/>
        </p:nvSpPr>
        <p:spPr>
          <a:xfrm>
            <a:off x="4846320" y="1005840"/>
            <a:ext cx="64008" cy="1645920"/>
          </a:xfrm>
          <a:prstGeom prst="rect">
            <a:avLst/>
          </a:prstGeom>
          <a:solidFill>
            <a:srgbClr val="F59E0B"/>
          </a:solidFill>
          <a:ln/>
        </p:spPr>
        <p:txBody>
          <a:bodyPr/>
          <a:lstStyle/>
          <a:p>
            <a:endParaRPr lang="en-IN"/>
          </a:p>
        </p:txBody>
      </p:sp>
      <p:sp>
        <p:nvSpPr>
          <p:cNvPr id="19" name="Text 15"/>
          <p:cNvSpPr/>
          <p:nvPr/>
        </p:nvSpPr>
        <p:spPr>
          <a:xfrm>
            <a:off x="5120640" y="1097280"/>
            <a:ext cx="3200400" cy="274320"/>
          </a:xfrm>
          <a:prstGeom prst="rect">
            <a:avLst/>
          </a:prstGeom>
          <a:noFill/>
          <a:ln/>
        </p:spPr>
        <p:txBody>
          <a:bodyPr wrap="square" lIns="0" tIns="0" rIns="0" bIns="0" rtlCol="0" anchor="ctr"/>
          <a:lstStyle/>
          <a:p>
            <a:pPr marL="0" indent="0">
              <a:buNone/>
            </a:pPr>
            <a:r>
              <a:rPr lang="en-US" sz="1400" b="1" dirty="0">
                <a:solidFill>
                  <a:srgbClr val="1E293B"/>
                </a:solidFill>
                <a:latin typeface="Georgia" pitchFamily="34" charset="0"/>
                <a:ea typeface="Georgia" pitchFamily="34" charset="-122"/>
                <a:cs typeface="Georgia" pitchFamily="34" charset="-120"/>
              </a:rPr>
              <a:t>Prerequisites</a:t>
            </a:r>
            <a:endParaRPr lang="en-US" sz="1400" dirty="0"/>
          </a:p>
        </p:txBody>
      </p:sp>
      <p:pic>
        <p:nvPicPr>
          <p:cNvPr id="20" name="Image 2" descr="preencoded.png"/>
          <p:cNvPicPr>
            <a:picLocks noChangeAspect="1"/>
          </p:cNvPicPr>
          <p:nvPr/>
        </p:nvPicPr>
        <p:blipFill>
          <a:blip r:embed="rId5"/>
          <a:stretch>
            <a:fillRect/>
          </a:stretch>
        </p:blipFill>
        <p:spPr>
          <a:xfrm>
            <a:off x="5120640" y="1463040"/>
            <a:ext cx="155448" cy="155448"/>
          </a:xfrm>
          <a:prstGeom prst="rect">
            <a:avLst/>
          </a:prstGeom>
        </p:spPr>
      </p:pic>
      <p:sp>
        <p:nvSpPr>
          <p:cNvPr id="21" name="Text 16"/>
          <p:cNvSpPr/>
          <p:nvPr/>
        </p:nvSpPr>
        <p:spPr>
          <a:xfrm>
            <a:off x="5349240" y="1435608"/>
            <a:ext cx="3108960" cy="2377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Modules 01-04 completed</a:t>
            </a:r>
            <a:endParaRPr lang="en-US" sz="1000" dirty="0"/>
          </a:p>
        </p:txBody>
      </p:sp>
      <p:pic>
        <p:nvPicPr>
          <p:cNvPr id="22" name="Image 3" descr="preencoded.png"/>
          <p:cNvPicPr>
            <a:picLocks noChangeAspect="1"/>
          </p:cNvPicPr>
          <p:nvPr/>
        </p:nvPicPr>
        <p:blipFill>
          <a:blip r:embed="rId5"/>
          <a:stretch>
            <a:fillRect/>
          </a:stretch>
        </p:blipFill>
        <p:spPr>
          <a:xfrm>
            <a:off x="5120640" y="1700784"/>
            <a:ext cx="155448" cy="155448"/>
          </a:xfrm>
          <a:prstGeom prst="rect">
            <a:avLst/>
          </a:prstGeom>
        </p:spPr>
      </p:pic>
      <p:sp>
        <p:nvSpPr>
          <p:cNvPr id="23" name="Text 17"/>
          <p:cNvSpPr/>
          <p:nvPr/>
        </p:nvSpPr>
        <p:spPr>
          <a:xfrm>
            <a:off x="5349240" y="1673352"/>
            <a:ext cx="3108960" cy="2377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Developer env with Dataverse + BFSI tables</a:t>
            </a:r>
            <a:endParaRPr lang="en-US" sz="1000" dirty="0"/>
          </a:p>
        </p:txBody>
      </p:sp>
      <p:pic>
        <p:nvPicPr>
          <p:cNvPr id="24" name="Image 4" descr="preencoded.png"/>
          <p:cNvPicPr>
            <a:picLocks noChangeAspect="1"/>
          </p:cNvPicPr>
          <p:nvPr/>
        </p:nvPicPr>
        <p:blipFill>
          <a:blip r:embed="rId5"/>
          <a:stretch>
            <a:fillRect/>
          </a:stretch>
        </p:blipFill>
        <p:spPr>
          <a:xfrm>
            <a:off x="5120640" y="1938528"/>
            <a:ext cx="155448" cy="155448"/>
          </a:xfrm>
          <a:prstGeom prst="rect">
            <a:avLst/>
          </a:prstGeom>
        </p:spPr>
      </p:pic>
      <p:sp>
        <p:nvSpPr>
          <p:cNvPr id="25" name="Text 18"/>
          <p:cNvSpPr/>
          <p:nvPr/>
        </p:nvSpPr>
        <p:spPr>
          <a:xfrm>
            <a:off x="5349240" y="1911096"/>
            <a:ext cx="3108960" cy="2377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Canvas app connected to BFSI tables</a:t>
            </a:r>
            <a:endParaRPr lang="en-US" sz="1000" dirty="0"/>
          </a:p>
        </p:txBody>
      </p:sp>
      <p:pic>
        <p:nvPicPr>
          <p:cNvPr id="26" name="Image 5" descr="preencoded.png"/>
          <p:cNvPicPr>
            <a:picLocks noChangeAspect="1"/>
          </p:cNvPicPr>
          <p:nvPr/>
        </p:nvPicPr>
        <p:blipFill>
          <a:blip r:embed="rId5"/>
          <a:stretch>
            <a:fillRect/>
          </a:stretch>
        </p:blipFill>
        <p:spPr>
          <a:xfrm>
            <a:off x="5120640" y="2176272"/>
            <a:ext cx="155448" cy="155448"/>
          </a:xfrm>
          <a:prstGeom prst="rect">
            <a:avLst/>
          </a:prstGeom>
        </p:spPr>
      </p:pic>
      <p:sp>
        <p:nvSpPr>
          <p:cNvPr id="27" name="Text 19"/>
          <p:cNvSpPr/>
          <p:nvPr/>
        </p:nvSpPr>
        <p:spPr>
          <a:xfrm>
            <a:off x="5349240" y="2148840"/>
            <a:ext cx="3108960" cy="2377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Power Apps Premium + Copilot Studio license</a:t>
            </a:r>
            <a:endParaRPr lang="en-US" sz="1000" dirty="0"/>
          </a:p>
        </p:txBody>
      </p:sp>
      <p:pic>
        <p:nvPicPr>
          <p:cNvPr id="28" name="Image 6" descr="preencoded.png"/>
          <p:cNvPicPr>
            <a:picLocks noChangeAspect="1"/>
          </p:cNvPicPr>
          <p:nvPr/>
        </p:nvPicPr>
        <p:blipFill>
          <a:blip r:embed="rId5"/>
          <a:stretch>
            <a:fillRect/>
          </a:stretch>
        </p:blipFill>
        <p:spPr>
          <a:xfrm>
            <a:off x="5120640" y="2414016"/>
            <a:ext cx="155448" cy="155448"/>
          </a:xfrm>
          <a:prstGeom prst="rect">
            <a:avLst/>
          </a:prstGeom>
        </p:spPr>
      </p:pic>
      <p:sp>
        <p:nvSpPr>
          <p:cNvPr id="29" name="Text 20"/>
          <p:cNvSpPr/>
          <p:nvPr/>
        </p:nvSpPr>
        <p:spPr>
          <a:xfrm>
            <a:off x="5349240" y="2386584"/>
            <a:ext cx="3108960" cy="2377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Dataverse MCP Server enabled</a:t>
            </a:r>
            <a:endParaRPr lang="en-US" sz="1000" dirty="0"/>
          </a:p>
        </p:txBody>
      </p:sp>
      <p:sp>
        <p:nvSpPr>
          <p:cNvPr id="30" name="Shape 21"/>
          <p:cNvSpPr/>
          <p:nvPr/>
        </p:nvSpPr>
        <p:spPr>
          <a:xfrm>
            <a:off x="457200" y="2926080"/>
            <a:ext cx="8229600" cy="1737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31" name="Text 22"/>
          <p:cNvSpPr/>
          <p:nvPr/>
        </p:nvSpPr>
        <p:spPr>
          <a:xfrm>
            <a:off x="731520" y="3017520"/>
            <a:ext cx="7315200" cy="274320"/>
          </a:xfrm>
          <a:prstGeom prst="rect">
            <a:avLst/>
          </a:prstGeom>
          <a:noFill/>
          <a:ln/>
        </p:spPr>
        <p:txBody>
          <a:bodyPr wrap="square" lIns="0" tIns="0" rIns="0" bIns="0" rtlCol="0" anchor="ctr"/>
          <a:lstStyle/>
          <a:p>
            <a:pPr marL="0" indent="0">
              <a:buNone/>
            </a:pPr>
            <a:r>
              <a:rPr lang="en-US" sz="1000" b="1" kern="0" spc="200" dirty="0">
                <a:solidFill>
                  <a:srgbClr val="0891B2"/>
                </a:solidFill>
                <a:latin typeface="Calibri" pitchFamily="34" charset="0"/>
                <a:ea typeface="Calibri" pitchFamily="34" charset="-122"/>
                <a:cs typeface="Calibri" pitchFamily="34" charset="-120"/>
              </a:rPr>
              <a:t>THE DESIGN-TO-AGENT PIPELINE</a:t>
            </a:r>
            <a:endParaRPr lang="en-US" sz="1000" dirty="0"/>
          </a:p>
        </p:txBody>
      </p:sp>
      <p:sp>
        <p:nvSpPr>
          <p:cNvPr id="32" name="Shape 23"/>
          <p:cNvSpPr/>
          <p:nvPr/>
        </p:nvSpPr>
        <p:spPr>
          <a:xfrm>
            <a:off x="731520" y="3429000"/>
            <a:ext cx="1737360" cy="960120"/>
          </a:xfrm>
          <a:prstGeom prst="rect">
            <a:avLst/>
          </a:prstGeom>
          <a:solidFill>
            <a:srgbClr val="0E7490"/>
          </a:solidFill>
          <a:ln/>
          <a:effectLst>
            <a:outerShdw blurRad="76200" dist="25400" dir="8100000" algn="bl" rotWithShape="0">
              <a:srgbClr val="000000">
                <a:alpha val="12000"/>
              </a:srgbClr>
            </a:outerShdw>
          </a:effectLst>
        </p:spPr>
        <p:txBody>
          <a:bodyPr/>
          <a:lstStyle/>
          <a:p>
            <a:endParaRPr lang="en-IN"/>
          </a:p>
        </p:txBody>
      </p:sp>
      <p:sp>
        <p:nvSpPr>
          <p:cNvPr id="33" name="Text 24"/>
          <p:cNvSpPr/>
          <p:nvPr/>
        </p:nvSpPr>
        <p:spPr>
          <a:xfrm>
            <a:off x="731520" y="35204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Plan Designer</a:t>
            </a:r>
            <a:endParaRPr lang="en-US" sz="1200" dirty="0"/>
          </a:p>
        </p:txBody>
      </p:sp>
      <p:sp>
        <p:nvSpPr>
          <p:cNvPr id="34" name="Text 25"/>
          <p:cNvSpPr/>
          <p:nvPr/>
        </p:nvSpPr>
        <p:spPr>
          <a:xfrm>
            <a:off x="731520" y="3931920"/>
            <a:ext cx="173736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Module 02</a:t>
            </a:r>
            <a:endParaRPr lang="en-US" sz="1000" dirty="0"/>
          </a:p>
        </p:txBody>
      </p:sp>
      <p:sp>
        <p:nvSpPr>
          <p:cNvPr id="35" name="Text 26"/>
          <p:cNvSpPr/>
          <p:nvPr/>
        </p:nvSpPr>
        <p:spPr>
          <a:xfrm>
            <a:off x="2468880" y="3520440"/>
            <a:ext cx="365760" cy="731520"/>
          </a:xfrm>
          <a:prstGeom prst="rect">
            <a:avLst/>
          </a:prstGeom>
          <a:noFill/>
          <a:ln/>
        </p:spPr>
        <p:txBody>
          <a:bodyPr wrap="square" lIns="0" tIns="0" rIns="0" bIns="0" rtlCol="0" anchor="ctr"/>
          <a:lstStyle/>
          <a:p>
            <a:pPr marL="0" indent="0" algn="ctr">
              <a:buNone/>
            </a:pPr>
            <a:r>
              <a:rPr lang="en-US" sz="2200" dirty="0">
                <a:solidFill>
                  <a:srgbClr val="94A3B8"/>
                </a:solidFill>
                <a:latin typeface="Calibri" pitchFamily="34" charset="0"/>
                <a:ea typeface="Calibri" pitchFamily="34" charset="-122"/>
                <a:cs typeface="Calibri" pitchFamily="34" charset="-120"/>
              </a:rPr>
              <a:t>→</a:t>
            </a:r>
            <a:endParaRPr lang="en-US" sz="2200" dirty="0"/>
          </a:p>
        </p:txBody>
      </p:sp>
      <p:sp>
        <p:nvSpPr>
          <p:cNvPr id="36" name="Shape 27"/>
          <p:cNvSpPr/>
          <p:nvPr/>
        </p:nvSpPr>
        <p:spPr>
          <a:xfrm>
            <a:off x="2834640" y="3429000"/>
            <a:ext cx="1737360" cy="960120"/>
          </a:xfrm>
          <a:prstGeom prst="rect">
            <a:avLst/>
          </a:prstGeom>
          <a:solidFill>
            <a:srgbClr val="0891B2"/>
          </a:solidFill>
          <a:ln/>
          <a:effectLst>
            <a:outerShdw blurRad="76200" dist="25400" dir="8100000" algn="bl" rotWithShape="0">
              <a:srgbClr val="000000">
                <a:alpha val="12000"/>
              </a:srgbClr>
            </a:outerShdw>
          </a:effectLst>
        </p:spPr>
        <p:txBody>
          <a:bodyPr/>
          <a:lstStyle/>
          <a:p>
            <a:endParaRPr lang="en-IN"/>
          </a:p>
        </p:txBody>
      </p:sp>
      <p:sp>
        <p:nvSpPr>
          <p:cNvPr id="37" name="Text 28"/>
          <p:cNvSpPr/>
          <p:nvPr/>
        </p:nvSpPr>
        <p:spPr>
          <a:xfrm>
            <a:off x="2834640" y="35204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Vibe / Apps</a:t>
            </a:r>
            <a:endParaRPr lang="en-US" sz="1200" dirty="0"/>
          </a:p>
        </p:txBody>
      </p:sp>
      <p:sp>
        <p:nvSpPr>
          <p:cNvPr id="38" name="Text 29"/>
          <p:cNvSpPr/>
          <p:nvPr/>
        </p:nvSpPr>
        <p:spPr>
          <a:xfrm>
            <a:off x="2834640" y="3931920"/>
            <a:ext cx="173736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Module 03</a:t>
            </a:r>
            <a:endParaRPr lang="en-US" sz="1000" dirty="0"/>
          </a:p>
        </p:txBody>
      </p:sp>
      <p:sp>
        <p:nvSpPr>
          <p:cNvPr id="39" name="Text 30"/>
          <p:cNvSpPr/>
          <p:nvPr/>
        </p:nvSpPr>
        <p:spPr>
          <a:xfrm>
            <a:off x="4572000" y="3520440"/>
            <a:ext cx="365760" cy="731520"/>
          </a:xfrm>
          <a:prstGeom prst="rect">
            <a:avLst/>
          </a:prstGeom>
          <a:noFill/>
          <a:ln/>
        </p:spPr>
        <p:txBody>
          <a:bodyPr wrap="square" lIns="0" tIns="0" rIns="0" bIns="0" rtlCol="0" anchor="ctr"/>
          <a:lstStyle/>
          <a:p>
            <a:pPr marL="0" indent="0" algn="ctr">
              <a:buNone/>
            </a:pPr>
            <a:r>
              <a:rPr lang="en-US" sz="2200" dirty="0">
                <a:solidFill>
                  <a:srgbClr val="94A3B8"/>
                </a:solidFill>
                <a:latin typeface="Calibri" pitchFamily="34" charset="0"/>
                <a:ea typeface="Calibri" pitchFamily="34" charset="-122"/>
                <a:cs typeface="Calibri" pitchFamily="34" charset="-120"/>
              </a:rPr>
              <a:t>→</a:t>
            </a:r>
            <a:endParaRPr lang="en-US" sz="2200" dirty="0"/>
          </a:p>
        </p:txBody>
      </p:sp>
      <p:sp>
        <p:nvSpPr>
          <p:cNvPr id="40" name="Shape 31"/>
          <p:cNvSpPr/>
          <p:nvPr/>
        </p:nvSpPr>
        <p:spPr>
          <a:xfrm>
            <a:off x="4937760" y="3429000"/>
            <a:ext cx="1737360" cy="960120"/>
          </a:xfrm>
          <a:prstGeom prst="rect">
            <a:avLst/>
          </a:prstGeom>
          <a:solidFill>
            <a:srgbClr val="06B6D4"/>
          </a:solidFill>
          <a:ln/>
          <a:effectLst>
            <a:outerShdw blurRad="76200" dist="25400" dir="8100000" algn="bl" rotWithShape="0">
              <a:srgbClr val="000000">
                <a:alpha val="12000"/>
              </a:srgbClr>
            </a:outerShdw>
          </a:effectLst>
        </p:spPr>
        <p:txBody>
          <a:bodyPr/>
          <a:lstStyle/>
          <a:p>
            <a:endParaRPr lang="en-IN"/>
          </a:p>
        </p:txBody>
      </p:sp>
      <p:sp>
        <p:nvSpPr>
          <p:cNvPr id="41" name="Text 32"/>
          <p:cNvSpPr/>
          <p:nvPr/>
        </p:nvSpPr>
        <p:spPr>
          <a:xfrm>
            <a:off x="4937760" y="35204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MCP Server</a:t>
            </a:r>
            <a:endParaRPr lang="en-US" sz="1200" dirty="0"/>
          </a:p>
        </p:txBody>
      </p:sp>
      <p:sp>
        <p:nvSpPr>
          <p:cNvPr id="42" name="Text 33"/>
          <p:cNvSpPr/>
          <p:nvPr/>
        </p:nvSpPr>
        <p:spPr>
          <a:xfrm>
            <a:off x="4937760" y="3931920"/>
            <a:ext cx="173736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Module 04</a:t>
            </a:r>
            <a:endParaRPr lang="en-US" sz="1000" dirty="0"/>
          </a:p>
        </p:txBody>
      </p:sp>
      <p:sp>
        <p:nvSpPr>
          <p:cNvPr id="43" name="Text 34"/>
          <p:cNvSpPr/>
          <p:nvPr/>
        </p:nvSpPr>
        <p:spPr>
          <a:xfrm>
            <a:off x="6675120" y="3520440"/>
            <a:ext cx="365760" cy="731520"/>
          </a:xfrm>
          <a:prstGeom prst="rect">
            <a:avLst/>
          </a:prstGeom>
          <a:noFill/>
          <a:ln/>
        </p:spPr>
        <p:txBody>
          <a:bodyPr wrap="square" lIns="0" tIns="0" rIns="0" bIns="0" rtlCol="0" anchor="ctr"/>
          <a:lstStyle/>
          <a:p>
            <a:pPr marL="0" indent="0" algn="ctr">
              <a:buNone/>
            </a:pPr>
            <a:r>
              <a:rPr lang="en-US" sz="2200" dirty="0">
                <a:solidFill>
                  <a:srgbClr val="94A3B8"/>
                </a:solidFill>
                <a:latin typeface="Calibri" pitchFamily="34" charset="0"/>
                <a:ea typeface="Calibri" pitchFamily="34" charset="-122"/>
                <a:cs typeface="Calibri" pitchFamily="34" charset="-120"/>
              </a:rPr>
              <a:t>→</a:t>
            </a:r>
            <a:endParaRPr lang="en-US" sz="2200" dirty="0"/>
          </a:p>
        </p:txBody>
      </p:sp>
      <p:sp>
        <p:nvSpPr>
          <p:cNvPr id="44" name="Shape 35"/>
          <p:cNvSpPr/>
          <p:nvPr/>
        </p:nvSpPr>
        <p:spPr>
          <a:xfrm>
            <a:off x="7040880" y="3429000"/>
            <a:ext cx="1737360" cy="960120"/>
          </a:xfrm>
          <a:prstGeom prst="rect">
            <a:avLst/>
          </a:prstGeom>
          <a:solidFill>
            <a:srgbClr val="F59E0B"/>
          </a:solidFill>
          <a:ln/>
          <a:effectLst>
            <a:outerShdw blurRad="76200" dist="25400" dir="8100000" algn="bl" rotWithShape="0">
              <a:srgbClr val="000000">
                <a:alpha val="12000"/>
              </a:srgbClr>
            </a:outerShdw>
          </a:effectLst>
        </p:spPr>
        <p:txBody>
          <a:bodyPr/>
          <a:lstStyle/>
          <a:p>
            <a:endParaRPr lang="en-IN"/>
          </a:p>
        </p:txBody>
      </p:sp>
      <p:sp>
        <p:nvSpPr>
          <p:cNvPr id="45" name="Text 36"/>
          <p:cNvSpPr/>
          <p:nvPr/>
        </p:nvSpPr>
        <p:spPr>
          <a:xfrm>
            <a:off x="7040880" y="35204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Agent Builder</a:t>
            </a:r>
            <a:endParaRPr lang="en-US" sz="1200" dirty="0"/>
          </a:p>
        </p:txBody>
      </p:sp>
      <p:sp>
        <p:nvSpPr>
          <p:cNvPr id="46" name="Text 37"/>
          <p:cNvSpPr/>
          <p:nvPr/>
        </p:nvSpPr>
        <p:spPr>
          <a:xfrm>
            <a:off x="7040880" y="3931920"/>
            <a:ext cx="173736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Module 05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5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What Is Agent Builder?</a:t>
            </a:r>
            <a:endParaRPr lang="en-US" sz="2200" dirty="0"/>
          </a:p>
        </p:txBody>
      </p:sp>
      <p:sp>
        <p:nvSpPr>
          <p:cNvPr id="8" name="Shape 6"/>
          <p:cNvSpPr/>
          <p:nvPr/>
        </p:nvSpPr>
        <p:spPr>
          <a:xfrm>
            <a:off x="457200" y="1005840"/>
            <a:ext cx="512064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Shape 7"/>
          <p:cNvSpPr/>
          <p:nvPr/>
        </p:nvSpPr>
        <p:spPr>
          <a:xfrm>
            <a:off x="457200" y="1005840"/>
            <a:ext cx="64008" cy="2743200"/>
          </a:xfrm>
          <a:prstGeom prst="rect">
            <a:avLst/>
          </a:prstGeom>
          <a:solidFill>
            <a:srgbClr val="0891B2"/>
          </a:solidFill>
          <a:ln/>
        </p:spPr>
        <p:txBody>
          <a:bodyPr/>
          <a:lstStyle/>
          <a:p>
            <a:endParaRPr lang="en-IN"/>
          </a:p>
        </p:txBody>
      </p:sp>
      <p:sp>
        <p:nvSpPr>
          <p:cNvPr id="10" name="Text 8"/>
          <p:cNvSpPr/>
          <p:nvPr/>
        </p:nvSpPr>
        <p:spPr>
          <a:xfrm>
            <a:off x="777240" y="1097280"/>
            <a:ext cx="4572000" cy="640080"/>
          </a:xfrm>
          <a:prstGeom prst="rect">
            <a:avLst/>
          </a:prstGeom>
          <a:noFill/>
          <a:ln/>
        </p:spPr>
        <p:txBody>
          <a:bodyPr wrap="square" lIns="0" tIns="0" rIns="0" bIns="0" rtlCol="0" anchor="ctr"/>
          <a:lstStyle/>
          <a:p>
            <a:pPr marL="0" indent="0">
              <a:lnSpc>
                <a:spcPct val="130000"/>
              </a:lnSpc>
              <a:buNone/>
            </a:pPr>
            <a:r>
              <a:rPr lang="en-US" sz="1300" b="1" dirty="0">
                <a:solidFill>
                  <a:srgbClr val="1E293B"/>
                </a:solidFill>
                <a:latin typeface="Calibri" pitchFamily="34" charset="0"/>
                <a:ea typeface="Calibri" pitchFamily="34" charset="-122"/>
                <a:cs typeface="Calibri" pitchFamily="34" charset="-120"/>
              </a:rPr>
              <a:t>A Power Apps feature that analyses an existing canvas app and generates a Copilot Studio agent from its metadata.</a:t>
            </a:r>
            <a:endParaRPr lang="en-US" sz="1300" dirty="0"/>
          </a:p>
        </p:txBody>
      </p:sp>
      <p:sp>
        <p:nvSpPr>
          <p:cNvPr id="11" name="Text 9"/>
          <p:cNvSpPr/>
          <p:nvPr/>
        </p:nvSpPr>
        <p:spPr>
          <a:xfrm>
            <a:off x="777240" y="1783080"/>
            <a:ext cx="4572000" cy="182880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Rather than manually defining every topic, action, and knowledge source, Agent Builder automatically extracts this from the app's screens, controls, formulas, data connections, and business rules.</a:t>
            </a:r>
            <a:endParaRPr lang="en-US" sz="1150" dirty="0"/>
          </a:p>
          <a:p>
            <a:pPr marL="0" indent="0">
              <a:lnSpc>
                <a:spcPct val="125000"/>
              </a:lnSpc>
              <a:buNone/>
            </a:pPr>
            <a:endParaRPr lang="en-US" sz="1150" dirty="0"/>
          </a:p>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If you have a canvas app that processes claims, onboards customers, or manages policies — Agent Builder can convert it into a conversational agent that accomplishes the same goals through natural language.</a:t>
            </a:r>
            <a:endParaRPr lang="en-US" sz="1150" dirty="0"/>
          </a:p>
        </p:txBody>
      </p:sp>
      <p:sp>
        <p:nvSpPr>
          <p:cNvPr id="12" name="Shape 10"/>
          <p:cNvSpPr/>
          <p:nvPr/>
        </p:nvSpPr>
        <p:spPr>
          <a:xfrm>
            <a:off x="5852160" y="1005840"/>
            <a:ext cx="2834640" cy="2743200"/>
          </a:xfrm>
          <a:prstGeom prst="rect">
            <a:avLst/>
          </a:prstGeom>
          <a:solidFill>
            <a:srgbClr val="0F1B2D"/>
          </a:solidFill>
          <a:ln/>
          <a:effectLst>
            <a:outerShdw blurRad="76200" dist="25400" dir="8100000" algn="bl" rotWithShape="0">
              <a:srgbClr val="000000">
                <a:alpha val="12000"/>
              </a:srgbClr>
            </a:outerShdw>
          </a:effectLst>
        </p:spPr>
        <p:txBody>
          <a:bodyPr/>
          <a:lstStyle/>
          <a:p>
            <a:endParaRPr lang="en-IN"/>
          </a:p>
        </p:txBody>
      </p:sp>
      <p:sp>
        <p:nvSpPr>
          <p:cNvPr id="13" name="Text 11"/>
          <p:cNvSpPr/>
          <p:nvPr/>
        </p:nvSpPr>
        <p:spPr>
          <a:xfrm>
            <a:off x="6035040" y="1097280"/>
            <a:ext cx="2468880" cy="228600"/>
          </a:xfrm>
          <a:prstGeom prst="rect">
            <a:avLst/>
          </a:prstGeom>
          <a:noFill/>
          <a:ln/>
        </p:spPr>
        <p:txBody>
          <a:bodyPr wrap="square" lIns="0" tIns="0" rIns="0" bIns="0" rtlCol="0" anchor="ctr"/>
          <a:lstStyle/>
          <a:p>
            <a:pPr marL="0" indent="0">
              <a:buNone/>
            </a:pPr>
            <a:r>
              <a:rPr lang="en-US" sz="900" b="1" kern="0" spc="200" dirty="0">
                <a:solidFill>
                  <a:srgbClr val="06B6D4"/>
                </a:solidFill>
                <a:latin typeface="Calibri" pitchFamily="34" charset="0"/>
                <a:ea typeface="Calibri" pitchFamily="34" charset="-122"/>
                <a:cs typeface="Calibri" pitchFamily="34" charset="-120"/>
              </a:rPr>
              <a:t>STATUS &amp; DETAILS</a:t>
            </a:r>
            <a:endParaRPr lang="en-US" sz="900" dirty="0"/>
          </a:p>
        </p:txBody>
      </p:sp>
      <p:sp>
        <p:nvSpPr>
          <p:cNvPr id="14" name="Text 12"/>
          <p:cNvSpPr/>
          <p:nvPr/>
        </p:nvSpPr>
        <p:spPr>
          <a:xfrm>
            <a:off x="6035040" y="1417320"/>
            <a:ext cx="2468880" cy="137160"/>
          </a:xfrm>
          <a:prstGeom prst="rect">
            <a:avLst/>
          </a:prstGeom>
          <a:noFill/>
          <a:ln/>
        </p:spPr>
        <p:txBody>
          <a:bodyPr wrap="square" lIns="0" tIns="0" rIns="0" bIns="0" rtlCol="0" anchor="ctr"/>
          <a:lstStyle/>
          <a:p>
            <a:pPr marL="0" indent="0">
              <a:buNone/>
            </a:pPr>
            <a:r>
              <a:rPr lang="en-US" sz="850" b="1" dirty="0">
                <a:solidFill>
                  <a:srgbClr val="06B6D4"/>
                </a:solidFill>
                <a:latin typeface="Calibri" pitchFamily="34" charset="0"/>
                <a:ea typeface="Calibri" pitchFamily="34" charset="-122"/>
                <a:cs typeface="Calibri" pitchFamily="34" charset="-120"/>
              </a:rPr>
              <a:t>GA Status</a:t>
            </a:r>
            <a:endParaRPr lang="en-US" sz="850" dirty="0"/>
          </a:p>
        </p:txBody>
      </p:sp>
      <p:sp>
        <p:nvSpPr>
          <p:cNvPr id="15" name="Text 13"/>
          <p:cNvSpPr/>
          <p:nvPr/>
        </p:nvSpPr>
        <p:spPr>
          <a:xfrm>
            <a:off x="6035040" y="1554480"/>
            <a:ext cx="2468880" cy="27432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Generally Available</a:t>
            </a:r>
            <a:endParaRPr lang="en-US" sz="950" dirty="0"/>
          </a:p>
          <a:p>
            <a:pPr marL="0" indent="0">
              <a:buNone/>
            </a:pPr>
            <a:r>
              <a:rPr lang="en-US" sz="950" dirty="0">
                <a:solidFill>
                  <a:srgbClr val="E2E8F0"/>
                </a:solidFill>
                <a:latin typeface="Calibri" pitchFamily="34" charset="0"/>
                <a:ea typeface="Calibri" pitchFamily="34" charset="-122"/>
                <a:cs typeface="Calibri" pitchFamily="34" charset="-120"/>
              </a:rPr>
              <a:t>2025 Release Wave 1</a:t>
            </a:r>
            <a:endParaRPr lang="en-US" sz="950" dirty="0"/>
          </a:p>
        </p:txBody>
      </p:sp>
      <p:sp>
        <p:nvSpPr>
          <p:cNvPr id="16" name="Text 14"/>
          <p:cNvSpPr/>
          <p:nvPr/>
        </p:nvSpPr>
        <p:spPr>
          <a:xfrm>
            <a:off x="6035040" y="1856232"/>
            <a:ext cx="2468880" cy="137160"/>
          </a:xfrm>
          <a:prstGeom prst="rect">
            <a:avLst/>
          </a:prstGeom>
          <a:noFill/>
          <a:ln/>
        </p:spPr>
        <p:txBody>
          <a:bodyPr wrap="square" lIns="0" tIns="0" rIns="0" bIns="0" rtlCol="0" anchor="ctr"/>
          <a:lstStyle/>
          <a:p>
            <a:pPr marL="0" indent="0">
              <a:buNone/>
            </a:pPr>
            <a:r>
              <a:rPr lang="en-US" sz="850" b="1" dirty="0">
                <a:solidFill>
                  <a:srgbClr val="06B6D4"/>
                </a:solidFill>
                <a:latin typeface="Calibri" pitchFamily="34" charset="0"/>
                <a:ea typeface="Calibri" pitchFamily="34" charset="-122"/>
                <a:cs typeface="Calibri" pitchFamily="34" charset="-120"/>
              </a:rPr>
              <a:t>App Types</a:t>
            </a:r>
            <a:endParaRPr lang="en-US" sz="850" dirty="0"/>
          </a:p>
        </p:txBody>
      </p:sp>
      <p:sp>
        <p:nvSpPr>
          <p:cNvPr id="17" name="Text 15"/>
          <p:cNvSpPr/>
          <p:nvPr/>
        </p:nvSpPr>
        <p:spPr>
          <a:xfrm>
            <a:off x="6035040" y="1993392"/>
            <a:ext cx="2468880" cy="27432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Canvas apps</a:t>
            </a:r>
            <a:endParaRPr lang="en-US" sz="950" dirty="0"/>
          </a:p>
          <a:p>
            <a:pPr marL="0" indent="0">
              <a:buNone/>
            </a:pPr>
            <a:r>
              <a:rPr lang="en-US" sz="950" dirty="0">
                <a:solidFill>
                  <a:srgbClr val="E2E8F0"/>
                </a:solidFill>
                <a:latin typeface="Calibri" pitchFamily="34" charset="0"/>
                <a:ea typeface="Calibri" pitchFamily="34" charset="-122"/>
                <a:cs typeface="Calibri" pitchFamily="34" charset="-120"/>
              </a:rPr>
              <a:t>(Model-driven on roadmap)</a:t>
            </a:r>
            <a:endParaRPr lang="en-US" sz="950" dirty="0"/>
          </a:p>
        </p:txBody>
      </p:sp>
      <p:sp>
        <p:nvSpPr>
          <p:cNvPr id="18" name="Text 16"/>
          <p:cNvSpPr/>
          <p:nvPr/>
        </p:nvSpPr>
        <p:spPr>
          <a:xfrm>
            <a:off x="6035040" y="2295144"/>
            <a:ext cx="2468880" cy="137160"/>
          </a:xfrm>
          <a:prstGeom prst="rect">
            <a:avLst/>
          </a:prstGeom>
          <a:noFill/>
          <a:ln/>
        </p:spPr>
        <p:txBody>
          <a:bodyPr wrap="square" lIns="0" tIns="0" rIns="0" bIns="0" rtlCol="0" anchor="ctr"/>
          <a:lstStyle/>
          <a:p>
            <a:pPr marL="0" indent="0">
              <a:buNone/>
            </a:pPr>
            <a:r>
              <a:rPr lang="en-US" sz="850" b="1" dirty="0">
                <a:solidFill>
                  <a:srgbClr val="06B6D4"/>
                </a:solidFill>
                <a:latin typeface="Calibri" pitchFamily="34" charset="0"/>
                <a:ea typeface="Calibri" pitchFamily="34" charset="-122"/>
                <a:cs typeface="Calibri" pitchFamily="34" charset="-120"/>
              </a:rPr>
              <a:t>Output</a:t>
            </a:r>
            <a:endParaRPr lang="en-US" sz="850" dirty="0"/>
          </a:p>
        </p:txBody>
      </p:sp>
      <p:sp>
        <p:nvSpPr>
          <p:cNvPr id="19" name="Text 17"/>
          <p:cNvSpPr/>
          <p:nvPr/>
        </p:nvSpPr>
        <p:spPr>
          <a:xfrm>
            <a:off x="6035040" y="2432304"/>
            <a:ext cx="2468880" cy="27432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Copilot Studio agent</a:t>
            </a:r>
            <a:endParaRPr lang="en-US" sz="950" dirty="0"/>
          </a:p>
        </p:txBody>
      </p:sp>
      <p:sp>
        <p:nvSpPr>
          <p:cNvPr id="20" name="Text 18"/>
          <p:cNvSpPr/>
          <p:nvPr/>
        </p:nvSpPr>
        <p:spPr>
          <a:xfrm>
            <a:off x="6035040" y="2734056"/>
            <a:ext cx="2468880" cy="137160"/>
          </a:xfrm>
          <a:prstGeom prst="rect">
            <a:avLst/>
          </a:prstGeom>
          <a:noFill/>
          <a:ln/>
        </p:spPr>
        <p:txBody>
          <a:bodyPr wrap="square" lIns="0" tIns="0" rIns="0" bIns="0" rtlCol="0" anchor="ctr"/>
          <a:lstStyle/>
          <a:p>
            <a:pPr marL="0" indent="0">
              <a:buNone/>
            </a:pPr>
            <a:r>
              <a:rPr lang="en-US" sz="850" b="1" dirty="0">
                <a:solidFill>
                  <a:srgbClr val="06B6D4"/>
                </a:solidFill>
                <a:latin typeface="Calibri" pitchFamily="34" charset="0"/>
                <a:ea typeface="Calibri" pitchFamily="34" charset="-122"/>
                <a:cs typeface="Calibri" pitchFamily="34" charset="-120"/>
              </a:rPr>
              <a:t>Access</a:t>
            </a:r>
            <a:endParaRPr lang="en-US" sz="850" dirty="0"/>
          </a:p>
        </p:txBody>
      </p:sp>
      <p:sp>
        <p:nvSpPr>
          <p:cNvPr id="21" name="Text 19"/>
          <p:cNvSpPr/>
          <p:nvPr/>
        </p:nvSpPr>
        <p:spPr>
          <a:xfrm>
            <a:off x="6035040" y="2871216"/>
            <a:ext cx="2468880" cy="27432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Power Apps Studio</a:t>
            </a:r>
            <a:endParaRPr lang="en-US" sz="950" dirty="0"/>
          </a:p>
          <a:p>
            <a:pPr marL="0" indent="0">
              <a:buNone/>
            </a:pPr>
            <a:r>
              <a:rPr lang="en-US" sz="950" dirty="0">
                <a:solidFill>
                  <a:srgbClr val="E2E8F0"/>
                </a:solidFill>
                <a:latin typeface="Calibri" pitchFamily="34" charset="0"/>
                <a:ea typeface="Calibri" pitchFamily="34" charset="-122"/>
                <a:cs typeface="Calibri" pitchFamily="34" charset="-120"/>
              </a:rPr>
              <a:t>Agent Builder panel</a:t>
            </a:r>
            <a:endParaRPr lang="en-US" sz="950" dirty="0"/>
          </a:p>
        </p:txBody>
      </p:sp>
      <p:sp>
        <p:nvSpPr>
          <p:cNvPr id="22" name="Text 20"/>
          <p:cNvSpPr/>
          <p:nvPr/>
        </p:nvSpPr>
        <p:spPr>
          <a:xfrm>
            <a:off x="6035040" y="3172968"/>
            <a:ext cx="2468880" cy="137160"/>
          </a:xfrm>
          <a:prstGeom prst="rect">
            <a:avLst/>
          </a:prstGeom>
          <a:noFill/>
          <a:ln/>
        </p:spPr>
        <p:txBody>
          <a:bodyPr wrap="square" lIns="0" tIns="0" rIns="0" bIns="0" rtlCol="0" anchor="ctr"/>
          <a:lstStyle/>
          <a:p>
            <a:pPr marL="0" indent="0">
              <a:buNone/>
            </a:pPr>
            <a:r>
              <a:rPr lang="en-US" sz="850" b="1" dirty="0">
                <a:solidFill>
                  <a:srgbClr val="06B6D4"/>
                </a:solidFill>
                <a:latin typeface="Calibri" pitchFamily="34" charset="0"/>
                <a:ea typeface="Calibri" pitchFamily="34" charset="-122"/>
                <a:cs typeface="Calibri" pitchFamily="34" charset="-120"/>
              </a:rPr>
              <a:t>License</a:t>
            </a:r>
            <a:endParaRPr lang="en-US" sz="850" dirty="0"/>
          </a:p>
        </p:txBody>
      </p:sp>
      <p:sp>
        <p:nvSpPr>
          <p:cNvPr id="23" name="Text 21"/>
          <p:cNvSpPr/>
          <p:nvPr/>
        </p:nvSpPr>
        <p:spPr>
          <a:xfrm>
            <a:off x="6035040" y="3310128"/>
            <a:ext cx="2468880" cy="27432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Power Apps Premium +</a:t>
            </a:r>
            <a:endParaRPr lang="en-US" sz="950" dirty="0"/>
          </a:p>
          <a:p>
            <a:pPr marL="0" indent="0">
              <a:buNone/>
            </a:pPr>
            <a:r>
              <a:rPr lang="en-US" sz="950" dirty="0">
                <a:solidFill>
                  <a:srgbClr val="E2E8F0"/>
                </a:solidFill>
                <a:latin typeface="Calibri" pitchFamily="34" charset="0"/>
                <a:ea typeface="Calibri" pitchFamily="34" charset="-122"/>
                <a:cs typeface="Calibri" pitchFamily="34" charset="-120"/>
              </a:rPr>
              <a:t>Copilot Studio</a:t>
            </a:r>
            <a:endParaRPr lang="en-US" sz="950" dirty="0"/>
          </a:p>
        </p:txBody>
      </p:sp>
      <p:sp>
        <p:nvSpPr>
          <p:cNvPr id="24" name="Shape 22"/>
          <p:cNvSpPr/>
          <p:nvPr/>
        </p:nvSpPr>
        <p:spPr>
          <a:xfrm>
            <a:off x="457200" y="3977640"/>
            <a:ext cx="8229600" cy="731520"/>
          </a:xfrm>
          <a:prstGeom prst="rect">
            <a:avLst/>
          </a:prstGeom>
          <a:solidFill>
            <a:srgbClr val="0891B2"/>
          </a:solidFill>
          <a:ln/>
        </p:spPr>
        <p:txBody>
          <a:bodyPr/>
          <a:lstStyle/>
          <a:p>
            <a:endParaRPr lang="en-IN"/>
          </a:p>
        </p:txBody>
      </p:sp>
      <p:pic>
        <p:nvPicPr>
          <p:cNvPr id="25" name="Image 0" descr="preencoded.png"/>
          <p:cNvPicPr>
            <a:picLocks noChangeAspect="1"/>
          </p:cNvPicPr>
          <p:nvPr/>
        </p:nvPicPr>
        <p:blipFill>
          <a:blip r:embed="rId3"/>
          <a:stretch>
            <a:fillRect/>
          </a:stretch>
        </p:blipFill>
        <p:spPr>
          <a:xfrm>
            <a:off x="640080" y="4114800"/>
            <a:ext cx="320040" cy="320040"/>
          </a:xfrm>
          <a:prstGeom prst="rect">
            <a:avLst/>
          </a:prstGeom>
        </p:spPr>
      </p:pic>
      <p:sp>
        <p:nvSpPr>
          <p:cNvPr id="26" name="Text 23"/>
          <p:cNvSpPr/>
          <p:nvPr/>
        </p:nvSpPr>
        <p:spPr>
          <a:xfrm>
            <a:off x="1097280" y="3977640"/>
            <a:ext cx="7315200" cy="7315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PARADIGM SHIFT:  Screen-based forms and buttons  →  Conversational natural language interaction powered by AI</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6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The Extraction Process — Four Categories</a:t>
            </a:r>
            <a:endParaRPr lang="en-US" sz="2200" dirty="0"/>
          </a:p>
        </p:txBody>
      </p:sp>
      <p:sp>
        <p:nvSpPr>
          <p:cNvPr id="8" name="Shape 6"/>
          <p:cNvSpPr/>
          <p:nvPr/>
        </p:nvSpPr>
        <p:spPr>
          <a:xfrm>
            <a:off x="457200" y="1005840"/>
            <a:ext cx="1965960" cy="3017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Shape 7"/>
          <p:cNvSpPr/>
          <p:nvPr/>
        </p:nvSpPr>
        <p:spPr>
          <a:xfrm>
            <a:off x="457200" y="1005840"/>
            <a:ext cx="1965960" cy="54864"/>
          </a:xfrm>
          <a:prstGeom prst="rect">
            <a:avLst/>
          </a:prstGeom>
          <a:solidFill>
            <a:srgbClr val="0891B2"/>
          </a:solidFill>
          <a:ln/>
        </p:spPr>
        <p:txBody>
          <a:bodyPr/>
          <a:lstStyle/>
          <a:p>
            <a:endParaRPr lang="en-IN"/>
          </a:p>
        </p:txBody>
      </p:sp>
      <p:sp>
        <p:nvSpPr>
          <p:cNvPr id="10" name="Shape 8"/>
          <p:cNvSpPr/>
          <p:nvPr/>
        </p:nvSpPr>
        <p:spPr>
          <a:xfrm>
            <a:off x="1097280" y="1280160"/>
            <a:ext cx="640080" cy="640080"/>
          </a:xfrm>
          <a:prstGeom prst="ellipse">
            <a:avLst/>
          </a:prstGeom>
          <a:solidFill>
            <a:srgbClr val="E0F7FA"/>
          </a:solidFill>
          <a:ln/>
        </p:spPr>
        <p:txBody>
          <a:bodyPr/>
          <a:lstStyle/>
          <a:p>
            <a:endParaRPr lang="en-IN"/>
          </a:p>
        </p:txBody>
      </p:sp>
      <p:pic>
        <p:nvPicPr>
          <p:cNvPr id="11" name="Image 0" descr="preencoded.png"/>
          <p:cNvPicPr>
            <a:picLocks noChangeAspect="1"/>
          </p:cNvPicPr>
          <p:nvPr/>
        </p:nvPicPr>
        <p:blipFill>
          <a:blip r:embed="rId3"/>
          <a:stretch>
            <a:fillRect/>
          </a:stretch>
        </p:blipFill>
        <p:spPr>
          <a:xfrm>
            <a:off x="1207008" y="1389888"/>
            <a:ext cx="411480" cy="411480"/>
          </a:xfrm>
          <a:prstGeom prst="rect">
            <a:avLst/>
          </a:prstGeom>
        </p:spPr>
      </p:pic>
      <p:sp>
        <p:nvSpPr>
          <p:cNvPr id="12" name="Text 9"/>
          <p:cNvSpPr/>
          <p:nvPr/>
        </p:nvSpPr>
        <p:spPr>
          <a:xfrm>
            <a:off x="548640" y="2103120"/>
            <a:ext cx="1783080" cy="320040"/>
          </a:xfrm>
          <a:prstGeom prst="rect">
            <a:avLst/>
          </a:prstGeom>
          <a:noFill/>
          <a:ln/>
        </p:spPr>
        <p:txBody>
          <a:bodyPr wrap="square" lIns="0" tIns="0" rIns="0" bIns="0" rtlCol="0" anchor="ctr"/>
          <a:lstStyle/>
          <a:p>
            <a:pPr marL="0" indent="0" algn="ctr">
              <a:buNone/>
            </a:pPr>
            <a:r>
              <a:rPr lang="en-US" sz="1600" b="1" dirty="0">
                <a:solidFill>
                  <a:srgbClr val="1E293B"/>
                </a:solidFill>
                <a:latin typeface="Georgia" pitchFamily="34" charset="0"/>
                <a:ea typeface="Georgia" pitchFamily="34" charset="-122"/>
                <a:cs typeface="Georgia" pitchFamily="34" charset="-120"/>
              </a:rPr>
              <a:t>Goals</a:t>
            </a:r>
            <a:endParaRPr lang="en-US" sz="1600" dirty="0"/>
          </a:p>
        </p:txBody>
      </p:sp>
      <p:sp>
        <p:nvSpPr>
          <p:cNvPr id="13" name="Text 10"/>
          <p:cNvSpPr/>
          <p:nvPr/>
        </p:nvSpPr>
        <p:spPr>
          <a:xfrm>
            <a:off x="594360" y="2468880"/>
            <a:ext cx="1691640" cy="1371600"/>
          </a:xfrm>
          <a:prstGeom prst="rect">
            <a:avLst/>
          </a:prstGeom>
          <a:noFill/>
          <a:ln/>
        </p:spPr>
        <p:txBody>
          <a:bodyPr wrap="square" lIns="0" tIns="0" rIns="0" bIns="0" rtlCol="0" anchor="ctr"/>
          <a:lstStyle/>
          <a:p>
            <a:pPr marL="0" indent="0" algn="ctr">
              <a:lnSpc>
                <a:spcPct val="125000"/>
              </a:lnSpc>
              <a:buNone/>
            </a:pPr>
            <a:r>
              <a:rPr lang="en-US" sz="1050" dirty="0">
                <a:solidFill>
                  <a:srgbClr val="334155"/>
                </a:solidFill>
                <a:latin typeface="Calibri" pitchFamily="34" charset="0"/>
                <a:ea typeface="Calibri" pitchFamily="34" charset="-122"/>
                <a:cs typeface="Calibri" pitchFamily="34" charset="-120"/>
              </a:rPr>
              <a:t>High-level objectives the agent helps users accomplish, derived from screen structure and primary actions</a:t>
            </a:r>
            <a:endParaRPr lang="en-US" sz="1050" dirty="0"/>
          </a:p>
        </p:txBody>
      </p:sp>
      <p:sp>
        <p:nvSpPr>
          <p:cNvPr id="14" name="Shape 11"/>
          <p:cNvSpPr/>
          <p:nvPr/>
        </p:nvSpPr>
        <p:spPr>
          <a:xfrm>
            <a:off x="2578608" y="1005840"/>
            <a:ext cx="1965960" cy="3017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5" name="Shape 12"/>
          <p:cNvSpPr/>
          <p:nvPr/>
        </p:nvSpPr>
        <p:spPr>
          <a:xfrm>
            <a:off x="2578608" y="1005840"/>
            <a:ext cx="1965960" cy="54864"/>
          </a:xfrm>
          <a:prstGeom prst="rect">
            <a:avLst/>
          </a:prstGeom>
          <a:solidFill>
            <a:srgbClr val="0E7490"/>
          </a:solidFill>
          <a:ln/>
        </p:spPr>
        <p:txBody>
          <a:bodyPr/>
          <a:lstStyle/>
          <a:p>
            <a:endParaRPr lang="en-IN"/>
          </a:p>
        </p:txBody>
      </p:sp>
      <p:sp>
        <p:nvSpPr>
          <p:cNvPr id="16" name="Shape 13"/>
          <p:cNvSpPr/>
          <p:nvPr/>
        </p:nvSpPr>
        <p:spPr>
          <a:xfrm>
            <a:off x="3218688" y="1280160"/>
            <a:ext cx="640080" cy="640080"/>
          </a:xfrm>
          <a:prstGeom prst="ellipse">
            <a:avLst/>
          </a:prstGeom>
          <a:solidFill>
            <a:srgbClr val="E0F7FA"/>
          </a:solidFill>
          <a:ln/>
        </p:spPr>
        <p:txBody>
          <a:bodyPr/>
          <a:lstStyle/>
          <a:p>
            <a:endParaRPr lang="en-IN"/>
          </a:p>
        </p:txBody>
      </p:sp>
      <p:pic>
        <p:nvPicPr>
          <p:cNvPr id="17" name="Image 1" descr="preencoded.png"/>
          <p:cNvPicPr>
            <a:picLocks noChangeAspect="1"/>
          </p:cNvPicPr>
          <p:nvPr/>
        </p:nvPicPr>
        <p:blipFill>
          <a:blip r:embed="rId4"/>
          <a:stretch>
            <a:fillRect/>
          </a:stretch>
        </p:blipFill>
        <p:spPr>
          <a:xfrm>
            <a:off x="3328416" y="1389888"/>
            <a:ext cx="411480" cy="411480"/>
          </a:xfrm>
          <a:prstGeom prst="rect">
            <a:avLst/>
          </a:prstGeom>
        </p:spPr>
      </p:pic>
      <p:sp>
        <p:nvSpPr>
          <p:cNvPr id="18" name="Text 14"/>
          <p:cNvSpPr/>
          <p:nvPr/>
        </p:nvSpPr>
        <p:spPr>
          <a:xfrm>
            <a:off x="2670048" y="2103120"/>
            <a:ext cx="1783080" cy="320040"/>
          </a:xfrm>
          <a:prstGeom prst="rect">
            <a:avLst/>
          </a:prstGeom>
          <a:noFill/>
          <a:ln/>
        </p:spPr>
        <p:txBody>
          <a:bodyPr wrap="square" lIns="0" tIns="0" rIns="0" bIns="0" rtlCol="0" anchor="ctr"/>
          <a:lstStyle/>
          <a:p>
            <a:pPr marL="0" indent="0" algn="ctr">
              <a:buNone/>
            </a:pPr>
            <a:r>
              <a:rPr lang="en-US" sz="1600" b="1" dirty="0">
                <a:solidFill>
                  <a:srgbClr val="1E293B"/>
                </a:solidFill>
                <a:latin typeface="Georgia" pitchFamily="34" charset="0"/>
                <a:ea typeface="Georgia" pitchFamily="34" charset="-122"/>
                <a:cs typeface="Georgia" pitchFamily="34" charset="-120"/>
              </a:rPr>
              <a:t>Steps</a:t>
            </a:r>
            <a:endParaRPr lang="en-US" sz="1600" dirty="0"/>
          </a:p>
        </p:txBody>
      </p:sp>
      <p:sp>
        <p:nvSpPr>
          <p:cNvPr id="19" name="Text 15"/>
          <p:cNvSpPr/>
          <p:nvPr/>
        </p:nvSpPr>
        <p:spPr>
          <a:xfrm>
            <a:off x="2715768" y="2468880"/>
            <a:ext cx="1691640" cy="1371600"/>
          </a:xfrm>
          <a:prstGeom prst="rect">
            <a:avLst/>
          </a:prstGeom>
          <a:noFill/>
          <a:ln/>
        </p:spPr>
        <p:txBody>
          <a:bodyPr wrap="square" lIns="0" tIns="0" rIns="0" bIns="0" rtlCol="0" anchor="ctr"/>
          <a:lstStyle/>
          <a:p>
            <a:pPr marL="0" indent="0" algn="ctr">
              <a:lnSpc>
                <a:spcPct val="125000"/>
              </a:lnSpc>
              <a:buNone/>
            </a:pPr>
            <a:r>
              <a:rPr lang="en-US" sz="1050" dirty="0">
                <a:solidFill>
                  <a:srgbClr val="334155"/>
                </a:solidFill>
                <a:latin typeface="Calibri" pitchFamily="34" charset="0"/>
                <a:ea typeface="Calibri" pitchFamily="34" charset="-122"/>
                <a:cs typeface="Calibri" pitchFamily="34" charset="-120"/>
              </a:rPr>
              <a:t>Sequential actions required to accomplish each goal, derived from control layout and validation logic</a:t>
            </a:r>
            <a:endParaRPr lang="en-US" sz="1050" dirty="0"/>
          </a:p>
        </p:txBody>
      </p:sp>
      <p:sp>
        <p:nvSpPr>
          <p:cNvPr id="20" name="Shape 16"/>
          <p:cNvSpPr/>
          <p:nvPr/>
        </p:nvSpPr>
        <p:spPr>
          <a:xfrm>
            <a:off x="4700016" y="1005840"/>
            <a:ext cx="1965960" cy="3017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1" name="Shape 17"/>
          <p:cNvSpPr/>
          <p:nvPr/>
        </p:nvSpPr>
        <p:spPr>
          <a:xfrm>
            <a:off x="4700016" y="1005840"/>
            <a:ext cx="1965960" cy="54864"/>
          </a:xfrm>
          <a:prstGeom prst="rect">
            <a:avLst/>
          </a:prstGeom>
          <a:solidFill>
            <a:srgbClr val="06B6D4"/>
          </a:solidFill>
          <a:ln/>
        </p:spPr>
        <p:txBody>
          <a:bodyPr/>
          <a:lstStyle/>
          <a:p>
            <a:endParaRPr lang="en-IN"/>
          </a:p>
        </p:txBody>
      </p:sp>
      <p:sp>
        <p:nvSpPr>
          <p:cNvPr id="22" name="Shape 18"/>
          <p:cNvSpPr/>
          <p:nvPr/>
        </p:nvSpPr>
        <p:spPr>
          <a:xfrm>
            <a:off x="5340096" y="1280160"/>
            <a:ext cx="640080" cy="640080"/>
          </a:xfrm>
          <a:prstGeom prst="ellipse">
            <a:avLst/>
          </a:prstGeom>
          <a:solidFill>
            <a:srgbClr val="E0F7FA"/>
          </a:solidFill>
          <a:ln/>
        </p:spPr>
        <p:txBody>
          <a:bodyPr/>
          <a:lstStyle/>
          <a:p>
            <a:endParaRPr lang="en-IN"/>
          </a:p>
        </p:txBody>
      </p:sp>
      <p:pic>
        <p:nvPicPr>
          <p:cNvPr id="23" name="Image 2" descr="preencoded.png"/>
          <p:cNvPicPr>
            <a:picLocks noChangeAspect="1"/>
          </p:cNvPicPr>
          <p:nvPr/>
        </p:nvPicPr>
        <p:blipFill>
          <a:blip r:embed="rId5"/>
          <a:stretch>
            <a:fillRect/>
          </a:stretch>
        </p:blipFill>
        <p:spPr>
          <a:xfrm>
            <a:off x="5449824" y="1389888"/>
            <a:ext cx="411480" cy="411480"/>
          </a:xfrm>
          <a:prstGeom prst="rect">
            <a:avLst/>
          </a:prstGeom>
        </p:spPr>
      </p:pic>
      <p:sp>
        <p:nvSpPr>
          <p:cNvPr id="24" name="Text 19"/>
          <p:cNvSpPr/>
          <p:nvPr/>
        </p:nvSpPr>
        <p:spPr>
          <a:xfrm>
            <a:off x="4791456" y="2103120"/>
            <a:ext cx="1783080" cy="320040"/>
          </a:xfrm>
          <a:prstGeom prst="rect">
            <a:avLst/>
          </a:prstGeom>
          <a:noFill/>
          <a:ln/>
        </p:spPr>
        <p:txBody>
          <a:bodyPr wrap="square" lIns="0" tIns="0" rIns="0" bIns="0" rtlCol="0" anchor="ctr"/>
          <a:lstStyle/>
          <a:p>
            <a:pPr marL="0" indent="0" algn="ctr">
              <a:buNone/>
            </a:pPr>
            <a:r>
              <a:rPr lang="en-US" sz="1600" b="1" dirty="0">
                <a:solidFill>
                  <a:srgbClr val="1E293B"/>
                </a:solidFill>
                <a:latin typeface="Georgia" pitchFamily="34" charset="0"/>
                <a:ea typeface="Georgia" pitchFamily="34" charset="-122"/>
                <a:cs typeface="Georgia" pitchFamily="34" charset="-120"/>
              </a:rPr>
              <a:t>Knowledge</a:t>
            </a:r>
            <a:endParaRPr lang="en-US" sz="1600" dirty="0"/>
          </a:p>
        </p:txBody>
      </p:sp>
      <p:sp>
        <p:nvSpPr>
          <p:cNvPr id="25" name="Text 20"/>
          <p:cNvSpPr/>
          <p:nvPr/>
        </p:nvSpPr>
        <p:spPr>
          <a:xfrm>
            <a:off x="4837176" y="2468880"/>
            <a:ext cx="1691640" cy="1371600"/>
          </a:xfrm>
          <a:prstGeom prst="rect">
            <a:avLst/>
          </a:prstGeom>
          <a:noFill/>
          <a:ln/>
        </p:spPr>
        <p:txBody>
          <a:bodyPr wrap="square" lIns="0" tIns="0" rIns="0" bIns="0" rtlCol="0" anchor="ctr"/>
          <a:lstStyle/>
          <a:p>
            <a:pPr marL="0" indent="0" algn="ctr">
              <a:lnSpc>
                <a:spcPct val="125000"/>
              </a:lnSpc>
              <a:buNone/>
            </a:pPr>
            <a:r>
              <a:rPr lang="en-US" sz="1050" dirty="0">
                <a:solidFill>
                  <a:srgbClr val="334155"/>
                </a:solidFill>
                <a:latin typeface="Calibri" pitchFamily="34" charset="0"/>
                <a:ea typeface="Calibri" pitchFamily="34" charset="-122"/>
                <a:cs typeface="Calibri" pitchFamily="34" charset="-120"/>
              </a:rPr>
              <a:t>Reference materials the agent consults — from data connections, help text, lookup tables, and document libraries</a:t>
            </a:r>
            <a:endParaRPr lang="en-US" sz="1050" dirty="0"/>
          </a:p>
        </p:txBody>
      </p:sp>
      <p:sp>
        <p:nvSpPr>
          <p:cNvPr id="26" name="Shape 21"/>
          <p:cNvSpPr/>
          <p:nvPr/>
        </p:nvSpPr>
        <p:spPr>
          <a:xfrm>
            <a:off x="6821424" y="1005840"/>
            <a:ext cx="1965960" cy="3017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7" name="Shape 22"/>
          <p:cNvSpPr/>
          <p:nvPr/>
        </p:nvSpPr>
        <p:spPr>
          <a:xfrm>
            <a:off x="6821424" y="1005840"/>
            <a:ext cx="1965960" cy="54864"/>
          </a:xfrm>
          <a:prstGeom prst="rect">
            <a:avLst/>
          </a:prstGeom>
          <a:solidFill>
            <a:srgbClr val="F59E0B"/>
          </a:solidFill>
          <a:ln/>
        </p:spPr>
        <p:txBody>
          <a:bodyPr/>
          <a:lstStyle/>
          <a:p>
            <a:endParaRPr lang="en-IN"/>
          </a:p>
        </p:txBody>
      </p:sp>
      <p:sp>
        <p:nvSpPr>
          <p:cNvPr id="28" name="Shape 23"/>
          <p:cNvSpPr/>
          <p:nvPr/>
        </p:nvSpPr>
        <p:spPr>
          <a:xfrm>
            <a:off x="7461504" y="1280160"/>
            <a:ext cx="640080" cy="640080"/>
          </a:xfrm>
          <a:prstGeom prst="ellipse">
            <a:avLst/>
          </a:prstGeom>
          <a:solidFill>
            <a:srgbClr val="E0F7FA"/>
          </a:solidFill>
          <a:ln/>
        </p:spPr>
        <p:txBody>
          <a:bodyPr/>
          <a:lstStyle/>
          <a:p>
            <a:endParaRPr lang="en-IN"/>
          </a:p>
        </p:txBody>
      </p:sp>
      <p:pic>
        <p:nvPicPr>
          <p:cNvPr id="29" name="Image 3" descr="preencoded.png"/>
          <p:cNvPicPr>
            <a:picLocks noChangeAspect="1"/>
          </p:cNvPicPr>
          <p:nvPr/>
        </p:nvPicPr>
        <p:blipFill>
          <a:blip r:embed="rId6"/>
          <a:stretch>
            <a:fillRect/>
          </a:stretch>
        </p:blipFill>
        <p:spPr>
          <a:xfrm>
            <a:off x="7571232" y="1389888"/>
            <a:ext cx="411480" cy="411480"/>
          </a:xfrm>
          <a:prstGeom prst="rect">
            <a:avLst/>
          </a:prstGeom>
        </p:spPr>
      </p:pic>
      <p:sp>
        <p:nvSpPr>
          <p:cNvPr id="30" name="Text 24"/>
          <p:cNvSpPr/>
          <p:nvPr/>
        </p:nvSpPr>
        <p:spPr>
          <a:xfrm>
            <a:off x="6912864" y="2103120"/>
            <a:ext cx="1783080" cy="320040"/>
          </a:xfrm>
          <a:prstGeom prst="rect">
            <a:avLst/>
          </a:prstGeom>
          <a:noFill/>
          <a:ln/>
        </p:spPr>
        <p:txBody>
          <a:bodyPr wrap="square" lIns="0" tIns="0" rIns="0" bIns="0" rtlCol="0" anchor="ctr"/>
          <a:lstStyle/>
          <a:p>
            <a:pPr marL="0" indent="0" algn="ctr">
              <a:buNone/>
            </a:pPr>
            <a:r>
              <a:rPr lang="en-US" sz="1600" b="1" dirty="0">
                <a:solidFill>
                  <a:srgbClr val="1E293B"/>
                </a:solidFill>
                <a:latin typeface="Georgia" pitchFamily="34" charset="0"/>
                <a:ea typeface="Georgia" pitchFamily="34" charset="-122"/>
                <a:cs typeface="Georgia" pitchFamily="34" charset="-120"/>
              </a:rPr>
              <a:t>Triggers</a:t>
            </a:r>
            <a:endParaRPr lang="en-US" sz="1600" dirty="0"/>
          </a:p>
        </p:txBody>
      </p:sp>
      <p:sp>
        <p:nvSpPr>
          <p:cNvPr id="31" name="Text 25"/>
          <p:cNvSpPr/>
          <p:nvPr/>
        </p:nvSpPr>
        <p:spPr>
          <a:xfrm>
            <a:off x="6958584" y="2468880"/>
            <a:ext cx="1691640" cy="1371600"/>
          </a:xfrm>
          <a:prstGeom prst="rect">
            <a:avLst/>
          </a:prstGeom>
          <a:noFill/>
          <a:ln/>
        </p:spPr>
        <p:txBody>
          <a:bodyPr wrap="square" lIns="0" tIns="0" rIns="0" bIns="0" rtlCol="0" anchor="ctr"/>
          <a:lstStyle/>
          <a:p>
            <a:pPr marL="0" indent="0" algn="ctr">
              <a:lnSpc>
                <a:spcPct val="125000"/>
              </a:lnSpc>
              <a:buNone/>
            </a:pPr>
            <a:r>
              <a:rPr lang="en-US" sz="1050" dirty="0">
                <a:solidFill>
                  <a:srgbClr val="334155"/>
                </a:solidFill>
                <a:latin typeface="Calibri" pitchFamily="34" charset="0"/>
                <a:ea typeface="Calibri" pitchFamily="34" charset="-122"/>
                <a:cs typeface="Calibri" pitchFamily="34" charset="-120"/>
              </a:rPr>
              <a:t>When and how the agent activates — conversational, event-driven, scheduled, or deep link triggers</a:t>
            </a:r>
            <a:endParaRPr lang="en-US" sz="1050" dirty="0"/>
          </a:p>
        </p:txBody>
      </p:sp>
      <p:sp>
        <p:nvSpPr>
          <p:cNvPr id="32" name="Shape 26"/>
          <p:cNvSpPr/>
          <p:nvPr/>
        </p:nvSpPr>
        <p:spPr>
          <a:xfrm>
            <a:off x="457200" y="4251960"/>
            <a:ext cx="8229600" cy="457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pic>
        <p:nvPicPr>
          <p:cNvPr id="33" name="Image 4" descr="preencoded.png"/>
          <p:cNvPicPr>
            <a:picLocks noChangeAspect="1"/>
          </p:cNvPicPr>
          <p:nvPr/>
        </p:nvPicPr>
        <p:blipFill>
          <a:blip r:embed="rId7"/>
          <a:stretch>
            <a:fillRect/>
          </a:stretch>
        </p:blipFill>
        <p:spPr>
          <a:xfrm>
            <a:off x="640080" y="4325112"/>
            <a:ext cx="274320" cy="274320"/>
          </a:xfrm>
          <a:prstGeom prst="rect">
            <a:avLst/>
          </a:prstGeom>
        </p:spPr>
      </p:pic>
      <p:sp>
        <p:nvSpPr>
          <p:cNvPr id="34" name="Text 27"/>
          <p:cNvSpPr/>
          <p:nvPr/>
        </p:nvSpPr>
        <p:spPr>
          <a:xfrm>
            <a:off x="1051560" y="4251960"/>
            <a:ext cx="7315200" cy="4572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Agent Builder reads your app's metadata — screens, controls, formulas, data connections — and maps them to these four categories automatically.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7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Goals — What the Agent Helps Users Do</a:t>
            </a:r>
            <a:endParaRPr lang="en-US" sz="2200" dirty="0"/>
          </a:p>
        </p:txBody>
      </p:sp>
      <p:sp>
        <p:nvSpPr>
          <p:cNvPr id="8" name="Text 6"/>
          <p:cNvSpPr/>
          <p:nvPr/>
        </p:nvSpPr>
        <p:spPr>
          <a:xfrm>
            <a:off x="685800" y="914400"/>
            <a:ext cx="7772400" cy="320040"/>
          </a:xfrm>
          <a:prstGeom prst="rect">
            <a:avLst/>
          </a:prstGeom>
          <a:noFill/>
          <a:ln/>
        </p:spPr>
        <p:txBody>
          <a:bodyPr wrap="square" lIns="0" tIns="0" rIns="0" bIns="0" rtlCol="0" anchor="ctr"/>
          <a:lstStyle/>
          <a:p>
            <a:pPr marL="0" indent="0">
              <a:buNone/>
            </a:pPr>
            <a:r>
              <a:rPr lang="en-US" sz="1200" i="1" dirty="0">
                <a:solidFill>
                  <a:srgbClr val="334155"/>
                </a:solidFill>
                <a:latin typeface="Calibri" pitchFamily="34" charset="0"/>
                <a:ea typeface="Calibri" pitchFamily="34" charset="-122"/>
                <a:cs typeface="Calibri" pitchFamily="34" charset="-120"/>
              </a:rPr>
              <a:t>Agent Builder maps each distinct screen in your canvas app to a corresponding goal for the agent.</a:t>
            </a:r>
            <a:endParaRPr lang="en-US" sz="1200" dirty="0"/>
          </a:p>
        </p:txBody>
      </p:sp>
      <p:sp>
        <p:nvSpPr>
          <p:cNvPr id="9" name="Shape 7"/>
          <p:cNvSpPr/>
          <p:nvPr/>
        </p:nvSpPr>
        <p:spPr>
          <a:xfrm>
            <a:off x="457200" y="1371600"/>
            <a:ext cx="8229600" cy="411480"/>
          </a:xfrm>
          <a:prstGeom prst="rect">
            <a:avLst/>
          </a:prstGeom>
          <a:solidFill>
            <a:srgbClr val="0F1B2D"/>
          </a:solidFill>
          <a:ln/>
        </p:spPr>
        <p:txBody>
          <a:bodyPr/>
          <a:lstStyle/>
          <a:p>
            <a:endParaRPr lang="en-IN"/>
          </a:p>
        </p:txBody>
      </p:sp>
      <p:sp>
        <p:nvSpPr>
          <p:cNvPr id="10" name="Text 8"/>
          <p:cNvSpPr/>
          <p:nvPr/>
        </p:nvSpPr>
        <p:spPr>
          <a:xfrm>
            <a:off x="594360" y="1371600"/>
            <a:ext cx="3108960" cy="4114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App Element (Screen / Button)</a:t>
            </a:r>
            <a:endParaRPr lang="en-US" sz="1100" dirty="0"/>
          </a:p>
        </p:txBody>
      </p:sp>
      <p:sp>
        <p:nvSpPr>
          <p:cNvPr id="11" name="Text 9"/>
          <p:cNvSpPr/>
          <p:nvPr/>
        </p:nvSpPr>
        <p:spPr>
          <a:xfrm>
            <a:off x="3840480" y="1371600"/>
            <a:ext cx="4663440" cy="4114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Extracted Goal</a:t>
            </a:r>
            <a:endParaRPr lang="en-US" sz="1100" dirty="0"/>
          </a:p>
        </p:txBody>
      </p:sp>
      <p:sp>
        <p:nvSpPr>
          <p:cNvPr id="12" name="Shape 10"/>
          <p:cNvSpPr/>
          <p:nvPr/>
        </p:nvSpPr>
        <p:spPr>
          <a:xfrm>
            <a:off x="457200" y="1783080"/>
            <a:ext cx="8229600" cy="521208"/>
          </a:xfrm>
          <a:prstGeom prst="rect">
            <a:avLst/>
          </a:prstGeom>
          <a:solidFill>
            <a:srgbClr val="FFFFFF"/>
          </a:solidFill>
          <a:ln/>
        </p:spPr>
        <p:txBody>
          <a:bodyPr/>
          <a:lstStyle/>
          <a:p>
            <a:endParaRPr lang="en-IN"/>
          </a:p>
        </p:txBody>
      </p:sp>
      <p:sp>
        <p:nvSpPr>
          <p:cNvPr id="13" name="Text 11"/>
          <p:cNvSpPr/>
          <p:nvPr/>
        </p:nvSpPr>
        <p:spPr>
          <a:xfrm>
            <a:off x="594360" y="1783080"/>
            <a:ext cx="3108960" cy="521208"/>
          </a:xfrm>
          <a:prstGeom prst="rect">
            <a:avLst/>
          </a:prstGeom>
          <a:noFill/>
          <a:ln/>
        </p:spPr>
        <p:txBody>
          <a:bodyPr wrap="square" lIns="0" tIns="0" rIns="0" bIns="0" rtlCol="0" anchor="ctr"/>
          <a:lstStyle/>
          <a:p>
            <a:pPr marL="0" indent="0">
              <a:buNone/>
            </a:pPr>
            <a:r>
              <a:rPr lang="en-US" sz="1100" b="1" dirty="0">
                <a:solidFill>
                  <a:srgbClr val="0E7490"/>
                </a:solidFill>
                <a:latin typeface="Calibri" pitchFamily="34" charset="0"/>
                <a:ea typeface="Calibri" pitchFamily="34" charset="-122"/>
                <a:cs typeface="Calibri" pitchFamily="34" charset="-120"/>
              </a:rPr>
              <a:t>Screen: Submit New Claim</a:t>
            </a:r>
            <a:endParaRPr lang="en-US" sz="1100" dirty="0"/>
          </a:p>
        </p:txBody>
      </p:sp>
      <p:sp>
        <p:nvSpPr>
          <p:cNvPr id="14" name="Text 12"/>
          <p:cNvSpPr/>
          <p:nvPr/>
        </p:nvSpPr>
        <p:spPr>
          <a:xfrm>
            <a:off x="3840480" y="1783080"/>
            <a:ext cx="4663440" cy="521208"/>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Help users submit a new insurance claim by collecting claim type, policy, amount, and description</a:t>
            </a:r>
            <a:endParaRPr lang="en-US" sz="1100" dirty="0"/>
          </a:p>
        </p:txBody>
      </p:sp>
      <p:sp>
        <p:nvSpPr>
          <p:cNvPr id="15" name="Shape 13"/>
          <p:cNvSpPr/>
          <p:nvPr/>
        </p:nvSpPr>
        <p:spPr>
          <a:xfrm>
            <a:off x="457200" y="2331720"/>
            <a:ext cx="8229600" cy="521208"/>
          </a:xfrm>
          <a:prstGeom prst="rect">
            <a:avLst/>
          </a:prstGeom>
          <a:solidFill>
            <a:srgbClr val="F8FAFC"/>
          </a:solidFill>
          <a:ln/>
        </p:spPr>
        <p:txBody>
          <a:bodyPr/>
          <a:lstStyle/>
          <a:p>
            <a:endParaRPr lang="en-IN"/>
          </a:p>
        </p:txBody>
      </p:sp>
      <p:sp>
        <p:nvSpPr>
          <p:cNvPr id="16" name="Text 14"/>
          <p:cNvSpPr/>
          <p:nvPr/>
        </p:nvSpPr>
        <p:spPr>
          <a:xfrm>
            <a:off x="594360" y="2331720"/>
            <a:ext cx="3108960" cy="521208"/>
          </a:xfrm>
          <a:prstGeom prst="rect">
            <a:avLst/>
          </a:prstGeom>
          <a:noFill/>
          <a:ln/>
        </p:spPr>
        <p:txBody>
          <a:bodyPr wrap="square" lIns="0" tIns="0" rIns="0" bIns="0" rtlCol="0" anchor="ctr"/>
          <a:lstStyle/>
          <a:p>
            <a:pPr marL="0" indent="0">
              <a:buNone/>
            </a:pPr>
            <a:r>
              <a:rPr lang="en-US" sz="1100" b="1" dirty="0">
                <a:solidFill>
                  <a:srgbClr val="0E7490"/>
                </a:solidFill>
                <a:latin typeface="Calibri" pitchFamily="34" charset="0"/>
                <a:ea typeface="Calibri" pitchFamily="34" charset="-122"/>
                <a:cs typeface="Calibri" pitchFamily="34" charset="-120"/>
              </a:rPr>
              <a:t>Screen: Claim Dashboard</a:t>
            </a:r>
            <a:endParaRPr lang="en-US" sz="1100" dirty="0"/>
          </a:p>
        </p:txBody>
      </p:sp>
      <p:sp>
        <p:nvSpPr>
          <p:cNvPr id="17" name="Text 15"/>
          <p:cNvSpPr/>
          <p:nvPr/>
        </p:nvSpPr>
        <p:spPr>
          <a:xfrm>
            <a:off x="3840480" y="2331720"/>
            <a:ext cx="4663440" cy="521208"/>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Show users an overview of their claims with status breakdowns and filters</a:t>
            </a:r>
            <a:endParaRPr lang="en-US" sz="1100" dirty="0"/>
          </a:p>
        </p:txBody>
      </p:sp>
      <p:sp>
        <p:nvSpPr>
          <p:cNvPr id="18" name="Shape 16"/>
          <p:cNvSpPr/>
          <p:nvPr/>
        </p:nvSpPr>
        <p:spPr>
          <a:xfrm>
            <a:off x="457200" y="2880360"/>
            <a:ext cx="8229600" cy="521208"/>
          </a:xfrm>
          <a:prstGeom prst="rect">
            <a:avLst/>
          </a:prstGeom>
          <a:solidFill>
            <a:srgbClr val="FFFFFF"/>
          </a:solidFill>
          <a:ln/>
        </p:spPr>
        <p:txBody>
          <a:bodyPr/>
          <a:lstStyle/>
          <a:p>
            <a:endParaRPr lang="en-IN"/>
          </a:p>
        </p:txBody>
      </p:sp>
      <p:sp>
        <p:nvSpPr>
          <p:cNvPr id="19" name="Text 17"/>
          <p:cNvSpPr/>
          <p:nvPr/>
        </p:nvSpPr>
        <p:spPr>
          <a:xfrm>
            <a:off x="594360" y="2880360"/>
            <a:ext cx="3108960" cy="521208"/>
          </a:xfrm>
          <a:prstGeom prst="rect">
            <a:avLst/>
          </a:prstGeom>
          <a:noFill/>
          <a:ln/>
        </p:spPr>
        <p:txBody>
          <a:bodyPr wrap="square" lIns="0" tIns="0" rIns="0" bIns="0" rtlCol="0" anchor="ctr"/>
          <a:lstStyle/>
          <a:p>
            <a:pPr marL="0" indent="0">
              <a:buNone/>
            </a:pPr>
            <a:r>
              <a:rPr lang="en-US" sz="1100" b="1" dirty="0">
                <a:solidFill>
                  <a:srgbClr val="0E7490"/>
                </a:solidFill>
                <a:latin typeface="Calibri" pitchFamily="34" charset="0"/>
                <a:ea typeface="Calibri" pitchFamily="34" charset="-122"/>
                <a:cs typeface="Calibri" pitchFamily="34" charset="-120"/>
              </a:rPr>
              <a:t>Screen: Policy Lookup</a:t>
            </a:r>
            <a:endParaRPr lang="en-US" sz="1100" dirty="0"/>
          </a:p>
        </p:txBody>
      </p:sp>
      <p:sp>
        <p:nvSpPr>
          <p:cNvPr id="20" name="Text 18"/>
          <p:cNvSpPr/>
          <p:nvPr/>
        </p:nvSpPr>
        <p:spPr>
          <a:xfrm>
            <a:off x="3840480" y="2880360"/>
            <a:ext cx="4663440" cy="521208"/>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Help users find policy details by customer name, policy ID, or policy type</a:t>
            </a:r>
            <a:endParaRPr lang="en-US" sz="1100" dirty="0"/>
          </a:p>
        </p:txBody>
      </p:sp>
      <p:sp>
        <p:nvSpPr>
          <p:cNvPr id="21" name="Shape 19"/>
          <p:cNvSpPr/>
          <p:nvPr/>
        </p:nvSpPr>
        <p:spPr>
          <a:xfrm>
            <a:off x="457200" y="3429000"/>
            <a:ext cx="8229600" cy="521208"/>
          </a:xfrm>
          <a:prstGeom prst="rect">
            <a:avLst/>
          </a:prstGeom>
          <a:solidFill>
            <a:srgbClr val="F8FAFC"/>
          </a:solidFill>
          <a:ln/>
        </p:spPr>
        <p:txBody>
          <a:bodyPr/>
          <a:lstStyle/>
          <a:p>
            <a:endParaRPr lang="en-IN"/>
          </a:p>
        </p:txBody>
      </p:sp>
      <p:sp>
        <p:nvSpPr>
          <p:cNvPr id="22" name="Text 20"/>
          <p:cNvSpPr/>
          <p:nvPr/>
        </p:nvSpPr>
        <p:spPr>
          <a:xfrm>
            <a:off x="594360" y="3429000"/>
            <a:ext cx="3108960" cy="521208"/>
          </a:xfrm>
          <a:prstGeom prst="rect">
            <a:avLst/>
          </a:prstGeom>
          <a:noFill/>
          <a:ln/>
        </p:spPr>
        <p:txBody>
          <a:bodyPr wrap="square" lIns="0" tIns="0" rIns="0" bIns="0" rtlCol="0" anchor="ctr"/>
          <a:lstStyle/>
          <a:p>
            <a:pPr marL="0" indent="0">
              <a:buNone/>
            </a:pPr>
            <a:r>
              <a:rPr lang="en-US" sz="1100" b="1" dirty="0">
                <a:solidFill>
                  <a:srgbClr val="0E7490"/>
                </a:solidFill>
                <a:latin typeface="Calibri" pitchFamily="34" charset="0"/>
                <a:ea typeface="Calibri" pitchFamily="34" charset="-122"/>
                <a:cs typeface="Calibri" pitchFamily="34" charset="-120"/>
              </a:rPr>
              <a:t>Button: Export Report</a:t>
            </a:r>
            <a:endParaRPr lang="en-US" sz="1100" dirty="0"/>
          </a:p>
        </p:txBody>
      </p:sp>
      <p:sp>
        <p:nvSpPr>
          <p:cNvPr id="23" name="Text 21"/>
          <p:cNvSpPr/>
          <p:nvPr/>
        </p:nvSpPr>
        <p:spPr>
          <a:xfrm>
            <a:off x="3840480" y="3429000"/>
            <a:ext cx="4663440" cy="521208"/>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Generate and export claims reports for a specified date range</a:t>
            </a:r>
            <a:endParaRPr lang="en-US" sz="1100" dirty="0"/>
          </a:p>
        </p:txBody>
      </p:sp>
      <p:sp>
        <p:nvSpPr>
          <p:cNvPr id="24" name="Shape 22"/>
          <p:cNvSpPr/>
          <p:nvPr/>
        </p:nvSpPr>
        <p:spPr>
          <a:xfrm>
            <a:off x="457200" y="4160520"/>
            <a:ext cx="8229600" cy="548640"/>
          </a:xfrm>
          <a:prstGeom prst="rect">
            <a:avLst/>
          </a:prstGeom>
          <a:solidFill>
            <a:srgbClr val="E0F7FA"/>
          </a:solidFill>
          <a:ln/>
        </p:spPr>
        <p:txBody>
          <a:bodyPr/>
          <a:lstStyle/>
          <a:p>
            <a:endParaRPr lang="en-IN"/>
          </a:p>
        </p:txBody>
      </p:sp>
      <p:pic>
        <p:nvPicPr>
          <p:cNvPr id="25" name="Image 0" descr="preencoded.png"/>
          <p:cNvPicPr>
            <a:picLocks noChangeAspect="1"/>
          </p:cNvPicPr>
          <p:nvPr/>
        </p:nvPicPr>
        <p:blipFill>
          <a:blip r:embed="rId3"/>
          <a:stretch>
            <a:fillRect/>
          </a:stretch>
        </p:blipFill>
        <p:spPr>
          <a:xfrm>
            <a:off x="640080" y="4233672"/>
            <a:ext cx="274320" cy="274320"/>
          </a:xfrm>
          <a:prstGeom prst="rect">
            <a:avLst/>
          </a:prstGeom>
        </p:spPr>
      </p:pic>
      <p:sp>
        <p:nvSpPr>
          <p:cNvPr id="26" name="Text 23"/>
          <p:cNvSpPr/>
          <p:nvPr/>
        </p:nvSpPr>
        <p:spPr>
          <a:xfrm>
            <a:off x="1051560" y="4160520"/>
            <a:ext cx="731520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 single-screen app produces a single, potentially vague goal. Apps with distinct screens for distinct functions produce the best agent goals.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8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Steps — Sequential Actions Within a Goal</a:t>
            </a:r>
            <a:endParaRPr lang="en-US" sz="2200" dirty="0"/>
          </a:p>
        </p:txBody>
      </p:sp>
      <p:sp>
        <p:nvSpPr>
          <p:cNvPr id="8" name="Shape 6"/>
          <p:cNvSpPr/>
          <p:nvPr/>
        </p:nvSpPr>
        <p:spPr>
          <a:xfrm>
            <a:off x="548640" y="1051560"/>
            <a:ext cx="365760" cy="365760"/>
          </a:xfrm>
          <a:prstGeom prst="ellipse">
            <a:avLst/>
          </a:prstGeom>
          <a:solidFill>
            <a:srgbClr val="0891B2"/>
          </a:solidFill>
          <a:ln/>
        </p:spPr>
        <p:txBody>
          <a:bodyPr/>
          <a:lstStyle/>
          <a:p>
            <a:endParaRPr lang="en-IN"/>
          </a:p>
        </p:txBody>
      </p:sp>
      <p:sp>
        <p:nvSpPr>
          <p:cNvPr id="9" name="Text 7"/>
          <p:cNvSpPr/>
          <p:nvPr/>
        </p:nvSpPr>
        <p:spPr>
          <a:xfrm>
            <a:off x="548640" y="10515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Shape 8"/>
          <p:cNvSpPr/>
          <p:nvPr/>
        </p:nvSpPr>
        <p:spPr>
          <a:xfrm>
            <a:off x="1051560" y="960120"/>
            <a:ext cx="7635240" cy="53035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1" name="Text 9"/>
          <p:cNvSpPr/>
          <p:nvPr/>
        </p:nvSpPr>
        <p:spPr>
          <a:xfrm>
            <a:off x="1188720" y="987552"/>
            <a:ext cx="2560320" cy="228600"/>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ClaimType dropdown</a:t>
            </a:r>
            <a:endParaRPr lang="en-US" sz="1000" dirty="0"/>
          </a:p>
        </p:txBody>
      </p:sp>
      <p:sp>
        <p:nvSpPr>
          <p:cNvPr id="12" name="Text 10"/>
          <p:cNvSpPr/>
          <p:nvPr/>
        </p:nvSpPr>
        <p:spPr>
          <a:xfrm>
            <a:off x="1188720" y="1216152"/>
            <a:ext cx="7223760" cy="2286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Ask user to select a claim type (Hospitalisation, Accident, Surgery, etc.)</a:t>
            </a:r>
            <a:endParaRPr lang="en-US" sz="1050" dirty="0"/>
          </a:p>
        </p:txBody>
      </p:sp>
      <p:sp>
        <p:nvSpPr>
          <p:cNvPr id="13" name="Shape 11"/>
          <p:cNvSpPr/>
          <p:nvPr/>
        </p:nvSpPr>
        <p:spPr>
          <a:xfrm>
            <a:off x="548640" y="1645920"/>
            <a:ext cx="365760" cy="365760"/>
          </a:xfrm>
          <a:prstGeom prst="ellipse">
            <a:avLst/>
          </a:prstGeom>
          <a:solidFill>
            <a:srgbClr val="0891B2"/>
          </a:solidFill>
          <a:ln/>
        </p:spPr>
        <p:txBody>
          <a:bodyPr/>
          <a:lstStyle/>
          <a:p>
            <a:endParaRPr lang="en-IN"/>
          </a:p>
        </p:txBody>
      </p:sp>
      <p:sp>
        <p:nvSpPr>
          <p:cNvPr id="14" name="Text 12"/>
          <p:cNvSpPr/>
          <p:nvPr/>
        </p:nvSpPr>
        <p:spPr>
          <a:xfrm>
            <a:off x="548640" y="16459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Shape 13"/>
          <p:cNvSpPr/>
          <p:nvPr/>
        </p:nvSpPr>
        <p:spPr>
          <a:xfrm>
            <a:off x="1051560" y="1554480"/>
            <a:ext cx="7635240" cy="53035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6" name="Text 14"/>
          <p:cNvSpPr/>
          <p:nvPr/>
        </p:nvSpPr>
        <p:spPr>
          <a:xfrm>
            <a:off x="1188720" y="1581912"/>
            <a:ext cx="2560320" cy="228600"/>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PolicyID lookup</a:t>
            </a:r>
            <a:endParaRPr lang="en-US" sz="1000" dirty="0"/>
          </a:p>
        </p:txBody>
      </p:sp>
      <p:sp>
        <p:nvSpPr>
          <p:cNvPr id="17" name="Text 15"/>
          <p:cNvSpPr/>
          <p:nvPr/>
        </p:nvSpPr>
        <p:spPr>
          <a:xfrm>
            <a:off x="1188720" y="1810512"/>
            <a:ext cx="7223760" cy="2286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Ask user to provide or look up the associated policy ID</a:t>
            </a:r>
            <a:endParaRPr lang="en-US" sz="1050" dirty="0"/>
          </a:p>
        </p:txBody>
      </p:sp>
      <p:sp>
        <p:nvSpPr>
          <p:cNvPr id="18" name="Shape 16"/>
          <p:cNvSpPr/>
          <p:nvPr/>
        </p:nvSpPr>
        <p:spPr>
          <a:xfrm>
            <a:off x="548640" y="2240280"/>
            <a:ext cx="365760" cy="365760"/>
          </a:xfrm>
          <a:prstGeom prst="ellipse">
            <a:avLst/>
          </a:prstGeom>
          <a:solidFill>
            <a:srgbClr val="0891B2"/>
          </a:solidFill>
          <a:ln/>
        </p:spPr>
        <p:txBody>
          <a:bodyPr/>
          <a:lstStyle/>
          <a:p>
            <a:endParaRPr lang="en-IN"/>
          </a:p>
        </p:txBody>
      </p:sp>
      <p:sp>
        <p:nvSpPr>
          <p:cNvPr id="19" name="Text 17"/>
          <p:cNvSpPr/>
          <p:nvPr/>
        </p:nvSpPr>
        <p:spPr>
          <a:xfrm>
            <a:off x="548640" y="22402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Shape 18"/>
          <p:cNvSpPr/>
          <p:nvPr/>
        </p:nvSpPr>
        <p:spPr>
          <a:xfrm>
            <a:off x="1051560" y="2148840"/>
            <a:ext cx="7635240" cy="53035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1" name="Text 19"/>
          <p:cNvSpPr/>
          <p:nvPr/>
        </p:nvSpPr>
        <p:spPr>
          <a:xfrm>
            <a:off x="1188720" y="2176272"/>
            <a:ext cx="2560320" cy="228600"/>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ClaimAmount input</a:t>
            </a:r>
            <a:endParaRPr lang="en-US" sz="1000" dirty="0"/>
          </a:p>
        </p:txBody>
      </p:sp>
      <p:sp>
        <p:nvSpPr>
          <p:cNvPr id="22" name="Text 20"/>
          <p:cNvSpPr/>
          <p:nvPr/>
        </p:nvSpPr>
        <p:spPr>
          <a:xfrm>
            <a:off x="1188720" y="2404872"/>
            <a:ext cx="7223760" cy="2286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Ask user to enter claim amount; validate positive number within coverage limits</a:t>
            </a:r>
            <a:endParaRPr lang="en-US" sz="1050" dirty="0"/>
          </a:p>
        </p:txBody>
      </p:sp>
      <p:sp>
        <p:nvSpPr>
          <p:cNvPr id="23" name="Shape 21"/>
          <p:cNvSpPr/>
          <p:nvPr/>
        </p:nvSpPr>
        <p:spPr>
          <a:xfrm>
            <a:off x="548640" y="2834640"/>
            <a:ext cx="365760" cy="365760"/>
          </a:xfrm>
          <a:prstGeom prst="ellipse">
            <a:avLst/>
          </a:prstGeom>
          <a:solidFill>
            <a:srgbClr val="0891B2"/>
          </a:solidFill>
          <a:ln/>
        </p:spPr>
        <p:txBody>
          <a:bodyPr/>
          <a:lstStyle/>
          <a:p>
            <a:endParaRPr lang="en-IN"/>
          </a:p>
        </p:txBody>
      </p:sp>
      <p:sp>
        <p:nvSpPr>
          <p:cNvPr id="24" name="Text 22"/>
          <p:cNvSpPr/>
          <p:nvPr/>
        </p:nvSpPr>
        <p:spPr>
          <a:xfrm>
            <a:off x="548640" y="28346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Shape 23"/>
          <p:cNvSpPr/>
          <p:nvPr/>
        </p:nvSpPr>
        <p:spPr>
          <a:xfrm>
            <a:off x="1051560" y="2743200"/>
            <a:ext cx="7635240" cy="53035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6" name="Text 24"/>
          <p:cNvSpPr/>
          <p:nvPr/>
        </p:nvSpPr>
        <p:spPr>
          <a:xfrm>
            <a:off x="1188720" y="2770632"/>
            <a:ext cx="2560320" cy="228600"/>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Description text</a:t>
            </a:r>
            <a:endParaRPr lang="en-US" sz="1000" dirty="0"/>
          </a:p>
        </p:txBody>
      </p:sp>
      <p:sp>
        <p:nvSpPr>
          <p:cNvPr id="27" name="Text 25"/>
          <p:cNvSpPr/>
          <p:nvPr/>
        </p:nvSpPr>
        <p:spPr>
          <a:xfrm>
            <a:off x="1188720" y="2999232"/>
            <a:ext cx="7223760" cy="2286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Ask user to describe the claim in detail</a:t>
            </a:r>
            <a:endParaRPr lang="en-US" sz="1050" dirty="0"/>
          </a:p>
        </p:txBody>
      </p:sp>
      <p:sp>
        <p:nvSpPr>
          <p:cNvPr id="28" name="Shape 26"/>
          <p:cNvSpPr/>
          <p:nvPr/>
        </p:nvSpPr>
        <p:spPr>
          <a:xfrm>
            <a:off x="548640" y="3429000"/>
            <a:ext cx="365760" cy="365760"/>
          </a:xfrm>
          <a:prstGeom prst="ellipse">
            <a:avLst/>
          </a:prstGeom>
          <a:solidFill>
            <a:srgbClr val="0891B2"/>
          </a:solidFill>
          <a:ln/>
        </p:spPr>
        <p:txBody>
          <a:bodyPr/>
          <a:lstStyle/>
          <a:p>
            <a:endParaRPr lang="en-IN"/>
          </a:p>
        </p:txBody>
      </p:sp>
      <p:sp>
        <p:nvSpPr>
          <p:cNvPr id="29" name="Text 27"/>
          <p:cNvSpPr/>
          <p:nvPr/>
        </p:nvSpPr>
        <p:spPr>
          <a:xfrm>
            <a:off x="548640" y="34290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Shape 28"/>
          <p:cNvSpPr/>
          <p:nvPr/>
        </p:nvSpPr>
        <p:spPr>
          <a:xfrm>
            <a:off x="1051560" y="3337560"/>
            <a:ext cx="7635240" cy="53035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31" name="Text 29"/>
          <p:cNvSpPr/>
          <p:nvPr/>
        </p:nvSpPr>
        <p:spPr>
          <a:xfrm>
            <a:off x="1188720" y="3364992"/>
            <a:ext cx="2560320" cy="228600"/>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Submit button (Patch)</a:t>
            </a:r>
            <a:endParaRPr lang="en-US" sz="1000" dirty="0"/>
          </a:p>
        </p:txBody>
      </p:sp>
      <p:sp>
        <p:nvSpPr>
          <p:cNvPr id="32" name="Text 30"/>
          <p:cNvSpPr/>
          <p:nvPr/>
        </p:nvSpPr>
        <p:spPr>
          <a:xfrm>
            <a:off x="1188720" y="3593592"/>
            <a:ext cx="7223760" cy="2286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Create a new record in Claims Dataverse table with all collected info</a:t>
            </a:r>
            <a:endParaRPr lang="en-US" sz="1050" dirty="0"/>
          </a:p>
        </p:txBody>
      </p:sp>
      <p:sp>
        <p:nvSpPr>
          <p:cNvPr id="33" name="Shape 31"/>
          <p:cNvSpPr/>
          <p:nvPr/>
        </p:nvSpPr>
        <p:spPr>
          <a:xfrm>
            <a:off x="548640" y="4023360"/>
            <a:ext cx="365760" cy="365760"/>
          </a:xfrm>
          <a:prstGeom prst="ellipse">
            <a:avLst/>
          </a:prstGeom>
          <a:solidFill>
            <a:srgbClr val="10B981"/>
          </a:solidFill>
          <a:ln/>
        </p:spPr>
        <p:txBody>
          <a:bodyPr/>
          <a:lstStyle/>
          <a:p>
            <a:endParaRPr lang="en-IN"/>
          </a:p>
        </p:txBody>
      </p:sp>
      <p:sp>
        <p:nvSpPr>
          <p:cNvPr id="34" name="Text 32"/>
          <p:cNvSpPr/>
          <p:nvPr/>
        </p:nvSpPr>
        <p:spPr>
          <a:xfrm>
            <a:off x="548640" y="4023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Shape 33"/>
          <p:cNvSpPr/>
          <p:nvPr/>
        </p:nvSpPr>
        <p:spPr>
          <a:xfrm>
            <a:off x="1051560" y="3931920"/>
            <a:ext cx="7635240" cy="53035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36" name="Text 34"/>
          <p:cNvSpPr/>
          <p:nvPr/>
        </p:nvSpPr>
        <p:spPr>
          <a:xfrm>
            <a:off x="1188720" y="3959352"/>
            <a:ext cx="2560320" cy="228600"/>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Navigation → Success</a:t>
            </a:r>
            <a:endParaRPr lang="en-US" sz="1000" dirty="0"/>
          </a:p>
        </p:txBody>
      </p:sp>
      <p:sp>
        <p:nvSpPr>
          <p:cNvPr id="37" name="Text 35"/>
          <p:cNvSpPr/>
          <p:nvPr/>
        </p:nvSpPr>
        <p:spPr>
          <a:xfrm>
            <a:off x="1188720" y="4187952"/>
            <a:ext cx="7223760" cy="2286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Confirm successful submission and provide claim reference number</a:t>
            </a:r>
            <a:endParaRPr lang="en-US" sz="1050" dirty="0"/>
          </a:p>
        </p:txBody>
      </p:sp>
      <p:sp>
        <p:nvSpPr>
          <p:cNvPr id="38" name="Text 36"/>
          <p:cNvSpPr/>
          <p:nvPr/>
        </p:nvSpPr>
        <p:spPr>
          <a:xfrm>
            <a:off x="640080" y="4572000"/>
            <a:ext cx="7863840" cy="228600"/>
          </a:xfrm>
          <a:prstGeom prst="rect">
            <a:avLst/>
          </a:prstGeom>
          <a:noFill/>
          <a:ln/>
        </p:spPr>
        <p:txBody>
          <a:bodyPr wrap="square" lIns="0" tIns="0" rIns="0" bIns="0" rtlCol="0" anchor="ctr"/>
          <a:lstStyle/>
          <a:p>
            <a:pPr marL="0" indent="0" algn="ctr">
              <a:buNone/>
            </a:pPr>
            <a:r>
              <a:rPr lang="en-US" sz="1000" i="1" dirty="0">
                <a:solidFill>
                  <a:srgbClr val="0E7490"/>
                </a:solidFill>
                <a:latin typeface="Calibri" pitchFamily="34" charset="0"/>
                <a:ea typeface="Calibri" pitchFamily="34" charset="-122"/>
                <a:cs typeface="Calibri" pitchFamily="34" charset="-120"/>
              </a:rPr>
              <a:t>Steps map directly to Copilot Studio topics — each step becomes a conversation turn in the agent.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9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Knowledge — Beyond Dataverse</a:t>
            </a:r>
            <a:endParaRPr lang="en-US" sz="2200" dirty="0"/>
          </a:p>
        </p:txBody>
      </p:sp>
      <p:sp>
        <p:nvSpPr>
          <p:cNvPr id="8" name="Shape 6"/>
          <p:cNvSpPr/>
          <p:nvPr/>
        </p:nvSpPr>
        <p:spPr>
          <a:xfrm>
            <a:off x="457200" y="1005840"/>
            <a:ext cx="502920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Shape 7"/>
          <p:cNvSpPr/>
          <p:nvPr/>
        </p:nvSpPr>
        <p:spPr>
          <a:xfrm>
            <a:off x="457200" y="1005840"/>
            <a:ext cx="64008" cy="594360"/>
          </a:xfrm>
          <a:prstGeom prst="rect">
            <a:avLst/>
          </a:prstGeom>
          <a:solidFill>
            <a:srgbClr val="0E7490"/>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685800" y="1143000"/>
            <a:ext cx="301752" cy="301752"/>
          </a:xfrm>
          <a:prstGeom prst="rect">
            <a:avLst/>
          </a:prstGeom>
        </p:spPr>
      </p:pic>
      <p:sp>
        <p:nvSpPr>
          <p:cNvPr id="11" name="Text 8"/>
          <p:cNvSpPr/>
          <p:nvPr/>
        </p:nvSpPr>
        <p:spPr>
          <a:xfrm>
            <a:off x="1097280" y="1051560"/>
            <a:ext cx="411480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Dataverse Tables</a:t>
            </a:r>
            <a:endParaRPr lang="en-US" sz="1200" dirty="0"/>
          </a:p>
        </p:txBody>
      </p:sp>
      <p:sp>
        <p:nvSpPr>
          <p:cNvPr id="12" name="Text 9"/>
          <p:cNvSpPr/>
          <p:nvPr/>
        </p:nvSpPr>
        <p:spPr>
          <a:xfrm>
            <a:off x="1097280" y="1280160"/>
            <a:ext cx="41148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Structured data — Customers, Policies, Claims, Transactions — accessible via MCP</a:t>
            </a:r>
            <a:endParaRPr lang="en-US" sz="1000" dirty="0"/>
          </a:p>
        </p:txBody>
      </p:sp>
      <p:sp>
        <p:nvSpPr>
          <p:cNvPr id="13" name="Shape 10"/>
          <p:cNvSpPr/>
          <p:nvPr/>
        </p:nvSpPr>
        <p:spPr>
          <a:xfrm>
            <a:off x="457200" y="1664208"/>
            <a:ext cx="502920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4" name="Shape 11"/>
          <p:cNvSpPr/>
          <p:nvPr/>
        </p:nvSpPr>
        <p:spPr>
          <a:xfrm>
            <a:off x="457200" y="1664208"/>
            <a:ext cx="64008" cy="594360"/>
          </a:xfrm>
          <a:prstGeom prst="rect">
            <a:avLst/>
          </a:prstGeom>
          <a:solidFill>
            <a:srgbClr val="0891B2"/>
          </a:solidFill>
          <a:ln/>
        </p:spPr>
        <p:txBody>
          <a:bodyPr/>
          <a:lstStyle/>
          <a:p>
            <a:endParaRPr lang="en-IN"/>
          </a:p>
        </p:txBody>
      </p:sp>
      <p:pic>
        <p:nvPicPr>
          <p:cNvPr id="15" name="Image 1" descr="preencoded.png"/>
          <p:cNvPicPr>
            <a:picLocks noChangeAspect="1"/>
          </p:cNvPicPr>
          <p:nvPr/>
        </p:nvPicPr>
        <p:blipFill>
          <a:blip r:embed="rId4"/>
          <a:stretch>
            <a:fillRect/>
          </a:stretch>
        </p:blipFill>
        <p:spPr>
          <a:xfrm>
            <a:off x="685800" y="1801368"/>
            <a:ext cx="301752" cy="301752"/>
          </a:xfrm>
          <a:prstGeom prst="rect">
            <a:avLst/>
          </a:prstGeom>
        </p:spPr>
      </p:pic>
      <p:sp>
        <p:nvSpPr>
          <p:cNvPr id="16" name="Text 12"/>
          <p:cNvSpPr/>
          <p:nvPr/>
        </p:nvSpPr>
        <p:spPr>
          <a:xfrm>
            <a:off x="1097280" y="1709928"/>
            <a:ext cx="411480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PDF Documents</a:t>
            </a:r>
            <a:endParaRPr lang="en-US" sz="1200" dirty="0"/>
          </a:p>
        </p:txBody>
      </p:sp>
      <p:sp>
        <p:nvSpPr>
          <p:cNvPr id="17" name="Text 13"/>
          <p:cNvSpPr/>
          <p:nvPr/>
        </p:nvSpPr>
        <p:spPr>
          <a:xfrm>
            <a:off x="1097280" y="1938528"/>
            <a:ext cx="41148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Product guides, policy wordings, compliance handbooks, claims procedures</a:t>
            </a:r>
            <a:endParaRPr lang="en-US" sz="1000" dirty="0"/>
          </a:p>
        </p:txBody>
      </p:sp>
      <p:sp>
        <p:nvSpPr>
          <p:cNvPr id="18" name="Shape 14"/>
          <p:cNvSpPr/>
          <p:nvPr/>
        </p:nvSpPr>
        <p:spPr>
          <a:xfrm>
            <a:off x="457200" y="2322576"/>
            <a:ext cx="502920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9" name="Shape 15"/>
          <p:cNvSpPr/>
          <p:nvPr/>
        </p:nvSpPr>
        <p:spPr>
          <a:xfrm>
            <a:off x="457200" y="2322576"/>
            <a:ext cx="64008" cy="594360"/>
          </a:xfrm>
          <a:prstGeom prst="rect">
            <a:avLst/>
          </a:prstGeom>
          <a:solidFill>
            <a:srgbClr val="06B6D4"/>
          </a:solidFill>
          <a:ln/>
        </p:spPr>
        <p:txBody>
          <a:bodyPr/>
          <a:lstStyle/>
          <a:p>
            <a:endParaRPr lang="en-IN"/>
          </a:p>
        </p:txBody>
      </p:sp>
      <p:pic>
        <p:nvPicPr>
          <p:cNvPr id="20" name="Image 2" descr="preencoded.png"/>
          <p:cNvPicPr>
            <a:picLocks noChangeAspect="1"/>
          </p:cNvPicPr>
          <p:nvPr/>
        </p:nvPicPr>
        <p:blipFill>
          <a:blip r:embed="rId5"/>
          <a:stretch>
            <a:fillRect/>
          </a:stretch>
        </p:blipFill>
        <p:spPr>
          <a:xfrm>
            <a:off x="685800" y="2459736"/>
            <a:ext cx="301752" cy="301752"/>
          </a:xfrm>
          <a:prstGeom prst="rect">
            <a:avLst/>
          </a:prstGeom>
        </p:spPr>
      </p:pic>
      <p:sp>
        <p:nvSpPr>
          <p:cNvPr id="21" name="Text 16"/>
          <p:cNvSpPr/>
          <p:nvPr/>
        </p:nvSpPr>
        <p:spPr>
          <a:xfrm>
            <a:off x="1097280" y="2368296"/>
            <a:ext cx="411480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Word Documents</a:t>
            </a:r>
            <a:endParaRPr lang="en-US" sz="1200" dirty="0"/>
          </a:p>
        </p:txBody>
      </p:sp>
      <p:sp>
        <p:nvSpPr>
          <p:cNvPr id="22" name="Text 17"/>
          <p:cNvSpPr/>
          <p:nvPr/>
        </p:nvSpPr>
        <p:spPr>
          <a:xfrm>
            <a:off x="1097280" y="2596896"/>
            <a:ext cx="41148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SOPs, training manuals, regulatory guidelines, internal memos</a:t>
            </a:r>
            <a:endParaRPr lang="en-US" sz="1000" dirty="0"/>
          </a:p>
        </p:txBody>
      </p:sp>
      <p:sp>
        <p:nvSpPr>
          <p:cNvPr id="23" name="Shape 18"/>
          <p:cNvSpPr/>
          <p:nvPr/>
        </p:nvSpPr>
        <p:spPr>
          <a:xfrm>
            <a:off x="457200" y="2980944"/>
            <a:ext cx="502920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4" name="Shape 19"/>
          <p:cNvSpPr/>
          <p:nvPr/>
        </p:nvSpPr>
        <p:spPr>
          <a:xfrm>
            <a:off x="457200" y="2980944"/>
            <a:ext cx="64008" cy="594360"/>
          </a:xfrm>
          <a:prstGeom prst="rect">
            <a:avLst/>
          </a:prstGeom>
          <a:solidFill>
            <a:srgbClr val="F59E0B"/>
          </a:solidFill>
          <a:ln/>
        </p:spPr>
        <p:txBody>
          <a:bodyPr/>
          <a:lstStyle/>
          <a:p>
            <a:endParaRPr lang="en-IN"/>
          </a:p>
        </p:txBody>
      </p:sp>
      <p:pic>
        <p:nvPicPr>
          <p:cNvPr id="25" name="Image 3" descr="preencoded.png"/>
          <p:cNvPicPr>
            <a:picLocks noChangeAspect="1"/>
          </p:cNvPicPr>
          <p:nvPr/>
        </p:nvPicPr>
        <p:blipFill>
          <a:blip r:embed="rId6"/>
          <a:stretch>
            <a:fillRect/>
          </a:stretch>
        </p:blipFill>
        <p:spPr>
          <a:xfrm>
            <a:off x="685800" y="3118104"/>
            <a:ext cx="301752" cy="301752"/>
          </a:xfrm>
          <a:prstGeom prst="rect">
            <a:avLst/>
          </a:prstGeom>
        </p:spPr>
      </p:pic>
      <p:sp>
        <p:nvSpPr>
          <p:cNvPr id="26" name="Text 20"/>
          <p:cNvSpPr/>
          <p:nvPr/>
        </p:nvSpPr>
        <p:spPr>
          <a:xfrm>
            <a:off x="1097280" y="3026664"/>
            <a:ext cx="411480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SharePoint Pages</a:t>
            </a:r>
            <a:endParaRPr lang="en-US" sz="1200" dirty="0"/>
          </a:p>
        </p:txBody>
      </p:sp>
      <p:sp>
        <p:nvSpPr>
          <p:cNvPr id="27" name="Text 21"/>
          <p:cNvSpPr/>
          <p:nvPr/>
        </p:nvSpPr>
        <p:spPr>
          <a:xfrm>
            <a:off x="1097280" y="3255264"/>
            <a:ext cx="41148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Intranet content, FAQ pages, process documentation, team wikis</a:t>
            </a:r>
            <a:endParaRPr lang="en-US" sz="1000" dirty="0"/>
          </a:p>
        </p:txBody>
      </p:sp>
      <p:sp>
        <p:nvSpPr>
          <p:cNvPr id="28" name="Shape 22"/>
          <p:cNvSpPr/>
          <p:nvPr/>
        </p:nvSpPr>
        <p:spPr>
          <a:xfrm>
            <a:off x="457200" y="3639312"/>
            <a:ext cx="502920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9" name="Shape 23"/>
          <p:cNvSpPr/>
          <p:nvPr/>
        </p:nvSpPr>
        <p:spPr>
          <a:xfrm>
            <a:off x="457200" y="3639312"/>
            <a:ext cx="64008" cy="594360"/>
          </a:xfrm>
          <a:prstGeom prst="rect">
            <a:avLst/>
          </a:prstGeom>
          <a:solidFill>
            <a:srgbClr val="D97706"/>
          </a:solidFill>
          <a:ln/>
        </p:spPr>
        <p:txBody>
          <a:bodyPr/>
          <a:lstStyle/>
          <a:p>
            <a:endParaRPr lang="en-IN"/>
          </a:p>
        </p:txBody>
      </p:sp>
      <p:pic>
        <p:nvPicPr>
          <p:cNvPr id="30" name="Image 4" descr="preencoded.png"/>
          <p:cNvPicPr>
            <a:picLocks noChangeAspect="1"/>
          </p:cNvPicPr>
          <p:nvPr/>
        </p:nvPicPr>
        <p:blipFill>
          <a:blip r:embed="rId7"/>
          <a:stretch>
            <a:fillRect/>
          </a:stretch>
        </p:blipFill>
        <p:spPr>
          <a:xfrm>
            <a:off x="685800" y="3776472"/>
            <a:ext cx="301752" cy="301752"/>
          </a:xfrm>
          <a:prstGeom prst="rect">
            <a:avLst/>
          </a:prstGeom>
        </p:spPr>
      </p:pic>
      <p:sp>
        <p:nvSpPr>
          <p:cNvPr id="31" name="Text 24"/>
          <p:cNvSpPr/>
          <p:nvPr/>
        </p:nvSpPr>
        <p:spPr>
          <a:xfrm>
            <a:off x="1097280" y="3685032"/>
            <a:ext cx="411480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Public Websites</a:t>
            </a:r>
            <a:endParaRPr lang="en-US" sz="1200" dirty="0"/>
          </a:p>
        </p:txBody>
      </p:sp>
      <p:sp>
        <p:nvSpPr>
          <p:cNvPr id="32" name="Text 25"/>
          <p:cNvSpPr/>
          <p:nvPr/>
        </p:nvSpPr>
        <p:spPr>
          <a:xfrm>
            <a:off x="1097280" y="3913632"/>
            <a:ext cx="41148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Regulatory sites, product information pages, partner portals</a:t>
            </a:r>
            <a:endParaRPr lang="en-US" sz="1000" dirty="0"/>
          </a:p>
        </p:txBody>
      </p:sp>
      <p:sp>
        <p:nvSpPr>
          <p:cNvPr id="33" name="Shape 26"/>
          <p:cNvSpPr/>
          <p:nvPr/>
        </p:nvSpPr>
        <p:spPr>
          <a:xfrm>
            <a:off x="5760720" y="1005840"/>
            <a:ext cx="2926080" cy="3200400"/>
          </a:xfrm>
          <a:prstGeom prst="rect">
            <a:avLst/>
          </a:prstGeom>
          <a:solidFill>
            <a:srgbClr val="0F1B2D"/>
          </a:solidFill>
          <a:ln/>
          <a:effectLst>
            <a:outerShdw blurRad="76200" dist="25400" dir="8100000" algn="bl" rotWithShape="0">
              <a:srgbClr val="000000">
                <a:alpha val="12000"/>
              </a:srgbClr>
            </a:outerShdw>
          </a:effectLst>
        </p:spPr>
        <p:txBody>
          <a:bodyPr/>
          <a:lstStyle/>
          <a:p>
            <a:endParaRPr lang="en-IN"/>
          </a:p>
        </p:txBody>
      </p:sp>
      <p:pic>
        <p:nvPicPr>
          <p:cNvPr id="34" name="Image 5" descr="preencoded.png"/>
          <p:cNvPicPr>
            <a:picLocks noChangeAspect="1"/>
          </p:cNvPicPr>
          <p:nvPr/>
        </p:nvPicPr>
        <p:blipFill>
          <a:blip r:embed="rId8"/>
          <a:stretch>
            <a:fillRect/>
          </a:stretch>
        </p:blipFill>
        <p:spPr>
          <a:xfrm>
            <a:off x="6903720" y="1188720"/>
            <a:ext cx="457200" cy="457200"/>
          </a:xfrm>
          <a:prstGeom prst="rect">
            <a:avLst/>
          </a:prstGeom>
        </p:spPr>
      </p:pic>
      <p:sp>
        <p:nvSpPr>
          <p:cNvPr id="35" name="Text 27"/>
          <p:cNvSpPr/>
          <p:nvPr/>
        </p:nvSpPr>
        <p:spPr>
          <a:xfrm>
            <a:off x="5943600" y="1737360"/>
            <a:ext cx="2560320" cy="457200"/>
          </a:xfrm>
          <a:prstGeom prst="rect">
            <a:avLst/>
          </a:prstGeom>
          <a:noFill/>
          <a:ln/>
        </p:spPr>
        <p:txBody>
          <a:bodyPr wrap="square" lIns="0" tIns="0" rIns="0" bIns="0" rtlCol="0" anchor="ctr"/>
          <a:lstStyle/>
          <a:p>
            <a:pPr marL="0" indent="0" algn="ctr">
              <a:buNone/>
            </a:pPr>
            <a:r>
              <a:rPr lang="en-US" sz="1200" b="1" kern="0" spc="100" dirty="0">
                <a:solidFill>
                  <a:srgbClr val="06B6D4"/>
                </a:solidFill>
                <a:latin typeface="Calibri" pitchFamily="34" charset="0"/>
                <a:ea typeface="Calibri" pitchFamily="34" charset="-122"/>
                <a:cs typeface="Calibri" pitchFamily="34" charset="-120"/>
              </a:rPr>
              <a:t>BFSI KNOWLEDGE</a:t>
            </a:r>
            <a:endParaRPr lang="en-US" sz="1200" dirty="0"/>
          </a:p>
          <a:p>
            <a:pPr marL="0" indent="0" algn="ctr">
              <a:buNone/>
            </a:pPr>
            <a:r>
              <a:rPr lang="en-US" sz="1200" b="1" kern="0" spc="100" dirty="0">
                <a:solidFill>
                  <a:srgbClr val="06B6D4"/>
                </a:solidFill>
                <a:latin typeface="Calibri" pitchFamily="34" charset="0"/>
                <a:ea typeface="Calibri" pitchFamily="34" charset="-122"/>
                <a:cs typeface="Calibri" pitchFamily="34" charset="-120"/>
              </a:rPr>
              <a:t>IN ACTION</a:t>
            </a:r>
            <a:endParaRPr lang="en-US" sz="1200" dirty="0"/>
          </a:p>
        </p:txBody>
      </p:sp>
      <p:sp>
        <p:nvSpPr>
          <p:cNvPr id="36" name="Text 28"/>
          <p:cNvSpPr/>
          <p:nvPr/>
        </p:nvSpPr>
        <p:spPr>
          <a:xfrm>
            <a:off x="5943600" y="2331720"/>
            <a:ext cx="2560320" cy="1645920"/>
          </a:xfrm>
          <a:prstGeom prst="rect">
            <a:avLst/>
          </a:prstGeom>
          <a:noFill/>
          <a:ln/>
        </p:spPr>
        <p:txBody>
          <a:bodyPr wrap="square" lIns="0" tIns="0" rIns="0" bIns="0" rtlCol="0" anchor="ctr"/>
          <a:lstStyle/>
          <a:p>
            <a:pPr marL="0" indent="0" algn="ctr">
              <a:lnSpc>
                <a:spcPct val="130000"/>
              </a:lnSpc>
              <a:buNone/>
            </a:pPr>
            <a:r>
              <a:rPr lang="en-US" sz="1050" dirty="0">
                <a:solidFill>
                  <a:srgbClr val="E2E8F0"/>
                </a:solidFill>
                <a:latin typeface="Calibri" pitchFamily="34" charset="0"/>
                <a:ea typeface="Calibri" pitchFamily="34" charset="-122"/>
                <a:cs typeface="Calibri" pitchFamily="34" charset="-120"/>
              </a:rPr>
              <a:t>Agents can reference insurance product PDFs, KYC compliance documents in Word format, claims processing SOPs from SharePoint, and structured customer data from Dataverse — all in a single conversational experience.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Triggers — When the Agent Activates</a:t>
            </a:r>
            <a:endParaRPr lang="en-US" sz="2200" dirty="0"/>
          </a:p>
        </p:txBody>
      </p:sp>
      <p:sp>
        <p:nvSpPr>
          <p:cNvPr id="8" name="Shape 6"/>
          <p:cNvSpPr/>
          <p:nvPr/>
        </p:nvSpPr>
        <p:spPr>
          <a:xfrm>
            <a:off x="457200" y="960120"/>
            <a:ext cx="8229600" cy="868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Shape 7"/>
          <p:cNvSpPr/>
          <p:nvPr/>
        </p:nvSpPr>
        <p:spPr>
          <a:xfrm>
            <a:off x="457200" y="960120"/>
            <a:ext cx="1645920" cy="868680"/>
          </a:xfrm>
          <a:prstGeom prst="rect">
            <a:avLst/>
          </a:prstGeom>
          <a:solidFill>
            <a:srgbClr val="0891B2"/>
          </a:solidFill>
          <a:ln/>
        </p:spPr>
        <p:txBody>
          <a:bodyPr/>
          <a:lstStyle/>
          <a:p>
            <a:endParaRPr lang="en-IN"/>
          </a:p>
        </p:txBody>
      </p:sp>
      <p:sp>
        <p:nvSpPr>
          <p:cNvPr id="10" name="Text 8"/>
          <p:cNvSpPr/>
          <p:nvPr/>
        </p:nvSpPr>
        <p:spPr>
          <a:xfrm>
            <a:off x="457200" y="960120"/>
            <a:ext cx="1645920"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Conversational</a:t>
            </a:r>
            <a:endParaRPr lang="en-US" sz="1200" dirty="0"/>
          </a:p>
        </p:txBody>
      </p:sp>
      <p:sp>
        <p:nvSpPr>
          <p:cNvPr id="11" name="Text 9"/>
          <p:cNvSpPr/>
          <p:nvPr/>
        </p:nvSpPr>
        <p:spPr>
          <a:xfrm>
            <a:off x="2286000" y="1033272"/>
            <a:ext cx="6217920" cy="32004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Agent activates when a user sends a message in chat (Teams, web, embedded)</a:t>
            </a:r>
            <a:endParaRPr lang="en-US" sz="1100" dirty="0"/>
          </a:p>
        </p:txBody>
      </p:sp>
      <p:sp>
        <p:nvSpPr>
          <p:cNvPr id="12" name="Text 10"/>
          <p:cNvSpPr/>
          <p:nvPr/>
        </p:nvSpPr>
        <p:spPr>
          <a:xfrm>
            <a:off x="2286000" y="1399032"/>
            <a:ext cx="6217920" cy="365760"/>
          </a:xfrm>
          <a:prstGeom prst="rect">
            <a:avLst/>
          </a:prstGeom>
          <a:noFill/>
          <a:ln/>
        </p:spPr>
        <p:txBody>
          <a:bodyPr wrap="square" lIns="0" tIns="0" rIns="0" bIns="0" rtlCol="0" anchor="ctr"/>
          <a:lstStyle/>
          <a:p>
            <a:pPr marL="0" indent="0">
              <a:buNone/>
            </a:pPr>
            <a:r>
              <a:rPr lang="en-US" sz="1000" i="1" dirty="0">
                <a:solidFill>
                  <a:srgbClr val="334155"/>
                </a:solidFill>
                <a:latin typeface="Calibri" pitchFamily="34" charset="0"/>
                <a:ea typeface="Calibri" pitchFamily="34" charset="-122"/>
                <a:cs typeface="Calibri" pitchFamily="34" charset="-120"/>
              </a:rPr>
              <a:t>BFSI Example: Customer opens chat widget on insurance portal and asks about claim status</a:t>
            </a:r>
            <a:endParaRPr lang="en-US" sz="1000" dirty="0"/>
          </a:p>
        </p:txBody>
      </p:sp>
      <p:sp>
        <p:nvSpPr>
          <p:cNvPr id="13" name="Shape 11"/>
          <p:cNvSpPr/>
          <p:nvPr/>
        </p:nvSpPr>
        <p:spPr>
          <a:xfrm>
            <a:off x="457200" y="1920240"/>
            <a:ext cx="8229600" cy="868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4" name="Shape 12"/>
          <p:cNvSpPr/>
          <p:nvPr/>
        </p:nvSpPr>
        <p:spPr>
          <a:xfrm>
            <a:off x="457200" y="1920240"/>
            <a:ext cx="1645920" cy="868680"/>
          </a:xfrm>
          <a:prstGeom prst="rect">
            <a:avLst/>
          </a:prstGeom>
          <a:solidFill>
            <a:srgbClr val="0E7490"/>
          </a:solidFill>
          <a:ln/>
        </p:spPr>
        <p:txBody>
          <a:bodyPr/>
          <a:lstStyle/>
          <a:p>
            <a:endParaRPr lang="en-IN"/>
          </a:p>
        </p:txBody>
      </p:sp>
      <p:sp>
        <p:nvSpPr>
          <p:cNvPr id="15" name="Text 13"/>
          <p:cNvSpPr/>
          <p:nvPr/>
        </p:nvSpPr>
        <p:spPr>
          <a:xfrm>
            <a:off x="457200" y="1920240"/>
            <a:ext cx="1645920"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Event-Driven</a:t>
            </a:r>
            <a:endParaRPr lang="en-US" sz="1200" dirty="0"/>
          </a:p>
        </p:txBody>
      </p:sp>
      <p:sp>
        <p:nvSpPr>
          <p:cNvPr id="16" name="Text 14"/>
          <p:cNvSpPr/>
          <p:nvPr/>
        </p:nvSpPr>
        <p:spPr>
          <a:xfrm>
            <a:off x="2286000" y="1993392"/>
            <a:ext cx="6217920" cy="32004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Agent activates when a Dataverse event occurs (record created, updated, deleted)</a:t>
            </a:r>
            <a:endParaRPr lang="en-US" sz="1100" dirty="0"/>
          </a:p>
        </p:txBody>
      </p:sp>
      <p:sp>
        <p:nvSpPr>
          <p:cNvPr id="17" name="Text 15"/>
          <p:cNvSpPr/>
          <p:nvPr/>
        </p:nvSpPr>
        <p:spPr>
          <a:xfrm>
            <a:off x="2286000" y="2359152"/>
            <a:ext cx="6217920" cy="365760"/>
          </a:xfrm>
          <a:prstGeom prst="rect">
            <a:avLst/>
          </a:prstGeom>
          <a:noFill/>
          <a:ln/>
        </p:spPr>
        <p:txBody>
          <a:bodyPr wrap="square" lIns="0" tIns="0" rIns="0" bIns="0" rtlCol="0" anchor="ctr"/>
          <a:lstStyle/>
          <a:p>
            <a:pPr marL="0" indent="0">
              <a:buNone/>
            </a:pPr>
            <a:r>
              <a:rPr lang="en-US" sz="1000" i="1" dirty="0">
                <a:solidFill>
                  <a:srgbClr val="334155"/>
                </a:solidFill>
                <a:latin typeface="Calibri" pitchFamily="34" charset="0"/>
                <a:ea typeface="Calibri" pitchFamily="34" charset="-122"/>
                <a:cs typeface="Calibri" pitchFamily="34" charset="-120"/>
              </a:rPr>
              <a:t>BFSI Example: New claim record created triggers agent to notify assigned adjuster</a:t>
            </a:r>
            <a:endParaRPr lang="en-US" sz="1000" dirty="0"/>
          </a:p>
        </p:txBody>
      </p:sp>
      <p:sp>
        <p:nvSpPr>
          <p:cNvPr id="18" name="Shape 16"/>
          <p:cNvSpPr/>
          <p:nvPr/>
        </p:nvSpPr>
        <p:spPr>
          <a:xfrm>
            <a:off x="457200" y="2880360"/>
            <a:ext cx="8229600" cy="868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9" name="Shape 17"/>
          <p:cNvSpPr/>
          <p:nvPr/>
        </p:nvSpPr>
        <p:spPr>
          <a:xfrm>
            <a:off x="457200" y="2880360"/>
            <a:ext cx="1645920" cy="868680"/>
          </a:xfrm>
          <a:prstGeom prst="rect">
            <a:avLst/>
          </a:prstGeom>
          <a:solidFill>
            <a:srgbClr val="F59E0B"/>
          </a:solidFill>
          <a:ln/>
        </p:spPr>
        <p:txBody>
          <a:bodyPr/>
          <a:lstStyle/>
          <a:p>
            <a:endParaRPr lang="en-IN"/>
          </a:p>
        </p:txBody>
      </p:sp>
      <p:sp>
        <p:nvSpPr>
          <p:cNvPr id="20" name="Text 18"/>
          <p:cNvSpPr/>
          <p:nvPr/>
        </p:nvSpPr>
        <p:spPr>
          <a:xfrm>
            <a:off x="457200" y="2880360"/>
            <a:ext cx="1645920"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Scheduled</a:t>
            </a:r>
            <a:endParaRPr lang="en-US" sz="1200" dirty="0"/>
          </a:p>
        </p:txBody>
      </p:sp>
      <p:sp>
        <p:nvSpPr>
          <p:cNvPr id="21" name="Text 19"/>
          <p:cNvSpPr/>
          <p:nvPr/>
        </p:nvSpPr>
        <p:spPr>
          <a:xfrm>
            <a:off x="2286000" y="2953512"/>
            <a:ext cx="6217920" cy="32004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Agent activates on a time-based schedule</a:t>
            </a:r>
            <a:endParaRPr lang="en-US" sz="1100" dirty="0"/>
          </a:p>
        </p:txBody>
      </p:sp>
      <p:sp>
        <p:nvSpPr>
          <p:cNvPr id="22" name="Text 20"/>
          <p:cNvSpPr/>
          <p:nvPr/>
        </p:nvSpPr>
        <p:spPr>
          <a:xfrm>
            <a:off x="2286000" y="3319272"/>
            <a:ext cx="6217920" cy="365760"/>
          </a:xfrm>
          <a:prstGeom prst="rect">
            <a:avLst/>
          </a:prstGeom>
          <a:noFill/>
          <a:ln/>
        </p:spPr>
        <p:txBody>
          <a:bodyPr wrap="square" lIns="0" tIns="0" rIns="0" bIns="0" rtlCol="0" anchor="ctr"/>
          <a:lstStyle/>
          <a:p>
            <a:pPr marL="0" indent="0">
              <a:buNone/>
            </a:pPr>
            <a:r>
              <a:rPr lang="en-US" sz="1000" i="1" dirty="0">
                <a:solidFill>
                  <a:srgbClr val="334155"/>
                </a:solidFill>
                <a:latin typeface="Calibri" pitchFamily="34" charset="0"/>
                <a:ea typeface="Calibri" pitchFamily="34" charset="-122"/>
                <a:cs typeface="Calibri" pitchFamily="34" charset="-120"/>
              </a:rPr>
              <a:t>BFSI Example: Every morning at 8 AM, agent generates claims pipeline summary</a:t>
            </a:r>
            <a:endParaRPr lang="en-US" sz="1000" dirty="0"/>
          </a:p>
        </p:txBody>
      </p:sp>
      <p:sp>
        <p:nvSpPr>
          <p:cNvPr id="23" name="Shape 21"/>
          <p:cNvSpPr/>
          <p:nvPr/>
        </p:nvSpPr>
        <p:spPr>
          <a:xfrm>
            <a:off x="457200" y="3840480"/>
            <a:ext cx="8229600" cy="868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4" name="Shape 22"/>
          <p:cNvSpPr/>
          <p:nvPr/>
        </p:nvSpPr>
        <p:spPr>
          <a:xfrm>
            <a:off x="457200" y="3840480"/>
            <a:ext cx="1645920" cy="868680"/>
          </a:xfrm>
          <a:prstGeom prst="rect">
            <a:avLst/>
          </a:prstGeom>
          <a:solidFill>
            <a:srgbClr val="D97706"/>
          </a:solidFill>
          <a:ln/>
        </p:spPr>
        <p:txBody>
          <a:bodyPr/>
          <a:lstStyle/>
          <a:p>
            <a:endParaRPr lang="en-IN"/>
          </a:p>
        </p:txBody>
      </p:sp>
      <p:sp>
        <p:nvSpPr>
          <p:cNvPr id="25" name="Text 23"/>
          <p:cNvSpPr/>
          <p:nvPr/>
        </p:nvSpPr>
        <p:spPr>
          <a:xfrm>
            <a:off x="457200" y="3840480"/>
            <a:ext cx="1645920"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Deep Link</a:t>
            </a:r>
            <a:endParaRPr lang="en-US" sz="1200" dirty="0"/>
          </a:p>
        </p:txBody>
      </p:sp>
      <p:sp>
        <p:nvSpPr>
          <p:cNvPr id="26" name="Text 24"/>
          <p:cNvSpPr/>
          <p:nvPr/>
        </p:nvSpPr>
        <p:spPr>
          <a:xfrm>
            <a:off x="2286000" y="3913632"/>
            <a:ext cx="6217920" cy="32004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Agent activates with pre-filled context from a URL or app navigation</a:t>
            </a:r>
            <a:endParaRPr lang="en-US" sz="1100" dirty="0"/>
          </a:p>
        </p:txBody>
      </p:sp>
      <p:sp>
        <p:nvSpPr>
          <p:cNvPr id="27" name="Text 25"/>
          <p:cNvSpPr/>
          <p:nvPr/>
        </p:nvSpPr>
        <p:spPr>
          <a:xfrm>
            <a:off x="2286000" y="4279392"/>
            <a:ext cx="6217920" cy="365760"/>
          </a:xfrm>
          <a:prstGeom prst="rect">
            <a:avLst/>
          </a:prstGeom>
          <a:noFill/>
          <a:ln/>
        </p:spPr>
        <p:txBody>
          <a:bodyPr wrap="square" lIns="0" tIns="0" rIns="0" bIns="0" rtlCol="0" anchor="ctr"/>
          <a:lstStyle/>
          <a:p>
            <a:pPr marL="0" indent="0">
              <a:buNone/>
            </a:pPr>
            <a:r>
              <a:rPr lang="en-US" sz="1000" i="1" dirty="0">
                <a:solidFill>
                  <a:srgbClr val="334155"/>
                </a:solidFill>
                <a:latin typeface="Calibri" pitchFamily="34" charset="0"/>
                <a:ea typeface="Calibri" pitchFamily="34" charset="-122"/>
                <a:cs typeface="Calibri" pitchFamily="34" charset="-120"/>
              </a:rPr>
              <a:t>BFSI Example: Link in email opens agent with specific claim ID pre-populated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The Agent Builder Workflow — 5 Stages</a:t>
            </a:r>
            <a:endParaRPr lang="en-US" sz="2200" dirty="0"/>
          </a:p>
        </p:txBody>
      </p:sp>
      <p:sp>
        <p:nvSpPr>
          <p:cNvPr id="8" name="Shape 6"/>
          <p:cNvSpPr/>
          <p:nvPr/>
        </p:nvSpPr>
        <p:spPr>
          <a:xfrm>
            <a:off x="274320" y="1005840"/>
            <a:ext cx="1627632"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Shape 7"/>
          <p:cNvSpPr/>
          <p:nvPr/>
        </p:nvSpPr>
        <p:spPr>
          <a:xfrm>
            <a:off x="274320" y="1005840"/>
            <a:ext cx="1627632" cy="54864"/>
          </a:xfrm>
          <a:prstGeom prst="rect">
            <a:avLst/>
          </a:prstGeom>
          <a:solidFill>
            <a:srgbClr val="0E7490"/>
          </a:solidFill>
          <a:ln/>
        </p:spPr>
        <p:txBody>
          <a:bodyPr/>
          <a:lstStyle/>
          <a:p>
            <a:endParaRPr lang="en-IN"/>
          </a:p>
        </p:txBody>
      </p:sp>
      <p:sp>
        <p:nvSpPr>
          <p:cNvPr id="10" name="Shape 8"/>
          <p:cNvSpPr/>
          <p:nvPr/>
        </p:nvSpPr>
        <p:spPr>
          <a:xfrm>
            <a:off x="777240" y="1234440"/>
            <a:ext cx="594360" cy="594360"/>
          </a:xfrm>
          <a:prstGeom prst="ellipse">
            <a:avLst/>
          </a:prstGeom>
          <a:solidFill>
            <a:srgbClr val="0E7490"/>
          </a:solidFill>
          <a:ln/>
        </p:spPr>
        <p:txBody>
          <a:bodyPr/>
          <a:lstStyle/>
          <a:p>
            <a:endParaRPr lang="en-IN"/>
          </a:p>
        </p:txBody>
      </p:sp>
      <p:sp>
        <p:nvSpPr>
          <p:cNvPr id="11" name="Text 9"/>
          <p:cNvSpPr/>
          <p:nvPr/>
        </p:nvSpPr>
        <p:spPr>
          <a:xfrm>
            <a:off x="777240" y="12344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12" name="Text 10"/>
          <p:cNvSpPr/>
          <p:nvPr/>
        </p:nvSpPr>
        <p:spPr>
          <a:xfrm>
            <a:off x="320040" y="1965960"/>
            <a:ext cx="1536192" cy="457200"/>
          </a:xfrm>
          <a:prstGeom prst="rect">
            <a:avLst/>
          </a:prstGeom>
          <a:noFill/>
          <a:ln/>
        </p:spPr>
        <p:txBody>
          <a:bodyPr wrap="square" lIns="0" tIns="0" rIns="0" bIns="0" rtlCol="0" anchor="ctr"/>
          <a:lstStyle/>
          <a:p>
            <a:pPr marL="0" indent="0" algn="ctr">
              <a:buNone/>
            </a:pPr>
            <a:r>
              <a:rPr lang="en-US" sz="1300" b="1" dirty="0">
                <a:solidFill>
                  <a:srgbClr val="1E293B"/>
                </a:solidFill>
                <a:latin typeface="Georgia" pitchFamily="34" charset="0"/>
                <a:ea typeface="Georgia" pitchFamily="34" charset="-122"/>
                <a:cs typeface="Georgia" pitchFamily="34" charset="-120"/>
              </a:rPr>
              <a:t>Select App</a:t>
            </a:r>
            <a:endParaRPr lang="en-US" sz="1300" dirty="0"/>
          </a:p>
        </p:txBody>
      </p:sp>
      <p:sp>
        <p:nvSpPr>
          <p:cNvPr id="13" name="Text 11"/>
          <p:cNvSpPr/>
          <p:nvPr/>
        </p:nvSpPr>
        <p:spPr>
          <a:xfrm>
            <a:off x="365760" y="2468880"/>
            <a:ext cx="1444752" cy="914400"/>
          </a:xfrm>
          <a:prstGeom prst="rect">
            <a:avLst/>
          </a:prstGeom>
          <a:noFill/>
          <a:ln/>
        </p:spPr>
        <p:txBody>
          <a:bodyPr wrap="square" lIns="0" tIns="0" rIns="0" bIns="0" rtlCol="0" anchor="ctr"/>
          <a:lstStyle/>
          <a:p>
            <a:pPr marL="0" indent="0" algn="ctr">
              <a:lnSpc>
                <a:spcPct val="120000"/>
              </a:lnSpc>
              <a:buNone/>
            </a:pPr>
            <a:r>
              <a:rPr lang="en-US" sz="1000" dirty="0">
                <a:solidFill>
                  <a:srgbClr val="334155"/>
                </a:solidFill>
                <a:latin typeface="Calibri" pitchFamily="34" charset="0"/>
                <a:ea typeface="Calibri" pitchFamily="34" charset="-122"/>
                <a:cs typeface="Calibri" pitchFamily="34" charset="-120"/>
              </a:rPr>
              <a:t>Choose a canvas app; Agent Builder loads its metadata</a:t>
            </a:r>
            <a:endParaRPr lang="en-US" sz="1000" dirty="0"/>
          </a:p>
        </p:txBody>
      </p:sp>
      <p:sp>
        <p:nvSpPr>
          <p:cNvPr id="14" name="Text 12"/>
          <p:cNvSpPr/>
          <p:nvPr/>
        </p:nvSpPr>
        <p:spPr>
          <a:xfrm>
            <a:off x="1810512" y="1645920"/>
            <a:ext cx="320040" cy="457200"/>
          </a:xfrm>
          <a:prstGeom prst="rect">
            <a:avLst/>
          </a:prstGeom>
          <a:noFill/>
          <a:ln/>
        </p:spPr>
        <p:txBody>
          <a:bodyPr wrap="square" lIns="0" tIns="0" rIns="0" bIns="0" rtlCol="0" anchor="ctr"/>
          <a:lstStyle/>
          <a:p>
            <a:pPr marL="0" indent="0" algn="ctr">
              <a:buNone/>
            </a:pPr>
            <a:r>
              <a:rPr lang="en-US" sz="2000" dirty="0">
                <a:solidFill>
                  <a:srgbClr val="94A3B8"/>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2029968" y="1005840"/>
            <a:ext cx="1627632"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6" name="Shape 14"/>
          <p:cNvSpPr/>
          <p:nvPr/>
        </p:nvSpPr>
        <p:spPr>
          <a:xfrm>
            <a:off x="2029968" y="1005840"/>
            <a:ext cx="1627632" cy="54864"/>
          </a:xfrm>
          <a:prstGeom prst="rect">
            <a:avLst/>
          </a:prstGeom>
          <a:solidFill>
            <a:srgbClr val="0891B2"/>
          </a:solidFill>
          <a:ln/>
        </p:spPr>
        <p:txBody>
          <a:bodyPr/>
          <a:lstStyle/>
          <a:p>
            <a:endParaRPr lang="en-IN"/>
          </a:p>
        </p:txBody>
      </p:sp>
      <p:sp>
        <p:nvSpPr>
          <p:cNvPr id="17" name="Shape 15"/>
          <p:cNvSpPr/>
          <p:nvPr/>
        </p:nvSpPr>
        <p:spPr>
          <a:xfrm>
            <a:off x="2532888" y="1234440"/>
            <a:ext cx="594360" cy="594360"/>
          </a:xfrm>
          <a:prstGeom prst="ellipse">
            <a:avLst/>
          </a:prstGeom>
          <a:solidFill>
            <a:srgbClr val="0891B2"/>
          </a:solidFill>
          <a:ln/>
        </p:spPr>
        <p:txBody>
          <a:bodyPr/>
          <a:lstStyle/>
          <a:p>
            <a:endParaRPr lang="en-IN"/>
          </a:p>
        </p:txBody>
      </p:sp>
      <p:sp>
        <p:nvSpPr>
          <p:cNvPr id="18" name="Text 16"/>
          <p:cNvSpPr/>
          <p:nvPr/>
        </p:nvSpPr>
        <p:spPr>
          <a:xfrm>
            <a:off x="2532888" y="12344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9" name="Text 17"/>
          <p:cNvSpPr/>
          <p:nvPr/>
        </p:nvSpPr>
        <p:spPr>
          <a:xfrm>
            <a:off x="2075688" y="1965960"/>
            <a:ext cx="1536192" cy="457200"/>
          </a:xfrm>
          <a:prstGeom prst="rect">
            <a:avLst/>
          </a:prstGeom>
          <a:noFill/>
          <a:ln/>
        </p:spPr>
        <p:txBody>
          <a:bodyPr wrap="square" lIns="0" tIns="0" rIns="0" bIns="0" rtlCol="0" anchor="ctr"/>
          <a:lstStyle/>
          <a:p>
            <a:pPr marL="0" indent="0" algn="ctr">
              <a:buNone/>
            </a:pPr>
            <a:r>
              <a:rPr lang="en-US" sz="1300" b="1" dirty="0">
                <a:solidFill>
                  <a:srgbClr val="1E293B"/>
                </a:solidFill>
                <a:latin typeface="Georgia" pitchFamily="34" charset="0"/>
                <a:ea typeface="Georgia" pitchFamily="34" charset="-122"/>
                <a:cs typeface="Georgia" pitchFamily="34" charset="-120"/>
              </a:rPr>
              <a:t>Configure</a:t>
            </a:r>
            <a:endParaRPr lang="en-US" sz="1300" dirty="0"/>
          </a:p>
          <a:p>
            <a:pPr marL="0" indent="0" algn="ctr">
              <a:buNone/>
            </a:pPr>
            <a:r>
              <a:rPr lang="en-US" sz="1300" b="1" dirty="0">
                <a:solidFill>
                  <a:srgbClr val="1E293B"/>
                </a:solidFill>
                <a:latin typeface="Georgia" pitchFamily="34" charset="0"/>
                <a:ea typeface="Georgia" pitchFamily="34" charset="-122"/>
                <a:cs typeface="Georgia" pitchFamily="34" charset="-120"/>
              </a:rPr>
              <a:t>Goal</a:t>
            </a:r>
            <a:endParaRPr lang="en-US" sz="1300" dirty="0"/>
          </a:p>
        </p:txBody>
      </p:sp>
      <p:sp>
        <p:nvSpPr>
          <p:cNvPr id="20" name="Text 18"/>
          <p:cNvSpPr/>
          <p:nvPr/>
        </p:nvSpPr>
        <p:spPr>
          <a:xfrm>
            <a:off x="2121408" y="2468880"/>
            <a:ext cx="1444752" cy="914400"/>
          </a:xfrm>
          <a:prstGeom prst="rect">
            <a:avLst/>
          </a:prstGeom>
          <a:noFill/>
          <a:ln/>
        </p:spPr>
        <p:txBody>
          <a:bodyPr wrap="square" lIns="0" tIns="0" rIns="0" bIns="0" rtlCol="0" anchor="ctr"/>
          <a:lstStyle/>
          <a:p>
            <a:pPr marL="0" indent="0" algn="ctr">
              <a:lnSpc>
                <a:spcPct val="120000"/>
              </a:lnSpc>
              <a:buNone/>
            </a:pPr>
            <a:r>
              <a:rPr lang="en-US" sz="1000" dirty="0">
                <a:solidFill>
                  <a:srgbClr val="334155"/>
                </a:solidFill>
                <a:latin typeface="Calibri" pitchFamily="34" charset="0"/>
                <a:ea typeface="Calibri" pitchFamily="34" charset="-122"/>
                <a:cs typeface="Calibri" pitchFamily="34" charset="-120"/>
              </a:rPr>
              <a:t>Define the agent's primary goal in natural language</a:t>
            </a:r>
            <a:endParaRPr lang="en-US" sz="1000" dirty="0"/>
          </a:p>
        </p:txBody>
      </p:sp>
      <p:sp>
        <p:nvSpPr>
          <p:cNvPr id="21" name="Text 19"/>
          <p:cNvSpPr/>
          <p:nvPr/>
        </p:nvSpPr>
        <p:spPr>
          <a:xfrm>
            <a:off x="3566160" y="1645920"/>
            <a:ext cx="320040" cy="457200"/>
          </a:xfrm>
          <a:prstGeom prst="rect">
            <a:avLst/>
          </a:prstGeom>
          <a:noFill/>
          <a:ln/>
        </p:spPr>
        <p:txBody>
          <a:bodyPr wrap="square" lIns="0" tIns="0" rIns="0" bIns="0" rtlCol="0" anchor="ctr"/>
          <a:lstStyle/>
          <a:p>
            <a:pPr marL="0" indent="0" algn="ctr">
              <a:buNone/>
            </a:pPr>
            <a:r>
              <a:rPr lang="en-US" sz="2000" dirty="0">
                <a:solidFill>
                  <a:srgbClr val="94A3B8"/>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3785616" y="1005840"/>
            <a:ext cx="1627632"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3" name="Shape 21"/>
          <p:cNvSpPr/>
          <p:nvPr/>
        </p:nvSpPr>
        <p:spPr>
          <a:xfrm>
            <a:off x="3785616" y="1005840"/>
            <a:ext cx="1627632" cy="54864"/>
          </a:xfrm>
          <a:prstGeom prst="rect">
            <a:avLst/>
          </a:prstGeom>
          <a:solidFill>
            <a:srgbClr val="06B6D4"/>
          </a:solidFill>
          <a:ln/>
        </p:spPr>
        <p:txBody>
          <a:bodyPr/>
          <a:lstStyle/>
          <a:p>
            <a:endParaRPr lang="en-IN"/>
          </a:p>
        </p:txBody>
      </p:sp>
      <p:sp>
        <p:nvSpPr>
          <p:cNvPr id="24" name="Shape 22"/>
          <p:cNvSpPr/>
          <p:nvPr/>
        </p:nvSpPr>
        <p:spPr>
          <a:xfrm>
            <a:off x="4288536" y="1234440"/>
            <a:ext cx="594360" cy="594360"/>
          </a:xfrm>
          <a:prstGeom prst="ellipse">
            <a:avLst/>
          </a:prstGeom>
          <a:solidFill>
            <a:srgbClr val="06B6D4"/>
          </a:solidFill>
          <a:ln/>
        </p:spPr>
        <p:txBody>
          <a:bodyPr/>
          <a:lstStyle/>
          <a:p>
            <a:endParaRPr lang="en-IN"/>
          </a:p>
        </p:txBody>
      </p:sp>
      <p:sp>
        <p:nvSpPr>
          <p:cNvPr id="25" name="Text 23"/>
          <p:cNvSpPr/>
          <p:nvPr/>
        </p:nvSpPr>
        <p:spPr>
          <a:xfrm>
            <a:off x="4288536" y="12344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6" name="Text 24"/>
          <p:cNvSpPr/>
          <p:nvPr/>
        </p:nvSpPr>
        <p:spPr>
          <a:xfrm>
            <a:off x="3831336" y="1965960"/>
            <a:ext cx="1536192" cy="457200"/>
          </a:xfrm>
          <a:prstGeom prst="rect">
            <a:avLst/>
          </a:prstGeom>
          <a:noFill/>
          <a:ln/>
        </p:spPr>
        <p:txBody>
          <a:bodyPr wrap="square" lIns="0" tIns="0" rIns="0" bIns="0" rtlCol="0" anchor="ctr"/>
          <a:lstStyle/>
          <a:p>
            <a:pPr marL="0" indent="0" algn="ctr">
              <a:buNone/>
            </a:pPr>
            <a:r>
              <a:rPr lang="en-US" sz="1300" b="1" dirty="0">
                <a:solidFill>
                  <a:srgbClr val="1E293B"/>
                </a:solidFill>
                <a:latin typeface="Georgia" pitchFamily="34" charset="0"/>
                <a:ea typeface="Georgia" pitchFamily="34" charset="-122"/>
                <a:cs typeface="Georgia" pitchFamily="34" charset="-120"/>
              </a:rPr>
              <a:t>Review</a:t>
            </a:r>
            <a:endParaRPr lang="en-US" sz="1300" dirty="0"/>
          </a:p>
          <a:p>
            <a:pPr marL="0" indent="0" algn="ctr">
              <a:buNone/>
            </a:pPr>
            <a:r>
              <a:rPr lang="en-US" sz="1300" b="1" dirty="0">
                <a:solidFill>
                  <a:srgbClr val="1E293B"/>
                </a:solidFill>
                <a:latin typeface="Georgia" pitchFamily="34" charset="0"/>
                <a:ea typeface="Georgia" pitchFamily="34" charset="-122"/>
                <a:cs typeface="Georgia" pitchFamily="34" charset="-120"/>
              </a:rPr>
              <a:t>Extraction</a:t>
            </a:r>
            <a:endParaRPr lang="en-US" sz="1300" dirty="0"/>
          </a:p>
        </p:txBody>
      </p:sp>
      <p:sp>
        <p:nvSpPr>
          <p:cNvPr id="27" name="Text 25"/>
          <p:cNvSpPr/>
          <p:nvPr/>
        </p:nvSpPr>
        <p:spPr>
          <a:xfrm>
            <a:off x="3877056" y="2468880"/>
            <a:ext cx="1444752" cy="914400"/>
          </a:xfrm>
          <a:prstGeom prst="rect">
            <a:avLst/>
          </a:prstGeom>
          <a:noFill/>
          <a:ln/>
        </p:spPr>
        <p:txBody>
          <a:bodyPr wrap="square" lIns="0" tIns="0" rIns="0" bIns="0" rtlCol="0" anchor="ctr"/>
          <a:lstStyle/>
          <a:p>
            <a:pPr marL="0" indent="0" algn="ctr">
              <a:lnSpc>
                <a:spcPct val="120000"/>
              </a:lnSpc>
              <a:buNone/>
            </a:pPr>
            <a:r>
              <a:rPr lang="en-US" sz="1000" dirty="0">
                <a:solidFill>
                  <a:srgbClr val="334155"/>
                </a:solidFill>
                <a:latin typeface="Calibri" pitchFamily="34" charset="0"/>
                <a:ea typeface="Calibri" pitchFamily="34" charset="-122"/>
                <a:cs typeface="Calibri" pitchFamily="34" charset="-120"/>
              </a:rPr>
              <a:t>Review extracted steps, knowledge, and triggers</a:t>
            </a:r>
            <a:endParaRPr lang="en-US" sz="1000" dirty="0"/>
          </a:p>
        </p:txBody>
      </p:sp>
      <p:sp>
        <p:nvSpPr>
          <p:cNvPr id="28" name="Text 26"/>
          <p:cNvSpPr/>
          <p:nvPr/>
        </p:nvSpPr>
        <p:spPr>
          <a:xfrm>
            <a:off x="5321808" y="1645920"/>
            <a:ext cx="320040" cy="457200"/>
          </a:xfrm>
          <a:prstGeom prst="rect">
            <a:avLst/>
          </a:prstGeom>
          <a:noFill/>
          <a:ln/>
        </p:spPr>
        <p:txBody>
          <a:bodyPr wrap="square" lIns="0" tIns="0" rIns="0" bIns="0" rtlCol="0" anchor="ctr"/>
          <a:lstStyle/>
          <a:p>
            <a:pPr marL="0" indent="0" algn="ctr">
              <a:buNone/>
            </a:pPr>
            <a:r>
              <a:rPr lang="en-US" sz="2000" dirty="0">
                <a:solidFill>
                  <a:srgbClr val="94A3B8"/>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5541264" y="1005840"/>
            <a:ext cx="1627632"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30" name="Shape 28"/>
          <p:cNvSpPr/>
          <p:nvPr/>
        </p:nvSpPr>
        <p:spPr>
          <a:xfrm>
            <a:off x="5541264" y="1005840"/>
            <a:ext cx="1627632" cy="54864"/>
          </a:xfrm>
          <a:prstGeom prst="rect">
            <a:avLst/>
          </a:prstGeom>
          <a:solidFill>
            <a:srgbClr val="F59E0B"/>
          </a:solidFill>
          <a:ln/>
        </p:spPr>
        <p:txBody>
          <a:bodyPr/>
          <a:lstStyle/>
          <a:p>
            <a:endParaRPr lang="en-IN"/>
          </a:p>
        </p:txBody>
      </p:sp>
      <p:sp>
        <p:nvSpPr>
          <p:cNvPr id="31" name="Shape 29"/>
          <p:cNvSpPr/>
          <p:nvPr/>
        </p:nvSpPr>
        <p:spPr>
          <a:xfrm>
            <a:off x="6044184" y="1234440"/>
            <a:ext cx="594360" cy="594360"/>
          </a:xfrm>
          <a:prstGeom prst="ellipse">
            <a:avLst/>
          </a:prstGeom>
          <a:solidFill>
            <a:srgbClr val="F59E0B"/>
          </a:solidFill>
          <a:ln/>
        </p:spPr>
        <p:txBody>
          <a:bodyPr/>
          <a:lstStyle/>
          <a:p>
            <a:endParaRPr lang="en-IN"/>
          </a:p>
        </p:txBody>
      </p:sp>
      <p:sp>
        <p:nvSpPr>
          <p:cNvPr id="32" name="Text 30"/>
          <p:cNvSpPr/>
          <p:nvPr/>
        </p:nvSpPr>
        <p:spPr>
          <a:xfrm>
            <a:off x="6044184" y="12344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33" name="Text 31"/>
          <p:cNvSpPr/>
          <p:nvPr/>
        </p:nvSpPr>
        <p:spPr>
          <a:xfrm>
            <a:off x="5586984" y="1965960"/>
            <a:ext cx="1536192" cy="457200"/>
          </a:xfrm>
          <a:prstGeom prst="rect">
            <a:avLst/>
          </a:prstGeom>
          <a:noFill/>
          <a:ln/>
        </p:spPr>
        <p:txBody>
          <a:bodyPr wrap="square" lIns="0" tIns="0" rIns="0" bIns="0" rtlCol="0" anchor="ctr"/>
          <a:lstStyle/>
          <a:p>
            <a:pPr marL="0" indent="0" algn="ctr">
              <a:buNone/>
            </a:pPr>
            <a:r>
              <a:rPr lang="en-US" sz="1300" b="1" dirty="0">
                <a:solidFill>
                  <a:srgbClr val="1E293B"/>
                </a:solidFill>
                <a:latin typeface="Georgia" pitchFamily="34" charset="0"/>
                <a:ea typeface="Georgia" pitchFamily="34" charset="-122"/>
                <a:cs typeface="Georgia" pitchFamily="34" charset="-120"/>
              </a:rPr>
              <a:t>Generate</a:t>
            </a:r>
            <a:endParaRPr lang="en-US" sz="1300" dirty="0"/>
          </a:p>
          <a:p>
            <a:pPr marL="0" indent="0" algn="ctr">
              <a:buNone/>
            </a:pPr>
            <a:r>
              <a:rPr lang="en-US" sz="1300" b="1" dirty="0">
                <a:solidFill>
                  <a:srgbClr val="1E293B"/>
                </a:solidFill>
                <a:latin typeface="Georgia" pitchFamily="34" charset="0"/>
                <a:ea typeface="Georgia" pitchFamily="34" charset="-122"/>
                <a:cs typeface="Georgia" pitchFamily="34" charset="-120"/>
              </a:rPr>
              <a:t>Agent</a:t>
            </a:r>
            <a:endParaRPr lang="en-US" sz="1300" dirty="0"/>
          </a:p>
        </p:txBody>
      </p:sp>
      <p:sp>
        <p:nvSpPr>
          <p:cNvPr id="34" name="Text 32"/>
          <p:cNvSpPr/>
          <p:nvPr/>
        </p:nvSpPr>
        <p:spPr>
          <a:xfrm>
            <a:off x="5632704" y="2468880"/>
            <a:ext cx="1444752" cy="914400"/>
          </a:xfrm>
          <a:prstGeom prst="rect">
            <a:avLst/>
          </a:prstGeom>
          <a:noFill/>
          <a:ln/>
        </p:spPr>
        <p:txBody>
          <a:bodyPr wrap="square" lIns="0" tIns="0" rIns="0" bIns="0" rtlCol="0" anchor="ctr"/>
          <a:lstStyle/>
          <a:p>
            <a:pPr marL="0" indent="0" algn="ctr">
              <a:lnSpc>
                <a:spcPct val="120000"/>
              </a:lnSpc>
              <a:buNone/>
            </a:pPr>
            <a:r>
              <a:rPr lang="en-US" sz="1000" dirty="0">
                <a:solidFill>
                  <a:srgbClr val="334155"/>
                </a:solidFill>
                <a:latin typeface="Calibri" pitchFamily="34" charset="0"/>
                <a:ea typeface="Calibri" pitchFamily="34" charset="-122"/>
                <a:cs typeface="Calibri" pitchFamily="34" charset="-120"/>
              </a:rPr>
              <a:t>Create the Copilot Studio agent with topics and actions</a:t>
            </a:r>
            <a:endParaRPr lang="en-US" sz="1000" dirty="0"/>
          </a:p>
        </p:txBody>
      </p:sp>
      <p:sp>
        <p:nvSpPr>
          <p:cNvPr id="35" name="Text 33"/>
          <p:cNvSpPr/>
          <p:nvPr/>
        </p:nvSpPr>
        <p:spPr>
          <a:xfrm>
            <a:off x="7077456" y="1645920"/>
            <a:ext cx="320040" cy="457200"/>
          </a:xfrm>
          <a:prstGeom prst="rect">
            <a:avLst/>
          </a:prstGeom>
          <a:noFill/>
          <a:ln/>
        </p:spPr>
        <p:txBody>
          <a:bodyPr wrap="square" lIns="0" tIns="0" rIns="0" bIns="0" rtlCol="0" anchor="ctr"/>
          <a:lstStyle/>
          <a:p>
            <a:pPr marL="0" indent="0" algn="ctr">
              <a:buNone/>
            </a:pPr>
            <a:r>
              <a:rPr lang="en-US" sz="2000" dirty="0">
                <a:solidFill>
                  <a:srgbClr val="94A3B8"/>
                </a:solidFill>
                <a:latin typeface="Calibri" pitchFamily="34" charset="0"/>
                <a:ea typeface="Calibri" pitchFamily="34" charset="-122"/>
                <a:cs typeface="Calibri" pitchFamily="34" charset="-120"/>
              </a:rPr>
              <a:t>→</a:t>
            </a:r>
            <a:endParaRPr lang="en-US" sz="2000" dirty="0"/>
          </a:p>
        </p:txBody>
      </p:sp>
      <p:sp>
        <p:nvSpPr>
          <p:cNvPr id="36" name="Shape 34"/>
          <p:cNvSpPr/>
          <p:nvPr/>
        </p:nvSpPr>
        <p:spPr>
          <a:xfrm>
            <a:off x="7296912" y="1005840"/>
            <a:ext cx="1627632"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37" name="Shape 35"/>
          <p:cNvSpPr/>
          <p:nvPr/>
        </p:nvSpPr>
        <p:spPr>
          <a:xfrm>
            <a:off x="7296912" y="1005840"/>
            <a:ext cx="1627632" cy="54864"/>
          </a:xfrm>
          <a:prstGeom prst="rect">
            <a:avLst/>
          </a:prstGeom>
          <a:solidFill>
            <a:srgbClr val="10B981"/>
          </a:solidFill>
          <a:ln/>
        </p:spPr>
        <p:txBody>
          <a:bodyPr/>
          <a:lstStyle/>
          <a:p>
            <a:endParaRPr lang="en-IN"/>
          </a:p>
        </p:txBody>
      </p:sp>
      <p:sp>
        <p:nvSpPr>
          <p:cNvPr id="38" name="Shape 36"/>
          <p:cNvSpPr/>
          <p:nvPr/>
        </p:nvSpPr>
        <p:spPr>
          <a:xfrm>
            <a:off x="7799832" y="1234440"/>
            <a:ext cx="594360" cy="594360"/>
          </a:xfrm>
          <a:prstGeom prst="ellipse">
            <a:avLst/>
          </a:prstGeom>
          <a:solidFill>
            <a:srgbClr val="10B981"/>
          </a:solidFill>
          <a:ln/>
        </p:spPr>
        <p:txBody>
          <a:bodyPr/>
          <a:lstStyle/>
          <a:p>
            <a:endParaRPr lang="en-IN"/>
          </a:p>
        </p:txBody>
      </p:sp>
      <p:sp>
        <p:nvSpPr>
          <p:cNvPr id="39" name="Text 37"/>
          <p:cNvSpPr/>
          <p:nvPr/>
        </p:nvSpPr>
        <p:spPr>
          <a:xfrm>
            <a:off x="7799832" y="12344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40" name="Text 38"/>
          <p:cNvSpPr/>
          <p:nvPr/>
        </p:nvSpPr>
        <p:spPr>
          <a:xfrm>
            <a:off x="7342632" y="1965960"/>
            <a:ext cx="1536192" cy="457200"/>
          </a:xfrm>
          <a:prstGeom prst="rect">
            <a:avLst/>
          </a:prstGeom>
          <a:noFill/>
          <a:ln/>
        </p:spPr>
        <p:txBody>
          <a:bodyPr wrap="square" lIns="0" tIns="0" rIns="0" bIns="0" rtlCol="0" anchor="ctr"/>
          <a:lstStyle/>
          <a:p>
            <a:pPr marL="0" indent="0" algn="ctr">
              <a:buNone/>
            </a:pPr>
            <a:r>
              <a:rPr lang="en-US" sz="1300" b="1" dirty="0">
                <a:solidFill>
                  <a:srgbClr val="1E293B"/>
                </a:solidFill>
                <a:latin typeface="Georgia" pitchFamily="34" charset="0"/>
                <a:ea typeface="Georgia" pitchFamily="34" charset="-122"/>
                <a:cs typeface="Georgia" pitchFamily="34" charset="-120"/>
              </a:rPr>
              <a:t>Refine &amp;</a:t>
            </a:r>
            <a:endParaRPr lang="en-US" sz="1300" dirty="0"/>
          </a:p>
          <a:p>
            <a:pPr marL="0" indent="0" algn="ctr">
              <a:buNone/>
            </a:pPr>
            <a:r>
              <a:rPr lang="en-US" sz="1300" b="1" dirty="0">
                <a:solidFill>
                  <a:srgbClr val="1E293B"/>
                </a:solidFill>
                <a:latin typeface="Georgia" pitchFamily="34" charset="0"/>
                <a:ea typeface="Georgia" pitchFamily="34" charset="-122"/>
                <a:cs typeface="Georgia" pitchFamily="34" charset="-120"/>
              </a:rPr>
              <a:t>Publish</a:t>
            </a:r>
            <a:endParaRPr lang="en-US" sz="1300" dirty="0"/>
          </a:p>
        </p:txBody>
      </p:sp>
      <p:sp>
        <p:nvSpPr>
          <p:cNvPr id="41" name="Text 39"/>
          <p:cNvSpPr/>
          <p:nvPr/>
        </p:nvSpPr>
        <p:spPr>
          <a:xfrm>
            <a:off x="7388352" y="2468880"/>
            <a:ext cx="1444752" cy="914400"/>
          </a:xfrm>
          <a:prstGeom prst="rect">
            <a:avLst/>
          </a:prstGeom>
          <a:noFill/>
          <a:ln/>
        </p:spPr>
        <p:txBody>
          <a:bodyPr wrap="square" lIns="0" tIns="0" rIns="0" bIns="0" rtlCol="0" anchor="ctr"/>
          <a:lstStyle/>
          <a:p>
            <a:pPr marL="0" indent="0" algn="ctr">
              <a:lnSpc>
                <a:spcPct val="120000"/>
              </a:lnSpc>
              <a:buNone/>
            </a:pPr>
            <a:r>
              <a:rPr lang="en-US" sz="1000" dirty="0">
                <a:solidFill>
                  <a:srgbClr val="334155"/>
                </a:solidFill>
                <a:latin typeface="Calibri" pitchFamily="34" charset="0"/>
                <a:ea typeface="Calibri" pitchFamily="34" charset="-122"/>
                <a:cs typeface="Calibri" pitchFamily="34" charset="-120"/>
              </a:rPr>
              <a:t>Test, refine topics, add MCP tools, publish</a:t>
            </a:r>
            <a:endParaRPr lang="en-US" sz="1000" dirty="0"/>
          </a:p>
        </p:txBody>
      </p:sp>
      <p:sp>
        <p:nvSpPr>
          <p:cNvPr id="42" name="Shape 40"/>
          <p:cNvSpPr/>
          <p:nvPr/>
        </p:nvSpPr>
        <p:spPr>
          <a:xfrm>
            <a:off x="457200" y="3840480"/>
            <a:ext cx="8229600" cy="822960"/>
          </a:xfrm>
          <a:prstGeom prst="rect">
            <a:avLst/>
          </a:prstGeom>
          <a:solidFill>
            <a:srgbClr val="0F1B2D"/>
          </a:solidFill>
          <a:ln/>
          <a:effectLst>
            <a:outerShdw blurRad="76200" dist="25400" dir="8100000" algn="bl" rotWithShape="0">
              <a:srgbClr val="000000">
                <a:alpha val="12000"/>
              </a:srgbClr>
            </a:outerShdw>
          </a:effectLst>
        </p:spPr>
        <p:txBody>
          <a:bodyPr/>
          <a:lstStyle/>
          <a:p>
            <a:endParaRPr lang="en-IN"/>
          </a:p>
        </p:txBody>
      </p:sp>
      <p:pic>
        <p:nvPicPr>
          <p:cNvPr id="43" name="Image 0" descr="preencoded.png"/>
          <p:cNvPicPr>
            <a:picLocks noChangeAspect="1"/>
          </p:cNvPicPr>
          <p:nvPr/>
        </p:nvPicPr>
        <p:blipFill>
          <a:blip r:embed="rId3"/>
          <a:stretch>
            <a:fillRect/>
          </a:stretch>
        </p:blipFill>
        <p:spPr>
          <a:xfrm>
            <a:off x="685800" y="4023360"/>
            <a:ext cx="320040" cy="320040"/>
          </a:xfrm>
          <a:prstGeom prst="rect">
            <a:avLst/>
          </a:prstGeom>
        </p:spPr>
      </p:pic>
      <p:sp>
        <p:nvSpPr>
          <p:cNvPr id="44" name="Text 41"/>
          <p:cNvSpPr/>
          <p:nvPr/>
        </p:nvSpPr>
        <p:spPr>
          <a:xfrm>
            <a:off x="1143000" y="3931920"/>
            <a:ext cx="1828800" cy="228600"/>
          </a:xfrm>
          <a:prstGeom prst="rect">
            <a:avLst/>
          </a:prstGeom>
          <a:noFill/>
          <a:ln/>
        </p:spPr>
        <p:txBody>
          <a:bodyPr wrap="square" lIns="0" tIns="0" rIns="0" bIns="0" rtlCol="0" anchor="ctr"/>
          <a:lstStyle/>
          <a:p>
            <a:pPr marL="0" indent="0">
              <a:buNone/>
            </a:pPr>
            <a:r>
              <a:rPr lang="en-US" sz="900" b="1" kern="0" spc="100" dirty="0">
                <a:solidFill>
                  <a:srgbClr val="F59E0B"/>
                </a:solidFill>
                <a:latin typeface="Calibri" pitchFamily="34" charset="0"/>
                <a:ea typeface="Calibri" pitchFamily="34" charset="-122"/>
                <a:cs typeface="Calibri" pitchFamily="34" charset="-120"/>
              </a:rPr>
              <a:t>INSTRUCTOR TIP</a:t>
            </a:r>
            <a:endParaRPr lang="en-US" sz="900" dirty="0"/>
          </a:p>
        </p:txBody>
      </p:sp>
      <p:sp>
        <p:nvSpPr>
          <p:cNvPr id="45" name="Text 42"/>
          <p:cNvSpPr/>
          <p:nvPr/>
        </p:nvSpPr>
        <p:spPr>
          <a:xfrm>
            <a:off x="1143000" y="4160520"/>
            <a:ext cx="7315200" cy="45720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Agent Builder is a starting point, not a finished product. The value is in the 60-80% head start it provides.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12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What Agent Builder Extracts vs. Does Not</a:t>
            </a:r>
            <a:endParaRPr lang="en-US" sz="2200" dirty="0"/>
          </a:p>
        </p:txBody>
      </p:sp>
      <p:sp>
        <p:nvSpPr>
          <p:cNvPr id="8" name="Shape 6"/>
          <p:cNvSpPr/>
          <p:nvPr/>
        </p:nvSpPr>
        <p:spPr>
          <a:xfrm>
            <a:off x="457200" y="960120"/>
            <a:ext cx="8229600" cy="384048"/>
          </a:xfrm>
          <a:prstGeom prst="rect">
            <a:avLst/>
          </a:prstGeom>
          <a:solidFill>
            <a:srgbClr val="0F1B2D"/>
          </a:solidFill>
          <a:ln/>
        </p:spPr>
        <p:txBody>
          <a:bodyPr/>
          <a:lstStyle/>
          <a:p>
            <a:endParaRPr lang="en-IN"/>
          </a:p>
        </p:txBody>
      </p:sp>
      <p:sp>
        <p:nvSpPr>
          <p:cNvPr id="9" name="Text 7"/>
          <p:cNvSpPr/>
          <p:nvPr/>
        </p:nvSpPr>
        <p:spPr>
          <a:xfrm>
            <a:off x="548640" y="960120"/>
            <a:ext cx="118872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Category</a:t>
            </a:r>
            <a:endParaRPr lang="en-US" sz="1000" dirty="0"/>
          </a:p>
        </p:txBody>
      </p:sp>
      <p:sp>
        <p:nvSpPr>
          <p:cNvPr id="10" name="Text 8"/>
          <p:cNvSpPr/>
          <p:nvPr/>
        </p:nvSpPr>
        <p:spPr>
          <a:xfrm>
            <a:off x="1828800" y="960120"/>
            <a:ext cx="3291840" cy="384048"/>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What Agent Builder Extracts</a:t>
            </a:r>
            <a:endParaRPr lang="en-US" sz="1000" dirty="0"/>
          </a:p>
        </p:txBody>
      </p:sp>
      <p:sp>
        <p:nvSpPr>
          <p:cNvPr id="11" name="Text 9"/>
          <p:cNvSpPr/>
          <p:nvPr/>
        </p:nvSpPr>
        <p:spPr>
          <a:xfrm>
            <a:off x="5212080" y="960120"/>
            <a:ext cx="3291840" cy="384048"/>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What Requires Manual Config</a:t>
            </a:r>
            <a:endParaRPr lang="en-US" sz="1000" dirty="0"/>
          </a:p>
        </p:txBody>
      </p:sp>
      <p:sp>
        <p:nvSpPr>
          <p:cNvPr id="12" name="Shape 10"/>
          <p:cNvSpPr/>
          <p:nvPr/>
        </p:nvSpPr>
        <p:spPr>
          <a:xfrm>
            <a:off x="457200" y="1344168"/>
            <a:ext cx="8229600" cy="402336"/>
          </a:xfrm>
          <a:prstGeom prst="rect">
            <a:avLst/>
          </a:prstGeom>
          <a:solidFill>
            <a:srgbClr val="FFFFFF"/>
          </a:solidFill>
          <a:ln/>
        </p:spPr>
        <p:txBody>
          <a:bodyPr/>
          <a:lstStyle/>
          <a:p>
            <a:endParaRPr lang="en-IN"/>
          </a:p>
        </p:txBody>
      </p:sp>
      <p:sp>
        <p:nvSpPr>
          <p:cNvPr id="13" name="Text 11"/>
          <p:cNvSpPr/>
          <p:nvPr/>
        </p:nvSpPr>
        <p:spPr>
          <a:xfrm>
            <a:off x="548640" y="1344168"/>
            <a:ext cx="1188720" cy="40233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Goals</a:t>
            </a:r>
            <a:endParaRPr lang="en-US" sz="1000" dirty="0"/>
          </a:p>
        </p:txBody>
      </p:sp>
      <p:sp>
        <p:nvSpPr>
          <p:cNvPr id="14" name="Text 12"/>
          <p:cNvSpPr/>
          <p:nvPr/>
        </p:nvSpPr>
        <p:spPr>
          <a:xfrm>
            <a:off x="1828800" y="1344168"/>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Primary goals from screen structure</a:t>
            </a:r>
            <a:endParaRPr lang="en-US" sz="1000" dirty="0"/>
          </a:p>
        </p:txBody>
      </p:sp>
      <p:sp>
        <p:nvSpPr>
          <p:cNvPr id="15" name="Text 13"/>
          <p:cNvSpPr/>
          <p:nvPr/>
        </p:nvSpPr>
        <p:spPr>
          <a:xfrm>
            <a:off x="5212080" y="1344168"/>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Complex multi-step goals, edge cases</a:t>
            </a:r>
            <a:endParaRPr lang="en-US" sz="1000" dirty="0"/>
          </a:p>
        </p:txBody>
      </p:sp>
      <p:sp>
        <p:nvSpPr>
          <p:cNvPr id="16" name="Shape 14"/>
          <p:cNvSpPr/>
          <p:nvPr/>
        </p:nvSpPr>
        <p:spPr>
          <a:xfrm>
            <a:off x="457200" y="1764792"/>
            <a:ext cx="8229600" cy="402336"/>
          </a:xfrm>
          <a:prstGeom prst="rect">
            <a:avLst/>
          </a:prstGeom>
          <a:solidFill>
            <a:srgbClr val="F8FAFC"/>
          </a:solidFill>
          <a:ln/>
        </p:spPr>
        <p:txBody>
          <a:bodyPr/>
          <a:lstStyle/>
          <a:p>
            <a:endParaRPr lang="en-IN"/>
          </a:p>
        </p:txBody>
      </p:sp>
      <p:sp>
        <p:nvSpPr>
          <p:cNvPr id="17" name="Text 15"/>
          <p:cNvSpPr/>
          <p:nvPr/>
        </p:nvSpPr>
        <p:spPr>
          <a:xfrm>
            <a:off x="548640" y="1764792"/>
            <a:ext cx="1188720" cy="40233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Steps</a:t>
            </a:r>
            <a:endParaRPr lang="en-US" sz="1000" dirty="0"/>
          </a:p>
        </p:txBody>
      </p:sp>
      <p:sp>
        <p:nvSpPr>
          <p:cNvPr id="18" name="Text 16"/>
          <p:cNvSpPr/>
          <p:nvPr/>
        </p:nvSpPr>
        <p:spPr>
          <a:xfrm>
            <a:off x="1828800" y="1764792"/>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Sequential steps from controls &amp; fields</a:t>
            </a:r>
            <a:endParaRPr lang="en-US" sz="1000" dirty="0"/>
          </a:p>
        </p:txBody>
      </p:sp>
      <p:sp>
        <p:nvSpPr>
          <p:cNvPr id="19" name="Text 17"/>
          <p:cNvSpPr/>
          <p:nvPr/>
        </p:nvSpPr>
        <p:spPr>
          <a:xfrm>
            <a:off x="5212080" y="1764792"/>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Advanced validation, cross-field dependencies</a:t>
            </a:r>
            <a:endParaRPr lang="en-US" sz="1000" dirty="0"/>
          </a:p>
        </p:txBody>
      </p:sp>
      <p:sp>
        <p:nvSpPr>
          <p:cNvPr id="20" name="Shape 18"/>
          <p:cNvSpPr/>
          <p:nvPr/>
        </p:nvSpPr>
        <p:spPr>
          <a:xfrm>
            <a:off x="457200" y="2185416"/>
            <a:ext cx="8229600" cy="402336"/>
          </a:xfrm>
          <a:prstGeom prst="rect">
            <a:avLst/>
          </a:prstGeom>
          <a:solidFill>
            <a:srgbClr val="FFFFFF"/>
          </a:solidFill>
          <a:ln/>
        </p:spPr>
        <p:txBody>
          <a:bodyPr/>
          <a:lstStyle/>
          <a:p>
            <a:endParaRPr lang="en-IN"/>
          </a:p>
        </p:txBody>
      </p:sp>
      <p:sp>
        <p:nvSpPr>
          <p:cNvPr id="21" name="Text 19"/>
          <p:cNvSpPr/>
          <p:nvPr/>
        </p:nvSpPr>
        <p:spPr>
          <a:xfrm>
            <a:off x="548640" y="2185416"/>
            <a:ext cx="1188720" cy="40233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Knowledge</a:t>
            </a:r>
            <a:endParaRPr lang="en-US" sz="1000" dirty="0"/>
          </a:p>
        </p:txBody>
      </p:sp>
      <p:sp>
        <p:nvSpPr>
          <p:cNvPr id="22" name="Text 20"/>
          <p:cNvSpPr/>
          <p:nvPr/>
        </p:nvSpPr>
        <p:spPr>
          <a:xfrm>
            <a:off x="1828800" y="2185416"/>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Connected data sources (Dataverse, SP)</a:t>
            </a:r>
            <a:endParaRPr lang="en-US" sz="1000" dirty="0"/>
          </a:p>
        </p:txBody>
      </p:sp>
      <p:sp>
        <p:nvSpPr>
          <p:cNvPr id="23" name="Text 21"/>
          <p:cNvSpPr/>
          <p:nvPr/>
        </p:nvSpPr>
        <p:spPr>
          <a:xfrm>
            <a:off x="5212080" y="2185416"/>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PDF/DOCX uploads, external websites, tone prompts</a:t>
            </a:r>
            <a:endParaRPr lang="en-US" sz="1000" dirty="0"/>
          </a:p>
        </p:txBody>
      </p:sp>
      <p:sp>
        <p:nvSpPr>
          <p:cNvPr id="24" name="Shape 22"/>
          <p:cNvSpPr/>
          <p:nvPr/>
        </p:nvSpPr>
        <p:spPr>
          <a:xfrm>
            <a:off x="457200" y="2606040"/>
            <a:ext cx="8229600" cy="402336"/>
          </a:xfrm>
          <a:prstGeom prst="rect">
            <a:avLst/>
          </a:prstGeom>
          <a:solidFill>
            <a:srgbClr val="F8FAFC"/>
          </a:solidFill>
          <a:ln/>
        </p:spPr>
        <p:txBody>
          <a:bodyPr/>
          <a:lstStyle/>
          <a:p>
            <a:endParaRPr lang="en-IN"/>
          </a:p>
        </p:txBody>
      </p:sp>
      <p:sp>
        <p:nvSpPr>
          <p:cNvPr id="25" name="Text 23"/>
          <p:cNvSpPr/>
          <p:nvPr/>
        </p:nvSpPr>
        <p:spPr>
          <a:xfrm>
            <a:off x="548640" y="2606040"/>
            <a:ext cx="1188720" cy="40233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Triggers</a:t>
            </a:r>
            <a:endParaRPr lang="en-US" sz="1000" dirty="0"/>
          </a:p>
        </p:txBody>
      </p:sp>
      <p:sp>
        <p:nvSpPr>
          <p:cNvPr id="26" name="Text 24"/>
          <p:cNvSpPr/>
          <p:nvPr/>
        </p:nvSpPr>
        <p:spPr>
          <a:xfrm>
            <a:off x="1828800" y="2606040"/>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Default conversational trigger</a:t>
            </a:r>
            <a:endParaRPr lang="en-US" sz="1000" dirty="0"/>
          </a:p>
        </p:txBody>
      </p:sp>
      <p:sp>
        <p:nvSpPr>
          <p:cNvPr id="27" name="Text 25"/>
          <p:cNvSpPr/>
          <p:nvPr/>
        </p:nvSpPr>
        <p:spPr>
          <a:xfrm>
            <a:off x="5212080" y="2606040"/>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Scheduled triggers, complex event filters</a:t>
            </a:r>
            <a:endParaRPr lang="en-US" sz="1000" dirty="0"/>
          </a:p>
        </p:txBody>
      </p:sp>
      <p:sp>
        <p:nvSpPr>
          <p:cNvPr id="28" name="Shape 26"/>
          <p:cNvSpPr/>
          <p:nvPr/>
        </p:nvSpPr>
        <p:spPr>
          <a:xfrm>
            <a:off x="457200" y="3026664"/>
            <a:ext cx="8229600" cy="402336"/>
          </a:xfrm>
          <a:prstGeom prst="rect">
            <a:avLst/>
          </a:prstGeom>
          <a:solidFill>
            <a:srgbClr val="FFFFFF"/>
          </a:solidFill>
          <a:ln/>
        </p:spPr>
        <p:txBody>
          <a:bodyPr/>
          <a:lstStyle/>
          <a:p>
            <a:endParaRPr lang="en-IN"/>
          </a:p>
        </p:txBody>
      </p:sp>
      <p:sp>
        <p:nvSpPr>
          <p:cNvPr id="29" name="Text 27"/>
          <p:cNvSpPr/>
          <p:nvPr/>
        </p:nvSpPr>
        <p:spPr>
          <a:xfrm>
            <a:off x="548640" y="3026664"/>
            <a:ext cx="1188720" cy="40233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Data</a:t>
            </a:r>
            <a:endParaRPr lang="en-US" sz="1000" dirty="0"/>
          </a:p>
        </p:txBody>
      </p:sp>
      <p:sp>
        <p:nvSpPr>
          <p:cNvPr id="30" name="Text 28"/>
          <p:cNvSpPr/>
          <p:nvPr/>
        </p:nvSpPr>
        <p:spPr>
          <a:xfrm>
            <a:off x="1828800" y="3026664"/>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Dataverse table connections</a:t>
            </a:r>
            <a:endParaRPr lang="en-US" sz="1000" dirty="0"/>
          </a:p>
        </p:txBody>
      </p:sp>
      <p:sp>
        <p:nvSpPr>
          <p:cNvPr id="31" name="Text 29"/>
          <p:cNvSpPr/>
          <p:nvPr/>
        </p:nvSpPr>
        <p:spPr>
          <a:xfrm>
            <a:off x="5212080" y="3026664"/>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MCP Server config (must add manually in Tools tab)</a:t>
            </a:r>
            <a:endParaRPr lang="en-US" sz="1000" dirty="0"/>
          </a:p>
        </p:txBody>
      </p:sp>
      <p:sp>
        <p:nvSpPr>
          <p:cNvPr id="32" name="Shape 30"/>
          <p:cNvSpPr/>
          <p:nvPr/>
        </p:nvSpPr>
        <p:spPr>
          <a:xfrm>
            <a:off x="457200" y="3447288"/>
            <a:ext cx="8229600" cy="402336"/>
          </a:xfrm>
          <a:prstGeom prst="rect">
            <a:avLst/>
          </a:prstGeom>
          <a:solidFill>
            <a:srgbClr val="F8FAFC"/>
          </a:solidFill>
          <a:ln/>
        </p:spPr>
        <p:txBody>
          <a:bodyPr/>
          <a:lstStyle/>
          <a:p>
            <a:endParaRPr lang="en-IN"/>
          </a:p>
        </p:txBody>
      </p:sp>
      <p:sp>
        <p:nvSpPr>
          <p:cNvPr id="33" name="Text 31"/>
          <p:cNvSpPr/>
          <p:nvPr/>
        </p:nvSpPr>
        <p:spPr>
          <a:xfrm>
            <a:off x="548640" y="3447288"/>
            <a:ext cx="1188720" cy="40233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Rules</a:t>
            </a:r>
            <a:endParaRPr lang="en-US" sz="1000" dirty="0"/>
          </a:p>
        </p:txBody>
      </p:sp>
      <p:sp>
        <p:nvSpPr>
          <p:cNvPr id="34" name="Text 32"/>
          <p:cNvSpPr/>
          <p:nvPr/>
        </p:nvSpPr>
        <p:spPr>
          <a:xfrm>
            <a:off x="1828800" y="3447288"/>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Simple if/then from formulas</a:t>
            </a:r>
            <a:endParaRPr lang="en-US" sz="1000" dirty="0"/>
          </a:p>
        </p:txBody>
      </p:sp>
      <p:sp>
        <p:nvSpPr>
          <p:cNvPr id="35" name="Text 33"/>
          <p:cNvSpPr/>
          <p:nvPr/>
        </p:nvSpPr>
        <p:spPr>
          <a:xfrm>
            <a:off x="5212080" y="3447288"/>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Nested conditions, lookup chains, calculated fields</a:t>
            </a:r>
            <a:endParaRPr lang="en-US" sz="1000" dirty="0"/>
          </a:p>
        </p:txBody>
      </p:sp>
      <p:sp>
        <p:nvSpPr>
          <p:cNvPr id="36" name="Shape 34"/>
          <p:cNvSpPr/>
          <p:nvPr/>
        </p:nvSpPr>
        <p:spPr>
          <a:xfrm>
            <a:off x="457200" y="3867912"/>
            <a:ext cx="8229600" cy="402336"/>
          </a:xfrm>
          <a:prstGeom prst="rect">
            <a:avLst/>
          </a:prstGeom>
          <a:solidFill>
            <a:srgbClr val="FFFFFF"/>
          </a:solidFill>
          <a:ln/>
        </p:spPr>
        <p:txBody>
          <a:bodyPr/>
          <a:lstStyle/>
          <a:p>
            <a:endParaRPr lang="en-IN"/>
          </a:p>
        </p:txBody>
      </p:sp>
      <p:sp>
        <p:nvSpPr>
          <p:cNvPr id="37" name="Text 35"/>
          <p:cNvSpPr/>
          <p:nvPr/>
        </p:nvSpPr>
        <p:spPr>
          <a:xfrm>
            <a:off x="548640" y="3867912"/>
            <a:ext cx="1188720" cy="40233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Security</a:t>
            </a:r>
            <a:endParaRPr lang="en-US" sz="1000" dirty="0"/>
          </a:p>
        </p:txBody>
      </p:sp>
      <p:sp>
        <p:nvSpPr>
          <p:cNvPr id="38" name="Text 36"/>
          <p:cNvSpPr/>
          <p:nvPr/>
        </p:nvSpPr>
        <p:spPr>
          <a:xfrm>
            <a:off x="1828800" y="3867912"/>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Basic data source awareness</a:t>
            </a:r>
            <a:endParaRPr lang="en-US" sz="1000" dirty="0"/>
          </a:p>
        </p:txBody>
      </p:sp>
      <p:sp>
        <p:nvSpPr>
          <p:cNvPr id="39" name="Text 37"/>
          <p:cNvSpPr/>
          <p:nvPr/>
        </p:nvSpPr>
        <p:spPr>
          <a:xfrm>
            <a:off x="5212080" y="3867912"/>
            <a:ext cx="329184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Dataverse roles, column/record-level security</a:t>
            </a:r>
            <a:endParaRPr lang="en-US" sz="1000" dirty="0"/>
          </a:p>
        </p:txBody>
      </p:sp>
      <p:sp>
        <p:nvSpPr>
          <p:cNvPr id="40" name="Shape 38"/>
          <p:cNvSpPr/>
          <p:nvPr/>
        </p:nvSpPr>
        <p:spPr>
          <a:xfrm>
            <a:off x="457200" y="4343400"/>
            <a:ext cx="8229600" cy="411480"/>
          </a:xfrm>
          <a:prstGeom prst="rect">
            <a:avLst/>
          </a:prstGeom>
          <a:solidFill>
            <a:srgbClr val="FDECEC"/>
          </a:solidFill>
          <a:ln/>
        </p:spPr>
        <p:txBody>
          <a:bodyPr/>
          <a:lstStyle/>
          <a:p>
            <a:endParaRPr lang="en-IN"/>
          </a:p>
        </p:txBody>
      </p:sp>
      <p:sp>
        <p:nvSpPr>
          <p:cNvPr id="41" name="Text 39"/>
          <p:cNvSpPr/>
          <p:nvPr/>
        </p:nvSpPr>
        <p:spPr>
          <a:xfrm>
            <a:off x="640080" y="4343400"/>
            <a:ext cx="7863840" cy="411480"/>
          </a:xfrm>
          <a:prstGeom prst="rect">
            <a:avLst/>
          </a:prstGeom>
          <a:noFill/>
          <a:ln/>
        </p:spPr>
        <p:txBody>
          <a:bodyPr wrap="square" lIns="0" tIns="0" rIns="0" bIns="0"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CRITICAL: Agent Builder does NOT auto-configure the Dataverse MCP Server. You must manually add it as a tool in Copilot Studio.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13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Agent Builder vs. Manual Agent Creation</a:t>
            </a:r>
            <a:endParaRPr lang="en-US" sz="2200" dirty="0"/>
          </a:p>
        </p:txBody>
      </p:sp>
      <p:sp>
        <p:nvSpPr>
          <p:cNvPr id="8" name="Shape 6"/>
          <p:cNvSpPr/>
          <p:nvPr/>
        </p:nvSpPr>
        <p:spPr>
          <a:xfrm>
            <a:off x="1828800" y="914400"/>
            <a:ext cx="3474720" cy="365760"/>
          </a:xfrm>
          <a:prstGeom prst="rect">
            <a:avLst/>
          </a:prstGeom>
          <a:solidFill>
            <a:srgbClr val="0891B2"/>
          </a:solidFill>
          <a:ln/>
        </p:spPr>
        <p:txBody>
          <a:bodyPr/>
          <a:lstStyle/>
          <a:p>
            <a:endParaRPr lang="en-IN"/>
          </a:p>
        </p:txBody>
      </p:sp>
      <p:sp>
        <p:nvSpPr>
          <p:cNvPr id="9" name="Text 7"/>
          <p:cNvSpPr/>
          <p:nvPr/>
        </p:nvSpPr>
        <p:spPr>
          <a:xfrm>
            <a:off x="1828800" y="914400"/>
            <a:ext cx="347472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Use Agent Builder</a:t>
            </a:r>
            <a:endParaRPr lang="en-US" sz="1200" dirty="0"/>
          </a:p>
        </p:txBody>
      </p:sp>
      <p:sp>
        <p:nvSpPr>
          <p:cNvPr id="10" name="Shape 8"/>
          <p:cNvSpPr/>
          <p:nvPr/>
        </p:nvSpPr>
        <p:spPr>
          <a:xfrm>
            <a:off x="5394960" y="914400"/>
            <a:ext cx="3291840" cy="365760"/>
          </a:xfrm>
          <a:prstGeom prst="rect">
            <a:avLst/>
          </a:prstGeom>
          <a:solidFill>
            <a:srgbClr val="0F1B2D"/>
          </a:solidFill>
          <a:ln/>
        </p:spPr>
        <p:txBody>
          <a:bodyPr/>
          <a:lstStyle/>
          <a:p>
            <a:endParaRPr lang="en-IN"/>
          </a:p>
        </p:txBody>
      </p:sp>
      <p:sp>
        <p:nvSpPr>
          <p:cNvPr id="11" name="Text 9"/>
          <p:cNvSpPr/>
          <p:nvPr/>
        </p:nvSpPr>
        <p:spPr>
          <a:xfrm>
            <a:off x="5394960" y="914400"/>
            <a:ext cx="32918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Create Manually</a:t>
            </a:r>
            <a:endParaRPr lang="en-US" sz="1200" dirty="0"/>
          </a:p>
        </p:txBody>
      </p:sp>
      <p:sp>
        <p:nvSpPr>
          <p:cNvPr id="12" name="Shape 10"/>
          <p:cNvSpPr/>
          <p:nvPr/>
        </p:nvSpPr>
        <p:spPr>
          <a:xfrm>
            <a:off x="457200" y="1298448"/>
            <a:ext cx="8229600" cy="521208"/>
          </a:xfrm>
          <a:prstGeom prst="rect">
            <a:avLst/>
          </a:prstGeom>
          <a:solidFill>
            <a:srgbClr val="FFFFFF"/>
          </a:solidFill>
          <a:ln/>
        </p:spPr>
        <p:txBody>
          <a:bodyPr/>
          <a:lstStyle/>
          <a:p>
            <a:endParaRPr lang="en-IN"/>
          </a:p>
        </p:txBody>
      </p:sp>
      <p:sp>
        <p:nvSpPr>
          <p:cNvPr id="13" name="Text 11"/>
          <p:cNvSpPr/>
          <p:nvPr/>
        </p:nvSpPr>
        <p:spPr>
          <a:xfrm>
            <a:off x="548640" y="1298448"/>
            <a:ext cx="1234440" cy="521208"/>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Starting Point</a:t>
            </a:r>
            <a:endParaRPr lang="en-US" sz="1000" dirty="0"/>
          </a:p>
        </p:txBody>
      </p:sp>
      <p:sp>
        <p:nvSpPr>
          <p:cNvPr id="14" name="Text 12"/>
          <p:cNvSpPr/>
          <p:nvPr/>
        </p:nvSpPr>
        <p:spPr>
          <a:xfrm>
            <a:off x="1874520" y="1298448"/>
            <a:ext cx="338328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Existing canvas app with screens and logic</a:t>
            </a:r>
            <a:endParaRPr lang="en-US" sz="1000" dirty="0"/>
          </a:p>
        </p:txBody>
      </p:sp>
      <p:sp>
        <p:nvSpPr>
          <p:cNvPr id="15" name="Text 13"/>
          <p:cNvSpPr/>
          <p:nvPr/>
        </p:nvSpPr>
        <p:spPr>
          <a:xfrm>
            <a:off x="5440680" y="1298448"/>
            <a:ext cx="310896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Net-new agent with no existing app</a:t>
            </a:r>
            <a:endParaRPr lang="en-US" sz="1000" dirty="0"/>
          </a:p>
        </p:txBody>
      </p:sp>
      <p:sp>
        <p:nvSpPr>
          <p:cNvPr id="16" name="Shape 14"/>
          <p:cNvSpPr/>
          <p:nvPr/>
        </p:nvSpPr>
        <p:spPr>
          <a:xfrm>
            <a:off x="457200" y="1847088"/>
            <a:ext cx="8229600" cy="521208"/>
          </a:xfrm>
          <a:prstGeom prst="rect">
            <a:avLst/>
          </a:prstGeom>
          <a:solidFill>
            <a:srgbClr val="F8FAFC"/>
          </a:solidFill>
          <a:ln/>
        </p:spPr>
        <p:txBody>
          <a:bodyPr/>
          <a:lstStyle/>
          <a:p>
            <a:endParaRPr lang="en-IN"/>
          </a:p>
        </p:txBody>
      </p:sp>
      <p:sp>
        <p:nvSpPr>
          <p:cNvPr id="17" name="Text 15"/>
          <p:cNvSpPr/>
          <p:nvPr/>
        </p:nvSpPr>
        <p:spPr>
          <a:xfrm>
            <a:off x="548640" y="1847088"/>
            <a:ext cx="1234440" cy="521208"/>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Complexity</a:t>
            </a:r>
            <a:endParaRPr lang="en-US" sz="1000" dirty="0"/>
          </a:p>
        </p:txBody>
      </p:sp>
      <p:sp>
        <p:nvSpPr>
          <p:cNvPr id="18" name="Text 16"/>
          <p:cNvSpPr/>
          <p:nvPr/>
        </p:nvSpPr>
        <p:spPr>
          <a:xfrm>
            <a:off x="1874520" y="1847088"/>
            <a:ext cx="338328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3-10 screens with straightforward CRUD</a:t>
            </a:r>
            <a:endParaRPr lang="en-US" sz="1000" dirty="0"/>
          </a:p>
        </p:txBody>
      </p:sp>
      <p:sp>
        <p:nvSpPr>
          <p:cNvPr id="19" name="Text 17"/>
          <p:cNvSpPr/>
          <p:nvPr/>
        </p:nvSpPr>
        <p:spPr>
          <a:xfrm>
            <a:off x="5440680" y="1847088"/>
            <a:ext cx="310896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Complex orchestration, multi-agent patterns</a:t>
            </a:r>
            <a:endParaRPr lang="en-US" sz="1000" dirty="0"/>
          </a:p>
        </p:txBody>
      </p:sp>
      <p:sp>
        <p:nvSpPr>
          <p:cNvPr id="20" name="Shape 18"/>
          <p:cNvSpPr/>
          <p:nvPr/>
        </p:nvSpPr>
        <p:spPr>
          <a:xfrm>
            <a:off x="457200" y="2395728"/>
            <a:ext cx="8229600" cy="521208"/>
          </a:xfrm>
          <a:prstGeom prst="rect">
            <a:avLst/>
          </a:prstGeom>
          <a:solidFill>
            <a:srgbClr val="FFFFFF"/>
          </a:solidFill>
          <a:ln/>
        </p:spPr>
        <p:txBody>
          <a:bodyPr/>
          <a:lstStyle/>
          <a:p>
            <a:endParaRPr lang="en-IN"/>
          </a:p>
        </p:txBody>
      </p:sp>
      <p:sp>
        <p:nvSpPr>
          <p:cNvPr id="21" name="Text 19"/>
          <p:cNvSpPr/>
          <p:nvPr/>
        </p:nvSpPr>
        <p:spPr>
          <a:xfrm>
            <a:off x="548640" y="2395728"/>
            <a:ext cx="1234440" cy="521208"/>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Business Logic</a:t>
            </a:r>
            <a:endParaRPr lang="en-US" sz="1000" dirty="0"/>
          </a:p>
        </p:txBody>
      </p:sp>
      <p:sp>
        <p:nvSpPr>
          <p:cNvPr id="22" name="Text 20"/>
          <p:cNvSpPr/>
          <p:nvPr/>
        </p:nvSpPr>
        <p:spPr>
          <a:xfrm>
            <a:off x="1874520" y="2395728"/>
            <a:ext cx="338328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Domain rules in app formulas</a:t>
            </a:r>
            <a:endParaRPr lang="en-US" sz="1000" dirty="0"/>
          </a:p>
        </p:txBody>
      </p:sp>
      <p:sp>
        <p:nvSpPr>
          <p:cNvPr id="23" name="Text 21"/>
          <p:cNvSpPr/>
          <p:nvPr/>
        </p:nvSpPr>
        <p:spPr>
          <a:xfrm>
            <a:off x="5440680" y="2395728"/>
            <a:ext cx="310896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Logic in plugins, flows, or external APIs</a:t>
            </a:r>
            <a:endParaRPr lang="en-US" sz="1000" dirty="0"/>
          </a:p>
        </p:txBody>
      </p:sp>
      <p:sp>
        <p:nvSpPr>
          <p:cNvPr id="24" name="Shape 22"/>
          <p:cNvSpPr/>
          <p:nvPr/>
        </p:nvSpPr>
        <p:spPr>
          <a:xfrm>
            <a:off x="457200" y="2944368"/>
            <a:ext cx="8229600" cy="521208"/>
          </a:xfrm>
          <a:prstGeom prst="rect">
            <a:avLst/>
          </a:prstGeom>
          <a:solidFill>
            <a:srgbClr val="F8FAFC"/>
          </a:solidFill>
          <a:ln/>
        </p:spPr>
        <p:txBody>
          <a:bodyPr/>
          <a:lstStyle/>
          <a:p>
            <a:endParaRPr lang="en-IN"/>
          </a:p>
        </p:txBody>
      </p:sp>
      <p:sp>
        <p:nvSpPr>
          <p:cNvPr id="25" name="Text 23"/>
          <p:cNvSpPr/>
          <p:nvPr/>
        </p:nvSpPr>
        <p:spPr>
          <a:xfrm>
            <a:off x="548640" y="2944368"/>
            <a:ext cx="1234440" cy="521208"/>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Time Savings</a:t>
            </a:r>
            <a:endParaRPr lang="en-US" sz="1000" dirty="0"/>
          </a:p>
        </p:txBody>
      </p:sp>
      <p:sp>
        <p:nvSpPr>
          <p:cNvPr id="26" name="Text 24"/>
          <p:cNvSpPr/>
          <p:nvPr/>
        </p:nvSpPr>
        <p:spPr>
          <a:xfrm>
            <a:off x="1874520" y="2944368"/>
            <a:ext cx="338328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60-80% head start, saves 2-4 hours</a:t>
            </a:r>
            <a:endParaRPr lang="en-US" sz="1000" dirty="0"/>
          </a:p>
        </p:txBody>
      </p:sp>
      <p:sp>
        <p:nvSpPr>
          <p:cNvPr id="27" name="Text 25"/>
          <p:cNvSpPr/>
          <p:nvPr/>
        </p:nvSpPr>
        <p:spPr>
          <a:xfrm>
            <a:off x="5440680" y="2944368"/>
            <a:ext cx="310896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Simple agents (1-2 topics) may be faster</a:t>
            </a:r>
            <a:endParaRPr lang="en-US" sz="1000" dirty="0"/>
          </a:p>
        </p:txBody>
      </p:sp>
      <p:sp>
        <p:nvSpPr>
          <p:cNvPr id="28" name="Shape 26"/>
          <p:cNvSpPr/>
          <p:nvPr/>
        </p:nvSpPr>
        <p:spPr>
          <a:xfrm>
            <a:off x="457200" y="3493008"/>
            <a:ext cx="8229600" cy="521208"/>
          </a:xfrm>
          <a:prstGeom prst="rect">
            <a:avLst/>
          </a:prstGeom>
          <a:solidFill>
            <a:srgbClr val="FFFFFF"/>
          </a:solidFill>
          <a:ln/>
        </p:spPr>
        <p:txBody>
          <a:bodyPr/>
          <a:lstStyle/>
          <a:p>
            <a:endParaRPr lang="en-IN"/>
          </a:p>
        </p:txBody>
      </p:sp>
      <p:sp>
        <p:nvSpPr>
          <p:cNvPr id="29" name="Text 27"/>
          <p:cNvSpPr/>
          <p:nvPr/>
        </p:nvSpPr>
        <p:spPr>
          <a:xfrm>
            <a:off x="548640" y="3493008"/>
            <a:ext cx="1234440" cy="521208"/>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Knowledge</a:t>
            </a:r>
            <a:endParaRPr lang="en-US" sz="1000" dirty="0"/>
          </a:p>
        </p:txBody>
      </p:sp>
      <p:sp>
        <p:nvSpPr>
          <p:cNvPr id="30" name="Text 28"/>
          <p:cNvSpPr/>
          <p:nvPr/>
        </p:nvSpPr>
        <p:spPr>
          <a:xfrm>
            <a:off x="1874520" y="3493008"/>
            <a:ext cx="338328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App data connections map to agent knowledge</a:t>
            </a:r>
            <a:endParaRPr lang="en-US" sz="1000" dirty="0"/>
          </a:p>
        </p:txBody>
      </p:sp>
      <p:sp>
        <p:nvSpPr>
          <p:cNvPr id="31" name="Text 29"/>
          <p:cNvSpPr/>
          <p:nvPr/>
        </p:nvSpPr>
        <p:spPr>
          <a:xfrm>
            <a:off x="5440680" y="3493008"/>
            <a:ext cx="310896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PDFs, websites, or SharePoint primary</a:t>
            </a:r>
            <a:endParaRPr lang="en-US" sz="1000" dirty="0"/>
          </a:p>
        </p:txBody>
      </p:sp>
      <p:sp>
        <p:nvSpPr>
          <p:cNvPr id="32" name="Shape 30"/>
          <p:cNvSpPr/>
          <p:nvPr/>
        </p:nvSpPr>
        <p:spPr>
          <a:xfrm>
            <a:off x="457200" y="4041648"/>
            <a:ext cx="8229600" cy="521208"/>
          </a:xfrm>
          <a:prstGeom prst="rect">
            <a:avLst/>
          </a:prstGeom>
          <a:solidFill>
            <a:srgbClr val="F8FAFC"/>
          </a:solidFill>
          <a:ln/>
        </p:spPr>
        <p:txBody>
          <a:bodyPr/>
          <a:lstStyle/>
          <a:p>
            <a:endParaRPr lang="en-IN"/>
          </a:p>
        </p:txBody>
      </p:sp>
      <p:sp>
        <p:nvSpPr>
          <p:cNvPr id="33" name="Text 31"/>
          <p:cNvSpPr/>
          <p:nvPr/>
        </p:nvSpPr>
        <p:spPr>
          <a:xfrm>
            <a:off x="548640" y="4041648"/>
            <a:ext cx="1234440" cy="521208"/>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BFSI Pick</a:t>
            </a:r>
            <a:endParaRPr lang="en-US" sz="1000" dirty="0"/>
          </a:p>
        </p:txBody>
      </p:sp>
      <p:sp>
        <p:nvSpPr>
          <p:cNvPr id="34" name="Text 32"/>
          <p:cNvSpPr/>
          <p:nvPr/>
        </p:nvSpPr>
        <p:spPr>
          <a:xfrm>
            <a:off x="1874520" y="4041648"/>
            <a:ext cx="338328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Claims, policy lookup, onboarding apps</a:t>
            </a:r>
            <a:endParaRPr lang="en-US" sz="1000" dirty="0"/>
          </a:p>
        </p:txBody>
      </p:sp>
      <p:sp>
        <p:nvSpPr>
          <p:cNvPr id="35" name="Text 33"/>
          <p:cNvSpPr/>
          <p:nvPr/>
        </p:nvSpPr>
        <p:spPr>
          <a:xfrm>
            <a:off x="5440680" y="4041648"/>
            <a:ext cx="3108960" cy="5212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Compliance reporting, multi-agent orchestration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14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Canvas App Compatibility Requirements</a:t>
            </a:r>
            <a:endParaRPr lang="en-US" sz="2200" dirty="0"/>
          </a:p>
        </p:txBody>
      </p:sp>
      <p:sp>
        <p:nvSpPr>
          <p:cNvPr id="8" name="Shape 6"/>
          <p:cNvSpPr/>
          <p:nvPr/>
        </p:nvSpPr>
        <p:spPr>
          <a:xfrm>
            <a:off x="457200" y="960120"/>
            <a:ext cx="822960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Shape 7"/>
          <p:cNvSpPr/>
          <p:nvPr/>
        </p:nvSpPr>
        <p:spPr>
          <a:xfrm>
            <a:off x="457200" y="960120"/>
            <a:ext cx="64008" cy="685800"/>
          </a:xfrm>
          <a:prstGeom prst="rect">
            <a:avLst/>
          </a:prstGeom>
          <a:solidFill>
            <a:srgbClr val="0891B2"/>
          </a:solidFill>
          <a:ln/>
        </p:spPr>
        <p:txBody>
          <a:bodyPr/>
          <a:lstStyle/>
          <a:p>
            <a:endParaRPr lang="en-IN"/>
          </a:p>
        </p:txBody>
      </p:sp>
      <p:sp>
        <p:nvSpPr>
          <p:cNvPr id="10" name="Text 8"/>
          <p:cNvSpPr/>
          <p:nvPr/>
        </p:nvSpPr>
        <p:spPr>
          <a:xfrm>
            <a:off x="685800" y="1005840"/>
            <a:ext cx="2377440" cy="274320"/>
          </a:xfrm>
          <a:prstGeom prst="rect">
            <a:avLst/>
          </a:prstGeom>
          <a:noFill/>
          <a:ln/>
        </p:spPr>
        <p:txBody>
          <a:bodyPr wrap="square" lIns="0" tIns="0" rIns="0" bIns="0" rtlCol="0" anchor="ctr"/>
          <a:lstStyle/>
          <a:p>
            <a:pPr marL="0" indent="0">
              <a:buNone/>
            </a:pPr>
            <a:r>
              <a:rPr lang="en-US" sz="1200" b="1" dirty="0">
                <a:solidFill>
                  <a:srgbClr val="0E7490"/>
                </a:solidFill>
                <a:latin typeface="Calibri" pitchFamily="34" charset="0"/>
                <a:ea typeface="Calibri" pitchFamily="34" charset="-122"/>
                <a:cs typeface="Calibri" pitchFamily="34" charset="-120"/>
              </a:rPr>
              <a:t>Dataverse Connection</a:t>
            </a:r>
            <a:endParaRPr lang="en-US" sz="1200" dirty="0"/>
          </a:p>
        </p:txBody>
      </p:sp>
      <p:sp>
        <p:nvSpPr>
          <p:cNvPr id="11" name="Text 9"/>
          <p:cNvSpPr/>
          <p:nvPr/>
        </p:nvSpPr>
        <p:spPr>
          <a:xfrm>
            <a:off x="685800" y="1280160"/>
            <a:ext cx="2377440" cy="3200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At least one active Dataverse connection with Patch, Filter, LookUp</a:t>
            </a:r>
            <a:endParaRPr lang="en-US" sz="950" dirty="0"/>
          </a:p>
        </p:txBody>
      </p:sp>
      <p:sp>
        <p:nvSpPr>
          <p:cNvPr id="12" name="Text 10"/>
          <p:cNvSpPr/>
          <p:nvPr/>
        </p:nvSpPr>
        <p:spPr>
          <a:xfrm>
            <a:off x="3200400" y="960120"/>
            <a:ext cx="5303520" cy="685800"/>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Apps using only local collections or Excel won't produce useful agents</a:t>
            </a:r>
            <a:endParaRPr lang="en-US" sz="1050" dirty="0"/>
          </a:p>
        </p:txBody>
      </p:sp>
      <p:sp>
        <p:nvSpPr>
          <p:cNvPr id="13" name="Shape 11"/>
          <p:cNvSpPr/>
          <p:nvPr/>
        </p:nvSpPr>
        <p:spPr>
          <a:xfrm>
            <a:off x="457200" y="1709928"/>
            <a:ext cx="822960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4" name="Shape 12"/>
          <p:cNvSpPr/>
          <p:nvPr/>
        </p:nvSpPr>
        <p:spPr>
          <a:xfrm>
            <a:off x="457200" y="1709928"/>
            <a:ext cx="64008" cy="685800"/>
          </a:xfrm>
          <a:prstGeom prst="rect">
            <a:avLst/>
          </a:prstGeom>
          <a:solidFill>
            <a:srgbClr val="0891B2"/>
          </a:solidFill>
          <a:ln/>
        </p:spPr>
        <p:txBody>
          <a:bodyPr/>
          <a:lstStyle/>
          <a:p>
            <a:endParaRPr lang="en-IN"/>
          </a:p>
        </p:txBody>
      </p:sp>
      <p:sp>
        <p:nvSpPr>
          <p:cNvPr id="15" name="Text 13"/>
          <p:cNvSpPr/>
          <p:nvPr/>
        </p:nvSpPr>
        <p:spPr>
          <a:xfrm>
            <a:off x="685800" y="1755648"/>
            <a:ext cx="2377440" cy="274320"/>
          </a:xfrm>
          <a:prstGeom prst="rect">
            <a:avLst/>
          </a:prstGeom>
          <a:noFill/>
          <a:ln/>
        </p:spPr>
        <p:txBody>
          <a:bodyPr wrap="square" lIns="0" tIns="0" rIns="0" bIns="0" rtlCol="0" anchor="ctr"/>
          <a:lstStyle/>
          <a:p>
            <a:pPr marL="0" indent="0">
              <a:buNone/>
            </a:pPr>
            <a:r>
              <a:rPr lang="en-US" sz="1200" b="1" dirty="0">
                <a:solidFill>
                  <a:srgbClr val="0E7490"/>
                </a:solidFill>
                <a:latin typeface="Calibri" pitchFamily="34" charset="0"/>
                <a:ea typeface="Calibri" pitchFamily="34" charset="-122"/>
                <a:cs typeface="Calibri" pitchFamily="34" charset="-120"/>
              </a:rPr>
              <a:t>Distinct Screen Structure</a:t>
            </a:r>
            <a:endParaRPr lang="en-US" sz="1200" dirty="0"/>
          </a:p>
        </p:txBody>
      </p:sp>
      <p:sp>
        <p:nvSpPr>
          <p:cNvPr id="16" name="Text 14"/>
          <p:cNvSpPr/>
          <p:nvPr/>
        </p:nvSpPr>
        <p:spPr>
          <a:xfrm>
            <a:off x="685800" y="2029968"/>
            <a:ext cx="2377440" cy="3200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Separate screens for separate functions</a:t>
            </a:r>
            <a:endParaRPr lang="en-US" sz="950" dirty="0"/>
          </a:p>
        </p:txBody>
      </p:sp>
      <p:sp>
        <p:nvSpPr>
          <p:cNvPr id="17" name="Text 15"/>
          <p:cNvSpPr/>
          <p:nvPr/>
        </p:nvSpPr>
        <p:spPr>
          <a:xfrm>
            <a:off x="3200400" y="1709928"/>
            <a:ext cx="5303520" cy="685800"/>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Single-screen apps produce single, vague goals</a:t>
            </a:r>
            <a:endParaRPr lang="en-US" sz="1050" dirty="0"/>
          </a:p>
        </p:txBody>
      </p:sp>
      <p:sp>
        <p:nvSpPr>
          <p:cNvPr id="18" name="Shape 16"/>
          <p:cNvSpPr/>
          <p:nvPr/>
        </p:nvSpPr>
        <p:spPr>
          <a:xfrm>
            <a:off x="457200" y="2459736"/>
            <a:ext cx="822960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9" name="Shape 17"/>
          <p:cNvSpPr/>
          <p:nvPr/>
        </p:nvSpPr>
        <p:spPr>
          <a:xfrm>
            <a:off x="457200" y="2459736"/>
            <a:ext cx="64008" cy="685800"/>
          </a:xfrm>
          <a:prstGeom prst="rect">
            <a:avLst/>
          </a:prstGeom>
          <a:solidFill>
            <a:srgbClr val="0891B2"/>
          </a:solidFill>
          <a:ln/>
        </p:spPr>
        <p:txBody>
          <a:bodyPr/>
          <a:lstStyle/>
          <a:p>
            <a:endParaRPr lang="en-IN"/>
          </a:p>
        </p:txBody>
      </p:sp>
      <p:sp>
        <p:nvSpPr>
          <p:cNvPr id="20" name="Text 18"/>
          <p:cNvSpPr/>
          <p:nvPr/>
        </p:nvSpPr>
        <p:spPr>
          <a:xfrm>
            <a:off x="685800" y="2505456"/>
            <a:ext cx="2377440" cy="274320"/>
          </a:xfrm>
          <a:prstGeom prst="rect">
            <a:avLst/>
          </a:prstGeom>
          <a:noFill/>
          <a:ln/>
        </p:spPr>
        <p:txBody>
          <a:bodyPr wrap="square" lIns="0" tIns="0" rIns="0" bIns="0" rtlCol="0" anchor="ctr"/>
          <a:lstStyle/>
          <a:p>
            <a:pPr marL="0" indent="0">
              <a:buNone/>
            </a:pPr>
            <a:r>
              <a:rPr lang="en-US" sz="1200" b="1" dirty="0">
                <a:solidFill>
                  <a:srgbClr val="0E7490"/>
                </a:solidFill>
                <a:latin typeface="Calibri" pitchFamily="34" charset="0"/>
                <a:ea typeface="Calibri" pitchFamily="34" charset="-122"/>
                <a:cs typeface="Calibri" pitchFamily="34" charset="-120"/>
              </a:rPr>
              <a:t>Named Controls</a:t>
            </a:r>
            <a:endParaRPr lang="en-US" sz="1200" dirty="0"/>
          </a:p>
        </p:txBody>
      </p:sp>
      <p:sp>
        <p:nvSpPr>
          <p:cNvPr id="21" name="Text 19"/>
          <p:cNvSpPr/>
          <p:nvPr/>
        </p:nvSpPr>
        <p:spPr>
          <a:xfrm>
            <a:off x="685800" y="2779776"/>
            <a:ext cx="2377440" cy="3200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Meaningful names (txt_CustomerName) not defaults (TextInput1)</a:t>
            </a:r>
            <a:endParaRPr lang="en-US" sz="950" dirty="0"/>
          </a:p>
        </p:txBody>
      </p:sp>
      <p:sp>
        <p:nvSpPr>
          <p:cNvPr id="22" name="Text 20"/>
          <p:cNvSpPr/>
          <p:nvPr/>
        </p:nvSpPr>
        <p:spPr>
          <a:xfrm>
            <a:off x="3200400" y="2459736"/>
            <a:ext cx="5303520" cy="685800"/>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Named controls produce much better step descriptions</a:t>
            </a:r>
            <a:endParaRPr lang="en-US" sz="1050" dirty="0"/>
          </a:p>
        </p:txBody>
      </p:sp>
      <p:sp>
        <p:nvSpPr>
          <p:cNvPr id="23" name="Shape 21"/>
          <p:cNvSpPr/>
          <p:nvPr/>
        </p:nvSpPr>
        <p:spPr>
          <a:xfrm>
            <a:off x="457200" y="3209544"/>
            <a:ext cx="822960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4" name="Shape 22"/>
          <p:cNvSpPr/>
          <p:nvPr/>
        </p:nvSpPr>
        <p:spPr>
          <a:xfrm>
            <a:off x="457200" y="3209544"/>
            <a:ext cx="64008" cy="685800"/>
          </a:xfrm>
          <a:prstGeom prst="rect">
            <a:avLst/>
          </a:prstGeom>
          <a:solidFill>
            <a:srgbClr val="0891B2"/>
          </a:solidFill>
          <a:ln/>
        </p:spPr>
        <p:txBody>
          <a:bodyPr/>
          <a:lstStyle/>
          <a:p>
            <a:endParaRPr lang="en-IN"/>
          </a:p>
        </p:txBody>
      </p:sp>
      <p:sp>
        <p:nvSpPr>
          <p:cNvPr id="25" name="Text 23"/>
          <p:cNvSpPr/>
          <p:nvPr/>
        </p:nvSpPr>
        <p:spPr>
          <a:xfrm>
            <a:off x="685800" y="3255264"/>
            <a:ext cx="2377440" cy="274320"/>
          </a:xfrm>
          <a:prstGeom prst="rect">
            <a:avLst/>
          </a:prstGeom>
          <a:noFill/>
          <a:ln/>
        </p:spPr>
        <p:txBody>
          <a:bodyPr wrap="square" lIns="0" tIns="0" rIns="0" bIns="0" rtlCol="0" anchor="ctr"/>
          <a:lstStyle/>
          <a:p>
            <a:pPr marL="0" indent="0">
              <a:buNone/>
            </a:pPr>
            <a:r>
              <a:rPr lang="en-US" sz="1200" b="1" dirty="0">
                <a:solidFill>
                  <a:srgbClr val="0E7490"/>
                </a:solidFill>
                <a:latin typeface="Calibri" pitchFamily="34" charset="0"/>
                <a:ea typeface="Calibri" pitchFamily="34" charset="-122"/>
                <a:cs typeface="Calibri" pitchFamily="34" charset="-120"/>
              </a:rPr>
              <a:t>Required Field Markers</a:t>
            </a:r>
            <a:endParaRPr lang="en-US" sz="1200" dirty="0"/>
          </a:p>
        </p:txBody>
      </p:sp>
      <p:sp>
        <p:nvSpPr>
          <p:cNvPr id="26" name="Text 24"/>
          <p:cNvSpPr/>
          <p:nvPr/>
        </p:nvSpPr>
        <p:spPr>
          <a:xfrm>
            <a:off x="685800" y="3529584"/>
            <a:ext cx="2377440" cy="3200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Fields marked using Required property or validation formulas</a:t>
            </a:r>
            <a:endParaRPr lang="en-US" sz="950" dirty="0"/>
          </a:p>
        </p:txBody>
      </p:sp>
      <p:sp>
        <p:nvSpPr>
          <p:cNvPr id="27" name="Text 25"/>
          <p:cNvSpPr/>
          <p:nvPr/>
        </p:nvSpPr>
        <p:spPr>
          <a:xfrm>
            <a:off x="3200400" y="3209544"/>
            <a:ext cx="5303520" cy="685800"/>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Determines which information must be collected in conversation</a:t>
            </a:r>
            <a:endParaRPr lang="en-US" sz="1050" dirty="0"/>
          </a:p>
        </p:txBody>
      </p:sp>
      <p:sp>
        <p:nvSpPr>
          <p:cNvPr id="28" name="Shape 26"/>
          <p:cNvSpPr/>
          <p:nvPr/>
        </p:nvSpPr>
        <p:spPr>
          <a:xfrm>
            <a:off x="457200" y="3959352"/>
            <a:ext cx="822960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9" name="Shape 27"/>
          <p:cNvSpPr/>
          <p:nvPr/>
        </p:nvSpPr>
        <p:spPr>
          <a:xfrm>
            <a:off x="457200" y="3959352"/>
            <a:ext cx="64008" cy="685800"/>
          </a:xfrm>
          <a:prstGeom prst="rect">
            <a:avLst/>
          </a:prstGeom>
          <a:solidFill>
            <a:srgbClr val="0891B2"/>
          </a:solidFill>
          <a:ln/>
        </p:spPr>
        <p:txBody>
          <a:bodyPr/>
          <a:lstStyle/>
          <a:p>
            <a:endParaRPr lang="en-IN"/>
          </a:p>
        </p:txBody>
      </p:sp>
      <p:sp>
        <p:nvSpPr>
          <p:cNvPr id="30" name="Text 28"/>
          <p:cNvSpPr/>
          <p:nvPr/>
        </p:nvSpPr>
        <p:spPr>
          <a:xfrm>
            <a:off x="685800" y="4005072"/>
            <a:ext cx="2377440" cy="274320"/>
          </a:xfrm>
          <a:prstGeom prst="rect">
            <a:avLst/>
          </a:prstGeom>
          <a:noFill/>
          <a:ln/>
        </p:spPr>
        <p:txBody>
          <a:bodyPr wrap="square" lIns="0" tIns="0" rIns="0" bIns="0" rtlCol="0" anchor="ctr"/>
          <a:lstStyle/>
          <a:p>
            <a:pPr marL="0" indent="0">
              <a:buNone/>
            </a:pPr>
            <a:r>
              <a:rPr lang="en-US" sz="1200" b="1" dirty="0">
                <a:solidFill>
                  <a:srgbClr val="0E7490"/>
                </a:solidFill>
                <a:latin typeface="Calibri" pitchFamily="34" charset="0"/>
                <a:ea typeface="Calibri" pitchFamily="34" charset="-122"/>
                <a:cs typeface="Calibri" pitchFamily="34" charset="-120"/>
              </a:rPr>
              <a:t>Standard Patterns</a:t>
            </a:r>
            <a:endParaRPr lang="en-US" sz="1200" dirty="0"/>
          </a:p>
        </p:txBody>
      </p:sp>
      <p:sp>
        <p:nvSpPr>
          <p:cNvPr id="31" name="Text 29"/>
          <p:cNvSpPr/>
          <p:nvPr/>
        </p:nvSpPr>
        <p:spPr>
          <a:xfrm>
            <a:off x="685800" y="4279392"/>
            <a:ext cx="2377440" cy="3200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Patch() for creates, Filter() for queries, Navigate() for flow</a:t>
            </a:r>
            <a:endParaRPr lang="en-US" sz="950" dirty="0"/>
          </a:p>
        </p:txBody>
      </p:sp>
      <p:sp>
        <p:nvSpPr>
          <p:cNvPr id="32" name="Text 30"/>
          <p:cNvSpPr/>
          <p:nvPr/>
        </p:nvSpPr>
        <p:spPr>
          <a:xfrm>
            <a:off x="3200400" y="3959352"/>
            <a:ext cx="5303520" cy="685800"/>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Custom JavaScript or external API calls may not be recognised</a:t>
            </a:r>
            <a:endParaRPr lang="en-US" sz="1050" dirty="0"/>
          </a:p>
        </p:txBody>
      </p:sp>
      <p:sp>
        <p:nvSpPr>
          <p:cNvPr id="33" name="Shape 31"/>
          <p:cNvSpPr/>
          <p:nvPr/>
        </p:nvSpPr>
        <p:spPr>
          <a:xfrm>
            <a:off x="457200" y="4572000"/>
            <a:ext cx="8229600" cy="201168"/>
          </a:xfrm>
          <a:prstGeom prst="rect">
            <a:avLst/>
          </a:prstGeom>
          <a:solidFill>
            <a:srgbClr val="E0F7FA"/>
          </a:solidFill>
          <a:ln/>
        </p:spPr>
        <p:txBody>
          <a:bodyPr/>
          <a:lstStyle/>
          <a:p>
            <a:endParaRPr lang="en-IN"/>
          </a:p>
        </p:txBody>
      </p:sp>
      <p:sp>
        <p:nvSpPr>
          <p:cNvPr id="34" name="Text 32"/>
          <p:cNvSpPr/>
          <p:nvPr/>
        </p:nvSpPr>
        <p:spPr>
          <a:xfrm>
            <a:off x="640080" y="4553712"/>
            <a:ext cx="7863840" cy="256032"/>
          </a:xfrm>
          <a:prstGeom prst="rect">
            <a:avLst/>
          </a:prstGeom>
          <a:noFill/>
          <a:ln/>
        </p:spPr>
        <p:txBody>
          <a:bodyPr wrap="square" lIns="0" tIns="0" rIns="0" bIns="0" rtlCol="0" anchor="ctr"/>
          <a:lstStyle/>
          <a:p>
            <a:pPr marL="0" indent="0" algn="ctr">
              <a:buNone/>
            </a:pPr>
            <a:r>
              <a:rPr lang="en-US" sz="1000" b="1" dirty="0">
                <a:solidFill>
                  <a:srgbClr val="0E7490"/>
                </a:solidFill>
                <a:latin typeface="Calibri" pitchFamily="34" charset="0"/>
                <a:ea typeface="Calibri" pitchFamily="34" charset="-122"/>
                <a:cs typeface="Calibri" pitchFamily="34" charset="-120"/>
              </a:rPr>
              <a:t>Tip: Spend 5 minutes renaming default controls before running Agent Builder — it dramatically improves quality.</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15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The Generated Agent — Copilot Studio Artefacts</a:t>
            </a:r>
            <a:endParaRPr lang="en-US" sz="2200" dirty="0"/>
          </a:p>
        </p:txBody>
      </p:sp>
      <p:sp>
        <p:nvSpPr>
          <p:cNvPr id="8" name="Shape 6"/>
          <p:cNvSpPr/>
          <p:nvPr/>
        </p:nvSpPr>
        <p:spPr>
          <a:xfrm>
            <a:off x="457200" y="960120"/>
            <a:ext cx="8229600" cy="365760"/>
          </a:xfrm>
          <a:prstGeom prst="rect">
            <a:avLst/>
          </a:prstGeom>
          <a:solidFill>
            <a:srgbClr val="0F1B2D"/>
          </a:solidFill>
          <a:ln/>
        </p:spPr>
        <p:txBody>
          <a:bodyPr/>
          <a:lstStyle/>
          <a:p>
            <a:endParaRPr lang="en-IN"/>
          </a:p>
        </p:txBody>
      </p:sp>
      <p:sp>
        <p:nvSpPr>
          <p:cNvPr id="9" name="Text 7"/>
          <p:cNvSpPr/>
          <p:nvPr/>
        </p:nvSpPr>
        <p:spPr>
          <a:xfrm>
            <a:off x="548640" y="960120"/>
            <a:ext cx="2011680"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Artefact</a:t>
            </a:r>
            <a:endParaRPr lang="en-US" sz="1000" dirty="0"/>
          </a:p>
        </p:txBody>
      </p:sp>
      <p:sp>
        <p:nvSpPr>
          <p:cNvPr id="10" name="Text 8"/>
          <p:cNvSpPr/>
          <p:nvPr/>
        </p:nvSpPr>
        <p:spPr>
          <a:xfrm>
            <a:off x="2651760" y="960120"/>
            <a:ext cx="2743200" cy="36576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Generated From</a:t>
            </a:r>
            <a:endParaRPr lang="en-US" sz="1000" dirty="0"/>
          </a:p>
        </p:txBody>
      </p:sp>
      <p:sp>
        <p:nvSpPr>
          <p:cNvPr id="11" name="Text 9"/>
          <p:cNvSpPr/>
          <p:nvPr/>
        </p:nvSpPr>
        <p:spPr>
          <a:xfrm>
            <a:off x="5486400" y="960120"/>
            <a:ext cx="3017520" cy="36576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What to Refine</a:t>
            </a:r>
            <a:endParaRPr lang="en-US" sz="1000" dirty="0"/>
          </a:p>
        </p:txBody>
      </p:sp>
      <p:sp>
        <p:nvSpPr>
          <p:cNvPr id="12" name="Shape 10"/>
          <p:cNvSpPr/>
          <p:nvPr/>
        </p:nvSpPr>
        <p:spPr>
          <a:xfrm>
            <a:off x="457200" y="1344168"/>
            <a:ext cx="8229600" cy="484632"/>
          </a:xfrm>
          <a:prstGeom prst="rect">
            <a:avLst/>
          </a:prstGeom>
          <a:solidFill>
            <a:srgbClr val="FFFFFF"/>
          </a:solidFill>
          <a:ln/>
        </p:spPr>
        <p:txBody>
          <a:bodyPr/>
          <a:lstStyle/>
          <a:p>
            <a:endParaRPr lang="en-IN"/>
          </a:p>
        </p:txBody>
      </p:sp>
      <p:sp>
        <p:nvSpPr>
          <p:cNvPr id="13" name="Text 11"/>
          <p:cNvSpPr/>
          <p:nvPr/>
        </p:nvSpPr>
        <p:spPr>
          <a:xfrm>
            <a:off x="548640" y="1344168"/>
            <a:ext cx="2011680" cy="4846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Agent Name &amp; Description</a:t>
            </a:r>
            <a:endParaRPr lang="en-US" sz="1000" dirty="0"/>
          </a:p>
        </p:txBody>
      </p:sp>
      <p:sp>
        <p:nvSpPr>
          <p:cNvPr id="14" name="Text 12"/>
          <p:cNvSpPr/>
          <p:nvPr/>
        </p:nvSpPr>
        <p:spPr>
          <a:xfrm>
            <a:off x="2651760" y="1344168"/>
            <a:ext cx="274320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App name + goal text</a:t>
            </a:r>
            <a:endParaRPr lang="en-US" sz="1000" dirty="0"/>
          </a:p>
        </p:txBody>
      </p:sp>
      <p:sp>
        <p:nvSpPr>
          <p:cNvPr id="15" name="Text 13"/>
          <p:cNvSpPr/>
          <p:nvPr/>
        </p:nvSpPr>
        <p:spPr>
          <a:xfrm>
            <a:off x="5486400" y="1344168"/>
            <a:ext cx="301752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Update to user-friendly name; add clear description</a:t>
            </a:r>
            <a:endParaRPr lang="en-US" sz="1000" dirty="0"/>
          </a:p>
        </p:txBody>
      </p:sp>
      <p:sp>
        <p:nvSpPr>
          <p:cNvPr id="16" name="Shape 14"/>
          <p:cNvSpPr/>
          <p:nvPr/>
        </p:nvSpPr>
        <p:spPr>
          <a:xfrm>
            <a:off x="457200" y="1856232"/>
            <a:ext cx="8229600" cy="484632"/>
          </a:xfrm>
          <a:prstGeom prst="rect">
            <a:avLst/>
          </a:prstGeom>
          <a:solidFill>
            <a:srgbClr val="F8FAFC"/>
          </a:solidFill>
          <a:ln/>
        </p:spPr>
        <p:txBody>
          <a:bodyPr/>
          <a:lstStyle/>
          <a:p>
            <a:endParaRPr lang="en-IN"/>
          </a:p>
        </p:txBody>
      </p:sp>
      <p:sp>
        <p:nvSpPr>
          <p:cNvPr id="17" name="Text 15"/>
          <p:cNvSpPr/>
          <p:nvPr/>
        </p:nvSpPr>
        <p:spPr>
          <a:xfrm>
            <a:off x="548640" y="1856232"/>
            <a:ext cx="2011680" cy="4846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System Prompt</a:t>
            </a:r>
            <a:endParaRPr lang="en-US" sz="1000" dirty="0"/>
          </a:p>
        </p:txBody>
      </p:sp>
      <p:sp>
        <p:nvSpPr>
          <p:cNvPr id="18" name="Text 16"/>
          <p:cNvSpPr/>
          <p:nvPr/>
        </p:nvSpPr>
        <p:spPr>
          <a:xfrm>
            <a:off x="2651760" y="1856232"/>
            <a:ext cx="274320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Goal text + app context</a:t>
            </a:r>
            <a:endParaRPr lang="en-US" sz="1000" dirty="0"/>
          </a:p>
        </p:txBody>
      </p:sp>
      <p:sp>
        <p:nvSpPr>
          <p:cNvPr id="19" name="Text 17"/>
          <p:cNvSpPr/>
          <p:nvPr/>
        </p:nvSpPr>
        <p:spPr>
          <a:xfrm>
            <a:off x="5486400" y="1856232"/>
            <a:ext cx="301752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Add BFSI tone, compliance language, formatting rules</a:t>
            </a:r>
            <a:endParaRPr lang="en-US" sz="1000" dirty="0"/>
          </a:p>
        </p:txBody>
      </p:sp>
      <p:sp>
        <p:nvSpPr>
          <p:cNvPr id="20" name="Shape 18"/>
          <p:cNvSpPr/>
          <p:nvPr/>
        </p:nvSpPr>
        <p:spPr>
          <a:xfrm>
            <a:off x="457200" y="2368296"/>
            <a:ext cx="8229600" cy="484632"/>
          </a:xfrm>
          <a:prstGeom prst="rect">
            <a:avLst/>
          </a:prstGeom>
          <a:solidFill>
            <a:srgbClr val="FFFFFF"/>
          </a:solidFill>
          <a:ln/>
        </p:spPr>
        <p:txBody>
          <a:bodyPr/>
          <a:lstStyle/>
          <a:p>
            <a:endParaRPr lang="en-IN"/>
          </a:p>
        </p:txBody>
      </p:sp>
      <p:sp>
        <p:nvSpPr>
          <p:cNvPr id="21" name="Text 19"/>
          <p:cNvSpPr/>
          <p:nvPr/>
        </p:nvSpPr>
        <p:spPr>
          <a:xfrm>
            <a:off x="548640" y="2368296"/>
            <a:ext cx="2011680" cy="4846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Topics</a:t>
            </a:r>
            <a:endParaRPr lang="en-US" sz="1000" dirty="0"/>
          </a:p>
        </p:txBody>
      </p:sp>
      <p:sp>
        <p:nvSpPr>
          <p:cNvPr id="22" name="Text 20"/>
          <p:cNvSpPr/>
          <p:nvPr/>
        </p:nvSpPr>
        <p:spPr>
          <a:xfrm>
            <a:off x="2651760" y="2368296"/>
            <a:ext cx="274320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Goals + steps mapped</a:t>
            </a:r>
            <a:endParaRPr lang="en-US" sz="1000" dirty="0"/>
          </a:p>
        </p:txBody>
      </p:sp>
      <p:sp>
        <p:nvSpPr>
          <p:cNvPr id="23" name="Text 21"/>
          <p:cNvSpPr/>
          <p:nvPr/>
        </p:nvSpPr>
        <p:spPr>
          <a:xfrm>
            <a:off x="5486400" y="2368296"/>
            <a:ext cx="301752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Review trigger phrases, add missing topics, improve flow</a:t>
            </a:r>
            <a:endParaRPr lang="en-US" sz="1000" dirty="0"/>
          </a:p>
        </p:txBody>
      </p:sp>
      <p:sp>
        <p:nvSpPr>
          <p:cNvPr id="24" name="Shape 22"/>
          <p:cNvSpPr/>
          <p:nvPr/>
        </p:nvSpPr>
        <p:spPr>
          <a:xfrm>
            <a:off x="457200" y="2880360"/>
            <a:ext cx="8229600" cy="484632"/>
          </a:xfrm>
          <a:prstGeom prst="rect">
            <a:avLst/>
          </a:prstGeom>
          <a:solidFill>
            <a:srgbClr val="F8FAFC"/>
          </a:solidFill>
          <a:ln/>
        </p:spPr>
        <p:txBody>
          <a:bodyPr/>
          <a:lstStyle/>
          <a:p>
            <a:endParaRPr lang="en-IN"/>
          </a:p>
        </p:txBody>
      </p:sp>
      <p:sp>
        <p:nvSpPr>
          <p:cNvPr id="25" name="Text 23"/>
          <p:cNvSpPr/>
          <p:nvPr/>
        </p:nvSpPr>
        <p:spPr>
          <a:xfrm>
            <a:off x="548640" y="2880360"/>
            <a:ext cx="2011680" cy="4846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Actions</a:t>
            </a:r>
            <a:endParaRPr lang="en-US" sz="1000" dirty="0"/>
          </a:p>
        </p:txBody>
      </p:sp>
      <p:sp>
        <p:nvSpPr>
          <p:cNvPr id="26" name="Text 24"/>
          <p:cNvSpPr/>
          <p:nvPr/>
        </p:nvSpPr>
        <p:spPr>
          <a:xfrm>
            <a:off x="2651760" y="2880360"/>
            <a:ext cx="274320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Patch, Filter, Remove formulas</a:t>
            </a:r>
            <a:endParaRPr lang="en-US" sz="1000" dirty="0"/>
          </a:p>
        </p:txBody>
      </p:sp>
      <p:sp>
        <p:nvSpPr>
          <p:cNvPr id="27" name="Text 25"/>
          <p:cNvSpPr/>
          <p:nvPr/>
        </p:nvSpPr>
        <p:spPr>
          <a:xfrm>
            <a:off x="5486400" y="2880360"/>
            <a:ext cx="301752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Connect to Dataverse MCP Server; verify parameters</a:t>
            </a:r>
            <a:endParaRPr lang="en-US" sz="1000" dirty="0"/>
          </a:p>
        </p:txBody>
      </p:sp>
      <p:sp>
        <p:nvSpPr>
          <p:cNvPr id="28" name="Shape 26"/>
          <p:cNvSpPr/>
          <p:nvPr/>
        </p:nvSpPr>
        <p:spPr>
          <a:xfrm>
            <a:off x="457200" y="3392424"/>
            <a:ext cx="8229600" cy="484632"/>
          </a:xfrm>
          <a:prstGeom prst="rect">
            <a:avLst/>
          </a:prstGeom>
          <a:solidFill>
            <a:srgbClr val="FFFFFF"/>
          </a:solidFill>
          <a:ln/>
        </p:spPr>
        <p:txBody>
          <a:bodyPr/>
          <a:lstStyle/>
          <a:p>
            <a:endParaRPr lang="en-IN"/>
          </a:p>
        </p:txBody>
      </p:sp>
      <p:sp>
        <p:nvSpPr>
          <p:cNvPr id="29" name="Text 27"/>
          <p:cNvSpPr/>
          <p:nvPr/>
        </p:nvSpPr>
        <p:spPr>
          <a:xfrm>
            <a:off x="548640" y="3392424"/>
            <a:ext cx="2011680" cy="4846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Knowledge Sources</a:t>
            </a:r>
            <a:endParaRPr lang="en-US" sz="1000" dirty="0"/>
          </a:p>
        </p:txBody>
      </p:sp>
      <p:sp>
        <p:nvSpPr>
          <p:cNvPr id="30" name="Text 28"/>
          <p:cNvSpPr/>
          <p:nvPr/>
        </p:nvSpPr>
        <p:spPr>
          <a:xfrm>
            <a:off x="2651760" y="3392424"/>
            <a:ext cx="274320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Dataverse tables + SP lists</a:t>
            </a:r>
            <a:endParaRPr lang="en-US" sz="1000" dirty="0"/>
          </a:p>
        </p:txBody>
      </p:sp>
      <p:sp>
        <p:nvSpPr>
          <p:cNvPr id="31" name="Text 29"/>
          <p:cNvSpPr/>
          <p:nvPr/>
        </p:nvSpPr>
        <p:spPr>
          <a:xfrm>
            <a:off x="5486400" y="3392424"/>
            <a:ext cx="301752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Add PDFs, DOCX, SharePoint sites, intranet content</a:t>
            </a:r>
            <a:endParaRPr lang="en-US" sz="1000" dirty="0"/>
          </a:p>
        </p:txBody>
      </p:sp>
      <p:sp>
        <p:nvSpPr>
          <p:cNvPr id="32" name="Shape 30"/>
          <p:cNvSpPr/>
          <p:nvPr/>
        </p:nvSpPr>
        <p:spPr>
          <a:xfrm>
            <a:off x="457200" y="3904488"/>
            <a:ext cx="8229600" cy="484632"/>
          </a:xfrm>
          <a:prstGeom prst="rect">
            <a:avLst/>
          </a:prstGeom>
          <a:solidFill>
            <a:srgbClr val="F8FAFC"/>
          </a:solidFill>
          <a:ln/>
        </p:spPr>
        <p:txBody>
          <a:bodyPr/>
          <a:lstStyle/>
          <a:p>
            <a:endParaRPr lang="en-IN"/>
          </a:p>
        </p:txBody>
      </p:sp>
      <p:sp>
        <p:nvSpPr>
          <p:cNvPr id="33" name="Text 31"/>
          <p:cNvSpPr/>
          <p:nvPr/>
        </p:nvSpPr>
        <p:spPr>
          <a:xfrm>
            <a:off x="548640" y="3904488"/>
            <a:ext cx="2011680" cy="4846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Trigger Configuration</a:t>
            </a:r>
            <a:endParaRPr lang="en-US" sz="1000" dirty="0"/>
          </a:p>
        </p:txBody>
      </p:sp>
      <p:sp>
        <p:nvSpPr>
          <p:cNvPr id="34" name="Text 32"/>
          <p:cNvSpPr/>
          <p:nvPr/>
        </p:nvSpPr>
        <p:spPr>
          <a:xfrm>
            <a:off x="2651760" y="3904488"/>
            <a:ext cx="274320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Default conversational</a:t>
            </a:r>
            <a:endParaRPr lang="en-US" sz="1000" dirty="0"/>
          </a:p>
        </p:txBody>
      </p:sp>
      <p:sp>
        <p:nvSpPr>
          <p:cNvPr id="35" name="Text 33"/>
          <p:cNvSpPr/>
          <p:nvPr/>
        </p:nvSpPr>
        <p:spPr>
          <a:xfrm>
            <a:off x="5486400" y="3904488"/>
            <a:ext cx="3017520" cy="4846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Add event-driven and scheduled triggers as needed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16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Connection to the MCP Architecture</a:t>
            </a:r>
            <a:endParaRPr lang="en-US" sz="2200" dirty="0"/>
          </a:p>
        </p:txBody>
      </p:sp>
      <p:sp>
        <p:nvSpPr>
          <p:cNvPr id="8" name="Shape 6"/>
          <p:cNvSpPr/>
          <p:nvPr/>
        </p:nvSpPr>
        <p:spPr>
          <a:xfrm>
            <a:off x="457200" y="960120"/>
            <a:ext cx="1463040" cy="621792"/>
          </a:xfrm>
          <a:prstGeom prst="rect">
            <a:avLst/>
          </a:prstGeom>
          <a:solidFill>
            <a:srgbClr val="94A3B8"/>
          </a:solidFill>
          <a:ln/>
        </p:spPr>
        <p:txBody>
          <a:bodyPr/>
          <a:lstStyle/>
          <a:p>
            <a:endParaRPr lang="en-IN"/>
          </a:p>
        </p:txBody>
      </p:sp>
      <p:sp>
        <p:nvSpPr>
          <p:cNvPr id="9" name="Text 7"/>
          <p:cNvSpPr/>
          <p:nvPr/>
        </p:nvSpPr>
        <p:spPr>
          <a:xfrm>
            <a:off x="457200" y="960120"/>
            <a:ext cx="1463040" cy="62179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App Layer</a:t>
            </a:r>
            <a:endParaRPr lang="en-US" sz="1000" dirty="0"/>
          </a:p>
        </p:txBody>
      </p:sp>
      <p:sp>
        <p:nvSpPr>
          <p:cNvPr id="10" name="Shape 8"/>
          <p:cNvSpPr/>
          <p:nvPr/>
        </p:nvSpPr>
        <p:spPr>
          <a:xfrm>
            <a:off x="2011680" y="960120"/>
            <a:ext cx="6675120" cy="6217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1" name="Text 9"/>
          <p:cNvSpPr/>
          <p:nvPr/>
        </p:nvSpPr>
        <p:spPr>
          <a:xfrm>
            <a:off x="2148840" y="1005840"/>
            <a:ext cx="2743200" cy="24688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Canvas App (Original)</a:t>
            </a:r>
            <a:endParaRPr lang="en-US" sz="1100" dirty="0"/>
          </a:p>
        </p:txBody>
      </p:sp>
      <p:sp>
        <p:nvSpPr>
          <p:cNvPr id="12" name="Text 10"/>
          <p:cNvSpPr/>
          <p:nvPr/>
        </p:nvSpPr>
        <p:spPr>
          <a:xfrm>
            <a:off x="2148840" y="1261872"/>
            <a:ext cx="6309360" cy="2743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Source app for extraction — remains operational</a:t>
            </a:r>
            <a:endParaRPr lang="en-US" sz="1000" dirty="0"/>
          </a:p>
        </p:txBody>
      </p:sp>
      <p:sp>
        <p:nvSpPr>
          <p:cNvPr id="13" name="Text 11"/>
          <p:cNvSpPr/>
          <p:nvPr/>
        </p:nvSpPr>
        <p:spPr>
          <a:xfrm>
            <a:off x="914400" y="1527048"/>
            <a:ext cx="548640" cy="1828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14" name="Shape 12"/>
          <p:cNvSpPr/>
          <p:nvPr/>
        </p:nvSpPr>
        <p:spPr>
          <a:xfrm>
            <a:off x="457200" y="1673352"/>
            <a:ext cx="1463040" cy="621792"/>
          </a:xfrm>
          <a:prstGeom prst="rect">
            <a:avLst/>
          </a:prstGeom>
          <a:solidFill>
            <a:srgbClr val="0E7490"/>
          </a:solidFill>
          <a:ln/>
        </p:spPr>
        <p:txBody>
          <a:bodyPr/>
          <a:lstStyle/>
          <a:p>
            <a:endParaRPr lang="en-IN"/>
          </a:p>
        </p:txBody>
      </p:sp>
      <p:sp>
        <p:nvSpPr>
          <p:cNvPr id="15" name="Text 13"/>
          <p:cNvSpPr/>
          <p:nvPr/>
        </p:nvSpPr>
        <p:spPr>
          <a:xfrm>
            <a:off x="457200" y="1673352"/>
            <a:ext cx="1463040" cy="62179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Conversion</a:t>
            </a:r>
            <a:endParaRPr lang="en-US" sz="1000" dirty="0"/>
          </a:p>
        </p:txBody>
      </p:sp>
      <p:sp>
        <p:nvSpPr>
          <p:cNvPr id="16" name="Shape 14"/>
          <p:cNvSpPr/>
          <p:nvPr/>
        </p:nvSpPr>
        <p:spPr>
          <a:xfrm>
            <a:off x="2011680" y="1673352"/>
            <a:ext cx="6675120" cy="6217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7" name="Text 15"/>
          <p:cNvSpPr/>
          <p:nvPr/>
        </p:nvSpPr>
        <p:spPr>
          <a:xfrm>
            <a:off x="2148840" y="1719072"/>
            <a:ext cx="2743200" cy="24688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Agent Builder</a:t>
            </a:r>
            <a:endParaRPr lang="en-US" sz="1100" dirty="0"/>
          </a:p>
        </p:txBody>
      </p:sp>
      <p:sp>
        <p:nvSpPr>
          <p:cNvPr id="18" name="Text 16"/>
          <p:cNvSpPr/>
          <p:nvPr/>
        </p:nvSpPr>
        <p:spPr>
          <a:xfrm>
            <a:off x="2148840" y="1975104"/>
            <a:ext cx="6309360" cy="2743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Analyses metadata, generates Copilot Studio agent</a:t>
            </a:r>
            <a:endParaRPr lang="en-US" sz="1000" dirty="0"/>
          </a:p>
        </p:txBody>
      </p:sp>
      <p:sp>
        <p:nvSpPr>
          <p:cNvPr id="19" name="Text 17"/>
          <p:cNvSpPr/>
          <p:nvPr/>
        </p:nvSpPr>
        <p:spPr>
          <a:xfrm>
            <a:off x="914400" y="2240280"/>
            <a:ext cx="548640" cy="1828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457200" y="2386584"/>
            <a:ext cx="1463040" cy="621792"/>
          </a:xfrm>
          <a:prstGeom prst="rect">
            <a:avLst/>
          </a:prstGeom>
          <a:solidFill>
            <a:srgbClr val="0891B2"/>
          </a:solidFill>
          <a:ln/>
        </p:spPr>
        <p:txBody>
          <a:bodyPr/>
          <a:lstStyle/>
          <a:p>
            <a:endParaRPr lang="en-IN"/>
          </a:p>
        </p:txBody>
      </p:sp>
      <p:sp>
        <p:nvSpPr>
          <p:cNvPr id="21" name="Text 19"/>
          <p:cNvSpPr/>
          <p:nvPr/>
        </p:nvSpPr>
        <p:spPr>
          <a:xfrm>
            <a:off x="457200" y="2386584"/>
            <a:ext cx="1463040" cy="62179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Agent Layer</a:t>
            </a:r>
            <a:endParaRPr lang="en-US" sz="1000" dirty="0"/>
          </a:p>
        </p:txBody>
      </p:sp>
      <p:sp>
        <p:nvSpPr>
          <p:cNvPr id="22" name="Shape 20"/>
          <p:cNvSpPr/>
          <p:nvPr/>
        </p:nvSpPr>
        <p:spPr>
          <a:xfrm>
            <a:off x="2011680" y="2386584"/>
            <a:ext cx="6675120" cy="6217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3" name="Text 21"/>
          <p:cNvSpPr/>
          <p:nvPr/>
        </p:nvSpPr>
        <p:spPr>
          <a:xfrm>
            <a:off x="2148840" y="2432304"/>
            <a:ext cx="2743200" cy="24688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Copilot Studio Agent</a:t>
            </a:r>
            <a:endParaRPr lang="en-US" sz="1100" dirty="0"/>
          </a:p>
        </p:txBody>
      </p:sp>
      <p:sp>
        <p:nvSpPr>
          <p:cNvPr id="24" name="Text 22"/>
          <p:cNvSpPr/>
          <p:nvPr/>
        </p:nvSpPr>
        <p:spPr>
          <a:xfrm>
            <a:off x="2148840" y="2688336"/>
            <a:ext cx="6309360" cy="2743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Conversational agent with topics, prompts, and tools</a:t>
            </a:r>
            <a:endParaRPr lang="en-US" sz="1000" dirty="0"/>
          </a:p>
        </p:txBody>
      </p:sp>
      <p:sp>
        <p:nvSpPr>
          <p:cNvPr id="25" name="Text 23"/>
          <p:cNvSpPr/>
          <p:nvPr/>
        </p:nvSpPr>
        <p:spPr>
          <a:xfrm>
            <a:off x="914400" y="2953512"/>
            <a:ext cx="548640" cy="1828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26" name="Shape 24"/>
          <p:cNvSpPr/>
          <p:nvPr/>
        </p:nvSpPr>
        <p:spPr>
          <a:xfrm>
            <a:off x="457200" y="3099816"/>
            <a:ext cx="1463040" cy="621792"/>
          </a:xfrm>
          <a:prstGeom prst="rect">
            <a:avLst/>
          </a:prstGeom>
          <a:solidFill>
            <a:srgbClr val="F59E0B"/>
          </a:solidFill>
          <a:ln/>
        </p:spPr>
        <p:txBody>
          <a:bodyPr/>
          <a:lstStyle/>
          <a:p>
            <a:endParaRPr lang="en-IN"/>
          </a:p>
        </p:txBody>
      </p:sp>
      <p:sp>
        <p:nvSpPr>
          <p:cNvPr id="27" name="Text 25"/>
          <p:cNvSpPr/>
          <p:nvPr/>
        </p:nvSpPr>
        <p:spPr>
          <a:xfrm>
            <a:off x="457200" y="3099816"/>
            <a:ext cx="1463040" cy="62179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Layer</a:t>
            </a:r>
            <a:endParaRPr lang="en-US" sz="1000" dirty="0"/>
          </a:p>
        </p:txBody>
      </p:sp>
      <p:sp>
        <p:nvSpPr>
          <p:cNvPr id="28" name="Shape 26"/>
          <p:cNvSpPr/>
          <p:nvPr/>
        </p:nvSpPr>
        <p:spPr>
          <a:xfrm>
            <a:off x="2011680" y="3099816"/>
            <a:ext cx="6675120" cy="6217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9" name="Text 27"/>
          <p:cNvSpPr/>
          <p:nvPr/>
        </p:nvSpPr>
        <p:spPr>
          <a:xfrm>
            <a:off x="2148840" y="3145536"/>
            <a:ext cx="2743200" cy="24688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Dataverse MCP Server</a:t>
            </a:r>
            <a:endParaRPr lang="en-US" sz="1100" dirty="0"/>
          </a:p>
        </p:txBody>
      </p:sp>
      <p:sp>
        <p:nvSpPr>
          <p:cNvPr id="30" name="Text 28"/>
          <p:cNvSpPr/>
          <p:nvPr/>
        </p:nvSpPr>
        <p:spPr>
          <a:xfrm>
            <a:off x="2148840" y="3401568"/>
            <a:ext cx="6309360" cy="2743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Real-time: list_tables, read_query, create_record, update_record</a:t>
            </a:r>
            <a:endParaRPr lang="en-US" sz="1000" dirty="0"/>
          </a:p>
        </p:txBody>
      </p:sp>
      <p:sp>
        <p:nvSpPr>
          <p:cNvPr id="31" name="Text 29"/>
          <p:cNvSpPr/>
          <p:nvPr/>
        </p:nvSpPr>
        <p:spPr>
          <a:xfrm>
            <a:off x="914400" y="3666744"/>
            <a:ext cx="548640" cy="1828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32" name="Shape 30"/>
          <p:cNvSpPr/>
          <p:nvPr/>
        </p:nvSpPr>
        <p:spPr>
          <a:xfrm>
            <a:off x="457200" y="3813048"/>
            <a:ext cx="1463040" cy="621792"/>
          </a:xfrm>
          <a:prstGeom prst="rect">
            <a:avLst/>
          </a:prstGeom>
          <a:solidFill>
            <a:srgbClr val="0F1B2D"/>
          </a:solidFill>
          <a:ln/>
        </p:spPr>
        <p:txBody>
          <a:bodyPr/>
          <a:lstStyle/>
          <a:p>
            <a:endParaRPr lang="en-IN"/>
          </a:p>
        </p:txBody>
      </p:sp>
      <p:sp>
        <p:nvSpPr>
          <p:cNvPr id="33" name="Text 31"/>
          <p:cNvSpPr/>
          <p:nvPr/>
        </p:nvSpPr>
        <p:spPr>
          <a:xfrm>
            <a:off x="457200" y="3813048"/>
            <a:ext cx="1463040" cy="62179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Store</a:t>
            </a:r>
            <a:endParaRPr lang="en-US" sz="1000" dirty="0"/>
          </a:p>
        </p:txBody>
      </p:sp>
      <p:sp>
        <p:nvSpPr>
          <p:cNvPr id="34" name="Shape 32"/>
          <p:cNvSpPr/>
          <p:nvPr/>
        </p:nvSpPr>
        <p:spPr>
          <a:xfrm>
            <a:off x="2011680" y="3813048"/>
            <a:ext cx="6675120" cy="6217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35" name="Text 33"/>
          <p:cNvSpPr/>
          <p:nvPr/>
        </p:nvSpPr>
        <p:spPr>
          <a:xfrm>
            <a:off x="2148840" y="3858768"/>
            <a:ext cx="2743200" cy="24688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Dataverse Tables</a:t>
            </a:r>
            <a:endParaRPr lang="en-US" sz="1100" dirty="0"/>
          </a:p>
        </p:txBody>
      </p:sp>
      <p:sp>
        <p:nvSpPr>
          <p:cNvPr id="36" name="Text 34"/>
          <p:cNvSpPr/>
          <p:nvPr/>
        </p:nvSpPr>
        <p:spPr>
          <a:xfrm>
            <a:off x="2148840" y="4114800"/>
            <a:ext cx="6309360" cy="2743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Contoso_Customers, Policies, Claims, Transactions</a:t>
            </a:r>
            <a:endParaRPr lang="en-US" sz="1000" dirty="0"/>
          </a:p>
        </p:txBody>
      </p:sp>
      <p:sp>
        <p:nvSpPr>
          <p:cNvPr id="37" name="Text 35"/>
          <p:cNvSpPr/>
          <p:nvPr/>
        </p:nvSpPr>
        <p:spPr>
          <a:xfrm>
            <a:off x="548640" y="4572000"/>
            <a:ext cx="8046720" cy="228600"/>
          </a:xfrm>
          <a:prstGeom prst="rect">
            <a:avLst/>
          </a:prstGeom>
          <a:noFill/>
          <a:ln/>
        </p:spPr>
        <p:txBody>
          <a:bodyPr wrap="square" lIns="0" tIns="0" rIns="0" bIns="0" rtlCol="0" anchor="ctr"/>
          <a:lstStyle/>
          <a:p>
            <a:pPr marL="0" indent="0" algn="ctr">
              <a:buNone/>
            </a:pPr>
            <a:r>
              <a:rPr lang="en-US" sz="1000" i="1" dirty="0">
                <a:solidFill>
                  <a:srgbClr val="0E7490"/>
                </a:solidFill>
                <a:latin typeface="Calibri" pitchFamily="34" charset="0"/>
                <a:ea typeface="Calibri" pitchFamily="34" charset="-122"/>
                <a:cs typeface="Calibri" pitchFamily="34" charset="-120"/>
              </a:rPr>
              <a:t>Both the original canvas app and the generated agent can coexist, serving different user preferences.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17 / 25</a:t>
            </a:r>
            <a:endParaRPr lang="en-US" sz="900" dirty="0"/>
          </a:p>
        </p:txBody>
      </p:sp>
      <p:sp>
        <p:nvSpPr>
          <p:cNvPr id="3" name="Shape 1"/>
          <p:cNvSpPr/>
          <p:nvPr/>
        </p:nvSpPr>
        <p:spPr>
          <a:xfrm>
            <a:off x="0" y="4892040"/>
            <a:ext cx="9144000" cy="251460"/>
          </a:xfrm>
          <a:prstGeom prst="rect">
            <a:avLst/>
          </a:prstGeom>
          <a:solidFill>
            <a:srgbClr val="0891B2"/>
          </a:solidFill>
          <a:ln/>
        </p:spPr>
        <p:txBody>
          <a:bodyPr/>
          <a:lstStyle/>
          <a:p>
            <a:endParaRPr lang="en-IN"/>
          </a:p>
        </p:txBody>
      </p:sp>
      <p:sp>
        <p:nvSpPr>
          <p:cNvPr id="4" name="Text 2"/>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FFFFFF"/>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5" name="Text 3"/>
          <p:cNvSpPr/>
          <p:nvPr/>
        </p:nvSpPr>
        <p:spPr>
          <a:xfrm>
            <a:off x="685800" y="365760"/>
            <a:ext cx="2743200" cy="228600"/>
          </a:xfrm>
          <a:prstGeom prst="rect">
            <a:avLst/>
          </a:prstGeom>
          <a:noFill/>
          <a:ln/>
        </p:spPr>
        <p:txBody>
          <a:bodyPr wrap="square" lIns="0" tIns="0" rIns="0" bIns="0" rtlCol="0" anchor="ctr"/>
          <a:lstStyle/>
          <a:p>
            <a:pPr marL="0" indent="0">
              <a:buNone/>
            </a:pPr>
            <a:r>
              <a:rPr lang="en-US" sz="1000" b="1" kern="0" spc="300" dirty="0">
                <a:solidFill>
                  <a:srgbClr val="06B6D4"/>
                </a:solidFill>
                <a:latin typeface="Calibri" pitchFamily="34" charset="0"/>
                <a:ea typeface="Calibri" pitchFamily="34" charset="-122"/>
                <a:cs typeface="Calibri" pitchFamily="34" charset="-120"/>
              </a:rPr>
              <a:t>BFSI CONTEXT</a:t>
            </a:r>
            <a:endParaRPr lang="en-US" sz="1000" dirty="0"/>
          </a:p>
        </p:txBody>
      </p:sp>
      <p:sp>
        <p:nvSpPr>
          <p:cNvPr id="6" name="Text 4"/>
          <p:cNvSpPr/>
          <p:nvPr/>
        </p:nvSpPr>
        <p:spPr>
          <a:xfrm>
            <a:off x="685800" y="594360"/>
            <a:ext cx="7315200" cy="3657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Agent Builder for Financial Services</a:t>
            </a:r>
            <a:endParaRPr lang="en-US" sz="2200" dirty="0"/>
          </a:p>
        </p:txBody>
      </p:sp>
      <p:sp>
        <p:nvSpPr>
          <p:cNvPr id="7" name="Shape 5"/>
          <p:cNvSpPr/>
          <p:nvPr/>
        </p:nvSpPr>
        <p:spPr>
          <a:xfrm>
            <a:off x="457200" y="1143000"/>
            <a:ext cx="8229600" cy="640080"/>
          </a:xfrm>
          <a:prstGeom prst="rect">
            <a:avLst/>
          </a:prstGeom>
          <a:solidFill>
            <a:srgbClr val="1A2744"/>
          </a:solidFill>
          <a:ln/>
        </p:spPr>
        <p:txBody>
          <a:bodyPr/>
          <a:lstStyle/>
          <a:p>
            <a:endParaRPr lang="en-IN"/>
          </a:p>
        </p:txBody>
      </p:sp>
      <p:sp>
        <p:nvSpPr>
          <p:cNvPr id="8" name="Shape 6"/>
          <p:cNvSpPr/>
          <p:nvPr/>
        </p:nvSpPr>
        <p:spPr>
          <a:xfrm>
            <a:off x="457200" y="1143000"/>
            <a:ext cx="54864" cy="640080"/>
          </a:xfrm>
          <a:prstGeom prst="rect">
            <a:avLst/>
          </a:prstGeom>
          <a:solidFill>
            <a:srgbClr val="06B6D4"/>
          </a:solidFill>
          <a:ln/>
        </p:spPr>
        <p:txBody>
          <a:bodyPr/>
          <a:lstStyle/>
          <a:p>
            <a:endParaRPr lang="en-IN"/>
          </a:p>
        </p:txBody>
      </p:sp>
      <p:sp>
        <p:nvSpPr>
          <p:cNvPr id="9" name="Text 7"/>
          <p:cNvSpPr/>
          <p:nvPr/>
        </p:nvSpPr>
        <p:spPr>
          <a:xfrm>
            <a:off x="685800" y="1188720"/>
            <a:ext cx="2286000" cy="228600"/>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Claims Submission App</a:t>
            </a:r>
            <a:endParaRPr lang="en-US" sz="1100" dirty="0"/>
          </a:p>
        </p:txBody>
      </p:sp>
      <p:sp>
        <p:nvSpPr>
          <p:cNvPr id="10" name="Text 8"/>
          <p:cNvSpPr/>
          <p:nvPr/>
        </p:nvSpPr>
        <p:spPr>
          <a:xfrm>
            <a:off x="685800" y="1435608"/>
            <a:ext cx="5029200" cy="27432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Conversational claims agent — collects details, validates limits, creates records</a:t>
            </a:r>
            <a:endParaRPr lang="en-US" sz="1000" dirty="0"/>
          </a:p>
        </p:txBody>
      </p:sp>
      <p:sp>
        <p:nvSpPr>
          <p:cNvPr id="11" name="Text 9"/>
          <p:cNvSpPr/>
          <p:nvPr/>
        </p:nvSpPr>
        <p:spPr>
          <a:xfrm>
            <a:off x="5943600" y="1143000"/>
            <a:ext cx="2560320" cy="640080"/>
          </a:xfrm>
          <a:prstGeom prst="rect">
            <a:avLst/>
          </a:prstGeom>
          <a:noFill/>
          <a:ln/>
        </p:spPr>
        <p:txBody>
          <a:bodyPr wrap="square" lIns="0" tIns="0" rIns="0" bIns="0" rtlCol="0" anchor="ctr"/>
          <a:lstStyle/>
          <a:p>
            <a:pPr marL="0" indent="0" algn="r">
              <a:buNone/>
            </a:pPr>
            <a:r>
              <a:rPr lang="en-US" sz="1000" b="1" dirty="0">
                <a:solidFill>
                  <a:srgbClr val="F59E0B"/>
                </a:solidFill>
                <a:latin typeface="Calibri" pitchFamily="34" charset="0"/>
                <a:ea typeface="Calibri" pitchFamily="34" charset="-122"/>
                <a:cs typeface="Calibri" pitchFamily="34" charset="-120"/>
              </a:rPr>
              <a:t>60% faster claims submission</a:t>
            </a:r>
            <a:endParaRPr lang="en-US" sz="1000" dirty="0"/>
          </a:p>
        </p:txBody>
      </p:sp>
      <p:sp>
        <p:nvSpPr>
          <p:cNvPr id="12" name="Shape 10"/>
          <p:cNvSpPr/>
          <p:nvPr/>
        </p:nvSpPr>
        <p:spPr>
          <a:xfrm>
            <a:off x="457200" y="1856232"/>
            <a:ext cx="8229600" cy="640080"/>
          </a:xfrm>
          <a:prstGeom prst="rect">
            <a:avLst/>
          </a:prstGeom>
          <a:solidFill>
            <a:srgbClr val="1A2744"/>
          </a:solidFill>
          <a:ln/>
        </p:spPr>
        <p:txBody>
          <a:bodyPr/>
          <a:lstStyle/>
          <a:p>
            <a:endParaRPr lang="en-IN"/>
          </a:p>
        </p:txBody>
      </p:sp>
      <p:sp>
        <p:nvSpPr>
          <p:cNvPr id="13" name="Shape 11"/>
          <p:cNvSpPr/>
          <p:nvPr/>
        </p:nvSpPr>
        <p:spPr>
          <a:xfrm>
            <a:off x="457200" y="1856232"/>
            <a:ext cx="54864" cy="640080"/>
          </a:xfrm>
          <a:prstGeom prst="rect">
            <a:avLst/>
          </a:prstGeom>
          <a:solidFill>
            <a:srgbClr val="06B6D4"/>
          </a:solidFill>
          <a:ln/>
        </p:spPr>
        <p:txBody>
          <a:bodyPr/>
          <a:lstStyle/>
          <a:p>
            <a:endParaRPr lang="en-IN"/>
          </a:p>
        </p:txBody>
      </p:sp>
      <p:sp>
        <p:nvSpPr>
          <p:cNvPr id="14" name="Text 12"/>
          <p:cNvSpPr/>
          <p:nvPr/>
        </p:nvSpPr>
        <p:spPr>
          <a:xfrm>
            <a:off x="685800" y="1901952"/>
            <a:ext cx="2286000" cy="228600"/>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Policy Lookup App</a:t>
            </a:r>
            <a:endParaRPr lang="en-US" sz="1100" dirty="0"/>
          </a:p>
        </p:txBody>
      </p:sp>
      <p:sp>
        <p:nvSpPr>
          <p:cNvPr id="15" name="Text 13"/>
          <p:cNvSpPr/>
          <p:nvPr/>
        </p:nvSpPr>
        <p:spPr>
          <a:xfrm>
            <a:off x="685800" y="2148840"/>
            <a:ext cx="5029200" cy="27432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Policy enquiry agent — answers 'What is Rajesh's coverage?'</a:t>
            </a:r>
            <a:endParaRPr lang="en-US" sz="1000" dirty="0"/>
          </a:p>
        </p:txBody>
      </p:sp>
      <p:sp>
        <p:nvSpPr>
          <p:cNvPr id="16" name="Text 14"/>
          <p:cNvSpPr/>
          <p:nvPr/>
        </p:nvSpPr>
        <p:spPr>
          <a:xfrm>
            <a:off x="5943600" y="1856232"/>
            <a:ext cx="2560320" cy="640080"/>
          </a:xfrm>
          <a:prstGeom prst="rect">
            <a:avLst/>
          </a:prstGeom>
          <a:noFill/>
          <a:ln/>
        </p:spPr>
        <p:txBody>
          <a:bodyPr wrap="square" lIns="0" tIns="0" rIns="0" bIns="0" rtlCol="0" anchor="ctr"/>
          <a:lstStyle/>
          <a:p>
            <a:pPr marL="0" indent="0" algn="r">
              <a:buNone/>
            </a:pPr>
            <a:r>
              <a:rPr lang="en-US" sz="1000" b="1" dirty="0">
                <a:solidFill>
                  <a:srgbClr val="F59E0B"/>
                </a:solidFill>
                <a:latin typeface="Calibri" pitchFamily="34" charset="0"/>
                <a:ea typeface="Calibri" pitchFamily="34" charset="-122"/>
                <a:cs typeface="Calibri" pitchFamily="34" charset="-120"/>
              </a:rPr>
              <a:t>Instant policy info</a:t>
            </a:r>
            <a:endParaRPr lang="en-US" sz="1000" dirty="0"/>
          </a:p>
        </p:txBody>
      </p:sp>
      <p:sp>
        <p:nvSpPr>
          <p:cNvPr id="17" name="Shape 15"/>
          <p:cNvSpPr/>
          <p:nvPr/>
        </p:nvSpPr>
        <p:spPr>
          <a:xfrm>
            <a:off x="457200" y="2569464"/>
            <a:ext cx="8229600" cy="640080"/>
          </a:xfrm>
          <a:prstGeom prst="rect">
            <a:avLst/>
          </a:prstGeom>
          <a:solidFill>
            <a:srgbClr val="1A2744"/>
          </a:solidFill>
          <a:ln/>
        </p:spPr>
        <p:txBody>
          <a:bodyPr/>
          <a:lstStyle/>
          <a:p>
            <a:endParaRPr lang="en-IN"/>
          </a:p>
        </p:txBody>
      </p:sp>
      <p:sp>
        <p:nvSpPr>
          <p:cNvPr id="18" name="Shape 16"/>
          <p:cNvSpPr/>
          <p:nvPr/>
        </p:nvSpPr>
        <p:spPr>
          <a:xfrm>
            <a:off x="457200" y="2569464"/>
            <a:ext cx="54864" cy="640080"/>
          </a:xfrm>
          <a:prstGeom prst="rect">
            <a:avLst/>
          </a:prstGeom>
          <a:solidFill>
            <a:srgbClr val="06B6D4"/>
          </a:solidFill>
          <a:ln/>
        </p:spPr>
        <p:txBody>
          <a:bodyPr/>
          <a:lstStyle/>
          <a:p>
            <a:endParaRPr lang="en-IN"/>
          </a:p>
        </p:txBody>
      </p:sp>
      <p:sp>
        <p:nvSpPr>
          <p:cNvPr id="19" name="Text 17"/>
          <p:cNvSpPr/>
          <p:nvPr/>
        </p:nvSpPr>
        <p:spPr>
          <a:xfrm>
            <a:off x="685800" y="2615184"/>
            <a:ext cx="2286000" cy="228600"/>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Customer Onboarding App</a:t>
            </a:r>
            <a:endParaRPr lang="en-US" sz="1100" dirty="0"/>
          </a:p>
        </p:txBody>
      </p:sp>
      <p:sp>
        <p:nvSpPr>
          <p:cNvPr id="20" name="Text 18"/>
          <p:cNvSpPr/>
          <p:nvPr/>
        </p:nvSpPr>
        <p:spPr>
          <a:xfrm>
            <a:off x="685800" y="2862072"/>
            <a:ext cx="5029200" cy="27432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KYC onboarding agent — guides document collection and verification</a:t>
            </a:r>
            <a:endParaRPr lang="en-US" sz="1000" dirty="0"/>
          </a:p>
        </p:txBody>
      </p:sp>
      <p:sp>
        <p:nvSpPr>
          <p:cNvPr id="21" name="Text 19"/>
          <p:cNvSpPr/>
          <p:nvPr/>
        </p:nvSpPr>
        <p:spPr>
          <a:xfrm>
            <a:off x="5943600" y="2569464"/>
            <a:ext cx="2560320" cy="640080"/>
          </a:xfrm>
          <a:prstGeom prst="rect">
            <a:avLst/>
          </a:prstGeom>
          <a:noFill/>
          <a:ln/>
        </p:spPr>
        <p:txBody>
          <a:bodyPr wrap="square" lIns="0" tIns="0" rIns="0" bIns="0" rtlCol="0" anchor="ctr"/>
          <a:lstStyle/>
          <a:p>
            <a:pPr marL="0" indent="0" algn="r">
              <a:buNone/>
            </a:pPr>
            <a:r>
              <a:rPr lang="en-US" sz="1000" b="1" dirty="0">
                <a:solidFill>
                  <a:srgbClr val="F59E0B"/>
                </a:solidFill>
                <a:latin typeface="Calibri" pitchFamily="34" charset="0"/>
                <a:ea typeface="Calibri" pitchFamily="34" charset="-122"/>
                <a:cs typeface="Calibri" pitchFamily="34" charset="-120"/>
              </a:rPr>
              <a:t>Fewer data entry errors</a:t>
            </a:r>
            <a:endParaRPr lang="en-US" sz="1000" dirty="0"/>
          </a:p>
        </p:txBody>
      </p:sp>
      <p:sp>
        <p:nvSpPr>
          <p:cNvPr id="22" name="Shape 20"/>
          <p:cNvSpPr/>
          <p:nvPr/>
        </p:nvSpPr>
        <p:spPr>
          <a:xfrm>
            <a:off x="457200" y="3282696"/>
            <a:ext cx="8229600" cy="640080"/>
          </a:xfrm>
          <a:prstGeom prst="rect">
            <a:avLst/>
          </a:prstGeom>
          <a:solidFill>
            <a:srgbClr val="1A2744"/>
          </a:solidFill>
          <a:ln/>
        </p:spPr>
        <p:txBody>
          <a:bodyPr/>
          <a:lstStyle/>
          <a:p>
            <a:endParaRPr lang="en-IN"/>
          </a:p>
        </p:txBody>
      </p:sp>
      <p:sp>
        <p:nvSpPr>
          <p:cNvPr id="23" name="Shape 21"/>
          <p:cNvSpPr/>
          <p:nvPr/>
        </p:nvSpPr>
        <p:spPr>
          <a:xfrm>
            <a:off x="457200" y="3282696"/>
            <a:ext cx="54864" cy="640080"/>
          </a:xfrm>
          <a:prstGeom prst="rect">
            <a:avLst/>
          </a:prstGeom>
          <a:solidFill>
            <a:srgbClr val="06B6D4"/>
          </a:solidFill>
          <a:ln/>
        </p:spPr>
        <p:txBody>
          <a:bodyPr/>
          <a:lstStyle/>
          <a:p>
            <a:endParaRPr lang="en-IN"/>
          </a:p>
        </p:txBody>
      </p:sp>
      <p:sp>
        <p:nvSpPr>
          <p:cNvPr id="24" name="Text 22"/>
          <p:cNvSpPr/>
          <p:nvPr/>
        </p:nvSpPr>
        <p:spPr>
          <a:xfrm>
            <a:off x="685800" y="3328416"/>
            <a:ext cx="2286000" cy="228600"/>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Transaction Dashboard</a:t>
            </a:r>
            <a:endParaRPr lang="en-US" sz="1100" dirty="0"/>
          </a:p>
        </p:txBody>
      </p:sp>
      <p:sp>
        <p:nvSpPr>
          <p:cNvPr id="25" name="Text 23"/>
          <p:cNvSpPr/>
          <p:nvPr/>
        </p:nvSpPr>
        <p:spPr>
          <a:xfrm>
            <a:off x="685800" y="3575304"/>
            <a:ext cx="5029200" cy="27432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Monitoring agent — real-time summaries, flags anomalies</a:t>
            </a:r>
            <a:endParaRPr lang="en-US" sz="1000" dirty="0"/>
          </a:p>
        </p:txBody>
      </p:sp>
      <p:sp>
        <p:nvSpPr>
          <p:cNvPr id="26" name="Text 24"/>
          <p:cNvSpPr/>
          <p:nvPr/>
        </p:nvSpPr>
        <p:spPr>
          <a:xfrm>
            <a:off x="5943600" y="3282696"/>
            <a:ext cx="2560320" cy="640080"/>
          </a:xfrm>
          <a:prstGeom prst="rect">
            <a:avLst/>
          </a:prstGeom>
          <a:noFill/>
          <a:ln/>
        </p:spPr>
        <p:txBody>
          <a:bodyPr wrap="square" lIns="0" tIns="0" rIns="0" bIns="0" rtlCol="0" anchor="ctr"/>
          <a:lstStyle/>
          <a:p>
            <a:pPr marL="0" indent="0" algn="r">
              <a:buNone/>
            </a:pPr>
            <a:r>
              <a:rPr lang="en-US" sz="1000" b="1" dirty="0">
                <a:solidFill>
                  <a:srgbClr val="F59E0B"/>
                </a:solidFill>
                <a:latin typeface="Calibri" pitchFamily="34" charset="0"/>
                <a:ea typeface="Calibri" pitchFamily="34" charset="-122"/>
                <a:cs typeface="Calibri" pitchFamily="34" charset="-120"/>
              </a:rPr>
              <a:t>Insights via conversation</a:t>
            </a:r>
            <a:endParaRPr lang="en-US" sz="1000" dirty="0"/>
          </a:p>
        </p:txBody>
      </p:sp>
      <p:sp>
        <p:nvSpPr>
          <p:cNvPr id="27" name="Shape 25"/>
          <p:cNvSpPr/>
          <p:nvPr/>
        </p:nvSpPr>
        <p:spPr>
          <a:xfrm>
            <a:off x="457200" y="3995928"/>
            <a:ext cx="8229600" cy="640080"/>
          </a:xfrm>
          <a:prstGeom prst="rect">
            <a:avLst/>
          </a:prstGeom>
          <a:solidFill>
            <a:srgbClr val="1A2744"/>
          </a:solidFill>
          <a:ln/>
        </p:spPr>
        <p:txBody>
          <a:bodyPr/>
          <a:lstStyle/>
          <a:p>
            <a:endParaRPr lang="en-IN"/>
          </a:p>
        </p:txBody>
      </p:sp>
      <p:sp>
        <p:nvSpPr>
          <p:cNvPr id="28" name="Shape 26"/>
          <p:cNvSpPr/>
          <p:nvPr/>
        </p:nvSpPr>
        <p:spPr>
          <a:xfrm>
            <a:off x="457200" y="3995928"/>
            <a:ext cx="54864" cy="640080"/>
          </a:xfrm>
          <a:prstGeom prst="rect">
            <a:avLst/>
          </a:prstGeom>
          <a:solidFill>
            <a:srgbClr val="06B6D4"/>
          </a:solidFill>
          <a:ln/>
        </p:spPr>
        <p:txBody>
          <a:bodyPr/>
          <a:lstStyle/>
          <a:p>
            <a:endParaRPr lang="en-IN"/>
          </a:p>
        </p:txBody>
      </p:sp>
      <p:sp>
        <p:nvSpPr>
          <p:cNvPr id="29" name="Text 27"/>
          <p:cNvSpPr/>
          <p:nvPr/>
        </p:nvSpPr>
        <p:spPr>
          <a:xfrm>
            <a:off x="685800" y="4041648"/>
            <a:ext cx="2286000" cy="228600"/>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Renewal Management App</a:t>
            </a:r>
            <a:endParaRPr lang="en-US" sz="1100" dirty="0"/>
          </a:p>
        </p:txBody>
      </p:sp>
      <p:sp>
        <p:nvSpPr>
          <p:cNvPr id="30" name="Text 28"/>
          <p:cNvSpPr/>
          <p:nvPr/>
        </p:nvSpPr>
        <p:spPr>
          <a:xfrm>
            <a:off x="685800" y="4288536"/>
            <a:ext cx="5029200" cy="27432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Renewal agent — proactive outreach, updates policies</a:t>
            </a:r>
            <a:endParaRPr lang="en-US" sz="1000" dirty="0"/>
          </a:p>
        </p:txBody>
      </p:sp>
      <p:sp>
        <p:nvSpPr>
          <p:cNvPr id="31" name="Text 29"/>
          <p:cNvSpPr/>
          <p:nvPr/>
        </p:nvSpPr>
        <p:spPr>
          <a:xfrm>
            <a:off x="5943600" y="3995928"/>
            <a:ext cx="2560320" cy="640080"/>
          </a:xfrm>
          <a:prstGeom prst="rect">
            <a:avLst/>
          </a:prstGeom>
          <a:noFill/>
          <a:ln/>
        </p:spPr>
        <p:txBody>
          <a:bodyPr wrap="square" lIns="0" tIns="0" rIns="0" bIns="0" rtlCol="0" anchor="ctr"/>
          <a:lstStyle/>
          <a:p>
            <a:pPr marL="0" indent="0" algn="r">
              <a:buNone/>
            </a:pPr>
            <a:r>
              <a:rPr lang="en-US" sz="1000" b="1" dirty="0">
                <a:solidFill>
                  <a:srgbClr val="F59E0B"/>
                </a:solidFill>
                <a:latin typeface="Calibri" pitchFamily="34" charset="0"/>
                <a:ea typeface="Calibri" pitchFamily="34" charset="-122"/>
                <a:cs typeface="Calibri" pitchFamily="34" charset="-120"/>
              </a:rPr>
              <a:t>25% fewer lapsed policies</a:t>
            </a:r>
            <a:endParaRPr lang="en-US" sz="1000" dirty="0"/>
          </a:p>
        </p:txBody>
      </p:sp>
      <p:sp>
        <p:nvSpPr>
          <p:cNvPr id="32" name="Text 2">
            <a:extLst>
              <a:ext uri="{FF2B5EF4-FFF2-40B4-BE49-F238E27FC236}">
                <a16:creationId xmlns:a16="http://schemas.microsoft.com/office/drawing/2014/main" id="{18E8248E-F33F-D032-B8CD-A405D329FADB}"/>
              </a:ext>
            </a:extLst>
          </p:cNvPr>
          <p:cNvSpPr/>
          <p:nvPr/>
        </p:nvSpPr>
        <p:spPr>
          <a:xfrm>
            <a:off x="8046720" y="4869180"/>
            <a:ext cx="914400" cy="274320"/>
          </a:xfrm>
          <a:prstGeom prst="rect">
            <a:avLst/>
          </a:prstGeom>
          <a:noFill/>
          <a:ln/>
        </p:spPr>
        <p:txBody>
          <a:bodyPr wrap="square" rtlCol="0" anchor="ctr"/>
          <a:lstStyle/>
          <a:p>
            <a:pPr marL="0" indent="0" algn="r">
              <a:buNone/>
            </a:pPr>
            <a:r>
              <a:rPr lang="en-US" sz="900" dirty="0">
                <a:solidFill>
                  <a:schemeClr val="bg1"/>
                </a:solidFill>
                <a:latin typeface="Calibri" pitchFamily="34" charset="0"/>
                <a:ea typeface="Calibri" pitchFamily="34" charset="-122"/>
                <a:cs typeface="Calibri" pitchFamily="34" charset="-120"/>
              </a:rPr>
              <a:t>17/ 25</a:t>
            </a:r>
            <a:endParaRPr lang="en-US" sz="90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18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02</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Starter App — Contoso Insurance Claims</a:t>
            </a:r>
            <a:endParaRPr lang="en-US" sz="2200" dirty="0"/>
          </a:p>
        </p:txBody>
      </p:sp>
      <p:sp>
        <p:nvSpPr>
          <p:cNvPr id="8" name="Shape 6"/>
          <p:cNvSpPr/>
          <p:nvPr/>
        </p:nvSpPr>
        <p:spPr>
          <a:xfrm>
            <a:off x="457200" y="960120"/>
            <a:ext cx="8229600" cy="365760"/>
          </a:xfrm>
          <a:prstGeom prst="rect">
            <a:avLst/>
          </a:prstGeom>
          <a:solidFill>
            <a:srgbClr val="0F1B2D"/>
          </a:solidFill>
          <a:ln/>
        </p:spPr>
        <p:txBody>
          <a:bodyPr/>
          <a:lstStyle/>
          <a:p>
            <a:endParaRPr lang="en-IN"/>
          </a:p>
        </p:txBody>
      </p:sp>
      <p:sp>
        <p:nvSpPr>
          <p:cNvPr id="9" name="Text 7"/>
          <p:cNvSpPr/>
          <p:nvPr/>
        </p:nvSpPr>
        <p:spPr>
          <a:xfrm>
            <a:off x="548640" y="960120"/>
            <a:ext cx="1371600"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Screen</a:t>
            </a:r>
            <a:endParaRPr lang="en-US" sz="1000" dirty="0"/>
          </a:p>
        </p:txBody>
      </p:sp>
      <p:sp>
        <p:nvSpPr>
          <p:cNvPr id="10" name="Text 8"/>
          <p:cNvSpPr/>
          <p:nvPr/>
        </p:nvSpPr>
        <p:spPr>
          <a:xfrm>
            <a:off x="2011680" y="960120"/>
            <a:ext cx="1828800"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p>
        </p:txBody>
      </p:sp>
      <p:sp>
        <p:nvSpPr>
          <p:cNvPr id="11" name="Text 9"/>
          <p:cNvSpPr/>
          <p:nvPr/>
        </p:nvSpPr>
        <p:spPr>
          <a:xfrm>
            <a:off x="3931920" y="960120"/>
            <a:ext cx="2468880"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Key Controls</a:t>
            </a:r>
            <a:endParaRPr lang="en-US" sz="1000" dirty="0"/>
          </a:p>
        </p:txBody>
      </p:sp>
      <p:sp>
        <p:nvSpPr>
          <p:cNvPr id="12" name="Text 10"/>
          <p:cNvSpPr/>
          <p:nvPr/>
        </p:nvSpPr>
        <p:spPr>
          <a:xfrm>
            <a:off x="6492240" y="960120"/>
            <a:ext cx="2011680"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Data Connection</a:t>
            </a:r>
            <a:endParaRPr lang="en-US" sz="1000" dirty="0"/>
          </a:p>
        </p:txBody>
      </p:sp>
      <p:sp>
        <p:nvSpPr>
          <p:cNvPr id="13" name="Shape 11"/>
          <p:cNvSpPr/>
          <p:nvPr/>
        </p:nvSpPr>
        <p:spPr>
          <a:xfrm>
            <a:off x="457200" y="1344168"/>
            <a:ext cx="8229600" cy="448056"/>
          </a:xfrm>
          <a:prstGeom prst="rect">
            <a:avLst/>
          </a:prstGeom>
          <a:solidFill>
            <a:srgbClr val="FFFFFF"/>
          </a:solidFill>
          <a:ln/>
        </p:spPr>
        <p:txBody>
          <a:bodyPr/>
          <a:lstStyle/>
          <a:p>
            <a:endParaRPr lang="en-IN"/>
          </a:p>
        </p:txBody>
      </p:sp>
      <p:sp>
        <p:nvSpPr>
          <p:cNvPr id="14" name="Text 12"/>
          <p:cNvSpPr/>
          <p:nvPr/>
        </p:nvSpPr>
        <p:spPr>
          <a:xfrm>
            <a:off x="548640" y="1344168"/>
            <a:ext cx="1371600" cy="44805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Home Screen</a:t>
            </a:r>
            <a:endParaRPr lang="en-US" sz="1000" dirty="0"/>
          </a:p>
        </p:txBody>
      </p:sp>
      <p:sp>
        <p:nvSpPr>
          <p:cNvPr id="15" name="Text 13"/>
          <p:cNvSpPr/>
          <p:nvPr/>
        </p:nvSpPr>
        <p:spPr>
          <a:xfrm>
            <a:off x="2011680" y="1344168"/>
            <a:ext cx="182880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Dashboard with claim counts</a:t>
            </a:r>
            <a:endParaRPr lang="en-US" sz="950" dirty="0"/>
          </a:p>
        </p:txBody>
      </p:sp>
      <p:sp>
        <p:nvSpPr>
          <p:cNvPr id="16" name="Text 14"/>
          <p:cNvSpPr/>
          <p:nvPr/>
        </p:nvSpPr>
        <p:spPr>
          <a:xfrm>
            <a:off x="3931920" y="1344168"/>
            <a:ext cx="246888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Gallery, Status labels</a:t>
            </a:r>
            <a:endParaRPr lang="en-US" sz="950" dirty="0"/>
          </a:p>
        </p:txBody>
      </p:sp>
      <p:sp>
        <p:nvSpPr>
          <p:cNvPr id="17" name="Text 15"/>
          <p:cNvSpPr/>
          <p:nvPr/>
        </p:nvSpPr>
        <p:spPr>
          <a:xfrm>
            <a:off x="6492240" y="1344168"/>
            <a:ext cx="201168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Claims (Filter)</a:t>
            </a:r>
            <a:endParaRPr lang="en-US" sz="950" dirty="0"/>
          </a:p>
        </p:txBody>
      </p:sp>
      <p:sp>
        <p:nvSpPr>
          <p:cNvPr id="18" name="Shape 16"/>
          <p:cNvSpPr/>
          <p:nvPr/>
        </p:nvSpPr>
        <p:spPr>
          <a:xfrm>
            <a:off x="457200" y="1819656"/>
            <a:ext cx="8229600" cy="448056"/>
          </a:xfrm>
          <a:prstGeom prst="rect">
            <a:avLst/>
          </a:prstGeom>
          <a:solidFill>
            <a:srgbClr val="F8FAFC"/>
          </a:solidFill>
          <a:ln/>
        </p:spPr>
        <p:txBody>
          <a:bodyPr/>
          <a:lstStyle/>
          <a:p>
            <a:endParaRPr lang="en-IN"/>
          </a:p>
        </p:txBody>
      </p:sp>
      <p:sp>
        <p:nvSpPr>
          <p:cNvPr id="19" name="Text 17"/>
          <p:cNvSpPr/>
          <p:nvPr/>
        </p:nvSpPr>
        <p:spPr>
          <a:xfrm>
            <a:off x="548640" y="1819656"/>
            <a:ext cx="1371600" cy="44805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Submit Claim</a:t>
            </a:r>
            <a:endParaRPr lang="en-US" sz="1000" dirty="0"/>
          </a:p>
        </p:txBody>
      </p:sp>
      <p:sp>
        <p:nvSpPr>
          <p:cNvPr id="20" name="Text 18"/>
          <p:cNvSpPr/>
          <p:nvPr/>
        </p:nvSpPr>
        <p:spPr>
          <a:xfrm>
            <a:off x="2011680" y="1819656"/>
            <a:ext cx="182880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New claim form</a:t>
            </a:r>
            <a:endParaRPr lang="en-US" sz="950" dirty="0"/>
          </a:p>
        </p:txBody>
      </p:sp>
      <p:sp>
        <p:nvSpPr>
          <p:cNvPr id="21" name="Text 19"/>
          <p:cNvSpPr/>
          <p:nvPr/>
        </p:nvSpPr>
        <p:spPr>
          <a:xfrm>
            <a:off x="3931920" y="1819656"/>
            <a:ext cx="246888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Dropdowns, Currency, Submit</a:t>
            </a:r>
            <a:endParaRPr lang="en-US" sz="950" dirty="0"/>
          </a:p>
        </p:txBody>
      </p:sp>
      <p:sp>
        <p:nvSpPr>
          <p:cNvPr id="22" name="Text 20"/>
          <p:cNvSpPr/>
          <p:nvPr/>
        </p:nvSpPr>
        <p:spPr>
          <a:xfrm>
            <a:off x="6492240" y="1819656"/>
            <a:ext cx="201168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Claims, Policies</a:t>
            </a:r>
            <a:endParaRPr lang="en-US" sz="950" dirty="0"/>
          </a:p>
        </p:txBody>
      </p:sp>
      <p:sp>
        <p:nvSpPr>
          <p:cNvPr id="23" name="Shape 21"/>
          <p:cNvSpPr/>
          <p:nvPr/>
        </p:nvSpPr>
        <p:spPr>
          <a:xfrm>
            <a:off x="457200" y="2295144"/>
            <a:ext cx="8229600" cy="448056"/>
          </a:xfrm>
          <a:prstGeom prst="rect">
            <a:avLst/>
          </a:prstGeom>
          <a:solidFill>
            <a:srgbClr val="FFFFFF"/>
          </a:solidFill>
          <a:ln/>
        </p:spPr>
        <p:txBody>
          <a:bodyPr/>
          <a:lstStyle/>
          <a:p>
            <a:endParaRPr lang="en-IN"/>
          </a:p>
        </p:txBody>
      </p:sp>
      <p:sp>
        <p:nvSpPr>
          <p:cNvPr id="24" name="Text 22"/>
          <p:cNvSpPr/>
          <p:nvPr/>
        </p:nvSpPr>
        <p:spPr>
          <a:xfrm>
            <a:off x="548640" y="2295144"/>
            <a:ext cx="1371600" cy="44805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Claim Detail</a:t>
            </a:r>
            <a:endParaRPr lang="en-US" sz="1000" dirty="0"/>
          </a:p>
        </p:txBody>
      </p:sp>
      <p:sp>
        <p:nvSpPr>
          <p:cNvPr id="25" name="Text 23"/>
          <p:cNvSpPr/>
          <p:nvPr/>
        </p:nvSpPr>
        <p:spPr>
          <a:xfrm>
            <a:off x="2011680" y="2295144"/>
            <a:ext cx="182880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View &amp; update claim</a:t>
            </a:r>
            <a:endParaRPr lang="en-US" sz="950" dirty="0"/>
          </a:p>
        </p:txBody>
      </p:sp>
      <p:sp>
        <p:nvSpPr>
          <p:cNvPr id="26" name="Text 24"/>
          <p:cNvSpPr/>
          <p:nvPr/>
        </p:nvSpPr>
        <p:spPr>
          <a:xfrm>
            <a:off x="3931920" y="2295144"/>
            <a:ext cx="246888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Display fields, Edit button</a:t>
            </a:r>
            <a:endParaRPr lang="en-US" sz="950" dirty="0"/>
          </a:p>
        </p:txBody>
      </p:sp>
      <p:sp>
        <p:nvSpPr>
          <p:cNvPr id="27" name="Text 25"/>
          <p:cNvSpPr/>
          <p:nvPr/>
        </p:nvSpPr>
        <p:spPr>
          <a:xfrm>
            <a:off x="6492240" y="2295144"/>
            <a:ext cx="201168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Claims (LookUp, Patch)</a:t>
            </a:r>
            <a:endParaRPr lang="en-US" sz="950" dirty="0"/>
          </a:p>
        </p:txBody>
      </p:sp>
      <p:sp>
        <p:nvSpPr>
          <p:cNvPr id="28" name="Shape 26"/>
          <p:cNvSpPr/>
          <p:nvPr/>
        </p:nvSpPr>
        <p:spPr>
          <a:xfrm>
            <a:off x="457200" y="2770632"/>
            <a:ext cx="8229600" cy="448056"/>
          </a:xfrm>
          <a:prstGeom prst="rect">
            <a:avLst/>
          </a:prstGeom>
          <a:solidFill>
            <a:srgbClr val="F8FAFC"/>
          </a:solidFill>
          <a:ln/>
        </p:spPr>
        <p:txBody>
          <a:bodyPr/>
          <a:lstStyle/>
          <a:p>
            <a:endParaRPr lang="en-IN"/>
          </a:p>
        </p:txBody>
      </p:sp>
      <p:sp>
        <p:nvSpPr>
          <p:cNvPr id="29" name="Text 27"/>
          <p:cNvSpPr/>
          <p:nvPr/>
        </p:nvSpPr>
        <p:spPr>
          <a:xfrm>
            <a:off x="548640" y="2770632"/>
            <a:ext cx="1371600" cy="44805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Customer Lookup</a:t>
            </a:r>
            <a:endParaRPr lang="en-US" sz="1000" dirty="0"/>
          </a:p>
        </p:txBody>
      </p:sp>
      <p:sp>
        <p:nvSpPr>
          <p:cNvPr id="30" name="Text 28"/>
          <p:cNvSpPr/>
          <p:nvPr/>
        </p:nvSpPr>
        <p:spPr>
          <a:xfrm>
            <a:off x="2011680" y="2770632"/>
            <a:ext cx="182880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Search customers</a:t>
            </a:r>
            <a:endParaRPr lang="en-US" sz="950" dirty="0"/>
          </a:p>
        </p:txBody>
      </p:sp>
      <p:sp>
        <p:nvSpPr>
          <p:cNvPr id="31" name="Text 29"/>
          <p:cNvSpPr/>
          <p:nvPr/>
        </p:nvSpPr>
        <p:spPr>
          <a:xfrm>
            <a:off x="3931920" y="2770632"/>
            <a:ext cx="246888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Search box, Gallery</a:t>
            </a:r>
            <a:endParaRPr lang="en-US" sz="950" dirty="0"/>
          </a:p>
        </p:txBody>
      </p:sp>
      <p:sp>
        <p:nvSpPr>
          <p:cNvPr id="32" name="Text 30"/>
          <p:cNvSpPr/>
          <p:nvPr/>
        </p:nvSpPr>
        <p:spPr>
          <a:xfrm>
            <a:off x="6492240" y="2770632"/>
            <a:ext cx="201168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Customers (Filter)</a:t>
            </a:r>
            <a:endParaRPr lang="en-US" sz="950" dirty="0"/>
          </a:p>
        </p:txBody>
      </p:sp>
      <p:sp>
        <p:nvSpPr>
          <p:cNvPr id="33" name="Shape 31"/>
          <p:cNvSpPr/>
          <p:nvPr/>
        </p:nvSpPr>
        <p:spPr>
          <a:xfrm>
            <a:off x="457200" y="3246120"/>
            <a:ext cx="8229600" cy="448056"/>
          </a:xfrm>
          <a:prstGeom prst="rect">
            <a:avLst/>
          </a:prstGeom>
          <a:solidFill>
            <a:srgbClr val="FFFFFF"/>
          </a:solidFill>
          <a:ln/>
        </p:spPr>
        <p:txBody>
          <a:bodyPr/>
          <a:lstStyle/>
          <a:p>
            <a:endParaRPr lang="en-IN"/>
          </a:p>
        </p:txBody>
      </p:sp>
      <p:sp>
        <p:nvSpPr>
          <p:cNvPr id="34" name="Text 32"/>
          <p:cNvSpPr/>
          <p:nvPr/>
        </p:nvSpPr>
        <p:spPr>
          <a:xfrm>
            <a:off x="548640" y="3246120"/>
            <a:ext cx="1371600" cy="448056"/>
          </a:xfrm>
          <a:prstGeom prst="rect">
            <a:avLst/>
          </a:prstGeom>
          <a:noFill/>
          <a:ln/>
        </p:spPr>
        <p:txBody>
          <a:bodyPr wrap="square" lIns="0" tIns="0" rIns="0" bIns="0" rtlCol="0" anchor="ctr"/>
          <a:lstStyle/>
          <a:p>
            <a:pPr marL="0" indent="0">
              <a:buNone/>
            </a:pPr>
            <a:r>
              <a:rPr lang="en-US" sz="1000" b="1" dirty="0">
                <a:solidFill>
                  <a:srgbClr val="0E7490"/>
                </a:solidFill>
                <a:latin typeface="Calibri" pitchFamily="34" charset="0"/>
                <a:ea typeface="Calibri" pitchFamily="34" charset="-122"/>
                <a:cs typeface="Calibri" pitchFamily="34" charset="-120"/>
              </a:rPr>
              <a:t>Policy Browser</a:t>
            </a:r>
            <a:endParaRPr lang="en-US" sz="1000" dirty="0"/>
          </a:p>
        </p:txBody>
      </p:sp>
      <p:sp>
        <p:nvSpPr>
          <p:cNvPr id="35" name="Text 33"/>
          <p:cNvSpPr/>
          <p:nvPr/>
        </p:nvSpPr>
        <p:spPr>
          <a:xfrm>
            <a:off x="2011680" y="3246120"/>
            <a:ext cx="182880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Browse &amp; filter policies</a:t>
            </a:r>
            <a:endParaRPr lang="en-US" sz="950" dirty="0"/>
          </a:p>
        </p:txBody>
      </p:sp>
      <p:sp>
        <p:nvSpPr>
          <p:cNvPr id="36" name="Text 34"/>
          <p:cNvSpPr/>
          <p:nvPr/>
        </p:nvSpPr>
        <p:spPr>
          <a:xfrm>
            <a:off x="3931920" y="3246120"/>
            <a:ext cx="246888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Filter dropdowns, Gallery</a:t>
            </a:r>
            <a:endParaRPr lang="en-US" sz="950" dirty="0"/>
          </a:p>
        </p:txBody>
      </p:sp>
      <p:sp>
        <p:nvSpPr>
          <p:cNvPr id="37" name="Text 35"/>
          <p:cNvSpPr/>
          <p:nvPr/>
        </p:nvSpPr>
        <p:spPr>
          <a:xfrm>
            <a:off x="6492240" y="3246120"/>
            <a:ext cx="2011680" cy="44805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Policies, Customers</a:t>
            </a:r>
            <a:endParaRPr lang="en-US" sz="950" dirty="0"/>
          </a:p>
        </p:txBody>
      </p:sp>
      <p:sp>
        <p:nvSpPr>
          <p:cNvPr id="38" name="Shape 36"/>
          <p:cNvSpPr/>
          <p:nvPr/>
        </p:nvSpPr>
        <p:spPr>
          <a:xfrm>
            <a:off x="457200" y="3840480"/>
            <a:ext cx="8229600" cy="914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39" name="Shape 37"/>
          <p:cNvSpPr/>
          <p:nvPr/>
        </p:nvSpPr>
        <p:spPr>
          <a:xfrm>
            <a:off x="457200" y="3840480"/>
            <a:ext cx="64008" cy="914400"/>
          </a:xfrm>
          <a:prstGeom prst="rect">
            <a:avLst/>
          </a:prstGeom>
          <a:solidFill>
            <a:srgbClr val="F59E0B"/>
          </a:solidFill>
          <a:ln/>
        </p:spPr>
        <p:txBody>
          <a:bodyPr/>
          <a:lstStyle/>
          <a:p>
            <a:endParaRPr lang="en-IN"/>
          </a:p>
        </p:txBody>
      </p:sp>
      <p:sp>
        <p:nvSpPr>
          <p:cNvPr id="40" name="Text 38"/>
          <p:cNvSpPr/>
          <p:nvPr/>
        </p:nvSpPr>
        <p:spPr>
          <a:xfrm>
            <a:off x="731520" y="3886200"/>
            <a:ext cx="1828800" cy="18288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QUICK SETUP</a:t>
            </a:r>
            <a:endParaRPr lang="en-US" sz="900" dirty="0"/>
          </a:p>
        </p:txBody>
      </p:sp>
      <p:sp>
        <p:nvSpPr>
          <p:cNvPr id="41" name="Text 39"/>
          <p:cNvSpPr/>
          <p:nvPr/>
        </p:nvSpPr>
        <p:spPr>
          <a:xfrm>
            <a:off x="731520" y="4114800"/>
            <a:ext cx="7680960" cy="548640"/>
          </a:xfrm>
          <a:prstGeom prst="rect">
            <a:avLst/>
          </a:prstGeom>
          <a:noFill/>
          <a:ln/>
        </p:spPr>
        <p:txBody>
          <a:bodyPr wrap="square" lIns="0" tIns="0" rIns="0" bIns="0" rtlCol="0" anchor="ctr"/>
          <a:lstStyle/>
          <a:p>
            <a:pPr marL="0" indent="0">
              <a:lnSpc>
                <a:spcPct val="120000"/>
              </a:lnSpc>
              <a:buNone/>
            </a:pPr>
            <a:r>
              <a:rPr lang="en-US" sz="1000" dirty="0">
                <a:solidFill>
                  <a:srgbClr val="334155"/>
                </a:solidFill>
                <a:latin typeface="Calibri" pitchFamily="34" charset="0"/>
                <a:ea typeface="Calibri" pitchFamily="34" charset="-122"/>
                <a:cs typeface="Calibri" pitchFamily="34" charset="-120"/>
              </a:rPr>
              <a:t>Option A: Use the Vibe app from Module 03.  Option B: Create a new blank canvas app with 5 screens.  Option C: Use Vibe prompt: "Create a claims management app for Contoso Insurance with screens for dashboard, submit claim, claim details, customer lookup, and policy browser."</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19 / 25</a:t>
            </a:r>
            <a:endParaRPr lang="en-US" sz="900" dirty="0"/>
          </a:p>
        </p:txBody>
      </p:sp>
      <p:sp>
        <p:nvSpPr>
          <p:cNvPr id="3" name="Shape 1"/>
          <p:cNvSpPr/>
          <p:nvPr/>
        </p:nvSpPr>
        <p:spPr>
          <a:xfrm>
            <a:off x="0" y="4892040"/>
            <a:ext cx="9144000" cy="251460"/>
          </a:xfrm>
          <a:prstGeom prst="rect">
            <a:avLst/>
          </a:prstGeom>
          <a:solidFill>
            <a:srgbClr val="0891B2"/>
          </a:solidFill>
          <a:ln/>
        </p:spPr>
        <p:txBody>
          <a:bodyPr/>
          <a:lstStyle/>
          <a:p>
            <a:endParaRPr lang="en-IN"/>
          </a:p>
        </p:txBody>
      </p:sp>
      <p:sp>
        <p:nvSpPr>
          <p:cNvPr id="4" name="Text 2"/>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FFFFFF"/>
                </a:solidFill>
                <a:latin typeface="Calibri" pitchFamily="34" charset="0"/>
                <a:ea typeface="Calibri" pitchFamily="34" charset="-122"/>
                <a:cs typeface="Calibri" pitchFamily="34" charset="-120"/>
              </a:rPr>
              <a:t>AGENTIC AI IN POWER PLATFORM  |  Module 05: Agent Builder</a:t>
            </a:r>
            <a:endParaRPr lang="en-US" sz="750" dirty="0"/>
          </a:p>
        </p:txBody>
      </p:sp>
      <p:pic>
        <p:nvPicPr>
          <p:cNvPr id="5" name="Image 0" descr="preencoded.png"/>
          <p:cNvPicPr>
            <a:picLocks noChangeAspect="1"/>
          </p:cNvPicPr>
          <p:nvPr/>
        </p:nvPicPr>
        <p:blipFill>
          <a:blip r:embed="rId3"/>
          <a:stretch>
            <a:fillRect/>
          </a:stretch>
        </p:blipFill>
        <p:spPr>
          <a:xfrm>
            <a:off x="4023360" y="1097280"/>
            <a:ext cx="1097280" cy="1097280"/>
          </a:xfrm>
          <a:prstGeom prst="rect">
            <a:avLst/>
          </a:prstGeom>
        </p:spPr>
      </p:pic>
      <p:sp>
        <p:nvSpPr>
          <p:cNvPr id="6" name="Text 3"/>
          <p:cNvSpPr/>
          <p:nvPr/>
        </p:nvSpPr>
        <p:spPr>
          <a:xfrm>
            <a:off x="914400" y="2286000"/>
            <a:ext cx="731520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Module Summary</a:t>
            </a:r>
            <a:endParaRPr lang="en-US" sz="3600" dirty="0"/>
          </a:p>
        </p:txBody>
      </p:sp>
      <p:sp>
        <p:nvSpPr>
          <p:cNvPr id="7" name="Text 4"/>
          <p:cNvSpPr/>
          <p:nvPr/>
        </p:nvSpPr>
        <p:spPr>
          <a:xfrm>
            <a:off x="914400" y="2926080"/>
            <a:ext cx="7315200" cy="365760"/>
          </a:xfrm>
          <a:prstGeom prst="rect">
            <a:avLst/>
          </a:prstGeom>
          <a:noFill/>
          <a:ln/>
        </p:spPr>
        <p:txBody>
          <a:bodyPr wrap="square" lIns="0" tIns="0" rIns="0" bIns="0" rtlCol="0" anchor="ctr"/>
          <a:lstStyle/>
          <a:p>
            <a:pPr marL="0" indent="0" algn="ctr">
              <a:buNone/>
            </a:pPr>
            <a:r>
              <a:rPr lang="en-US" sz="1800" dirty="0">
                <a:solidFill>
                  <a:srgbClr val="06B6D4"/>
                </a:solidFill>
                <a:latin typeface="Calibri" pitchFamily="34" charset="0"/>
                <a:ea typeface="Calibri" pitchFamily="34" charset="-122"/>
                <a:cs typeface="Calibri" pitchFamily="34" charset="-120"/>
              </a:rPr>
              <a:t>Key Takeaways &amp; Review</a:t>
            </a:r>
            <a:endParaRPr lang="en-US" sz="1800" dirty="0"/>
          </a:p>
        </p:txBody>
      </p:sp>
      <p:sp>
        <p:nvSpPr>
          <p:cNvPr id="8" name="Text 2">
            <a:extLst>
              <a:ext uri="{FF2B5EF4-FFF2-40B4-BE49-F238E27FC236}">
                <a16:creationId xmlns:a16="http://schemas.microsoft.com/office/drawing/2014/main" id="{C4561AC3-9C34-9638-E4E3-56A537DBD848}"/>
              </a:ext>
            </a:extLst>
          </p:cNvPr>
          <p:cNvSpPr/>
          <p:nvPr/>
        </p:nvSpPr>
        <p:spPr>
          <a:xfrm>
            <a:off x="8092440" y="4872809"/>
            <a:ext cx="914400" cy="274320"/>
          </a:xfrm>
          <a:prstGeom prst="rect">
            <a:avLst/>
          </a:prstGeom>
          <a:noFill/>
          <a:ln/>
        </p:spPr>
        <p:txBody>
          <a:bodyPr wrap="square" rtlCol="0" anchor="ctr"/>
          <a:lstStyle/>
          <a:p>
            <a:pPr marL="0" indent="0" algn="r">
              <a:buNone/>
            </a:pPr>
            <a:r>
              <a:rPr lang="en-US" sz="900" dirty="0">
                <a:solidFill>
                  <a:schemeClr val="bg1"/>
                </a:solidFill>
                <a:latin typeface="Calibri" pitchFamily="34" charset="0"/>
                <a:ea typeface="Calibri" pitchFamily="34" charset="-122"/>
                <a:cs typeface="Calibri" pitchFamily="34" charset="-120"/>
              </a:rPr>
              <a:t>19 / 25</a:t>
            </a:r>
            <a:endParaRPr lang="en-US" sz="900"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20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03</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Key Takeaways (1 of 2)</a:t>
            </a:r>
            <a:endParaRPr lang="en-US" sz="2200" dirty="0"/>
          </a:p>
        </p:txBody>
      </p:sp>
      <p:sp>
        <p:nvSpPr>
          <p:cNvPr id="8" name="Shape 6"/>
          <p:cNvSpPr/>
          <p:nvPr/>
        </p:nvSpPr>
        <p:spPr>
          <a:xfrm>
            <a:off x="457200" y="960120"/>
            <a:ext cx="822960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Shape 7"/>
          <p:cNvSpPr/>
          <p:nvPr/>
        </p:nvSpPr>
        <p:spPr>
          <a:xfrm>
            <a:off x="594360" y="1078992"/>
            <a:ext cx="411480" cy="411480"/>
          </a:xfrm>
          <a:prstGeom prst="ellipse">
            <a:avLst/>
          </a:prstGeom>
          <a:solidFill>
            <a:srgbClr val="E0F7FA"/>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667512" y="1143000"/>
            <a:ext cx="274320" cy="274320"/>
          </a:xfrm>
          <a:prstGeom prst="rect">
            <a:avLst/>
          </a:prstGeom>
        </p:spPr>
      </p:pic>
      <p:sp>
        <p:nvSpPr>
          <p:cNvPr id="11" name="Text 8"/>
          <p:cNvSpPr/>
          <p:nvPr/>
        </p:nvSpPr>
        <p:spPr>
          <a:xfrm>
            <a:off x="1188720" y="960120"/>
            <a:ext cx="7223760" cy="658368"/>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Agent Builder is a GA feature that converts canvas apps into Copilot Studio agents by extracting goals, steps, knowledge, and triggers from app metadata.</a:t>
            </a:r>
            <a:endParaRPr lang="en-US" sz="1150" dirty="0"/>
          </a:p>
        </p:txBody>
      </p:sp>
      <p:sp>
        <p:nvSpPr>
          <p:cNvPr id="12" name="Shape 9"/>
          <p:cNvSpPr/>
          <p:nvPr/>
        </p:nvSpPr>
        <p:spPr>
          <a:xfrm>
            <a:off x="457200" y="1709928"/>
            <a:ext cx="822960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3" name="Shape 10"/>
          <p:cNvSpPr/>
          <p:nvPr/>
        </p:nvSpPr>
        <p:spPr>
          <a:xfrm>
            <a:off x="594360" y="1828800"/>
            <a:ext cx="411480" cy="411480"/>
          </a:xfrm>
          <a:prstGeom prst="ellipse">
            <a:avLst/>
          </a:prstGeom>
          <a:solidFill>
            <a:srgbClr val="E0F7FA"/>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667512" y="1892808"/>
            <a:ext cx="274320" cy="274320"/>
          </a:xfrm>
          <a:prstGeom prst="rect">
            <a:avLst/>
          </a:prstGeom>
        </p:spPr>
      </p:pic>
      <p:sp>
        <p:nvSpPr>
          <p:cNvPr id="15" name="Text 11"/>
          <p:cNvSpPr/>
          <p:nvPr/>
        </p:nvSpPr>
        <p:spPr>
          <a:xfrm>
            <a:off x="1188720" y="1709928"/>
            <a:ext cx="7223760" cy="658368"/>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The extraction analyses screens, controls, formulas, data connections, and business rules to generate agent topics, actions, and knowledge sources.</a:t>
            </a:r>
            <a:endParaRPr lang="en-US" sz="1150" dirty="0"/>
          </a:p>
        </p:txBody>
      </p:sp>
      <p:sp>
        <p:nvSpPr>
          <p:cNvPr id="16" name="Shape 12"/>
          <p:cNvSpPr/>
          <p:nvPr/>
        </p:nvSpPr>
        <p:spPr>
          <a:xfrm>
            <a:off x="457200" y="2459736"/>
            <a:ext cx="822960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7" name="Shape 13"/>
          <p:cNvSpPr/>
          <p:nvPr/>
        </p:nvSpPr>
        <p:spPr>
          <a:xfrm>
            <a:off x="594360" y="2578608"/>
            <a:ext cx="411480" cy="411480"/>
          </a:xfrm>
          <a:prstGeom prst="ellipse">
            <a:avLst/>
          </a:prstGeom>
          <a:solidFill>
            <a:srgbClr val="E0F7FA"/>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667512" y="2642616"/>
            <a:ext cx="274320" cy="274320"/>
          </a:xfrm>
          <a:prstGeom prst="rect">
            <a:avLst/>
          </a:prstGeom>
        </p:spPr>
      </p:pic>
      <p:sp>
        <p:nvSpPr>
          <p:cNvPr id="19" name="Text 14"/>
          <p:cNvSpPr/>
          <p:nvPr/>
        </p:nvSpPr>
        <p:spPr>
          <a:xfrm>
            <a:off x="1188720" y="2459736"/>
            <a:ext cx="7223760" cy="658368"/>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Agent Builder provides a 60-80% head start, but the generated agent always requires refinement — trigger phrases, conversation flows, and additional knowledge.</a:t>
            </a:r>
            <a:endParaRPr lang="en-US" sz="1150" dirty="0"/>
          </a:p>
        </p:txBody>
      </p:sp>
      <p:sp>
        <p:nvSpPr>
          <p:cNvPr id="20" name="Shape 15"/>
          <p:cNvSpPr/>
          <p:nvPr/>
        </p:nvSpPr>
        <p:spPr>
          <a:xfrm>
            <a:off x="457200" y="3209544"/>
            <a:ext cx="822960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1" name="Shape 16"/>
          <p:cNvSpPr/>
          <p:nvPr/>
        </p:nvSpPr>
        <p:spPr>
          <a:xfrm>
            <a:off x="594360" y="3328416"/>
            <a:ext cx="411480" cy="411480"/>
          </a:xfrm>
          <a:prstGeom prst="ellipse">
            <a:avLst/>
          </a:prstGeom>
          <a:solidFill>
            <a:srgbClr val="E0F7FA"/>
          </a:solidFill>
          <a:ln/>
        </p:spPr>
        <p:txBody>
          <a:bodyPr/>
          <a:lstStyle/>
          <a:p>
            <a:endParaRPr lang="en-IN"/>
          </a:p>
        </p:txBody>
      </p:sp>
      <p:pic>
        <p:nvPicPr>
          <p:cNvPr id="22" name="Image 3" descr="preencoded.png"/>
          <p:cNvPicPr>
            <a:picLocks noChangeAspect="1"/>
          </p:cNvPicPr>
          <p:nvPr/>
        </p:nvPicPr>
        <p:blipFill>
          <a:blip r:embed="rId6"/>
          <a:stretch>
            <a:fillRect/>
          </a:stretch>
        </p:blipFill>
        <p:spPr>
          <a:xfrm>
            <a:off x="667512" y="3392424"/>
            <a:ext cx="274320" cy="274320"/>
          </a:xfrm>
          <a:prstGeom prst="rect">
            <a:avLst/>
          </a:prstGeom>
        </p:spPr>
      </p:pic>
      <p:sp>
        <p:nvSpPr>
          <p:cNvPr id="23" name="Text 17"/>
          <p:cNvSpPr/>
          <p:nvPr/>
        </p:nvSpPr>
        <p:spPr>
          <a:xfrm>
            <a:off x="1188720" y="3209544"/>
            <a:ext cx="7223760" cy="658368"/>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The Dataverse MCP Server must be manually added as a tool in Copilot Studio after generation. This is the critical connection for real-time data access.</a:t>
            </a:r>
            <a:endParaRPr lang="en-US" sz="1150" dirty="0"/>
          </a:p>
        </p:txBody>
      </p:sp>
      <p:sp>
        <p:nvSpPr>
          <p:cNvPr id="24" name="Shape 18"/>
          <p:cNvSpPr/>
          <p:nvPr/>
        </p:nvSpPr>
        <p:spPr>
          <a:xfrm>
            <a:off x="457200" y="3959352"/>
            <a:ext cx="822960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5" name="Shape 19"/>
          <p:cNvSpPr/>
          <p:nvPr/>
        </p:nvSpPr>
        <p:spPr>
          <a:xfrm>
            <a:off x="594360" y="4078224"/>
            <a:ext cx="411480" cy="411480"/>
          </a:xfrm>
          <a:prstGeom prst="ellipse">
            <a:avLst/>
          </a:prstGeom>
          <a:solidFill>
            <a:srgbClr val="E0F7FA"/>
          </a:solidFill>
          <a:ln/>
        </p:spPr>
        <p:txBody>
          <a:bodyPr/>
          <a:lstStyle/>
          <a:p>
            <a:endParaRPr lang="en-IN"/>
          </a:p>
        </p:txBody>
      </p:sp>
      <p:pic>
        <p:nvPicPr>
          <p:cNvPr id="26" name="Image 4" descr="preencoded.png"/>
          <p:cNvPicPr>
            <a:picLocks noChangeAspect="1"/>
          </p:cNvPicPr>
          <p:nvPr/>
        </p:nvPicPr>
        <p:blipFill>
          <a:blip r:embed="rId7"/>
          <a:stretch>
            <a:fillRect/>
          </a:stretch>
        </p:blipFill>
        <p:spPr>
          <a:xfrm>
            <a:off x="667512" y="4142232"/>
            <a:ext cx="274320" cy="274320"/>
          </a:xfrm>
          <a:prstGeom prst="rect">
            <a:avLst/>
          </a:prstGeom>
        </p:spPr>
      </p:pic>
      <p:sp>
        <p:nvSpPr>
          <p:cNvPr id="27" name="Text 20"/>
          <p:cNvSpPr/>
          <p:nvPr/>
        </p:nvSpPr>
        <p:spPr>
          <a:xfrm>
            <a:off x="1188720" y="3959352"/>
            <a:ext cx="7223760" cy="658368"/>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Knowledge sources support multiple formats: PDFs, Word documents, SharePoint pages, public websites, and Dataverse tables.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21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03</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Key Takeaways (2 of 2)</a:t>
            </a:r>
            <a:endParaRPr lang="en-US" sz="2200" dirty="0"/>
          </a:p>
        </p:txBody>
      </p:sp>
      <p:sp>
        <p:nvSpPr>
          <p:cNvPr id="8" name="Shape 6"/>
          <p:cNvSpPr/>
          <p:nvPr/>
        </p:nvSpPr>
        <p:spPr>
          <a:xfrm>
            <a:off x="457200" y="960120"/>
            <a:ext cx="8229600" cy="71323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Shape 7"/>
          <p:cNvSpPr/>
          <p:nvPr/>
        </p:nvSpPr>
        <p:spPr>
          <a:xfrm>
            <a:off x="594360" y="1088136"/>
            <a:ext cx="411480" cy="411480"/>
          </a:xfrm>
          <a:prstGeom prst="ellipse">
            <a:avLst/>
          </a:prstGeom>
          <a:solidFill>
            <a:srgbClr val="E0F7FA"/>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667512" y="1143000"/>
            <a:ext cx="274320" cy="274320"/>
          </a:xfrm>
          <a:prstGeom prst="rect">
            <a:avLst/>
          </a:prstGeom>
        </p:spPr>
      </p:pic>
      <p:sp>
        <p:nvSpPr>
          <p:cNvPr id="11" name="Text 8"/>
          <p:cNvSpPr/>
          <p:nvPr/>
        </p:nvSpPr>
        <p:spPr>
          <a:xfrm>
            <a:off x="1188720" y="960120"/>
            <a:ext cx="7223760" cy="713232"/>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Compatibility requires Dataverse connections, meaningful control names, distinct screen structure, and standard Power Apps patterns (Patch, Filter, LookUp, Navigate).</a:t>
            </a:r>
            <a:endParaRPr lang="en-US" sz="1150" dirty="0"/>
          </a:p>
        </p:txBody>
      </p:sp>
      <p:sp>
        <p:nvSpPr>
          <p:cNvPr id="12" name="Shape 9"/>
          <p:cNvSpPr/>
          <p:nvPr/>
        </p:nvSpPr>
        <p:spPr>
          <a:xfrm>
            <a:off x="457200" y="1764792"/>
            <a:ext cx="8229600" cy="71323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3" name="Shape 10"/>
          <p:cNvSpPr/>
          <p:nvPr/>
        </p:nvSpPr>
        <p:spPr>
          <a:xfrm>
            <a:off x="594360" y="1892808"/>
            <a:ext cx="411480" cy="411480"/>
          </a:xfrm>
          <a:prstGeom prst="ellipse">
            <a:avLst/>
          </a:prstGeom>
          <a:solidFill>
            <a:srgbClr val="E0F7FA"/>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667512" y="1947672"/>
            <a:ext cx="274320" cy="274320"/>
          </a:xfrm>
          <a:prstGeom prst="rect">
            <a:avLst/>
          </a:prstGeom>
        </p:spPr>
      </p:pic>
      <p:sp>
        <p:nvSpPr>
          <p:cNvPr id="15" name="Text 11"/>
          <p:cNvSpPr/>
          <p:nvPr/>
        </p:nvSpPr>
        <p:spPr>
          <a:xfrm>
            <a:off x="1188720" y="1764792"/>
            <a:ext cx="7223760" cy="713232"/>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For BFSI, Agent Builder enables rapid conversion of existing claims, policy, customer, and transaction management apps into conversational agents.</a:t>
            </a:r>
            <a:endParaRPr lang="en-US" sz="1150" dirty="0"/>
          </a:p>
        </p:txBody>
      </p:sp>
      <p:sp>
        <p:nvSpPr>
          <p:cNvPr id="16" name="Shape 12"/>
          <p:cNvSpPr/>
          <p:nvPr/>
        </p:nvSpPr>
        <p:spPr>
          <a:xfrm>
            <a:off x="457200" y="2569464"/>
            <a:ext cx="8229600" cy="71323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7" name="Shape 13"/>
          <p:cNvSpPr/>
          <p:nvPr/>
        </p:nvSpPr>
        <p:spPr>
          <a:xfrm>
            <a:off x="594360" y="2697480"/>
            <a:ext cx="411480" cy="411480"/>
          </a:xfrm>
          <a:prstGeom prst="ellipse">
            <a:avLst/>
          </a:prstGeom>
          <a:solidFill>
            <a:srgbClr val="E0F7FA"/>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667512" y="2752344"/>
            <a:ext cx="274320" cy="274320"/>
          </a:xfrm>
          <a:prstGeom prst="rect">
            <a:avLst/>
          </a:prstGeom>
        </p:spPr>
      </p:pic>
      <p:sp>
        <p:nvSpPr>
          <p:cNvPr id="19" name="Text 14"/>
          <p:cNvSpPr/>
          <p:nvPr/>
        </p:nvSpPr>
        <p:spPr>
          <a:xfrm>
            <a:off x="1188720" y="2569464"/>
            <a:ext cx="7223760" cy="713232"/>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The original canvas app remains operational after conversion. Both app and agent coexist, serving different user preferences.</a:t>
            </a:r>
            <a:endParaRPr lang="en-US" sz="1150" dirty="0"/>
          </a:p>
        </p:txBody>
      </p:sp>
      <p:sp>
        <p:nvSpPr>
          <p:cNvPr id="20" name="Shape 15"/>
          <p:cNvSpPr/>
          <p:nvPr/>
        </p:nvSpPr>
        <p:spPr>
          <a:xfrm>
            <a:off x="457200" y="3374136"/>
            <a:ext cx="8229600" cy="71323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1" name="Shape 16"/>
          <p:cNvSpPr/>
          <p:nvPr/>
        </p:nvSpPr>
        <p:spPr>
          <a:xfrm>
            <a:off x="594360" y="3502152"/>
            <a:ext cx="411480" cy="411480"/>
          </a:xfrm>
          <a:prstGeom prst="ellipse">
            <a:avLst/>
          </a:prstGeom>
          <a:solidFill>
            <a:srgbClr val="E0F7FA"/>
          </a:solidFill>
          <a:ln/>
        </p:spPr>
        <p:txBody>
          <a:bodyPr/>
          <a:lstStyle/>
          <a:p>
            <a:endParaRPr lang="en-IN"/>
          </a:p>
        </p:txBody>
      </p:sp>
      <p:pic>
        <p:nvPicPr>
          <p:cNvPr id="22" name="Image 3" descr="preencoded.png"/>
          <p:cNvPicPr>
            <a:picLocks noChangeAspect="1"/>
          </p:cNvPicPr>
          <p:nvPr/>
        </p:nvPicPr>
        <p:blipFill>
          <a:blip r:embed="rId6"/>
          <a:stretch>
            <a:fillRect/>
          </a:stretch>
        </p:blipFill>
        <p:spPr>
          <a:xfrm>
            <a:off x="667512" y="3557016"/>
            <a:ext cx="274320" cy="274320"/>
          </a:xfrm>
          <a:prstGeom prst="rect">
            <a:avLst/>
          </a:prstGeom>
        </p:spPr>
      </p:pic>
      <p:sp>
        <p:nvSpPr>
          <p:cNvPr id="23" name="Text 17"/>
          <p:cNvSpPr/>
          <p:nvPr/>
        </p:nvSpPr>
        <p:spPr>
          <a:xfrm>
            <a:off x="1188720" y="3374136"/>
            <a:ext cx="7223760" cy="713232"/>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Agent Builder completes the design-to-agent pipeline: Plan Designer → Vibe → MCP → Agent Builder.</a:t>
            </a:r>
            <a:endParaRPr lang="en-US" sz="1150" dirty="0"/>
          </a:p>
        </p:txBody>
      </p:sp>
      <p:sp>
        <p:nvSpPr>
          <p:cNvPr id="24" name="Shape 18"/>
          <p:cNvSpPr/>
          <p:nvPr/>
        </p:nvSpPr>
        <p:spPr>
          <a:xfrm>
            <a:off x="457200" y="4251960"/>
            <a:ext cx="8229600" cy="502920"/>
          </a:xfrm>
          <a:prstGeom prst="rect">
            <a:avLst/>
          </a:prstGeom>
          <a:solidFill>
            <a:srgbClr val="0F1B2D"/>
          </a:solidFill>
          <a:ln/>
        </p:spPr>
        <p:txBody>
          <a:bodyPr/>
          <a:lstStyle/>
          <a:p>
            <a:endParaRPr lang="en-IN"/>
          </a:p>
        </p:txBody>
      </p:sp>
      <p:sp>
        <p:nvSpPr>
          <p:cNvPr id="25" name="Text 19"/>
          <p:cNvSpPr/>
          <p:nvPr/>
        </p:nvSpPr>
        <p:spPr>
          <a:xfrm>
            <a:off x="731520" y="4251960"/>
            <a:ext cx="7680960" cy="502920"/>
          </a:xfrm>
          <a:prstGeom prst="rect">
            <a:avLst/>
          </a:prstGeom>
          <a:noFill/>
          <a:ln/>
        </p:spPr>
        <p:txBody>
          <a:bodyPr wrap="square" lIns="0" tIns="0" rIns="0" bIns="0" rtlCol="0" anchor="ctr"/>
          <a:lstStyle/>
          <a:p>
            <a:pPr marL="0" indent="0" algn="ctr">
              <a:buNone/>
            </a:pPr>
            <a:r>
              <a:rPr lang="en-US" sz="1300" b="1" dirty="0">
                <a:solidFill>
                  <a:srgbClr val="06B6D4"/>
                </a:solidFill>
                <a:latin typeface="Calibri" pitchFamily="34" charset="0"/>
                <a:ea typeface="Calibri" pitchFamily="34" charset="-122"/>
                <a:cs typeface="Calibri" pitchFamily="34" charset="-120"/>
              </a:rPr>
              <a:t>Plan Designer  →  Vibe / Apps  →  MCP Server  →  Agent Builder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22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03</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Knowledge Check Questions</a:t>
            </a:r>
            <a:endParaRPr lang="en-US" sz="2200" dirty="0"/>
          </a:p>
        </p:txBody>
      </p:sp>
      <p:sp>
        <p:nvSpPr>
          <p:cNvPr id="8" name="Shape 6"/>
          <p:cNvSpPr/>
          <p:nvPr/>
        </p:nvSpPr>
        <p:spPr>
          <a:xfrm>
            <a:off x="457200" y="914400"/>
            <a:ext cx="8229600" cy="365760"/>
          </a:xfrm>
          <a:prstGeom prst="rect">
            <a:avLst/>
          </a:prstGeom>
          <a:solidFill>
            <a:srgbClr val="FFFFFF"/>
          </a:solidFill>
          <a:ln/>
        </p:spPr>
        <p:txBody>
          <a:bodyPr/>
          <a:lstStyle/>
          <a:p>
            <a:endParaRPr lang="en-IN"/>
          </a:p>
        </p:txBody>
      </p:sp>
      <p:sp>
        <p:nvSpPr>
          <p:cNvPr id="9" name="Shape 7"/>
          <p:cNvSpPr/>
          <p:nvPr/>
        </p:nvSpPr>
        <p:spPr>
          <a:xfrm>
            <a:off x="548640" y="969264"/>
            <a:ext cx="256032" cy="256032"/>
          </a:xfrm>
          <a:prstGeom prst="ellipse">
            <a:avLst/>
          </a:prstGeom>
          <a:solidFill>
            <a:srgbClr val="F59E0B"/>
          </a:solidFill>
          <a:ln/>
        </p:spPr>
        <p:txBody>
          <a:bodyPr/>
          <a:lstStyle/>
          <a:p>
            <a:endParaRPr lang="en-IN"/>
          </a:p>
        </p:txBody>
      </p:sp>
      <p:sp>
        <p:nvSpPr>
          <p:cNvPr id="10" name="Text 8"/>
          <p:cNvSpPr/>
          <p:nvPr/>
        </p:nvSpPr>
        <p:spPr>
          <a:xfrm>
            <a:off x="548640" y="96926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Text 9"/>
          <p:cNvSpPr/>
          <p:nvPr/>
        </p:nvSpPr>
        <p:spPr>
          <a:xfrm>
            <a:off x="960120" y="914400"/>
            <a:ext cx="7498080" cy="3657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What is Agent Builder and what problem does it solve?</a:t>
            </a:r>
            <a:endParaRPr lang="en-US" sz="1050" dirty="0"/>
          </a:p>
        </p:txBody>
      </p:sp>
      <p:sp>
        <p:nvSpPr>
          <p:cNvPr id="12" name="Shape 10"/>
          <p:cNvSpPr/>
          <p:nvPr/>
        </p:nvSpPr>
        <p:spPr>
          <a:xfrm>
            <a:off x="457200" y="1298448"/>
            <a:ext cx="8229600" cy="365760"/>
          </a:xfrm>
          <a:prstGeom prst="rect">
            <a:avLst/>
          </a:prstGeom>
          <a:solidFill>
            <a:srgbClr val="F0F9FF"/>
          </a:solidFill>
          <a:ln/>
        </p:spPr>
        <p:txBody>
          <a:bodyPr/>
          <a:lstStyle/>
          <a:p>
            <a:endParaRPr lang="en-IN"/>
          </a:p>
        </p:txBody>
      </p:sp>
      <p:sp>
        <p:nvSpPr>
          <p:cNvPr id="13" name="Shape 11"/>
          <p:cNvSpPr/>
          <p:nvPr/>
        </p:nvSpPr>
        <p:spPr>
          <a:xfrm>
            <a:off x="548640" y="1353312"/>
            <a:ext cx="256032" cy="256032"/>
          </a:xfrm>
          <a:prstGeom prst="ellipse">
            <a:avLst/>
          </a:prstGeom>
          <a:solidFill>
            <a:srgbClr val="F59E0B"/>
          </a:solidFill>
          <a:ln/>
        </p:spPr>
        <p:txBody>
          <a:bodyPr/>
          <a:lstStyle/>
          <a:p>
            <a:endParaRPr lang="en-IN"/>
          </a:p>
        </p:txBody>
      </p:sp>
      <p:sp>
        <p:nvSpPr>
          <p:cNvPr id="14" name="Text 12"/>
          <p:cNvSpPr/>
          <p:nvPr/>
        </p:nvSpPr>
        <p:spPr>
          <a:xfrm>
            <a:off x="548640" y="135331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5" name="Text 13"/>
          <p:cNvSpPr/>
          <p:nvPr/>
        </p:nvSpPr>
        <p:spPr>
          <a:xfrm>
            <a:off x="960120" y="1298448"/>
            <a:ext cx="7498080" cy="3657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Name the four extraction categories from a canvas app.</a:t>
            </a:r>
            <a:endParaRPr lang="en-US" sz="1050" dirty="0"/>
          </a:p>
        </p:txBody>
      </p:sp>
      <p:sp>
        <p:nvSpPr>
          <p:cNvPr id="16" name="Shape 14"/>
          <p:cNvSpPr/>
          <p:nvPr/>
        </p:nvSpPr>
        <p:spPr>
          <a:xfrm>
            <a:off x="457200" y="1682496"/>
            <a:ext cx="8229600" cy="365760"/>
          </a:xfrm>
          <a:prstGeom prst="rect">
            <a:avLst/>
          </a:prstGeom>
          <a:solidFill>
            <a:srgbClr val="FFFFFF"/>
          </a:solidFill>
          <a:ln/>
        </p:spPr>
        <p:txBody>
          <a:bodyPr/>
          <a:lstStyle/>
          <a:p>
            <a:endParaRPr lang="en-IN"/>
          </a:p>
        </p:txBody>
      </p:sp>
      <p:sp>
        <p:nvSpPr>
          <p:cNvPr id="17" name="Shape 15"/>
          <p:cNvSpPr/>
          <p:nvPr/>
        </p:nvSpPr>
        <p:spPr>
          <a:xfrm>
            <a:off x="548640" y="1737360"/>
            <a:ext cx="256032" cy="256032"/>
          </a:xfrm>
          <a:prstGeom prst="ellipse">
            <a:avLst/>
          </a:prstGeom>
          <a:solidFill>
            <a:srgbClr val="F59E0B"/>
          </a:solidFill>
          <a:ln/>
        </p:spPr>
        <p:txBody>
          <a:bodyPr/>
          <a:lstStyle/>
          <a:p>
            <a:endParaRPr lang="en-IN"/>
          </a:p>
        </p:txBody>
      </p:sp>
      <p:sp>
        <p:nvSpPr>
          <p:cNvPr id="18" name="Text 16"/>
          <p:cNvSpPr/>
          <p:nvPr/>
        </p:nvSpPr>
        <p:spPr>
          <a:xfrm>
            <a:off x="548640" y="173736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9" name="Text 17"/>
          <p:cNvSpPr/>
          <p:nvPr/>
        </p:nvSpPr>
        <p:spPr>
          <a:xfrm>
            <a:off x="960120" y="1682496"/>
            <a:ext cx="7498080" cy="3657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What are the key compatibility requirements?</a:t>
            </a:r>
            <a:endParaRPr lang="en-US" sz="1050" dirty="0"/>
          </a:p>
        </p:txBody>
      </p:sp>
      <p:sp>
        <p:nvSpPr>
          <p:cNvPr id="20" name="Shape 18"/>
          <p:cNvSpPr/>
          <p:nvPr/>
        </p:nvSpPr>
        <p:spPr>
          <a:xfrm>
            <a:off x="457200" y="2066544"/>
            <a:ext cx="8229600" cy="365760"/>
          </a:xfrm>
          <a:prstGeom prst="rect">
            <a:avLst/>
          </a:prstGeom>
          <a:solidFill>
            <a:srgbClr val="F0F9FF"/>
          </a:solidFill>
          <a:ln/>
        </p:spPr>
        <p:txBody>
          <a:bodyPr/>
          <a:lstStyle/>
          <a:p>
            <a:endParaRPr lang="en-IN"/>
          </a:p>
        </p:txBody>
      </p:sp>
      <p:sp>
        <p:nvSpPr>
          <p:cNvPr id="21" name="Shape 19"/>
          <p:cNvSpPr/>
          <p:nvPr/>
        </p:nvSpPr>
        <p:spPr>
          <a:xfrm>
            <a:off x="548640" y="2121408"/>
            <a:ext cx="256032" cy="256032"/>
          </a:xfrm>
          <a:prstGeom prst="ellipse">
            <a:avLst/>
          </a:prstGeom>
          <a:solidFill>
            <a:srgbClr val="F59E0B"/>
          </a:solidFill>
          <a:ln/>
        </p:spPr>
        <p:txBody>
          <a:bodyPr/>
          <a:lstStyle/>
          <a:p>
            <a:endParaRPr lang="en-IN"/>
          </a:p>
        </p:txBody>
      </p:sp>
      <p:sp>
        <p:nvSpPr>
          <p:cNvPr id="22" name="Text 20"/>
          <p:cNvSpPr/>
          <p:nvPr/>
        </p:nvSpPr>
        <p:spPr>
          <a:xfrm>
            <a:off x="548640" y="212140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3" name="Text 21"/>
          <p:cNvSpPr/>
          <p:nvPr/>
        </p:nvSpPr>
        <p:spPr>
          <a:xfrm>
            <a:off x="960120" y="2066544"/>
            <a:ext cx="7498080" cy="3657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Why does renaming default controls improve output quality?</a:t>
            </a:r>
            <a:endParaRPr lang="en-US" sz="1050" dirty="0"/>
          </a:p>
        </p:txBody>
      </p:sp>
      <p:sp>
        <p:nvSpPr>
          <p:cNvPr id="24" name="Shape 22"/>
          <p:cNvSpPr/>
          <p:nvPr/>
        </p:nvSpPr>
        <p:spPr>
          <a:xfrm>
            <a:off x="457200" y="2450592"/>
            <a:ext cx="8229600" cy="365760"/>
          </a:xfrm>
          <a:prstGeom prst="rect">
            <a:avLst/>
          </a:prstGeom>
          <a:solidFill>
            <a:srgbClr val="FFFFFF"/>
          </a:solidFill>
          <a:ln/>
        </p:spPr>
        <p:txBody>
          <a:bodyPr/>
          <a:lstStyle/>
          <a:p>
            <a:endParaRPr lang="en-IN"/>
          </a:p>
        </p:txBody>
      </p:sp>
      <p:sp>
        <p:nvSpPr>
          <p:cNvPr id="25" name="Shape 23"/>
          <p:cNvSpPr/>
          <p:nvPr/>
        </p:nvSpPr>
        <p:spPr>
          <a:xfrm>
            <a:off x="548640" y="2505456"/>
            <a:ext cx="256032" cy="256032"/>
          </a:xfrm>
          <a:prstGeom prst="ellipse">
            <a:avLst/>
          </a:prstGeom>
          <a:solidFill>
            <a:srgbClr val="F59E0B"/>
          </a:solidFill>
          <a:ln/>
        </p:spPr>
        <p:txBody>
          <a:bodyPr/>
          <a:lstStyle/>
          <a:p>
            <a:endParaRPr lang="en-IN"/>
          </a:p>
        </p:txBody>
      </p:sp>
      <p:sp>
        <p:nvSpPr>
          <p:cNvPr id="26" name="Text 24"/>
          <p:cNvSpPr/>
          <p:nvPr/>
        </p:nvSpPr>
        <p:spPr>
          <a:xfrm>
            <a:off x="548640" y="250545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7" name="Text 25"/>
          <p:cNvSpPr/>
          <p:nvPr/>
        </p:nvSpPr>
        <p:spPr>
          <a:xfrm>
            <a:off x="960120" y="2450592"/>
            <a:ext cx="7498080" cy="3657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Describe the five stages of the Agent Builder workflow.</a:t>
            </a:r>
            <a:endParaRPr lang="en-US" sz="1050" dirty="0"/>
          </a:p>
        </p:txBody>
      </p:sp>
      <p:sp>
        <p:nvSpPr>
          <p:cNvPr id="28" name="Shape 26"/>
          <p:cNvSpPr/>
          <p:nvPr/>
        </p:nvSpPr>
        <p:spPr>
          <a:xfrm>
            <a:off x="457200" y="2834640"/>
            <a:ext cx="8229600" cy="365760"/>
          </a:xfrm>
          <a:prstGeom prst="rect">
            <a:avLst/>
          </a:prstGeom>
          <a:solidFill>
            <a:srgbClr val="F0F9FF"/>
          </a:solidFill>
          <a:ln/>
        </p:spPr>
        <p:txBody>
          <a:bodyPr/>
          <a:lstStyle/>
          <a:p>
            <a:endParaRPr lang="en-IN"/>
          </a:p>
        </p:txBody>
      </p:sp>
      <p:sp>
        <p:nvSpPr>
          <p:cNvPr id="29" name="Shape 27"/>
          <p:cNvSpPr/>
          <p:nvPr/>
        </p:nvSpPr>
        <p:spPr>
          <a:xfrm>
            <a:off x="548640" y="2889504"/>
            <a:ext cx="256032" cy="256032"/>
          </a:xfrm>
          <a:prstGeom prst="ellipse">
            <a:avLst/>
          </a:prstGeom>
          <a:solidFill>
            <a:srgbClr val="F59E0B"/>
          </a:solidFill>
          <a:ln/>
        </p:spPr>
        <p:txBody>
          <a:bodyPr/>
          <a:lstStyle/>
          <a:p>
            <a:endParaRPr lang="en-IN"/>
          </a:p>
        </p:txBody>
      </p:sp>
      <p:sp>
        <p:nvSpPr>
          <p:cNvPr id="30" name="Text 28"/>
          <p:cNvSpPr/>
          <p:nvPr/>
        </p:nvSpPr>
        <p:spPr>
          <a:xfrm>
            <a:off x="548640" y="288950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1" name="Text 29"/>
          <p:cNvSpPr/>
          <p:nvPr/>
        </p:nvSpPr>
        <p:spPr>
          <a:xfrm>
            <a:off x="960120" y="2834640"/>
            <a:ext cx="7498080" cy="3657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What does Agent Builder NOT extract? Name three things.</a:t>
            </a:r>
            <a:endParaRPr lang="en-US" sz="1050" dirty="0"/>
          </a:p>
        </p:txBody>
      </p:sp>
      <p:sp>
        <p:nvSpPr>
          <p:cNvPr id="32" name="Shape 30"/>
          <p:cNvSpPr/>
          <p:nvPr/>
        </p:nvSpPr>
        <p:spPr>
          <a:xfrm>
            <a:off x="457200" y="3218688"/>
            <a:ext cx="8229600" cy="365760"/>
          </a:xfrm>
          <a:prstGeom prst="rect">
            <a:avLst/>
          </a:prstGeom>
          <a:solidFill>
            <a:srgbClr val="FFFFFF"/>
          </a:solidFill>
          <a:ln/>
        </p:spPr>
        <p:txBody>
          <a:bodyPr/>
          <a:lstStyle/>
          <a:p>
            <a:endParaRPr lang="en-IN"/>
          </a:p>
        </p:txBody>
      </p:sp>
      <p:sp>
        <p:nvSpPr>
          <p:cNvPr id="33" name="Shape 31"/>
          <p:cNvSpPr/>
          <p:nvPr/>
        </p:nvSpPr>
        <p:spPr>
          <a:xfrm>
            <a:off x="548640" y="3273552"/>
            <a:ext cx="256032" cy="256032"/>
          </a:xfrm>
          <a:prstGeom prst="ellipse">
            <a:avLst/>
          </a:prstGeom>
          <a:solidFill>
            <a:srgbClr val="F59E0B"/>
          </a:solidFill>
          <a:ln/>
        </p:spPr>
        <p:txBody>
          <a:bodyPr/>
          <a:lstStyle/>
          <a:p>
            <a:endParaRPr lang="en-IN"/>
          </a:p>
        </p:txBody>
      </p:sp>
      <p:sp>
        <p:nvSpPr>
          <p:cNvPr id="34" name="Text 32"/>
          <p:cNvSpPr/>
          <p:nvPr/>
        </p:nvSpPr>
        <p:spPr>
          <a:xfrm>
            <a:off x="548640" y="327355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35" name="Text 33"/>
          <p:cNvSpPr/>
          <p:nvPr/>
        </p:nvSpPr>
        <p:spPr>
          <a:xfrm>
            <a:off x="960120" y="3218688"/>
            <a:ext cx="7498080" cy="3657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Why must the Dataverse MCP Server be added manually?</a:t>
            </a:r>
            <a:endParaRPr lang="en-US" sz="1050" dirty="0"/>
          </a:p>
        </p:txBody>
      </p:sp>
      <p:sp>
        <p:nvSpPr>
          <p:cNvPr id="36" name="Shape 34"/>
          <p:cNvSpPr/>
          <p:nvPr/>
        </p:nvSpPr>
        <p:spPr>
          <a:xfrm>
            <a:off x="457200" y="3602736"/>
            <a:ext cx="8229600" cy="365760"/>
          </a:xfrm>
          <a:prstGeom prst="rect">
            <a:avLst/>
          </a:prstGeom>
          <a:solidFill>
            <a:srgbClr val="F0F9FF"/>
          </a:solidFill>
          <a:ln/>
        </p:spPr>
        <p:txBody>
          <a:bodyPr/>
          <a:lstStyle/>
          <a:p>
            <a:endParaRPr lang="en-IN"/>
          </a:p>
        </p:txBody>
      </p:sp>
      <p:sp>
        <p:nvSpPr>
          <p:cNvPr id="37" name="Shape 35"/>
          <p:cNvSpPr/>
          <p:nvPr/>
        </p:nvSpPr>
        <p:spPr>
          <a:xfrm>
            <a:off x="548640" y="3657600"/>
            <a:ext cx="256032" cy="256032"/>
          </a:xfrm>
          <a:prstGeom prst="ellipse">
            <a:avLst/>
          </a:prstGeom>
          <a:solidFill>
            <a:srgbClr val="F59E0B"/>
          </a:solidFill>
          <a:ln/>
        </p:spPr>
        <p:txBody>
          <a:bodyPr/>
          <a:lstStyle/>
          <a:p>
            <a:endParaRPr lang="en-IN"/>
          </a:p>
        </p:txBody>
      </p:sp>
      <p:sp>
        <p:nvSpPr>
          <p:cNvPr id="38" name="Text 36"/>
          <p:cNvSpPr/>
          <p:nvPr/>
        </p:nvSpPr>
        <p:spPr>
          <a:xfrm>
            <a:off x="548640" y="365760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39" name="Text 37"/>
          <p:cNvSpPr/>
          <p:nvPr/>
        </p:nvSpPr>
        <p:spPr>
          <a:xfrm>
            <a:off x="960120" y="3602736"/>
            <a:ext cx="7498080" cy="3657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What knowledge source types can be added beyond Dataverse?</a:t>
            </a:r>
            <a:endParaRPr lang="en-US" sz="1050" dirty="0"/>
          </a:p>
        </p:txBody>
      </p:sp>
      <p:sp>
        <p:nvSpPr>
          <p:cNvPr id="40" name="Shape 38"/>
          <p:cNvSpPr/>
          <p:nvPr/>
        </p:nvSpPr>
        <p:spPr>
          <a:xfrm>
            <a:off x="457200" y="3986784"/>
            <a:ext cx="8229600" cy="365760"/>
          </a:xfrm>
          <a:prstGeom prst="rect">
            <a:avLst/>
          </a:prstGeom>
          <a:solidFill>
            <a:srgbClr val="FFFFFF"/>
          </a:solidFill>
          <a:ln/>
        </p:spPr>
        <p:txBody>
          <a:bodyPr/>
          <a:lstStyle/>
          <a:p>
            <a:endParaRPr lang="en-IN"/>
          </a:p>
        </p:txBody>
      </p:sp>
      <p:sp>
        <p:nvSpPr>
          <p:cNvPr id="41" name="Shape 39"/>
          <p:cNvSpPr/>
          <p:nvPr/>
        </p:nvSpPr>
        <p:spPr>
          <a:xfrm>
            <a:off x="548640" y="4041648"/>
            <a:ext cx="256032" cy="256032"/>
          </a:xfrm>
          <a:prstGeom prst="ellipse">
            <a:avLst/>
          </a:prstGeom>
          <a:solidFill>
            <a:srgbClr val="F59E0B"/>
          </a:solidFill>
          <a:ln/>
        </p:spPr>
        <p:txBody>
          <a:bodyPr/>
          <a:lstStyle/>
          <a:p>
            <a:endParaRPr lang="en-IN"/>
          </a:p>
        </p:txBody>
      </p:sp>
      <p:sp>
        <p:nvSpPr>
          <p:cNvPr id="42" name="Text 40"/>
          <p:cNvSpPr/>
          <p:nvPr/>
        </p:nvSpPr>
        <p:spPr>
          <a:xfrm>
            <a:off x="548640" y="404164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43" name="Text 41"/>
          <p:cNvSpPr/>
          <p:nvPr/>
        </p:nvSpPr>
        <p:spPr>
          <a:xfrm>
            <a:off x="960120" y="3986784"/>
            <a:ext cx="7498080" cy="3657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When should you use Agent Builder vs. manual creation?</a:t>
            </a:r>
            <a:endParaRPr lang="en-US" sz="1050" dirty="0"/>
          </a:p>
        </p:txBody>
      </p:sp>
      <p:sp>
        <p:nvSpPr>
          <p:cNvPr id="44" name="Shape 42"/>
          <p:cNvSpPr/>
          <p:nvPr/>
        </p:nvSpPr>
        <p:spPr>
          <a:xfrm>
            <a:off x="457200" y="4370832"/>
            <a:ext cx="8229600" cy="365760"/>
          </a:xfrm>
          <a:prstGeom prst="rect">
            <a:avLst/>
          </a:prstGeom>
          <a:solidFill>
            <a:srgbClr val="F0F9FF"/>
          </a:solidFill>
          <a:ln/>
        </p:spPr>
        <p:txBody>
          <a:bodyPr/>
          <a:lstStyle/>
          <a:p>
            <a:endParaRPr lang="en-IN"/>
          </a:p>
        </p:txBody>
      </p:sp>
      <p:sp>
        <p:nvSpPr>
          <p:cNvPr id="45" name="Shape 43"/>
          <p:cNvSpPr/>
          <p:nvPr/>
        </p:nvSpPr>
        <p:spPr>
          <a:xfrm>
            <a:off x="548640" y="4425696"/>
            <a:ext cx="256032" cy="256032"/>
          </a:xfrm>
          <a:prstGeom prst="ellipse">
            <a:avLst/>
          </a:prstGeom>
          <a:solidFill>
            <a:srgbClr val="F59E0B"/>
          </a:solidFill>
          <a:ln/>
        </p:spPr>
        <p:txBody>
          <a:bodyPr/>
          <a:lstStyle/>
          <a:p>
            <a:endParaRPr lang="en-IN"/>
          </a:p>
        </p:txBody>
      </p:sp>
      <p:sp>
        <p:nvSpPr>
          <p:cNvPr id="46" name="Text 44"/>
          <p:cNvSpPr/>
          <p:nvPr/>
        </p:nvSpPr>
        <p:spPr>
          <a:xfrm>
            <a:off x="548640" y="442569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47" name="Text 45"/>
          <p:cNvSpPr/>
          <p:nvPr/>
        </p:nvSpPr>
        <p:spPr>
          <a:xfrm>
            <a:off x="960120" y="4370832"/>
            <a:ext cx="7498080" cy="3657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How does Agent Builder fit into the design-to-agent pipeline?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24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04</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References &amp; Resources</a:t>
            </a:r>
            <a:endParaRPr lang="en-US" sz="2200" dirty="0"/>
          </a:p>
        </p:txBody>
      </p:sp>
      <p:sp>
        <p:nvSpPr>
          <p:cNvPr id="8" name="Text 6"/>
          <p:cNvSpPr/>
          <p:nvPr/>
        </p:nvSpPr>
        <p:spPr>
          <a:xfrm>
            <a:off x="685800" y="960120"/>
            <a:ext cx="4572000" cy="228600"/>
          </a:xfrm>
          <a:prstGeom prst="rect">
            <a:avLst/>
          </a:prstGeom>
          <a:noFill/>
          <a:ln/>
        </p:spPr>
        <p:txBody>
          <a:bodyPr wrap="square" lIns="0" tIns="0" rIns="0" bIns="0" rtlCol="0" anchor="ctr"/>
          <a:lstStyle/>
          <a:p>
            <a:pPr marL="0" indent="0">
              <a:buNone/>
            </a:pPr>
            <a:r>
              <a:rPr lang="en-US" sz="900" b="1" kern="0" spc="200" dirty="0">
                <a:solidFill>
                  <a:srgbClr val="0891B2"/>
                </a:solidFill>
                <a:latin typeface="Calibri" pitchFamily="34" charset="0"/>
                <a:ea typeface="Calibri" pitchFamily="34" charset="-122"/>
                <a:cs typeface="Calibri" pitchFamily="34" charset="-120"/>
              </a:rPr>
              <a:t>PRIMARY SOURCES</a:t>
            </a:r>
            <a:endParaRPr lang="en-US" sz="900" dirty="0"/>
          </a:p>
        </p:txBody>
      </p:sp>
      <p:sp>
        <p:nvSpPr>
          <p:cNvPr id="9" name="Shape 7"/>
          <p:cNvSpPr/>
          <p:nvPr/>
        </p:nvSpPr>
        <p:spPr>
          <a:xfrm>
            <a:off x="457200" y="1234440"/>
            <a:ext cx="8229600" cy="914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0" name="Text 8"/>
          <p:cNvSpPr/>
          <p:nvPr/>
        </p:nvSpPr>
        <p:spPr>
          <a:xfrm>
            <a:off x="640080" y="1280160"/>
            <a:ext cx="7772400" cy="82296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Microsoft Learn: "Agent Builder in Canvas Apps"
</a:t>
            </a:r>
            <a:r>
              <a:rPr lang="en-US" sz="950" dirty="0">
                <a:solidFill>
                  <a:srgbClr val="0891B2"/>
                </a:solidFill>
                <a:latin typeface="Calibri" pitchFamily="34" charset="0"/>
                <a:ea typeface="Calibri" pitchFamily="34" charset="-122"/>
                <a:cs typeface="Calibri" pitchFamily="34" charset="-120"/>
              </a:rPr>
              <a:t>learn.microsoft.com/en-us/power-apps/maker/canvas-apps/agent-builder
</a:t>
            </a:r>
            <a:endParaRPr lang="en-US" sz="1100" dirty="0"/>
          </a:p>
          <a:p>
            <a:pPr marL="0" indent="0">
              <a:buNone/>
            </a:pPr>
            <a:r>
              <a:rPr lang="en-US" sz="1100" b="1" dirty="0">
                <a:solidFill>
                  <a:srgbClr val="1E293B"/>
                </a:solidFill>
                <a:latin typeface="Calibri" pitchFamily="34" charset="0"/>
                <a:ea typeface="Calibri" pitchFamily="34" charset="-122"/>
                <a:cs typeface="Calibri" pitchFamily="34" charset="-120"/>
              </a:rPr>
              <a:t>Microsoft Blog: "What's New in Power Apps: May 2025"
</a:t>
            </a:r>
            <a:r>
              <a:rPr lang="en-US" sz="950" dirty="0">
                <a:solidFill>
                  <a:srgbClr val="0891B2"/>
                </a:solidFill>
                <a:latin typeface="Calibri" pitchFamily="34" charset="0"/>
                <a:ea typeface="Calibri" pitchFamily="34" charset="-122"/>
                <a:cs typeface="Calibri" pitchFamily="34" charset="-120"/>
              </a:rPr>
              <a:t>microsoft.com/en-us/power-platform/blog/power-apps/whats-new-in-power-apps-may-2025/</a:t>
            </a:r>
            <a:endParaRPr lang="en-US" sz="1100" dirty="0"/>
          </a:p>
        </p:txBody>
      </p:sp>
      <p:sp>
        <p:nvSpPr>
          <p:cNvPr id="11" name="Text 9"/>
          <p:cNvSpPr/>
          <p:nvPr/>
        </p:nvSpPr>
        <p:spPr>
          <a:xfrm>
            <a:off x="685800" y="2331720"/>
            <a:ext cx="4572000" cy="22860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SUPPLEMENTARY</a:t>
            </a:r>
            <a:endParaRPr lang="en-US" sz="900" dirty="0"/>
          </a:p>
        </p:txBody>
      </p:sp>
      <p:sp>
        <p:nvSpPr>
          <p:cNvPr id="12" name="Shape 10"/>
          <p:cNvSpPr/>
          <p:nvPr/>
        </p:nvSpPr>
        <p:spPr>
          <a:xfrm>
            <a:off x="457200" y="2606040"/>
            <a:ext cx="8229600" cy="457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3" name="Text 11"/>
          <p:cNvSpPr/>
          <p:nvPr/>
        </p:nvSpPr>
        <p:spPr>
          <a:xfrm>
            <a:off x="640080" y="2606040"/>
            <a:ext cx="7772400" cy="45720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Microsoft Learn: "Power Apps 2025 Release Wave 1"
</a:t>
            </a:r>
            <a:r>
              <a:rPr lang="en-US" sz="950" dirty="0">
                <a:solidFill>
                  <a:srgbClr val="0891B2"/>
                </a:solidFill>
                <a:latin typeface="Calibri" pitchFamily="34" charset="0"/>
                <a:ea typeface="Calibri" pitchFamily="34" charset="-122"/>
                <a:cs typeface="Calibri" pitchFamily="34" charset="-120"/>
              </a:rPr>
              <a:t>learn.microsoft.com/en-us/power-platform/release-plan/2025wave1/power-apps/</a:t>
            </a:r>
            <a:endParaRPr lang="en-US" sz="1100" dirty="0"/>
          </a:p>
        </p:txBody>
      </p:sp>
      <p:sp>
        <p:nvSpPr>
          <p:cNvPr id="14" name="Text 12"/>
          <p:cNvSpPr/>
          <p:nvPr/>
        </p:nvSpPr>
        <p:spPr>
          <a:xfrm>
            <a:off x="685800" y="3246120"/>
            <a:ext cx="4572000" cy="228600"/>
          </a:xfrm>
          <a:prstGeom prst="rect">
            <a:avLst/>
          </a:prstGeom>
          <a:noFill/>
          <a:ln/>
        </p:spPr>
        <p:txBody>
          <a:bodyPr wrap="square" lIns="0" tIns="0" rIns="0" bIns="0" rtlCol="0" anchor="ctr"/>
          <a:lstStyle/>
          <a:p>
            <a:pPr marL="0" indent="0">
              <a:buNone/>
            </a:pPr>
            <a:r>
              <a:rPr lang="en-US" sz="900" b="1" kern="0" spc="200" dirty="0">
                <a:solidFill>
                  <a:srgbClr val="1E293B"/>
                </a:solidFill>
                <a:latin typeface="Calibri" pitchFamily="34" charset="0"/>
                <a:ea typeface="Calibri" pitchFamily="34" charset="-122"/>
                <a:cs typeface="Calibri" pitchFamily="34" charset="-120"/>
              </a:rPr>
              <a:t>ADDITIONAL RESOURCES</a:t>
            </a:r>
            <a:endParaRPr lang="en-US" sz="900" dirty="0"/>
          </a:p>
        </p:txBody>
      </p:sp>
      <p:sp>
        <p:nvSpPr>
          <p:cNvPr id="15" name="Shape 13"/>
          <p:cNvSpPr/>
          <p:nvPr/>
        </p:nvSpPr>
        <p:spPr>
          <a:xfrm>
            <a:off x="457200" y="3520440"/>
            <a:ext cx="8229600" cy="1188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6" name="Text 14"/>
          <p:cNvSpPr/>
          <p:nvPr/>
        </p:nvSpPr>
        <p:spPr>
          <a:xfrm>
            <a:off x="640080" y="3593592"/>
            <a:ext cx="777240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Copilot Studio Documentation: learn.microsoft.com/en-us/microsoft-copilot-studio/</a:t>
            </a:r>
            <a:endParaRPr lang="en-US" sz="1050" dirty="0"/>
          </a:p>
        </p:txBody>
      </p:sp>
      <p:sp>
        <p:nvSpPr>
          <p:cNvPr id="17" name="Text 15"/>
          <p:cNvSpPr/>
          <p:nvPr/>
        </p:nvSpPr>
        <p:spPr>
          <a:xfrm>
            <a:off x="640080" y="3913632"/>
            <a:ext cx="777240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Copilot Studio Agent Academy: microsoft.github.io/agent-academy/</a:t>
            </a:r>
            <a:endParaRPr lang="en-US" sz="1050" dirty="0"/>
          </a:p>
        </p:txBody>
      </p:sp>
      <p:sp>
        <p:nvSpPr>
          <p:cNvPr id="18" name="Text 16"/>
          <p:cNvSpPr/>
          <p:nvPr/>
        </p:nvSpPr>
        <p:spPr>
          <a:xfrm>
            <a:off x="640080" y="4233672"/>
            <a:ext cx="777240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Power Platform Community: powerusers.microsoft.com</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3977640" y="914400"/>
            <a:ext cx="1188720" cy="1188720"/>
          </a:xfrm>
          <a:prstGeom prst="rect">
            <a:avLst/>
          </a:prstGeom>
        </p:spPr>
      </p:pic>
      <p:sp>
        <p:nvSpPr>
          <p:cNvPr id="4" name="Text 1"/>
          <p:cNvSpPr/>
          <p:nvPr/>
        </p:nvSpPr>
        <p:spPr>
          <a:xfrm>
            <a:off x="914400" y="2194560"/>
            <a:ext cx="731520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Ready to Build</a:t>
            </a:r>
            <a:endParaRPr lang="en-US" sz="3600" dirty="0"/>
          </a:p>
        </p:txBody>
      </p:sp>
      <p:sp>
        <p:nvSpPr>
          <p:cNvPr id="5" name="Text 2"/>
          <p:cNvSpPr/>
          <p:nvPr/>
        </p:nvSpPr>
        <p:spPr>
          <a:xfrm>
            <a:off x="914400" y="2834640"/>
            <a:ext cx="7315200" cy="411480"/>
          </a:xfrm>
          <a:prstGeom prst="rect">
            <a:avLst/>
          </a:prstGeom>
          <a:noFill/>
          <a:ln/>
        </p:spPr>
        <p:txBody>
          <a:bodyPr wrap="square" lIns="0" tIns="0" rIns="0" bIns="0" rtlCol="0" anchor="ctr"/>
          <a:lstStyle/>
          <a:p>
            <a:pPr marL="0" indent="0" algn="ctr">
              <a:buNone/>
            </a:pPr>
            <a:r>
              <a:rPr lang="en-US" sz="1800" dirty="0">
                <a:solidFill>
                  <a:srgbClr val="06B6D4"/>
                </a:solidFill>
                <a:latin typeface="Calibri" pitchFamily="34" charset="0"/>
                <a:ea typeface="Calibri" pitchFamily="34" charset="-122"/>
                <a:cs typeface="Calibri" pitchFamily="34" charset="-120"/>
              </a:rPr>
              <a:t>From App to Agent — Let's Get Started</a:t>
            </a:r>
            <a:endParaRPr lang="en-US" sz="1800" dirty="0"/>
          </a:p>
        </p:txBody>
      </p:sp>
      <p:sp>
        <p:nvSpPr>
          <p:cNvPr id="6" name="Shape 3"/>
          <p:cNvSpPr/>
          <p:nvPr/>
        </p:nvSpPr>
        <p:spPr>
          <a:xfrm>
            <a:off x="2743200" y="3429000"/>
            <a:ext cx="3657600" cy="36576"/>
          </a:xfrm>
          <a:prstGeom prst="rect">
            <a:avLst/>
          </a:prstGeom>
          <a:solidFill>
            <a:srgbClr val="0891B2"/>
          </a:solidFill>
          <a:ln/>
        </p:spPr>
        <p:txBody>
          <a:bodyPr/>
          <a:lstStyle/>
          <a:p>
            <a:endParaRPr lang="en-IN"/>
          </a:p>
        </p:txBody>
      </p:sp>
      <p:sp>
        <p:nvSpPr>
          <p:cNvPr id="7" name="Text 4"/>
          <p:cNvSpPr/>
          <p:nvPr/>
        </p:nvSpPr>
        <p:spPr>
          <a:xfrm>
            <a:off x="914400" y="3749040"/>
            <a:ext cx="7315200" cy="2743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Module 05  |  Agent Builder  |  Agentic AI in Power Platform</a:t>
            </a:r>
            <a:endParaRPr lang="en-US" sz="1100" dirty="0"/>
          </a:p>
        </p:txBody>
      </p:sp>
      <p:sp>
        <p:nvSpPr>
          <p:cNvPr id="9" name="Shape 6"/>
          <p:cNvSpPr/>
          <p:nvPr/>
        </p:nvSpPr>
        <p:spPr>
          <a:xfrm>
            <a:off x="0" y="4892040"/>
            <a:ext cx="9144000" cy="251460"/>
          </a:xfrm>
          <a:prstGeom prst="rect">
            <a:avLst/>
          </a:prstGeom>
          <a:solidFill>
            <a:srgbClr val="0891B2"/>
          </a:solidFill>
          <a:ln/>
        </p:spPr>
        <p:txBody>
          <a:bodyPr/>
          <a:lstStyle/>
          <a:p>
            <a:endParaRPr lang="en-IN"/>
          </a:p>
        </p:txBody>
      </p:sp>
      <p:sp>
        <p:nvSpPr>
          <p:cNvPr id="11" name="Text 2">
            <a:extLst>
              <a:ext uri="{FF2B5EF4-FFF2-40B4-BE49-F238E27FC236}">
                <a16:creationId xmlns:a16="http://schemas.microsoft.com/office/drawing/2014/main" id="{EA131F76-AC16-F27C-7B67-886381D11933}"/>
              </a:ext>
            </a:extLst>
          </p:cNvPr>
          <p:cNvSpPr/>
          <p:nvPr/>
        </p:nvSpPr>
        <p:spPr>
          <a:xfrm>
            <a:off x="7955280" y="4864463"/>
            <a:ext cx="914400" cy="274320"/>
          </a:xfrm>
          <a:prstGeom prst="rect">
            <a:avLst/>
          </a:prstGeom>
          <a:noFill/>
          <a:ln/>
        </p:spPr>
        <p:txBody>
          <a:bodyPr wrap="square" rtlCol="0" anchor="ctr"/>
          <a:lstStyle/>
          <a:p>
            <a:pPr marL="0" indent="0" algn="r">
              <a:buNone/>
            </a:pPr>
            <a:r>
              <a:rPr lang="en-US" sz="900" dirty="0">
                <a:solidFill>
                  <a:schemeClr val="bg1"/>
                </a:solidFill>
                <a:latin typeface="Calibri" pitchFamily="34" charset="0"/>
                <a:ea typeface="Calibri" pitchFamily="34" charset="-122"/>
                <a:cs typeface="Calibri" pitchFamily="34" charset="-120"/>
              </a:rPr>
              <a:t>25 / 25</a:t>
            </a:r>
            <a:endParaRPr lang="en-US" sz="900" dirty="0">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line">
            <a:avLst/>
          </a:prstGeom>
          <a:solidFill>
            <a:srgbClr val="0F1B2D"/>
          </a:solidFill>
          <a:ln/>
        </p:spPr>
        <p:txBody>
          <a:bodyPr/>
          <a:lstStyle/>
          <a:p>
            <a:endParaRPr lang="en-IN"/>
          </a:p>
        </p:txBody>
      </p:sp>
      <p:sp>
        <p:nvSpPr>
          <p:cNvPr id="3" name="Text 1"/>
          <p:cNvSpPr/>
          <p:nvPr/>
        </p:nvSpPr>
        <p:spPr>
          <a:xfrm>
            <a:off x="457200" y="4892040"/>
            <a:ext cx="7315200" cy="251460"/>
          </a:xfrm>
          <a:prstGeom prst="rect">
            <a:avLst/>
          </a:prstGeom>
          <a:noFill/>
          <a:ln/>
        </p:spPr>
        <p:txBody>
          <a:bodyPr wrap="square" rtlCol="0" anchor="ctr"/>
          <a:lstStyle/>
          <a:p>
            <a:pPr marL="0" indent="0">
              <a:buNone/>
            </a:pPr>
            <a:r>
              <a:rPr lang="en-US" sz="750" dirty="0">
                <a:solidFill>
                  <a:srgbClr val="06B6D4"/>
                </a:solidFill>
                <a:latin typeface="Calibri" pitchFamily="34" charset="0"/>
                <a:ea typeface="Calibri" pitchFamily="34" charset="-122"/>
                <a:cs typeface="Calibri" pitchFamily="34" charset="-120"/>
              </a:rPr>
              <a:t>AGENTIC AI IN POWER PLATFORM  |  Module 05: Agent Builder</a:t>
            </a:r>
            <a:endParaRPr lang="en-US" sz="750" dirty="0"/>
          </a:p>
        </p:txBody>
      </p:sp>
      <p:sp>
        <p:nvSpPr>
          <p:cNvPr id="4" name="Text 2"/>
          <p:cNvSpPr/>
          <p:nvPr/>
        </p:nvSpPr>
        <p:spPr>
          <a:xfrm>
            <a:off x="7955280" y="4800600"/>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23 / 25</a:t>
            </a:r>
            <a:endParaRPr lang="en-US" sz="900" dirty="0"/>
          </a:p>
        </p:txBody>
      </p:sp>
      <p:sp>
        <p:nvSpPr>
          <p:cNvPr id="5" name="Shape 3"/>
          <p:cNvSpPr/>
          <p:nvPr/>
        </p:nvSpPr>
        <p:spPr>
          <a:xfrm>
            <a:off x="457200" y="320040"/>
            <a:ext cx="73152" cy="365760"/>
          </a:xfrm>
          <a:prstGeom prst="line">
            <a:avLst/>
          </a:prstGeom>
          <a:solidFill>
            <a:srgbClr val="0891B2"/>
          </a:solidFill>
          <a:ln/>
        </p:spPr>
        <p:txBody>
          <a:bodyPr/>
          <a:lstStyle/>
          <a:p>
            <a:endParaRPr lang="en-IN"/>
          </a:p>
        </p:txBody>
      </p:sp>
      <p:sp>
        <p:nvSpPr>
          <p:cNvPr id="6" name="Text 4"/>
          <p:cNvSpPr/>
          <p:nvPr/>
        </p:nvSpPr>
        <p:spPr>
          <a:xfrm>
            <a:off x="685800" y="274320"/>
            <a:ext cx="2743200" cy="201168"/>
          </a:xfrm>
          <a:prstGeom prst="rect">
            <a:avLst/>
          </a:prstGeom>
          <a:noFill/>
          <a:ln/>
        </p:spPr>
        <p:txBody>
          <a:bodyPr wrap="square" lIns="0" tIns="0" rIns="0" bIns="0" rtlCol="0" anchor="ctr"/>
          <a:lstStyle/>
          <a:p>
            <a:pPr marL="0" indent="0">
              <a:buNone/>
            </a:pPr>
            <a:r>
              <a:rPr lang="en-US" sz="900" b="1" kern="0" spc="300" dirty="0">
                <a:solidFill>
                  <a:srgbClr val="0891B2"/>
                </a:solidFill>
                <a:latin typeface="Calibri" pitchFamily="34" charset="0"/>
                <a:ea typeface="Calibri" pitchFamily="34" charset="-122"/>
                <a:cs typeface="Calibri" pitchFamily="34" charset="-120"/>
              </a:rPr>
              <a:t>SECTION 03</a:t>
            </a:r>
            <a:endParaRPr lang="en-US" sz="900" dirty="0"/>
          </a:p>
        </p:txBody>
      </p:sp>
      <p:sp>
        <p:nvSpPr>
          <p:cNvPr id="7" name="Text 5"/>
          <p:cNvSpPr/>
          <p:nvPr/>
        </p:nvSpPr>
        <p:spPr>
          <a:xfrm>
            <a:off x="685800" y="475488"/>
            <a:ext cx="7772400" cy="36576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What's Next — Module 06 Preview</a:t>
            </a:r>
            <a:endParaRPr lang="en-US" sz="2200" dirty="0"/>
          </a:p>
        </p:txBody>
      </p:sp>
      <p:sp>
        <p:nvSpPr>
          <p:cNvPr id="8" name="Shape 6"/>
          <p:cNvSpPr/>
          <p:nvPr/>
        </p:nvSpPr>
        <p:spPr>
          <a:xfrm>
            <a:off x="457200" y="1005840"/>
            <a:ext cx="822960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Shape 7"/>
          <p:cNvSpPr/>
          <p:nvPr/>
        </p:nvSpPr>
        <p:spPr>
          <a:xfrm>
            <a:off x="457200" y="1005840"/>
            <a:ext cx="64008" cy="1828800"/>
          </a:xfrm>
          <a:prstGeom prst="rect">
            <a:avLst/>
          </a:prstGeom>
          <a:solidFill>
            <a:srgbClr val="0891B2"/>
          </a:solidFill>
          <a:ln/>
        </p:spPr>
        <p:txBody>
          <a:bodyPr/>
          <a:lstStyle/>
          <a:p>
            <a:endParaRPr lang="en-IN"/>
          </a:p>
        </p:txBody>
      </p:sp>
      <p:sp>
        <p:nvSpPr>
          <p:cNvPr id="10" name="Text 8"/>
          <p:cNvSpPr/>
          <p:nvPr/>
        </p:nvSpPr>
        <p:spPr>
          <a:xfrm>
            <a:off x="777240" y="1097280"/>
            <a:ext cx="7315200" cy="320040"/>
          </a:xfrm>
          <a:prstGeom prst="rect">
            <a:avLst/>
          </a:prstGeom>
          <a:noFill/>
          <a:ln/>
        </p:spPr>
        <p:txBody>
          <a:bodyPr wrap="square" lIns="0" tIns="0" rIns="0" bIns="0" rtlCol="0" anchor="ctr"/>
          <a:lstStyle/>
          <a:p>
            <a:pPr marL="0" indent="0">
              <a:buNone/>
            </a:pPr>
            <a:r>
              <a:rPr lang="en-US" sz="1600" b="1" dirty="0">
                <a:solidFill>
                  <a:srgbClr val="1E293B"/>
                </a:solidFill>
                <a:latin typeface="Georgia" pitchFamily="34" charset="0"/>
                <a:ea typeface="Georgia" pitchFamily="34" charset="-122"/>
                <a:cs typeface="Georgia" pitchFamily="34" charset="-120"/>
              </a:rPr>
              <a:t>Module 06: Copilot Studio Agents Using Dataverse MCP</a:t>
            </a:r>
            <a:endParaRPr lang="en-US" sz="1600" dirty="0"/>
          </a:p>
        </p:txBody>
      </p:sp>
      <p:sp>
        <p:nvSpPr>
          <p:cNvPr id="11" name="Text 9"/>
          <p:cNvSpPr/>
          <p:nvPr/>
        </p:nvSpPr>
        <p:spPr>
          <a:xfrm>
            <a:off x="777240" y="1463040"/>
            <a:ext cx="7498080" cy="1188720"/>
          </a:xfrm>
          <a:prstGeom prst="rect">
            <a:avLst/>
          </a:prstGeom>
          <a:noFill/>
          <a:ln/>
        </p:spPr>
        <p:txBody>
          <a:bodyPr wrap="square" lIns="0" tIns="0" rIns="0" bIns="0" rtlCol="0" anchor="ctr"/>
          <a:lstStyle/>
          <a:p>
            <a:pPr marL="0" indent="0">
              <a:lnSpc>
                <a:spcPct val="130000"/>
              </a:lnSpc>
              <a:buNone/>
            </a:pPr>
            <a:r>
              <a:rPr lang="en-US" sz="1200" dirty="0">
                <a:solidFill>
                  <a:srgbClr val="334155"/>
                </a:solidFill>
                <a:latin typeface="Calibri" pitchFamily="34" charset="0"/>
                <a:ea typeface="Calibri" pitchFamily="34" charset="-122"/>
                <a:cs typeface="Calibri" pitchFamily="34" charset="-120"/>
              </a:rPr>
              <a:t>While Agent Builder gives you a head start from existing apps, Module 06 teaches you to build agents from the ground up with full control over topics, generative orchestration, conversation flows, and MCP tool configuration. You will use the same Contoso Insurance BFSI data and build agents that handle complex, multi-step insurance operations.</a:t>
            </a:r>
            <a:endParaRPr lang="en-US" sz="1200" dirty="0"/>
          </a:p>
        </p:txBody>
      </p:sp>
      <p:sp>
        <p:nvSpPr>
          <p:cNvPr id="12" name="Text 10"/>
          <p:cNvSpPr/>
          <p:nvPr/>
        </p:nvSpPr>
        <p:spPr>
          <a:xfrm>
            <a:off x="685800" y="3063240"/>
            <a:ext cx="4572000" cy="228600"/>
          </a:xfrm>
          <a:prstGeom prst="rect">
            <a:avLst/>
          </a:prstGeom>
          <a:noFill/>
          <a:ln/>
        </p:spPr>
        <p:txBody>
          <a:bodyPr wrap="square" lIns="0" tIns="0" rIns="0" bIns="0" rtlCol="0" anchor="ctr"/>
          <a:lstStyle/>
          <a:p>
            <a:pPr marL="0" indent="0">
              <a:buNone/>
            </a:pPr>
            <a:r>
              <a:rPr lang="en-US" sz="900" b="1" kern="0" spc="200" dirty="0">
                <a:solidFill>
                  <a:srgbClr val="0891B2"/>
                </a:solidFill>
                <a:latin typeface="Calibri" pitchFamily="34" charset="0"/>
                <a:ea typeface="Calibri" pitchFamily="34" charset="-122"/>
                <a:cs typeface="Calibri" pitchFamily="34" charset="-120"/>
              </a:rPr>
              <a:t>RELATED MODULES</a:t>
            </a:r>
            <a:endParaRPr lang="en-US" sz="900" dirty="0"/>
          </a:p>
        </p:txBody>
      </p:sp>
      <p:sp>
        <p:nvSpPr>
          <p:cNvPr id="13" name="Shape 11"/>
          <p:cNvSpPr/>
          <p:nvPr/>
        </p:nvSpPr>
        <p:spPr>
          <a:xfrm>
            <a:off x="457200" y="3383280"/>
            <a:ext cx="4023360" cy="3657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4" name="Text 12"/>
          <p:cNvSpPr/>
          <p:nvPr/>
        </p:nvSpPr>
        <p:spPr>
          <a:xfrm>
            <a:off x="548640" y="3383280"/>
            <a:ext cx="1005840" cy="36576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Module 02</a:t>
            </a:r>
            <a:endParaRPr lang="en-US" sz="1000" dirty="0"/>
          </a:p>
        </p:txBody>
      </p:sp>
      <p:sp>
        <p:nvSpPr>
          <p:cNvPr id="15" name="Text 13"/>
          <p:cNvSpPr/>
          <p:nvPr/>
        </p:nvSpPr>
        <p:spPr>
          <a:xfrm>
            <a:off x="1554480" y="3383280"/>
            <a:ext cx="2743200" cy="3657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Plan Designer — creates Dataverse tables</a:t>
            </a:r>
            <a:endParaRPr lang="en-US" sz="1000" dirty="0"/>
          </a:p>
        </p:txBody>
      </p:sp>
      <p:sp>
        <p:nvSpPr>
          <p:cNvPr id="16" name="Shape 14"/>
          <p:cNvSpPr/>
          <p:nvPr/>
        </p:nvSpPr>
        <p:spPr>
          <a:xfrm>
            <a:off x="457200" y="3794760"/>
            <a:ext cx="4023360" cy="3657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7" name="Text 15"/>
          <p:cNvSpPr/>
          <p:nvPr/>
        </p:nvSpPr>
        <p:spPr>
          <a:xfrm>
            <a:off x="548640" y="3794760"/>
            <a:ext cx="1005840" cy="36576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Module 03</a:t>
            </a:r>
            <a:endParaRPr lang="en-US" sz="1000" dirty="0"/>
          </a:p>
        </p:txBody>
      </p:sp>
      <p:sp>
        <p:nvSpPr>
          <p:cNvPr id="18" name="Text 16"/>
          <p:cNvSpPr/>
          <p:nvPr/>
        </p:nvSpPr>
        <p:spPr>
          <a:xfrm>
            <a:off x="1554480" y="3794760"/>
            <a:ext cx="2743200" cy="3657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Power Apps Vibe — creates canvas apps</a:t>
            </a:r>
            <a:endParaRPr lang="en-US" sz="1000" dirty="0"/>
          </a:p>
        </p:txBody>
      </p:sp>
      <p:sp>
        <p:nvSpPr>
          <p:cNvPr id="19" name="Shape 17"/>
          <p:cNvSpPr/>
          <p:nvPr/>
        </p:nvSpPr>
        <p:spPr>
          <a:xfrm>
            <a:off x="457200" y="4206240"/>
            <a:ext cx="4023360" cy="3657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0" name="Text 18"/>
          <p:cNvSpPr/>
          <p:nvPr/>
        </p:nvSpPr>
        <p:spPr>
          <a:xfrm>
            <a:off x="548640" y="4206240"/>
            <a:ext cx="1005840" cy="36576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Module 04</a:t>
            </a:r>
            <a:endParaRPr lang="en-US" sz="1000" dirty="0"/>
          </a:p>
        </p:txBody>
      </p:sp>
      <p:sp>
        <p:nvSpPr>
          <p:cNvPr id="21" name="Text 19"/>
          <p:cNvSpPr/>
          <p:nvPr/>
        </p:nvSpPr>
        <p:spPr>
          <a:xfrm>
            <a:off x="1554480" y="4206240"/>
            <a:ext cx="2743200" cy="3657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MCP Dataverse — data access layer for agents</a:t>
            </a:r>
            <a:endParaRPr lang="en-US" sz="1000" dirty="0"/>
          </a:p>
        </p:txBody>
      </p:sp>
      <p:sp>
        <p:nvSpPr>
          <p:cNvPr id="22" name="Shape 20"/>
          <p:cNvSpPr/>
          <p:nvPr/>
        </p:nvSpPr>
        <p:spPr>
          <a:xfrm>
            <a:off x="4663440" y="3383280"/>
            <a:ext cx="4023360" cy="3657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3" name="Text 21"/>
          <p:cNvSpPr/>
          <p:nvPr/>
        </p:nvSpPr>
        <p:spPr>
          <a:xfrm>
            <a:off x="4754880" y="3383280"/>
            <a:ext cx="1005840" cy="36576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Module 07</a:t>
            </a:r>
            <a:endParaRPr lang="en-US" sz="1000" dirty="0"/>
          </a:p>
        </p:txBody>
      </p:sp>
      <p:sp>
        <p:nvSpPr>
          <p:cNvPr id="24" name="Text 22"/>
          <p:cNvSpPr/>
          <p:nvPr/>
        </p:nvSpPr>
        <p:spPr>
          <a:xfrm>
            <a:off x="5760720" y="3383280"/>
            <a:ext cx="2743200" cy="3657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Agent Flows — workflow automation</a:t>
            </a:r>
            <a:endParaRPr lang="en-US" sz="1000" dirty="0"/>
          </a:p>
        </p:txBody>
      </p:sp>
      <p:sp>
        <p:nvSpPr>
          <p:cNvPr id="25" name="Shape 23"/>
          <p:cNvSpPr/>
          <p:nvPr/>
        </p:nvSpPr>
        <p:spPr>
          <a:xfrm>
            <a:off x="4663440" y="3794760"/>
            <a:ext cx="4023360" cy="3657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6" name="Text 24"/>
          <p:cNvSpPr/>
          <p:nvPr/>
        </p:nvSpPr>
        <p:spPr>
          <a:xfrm>
            <a:off x="4754880" y="3794760"/>
            <a:ext cx="1005840" cy="36576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Module 09</a:t>
            </a:r>
            <a:endParaRPr lang="en-US" sz="1000" dirty="0"/>
          </a:p>
        </p:txBody>
      </p:sp>
      <p:sp>
        <p:nvSpPr>
          <p:cNvPr id="27" name="Text 25"/>
          <p:cNvSpPr/>
          <p:nvPr/>
        </p:nvSpPr>
        <p:spPr>
          <a:xfrm>
            <a:off x="5760720" y="3794760"/>
            <a:ext cx="2743200" cy="3657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Multi-Agent Systems — orchestrate multiple agents</a:t>
            </a:r>
            <a:endParaRPr lang="en-US" sz="1000" dirty="0"/>
          </a:p>
        </p:txBody>
      </p:sp>
      <p:sp>
        <p:nvSpPr>
          <p:cNvPr id="28" name="Shape 26"/>
          <p:cNvSpPr/>
          <p:nvPr/>
        </p:nvSpPr>
        <p:spPr>
          <a:xfrm>
            <a:off x="4663440" y="4206240"/>
            <a:ext cx="4023360" cy="3657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29" name="Text 27"/>
          <p:cNvSpPr/>
          <p:nvPr/>
        </p:nvSpPr>
        <p:spPr>
          <a:xfrm>
            <a:off x="4754880" y="4206240"/>
            <a:ext cx="1005840" cy="36576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Module 13</a:t>
            </a:r>
            <a:endParaRPr lang="en-US" sz="1000" dirty="0"/>
          </a:p>
        </p:txBody>
      </p:sp>
      <p:sp>
        <p:nvSpPr>
          <p:cNvPr id="30" name="Text 28"/>
          <p:cNvSpPr/>
          <p:nvPr/>
        </p:nvSpPr>
        <p:spPr>
          <a:xfrm>
            <a:off x="5760720" y="4206240"/>
            <a:ext cx="2743200" cy="3657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End-to-End Capstone — complete solution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2243f965-7483-47b5-8481-26f2d02b5c39}" contentBits="0" removed="0"/>
</clbl:labelList>
</file>

<file path=docProps/app.xml><?xml version="1.0" encoding="utf-8"?>
<Properties xmlns="http://schemas.openxmlformats.org/officeDocument/2006/extended-properties" xmlns:vt="http://schemas.openxmlformats.org/officeDocument/2006/docPropsVTypes">
  <TotalTime>3</TotalTime>
  <Words>5117</Words>
  <Application>Microsoft Office PowerPoint</Application>
  <PresentationFormat>On-screen Show (16:9)</PresentationFormat>
  <Paragraphs>497</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05: Agent Builder — From App to Agent</dc:title>
  <dc:subject>PptxGenJS Presentation</dc:subject>
  <dc:creator>EY Power Platform Training</dc:creator>
  <cp:lastModifiedBy>Jalal Khan</cp:lastModifiedBy>
  <cp:revision>7</cp:revision>
  <dcterms:created xsi:type="dcterms:W3CDTF">2026-02-05T10:51:05Z</dcterms:created>
  <dcterms:modified xsi:type="dcterms:W3CDTF">2026-02-05T18:23:14Z</dcterms:modified>
</cp:coreProperties>
</file>