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18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12 of our Agentic AI in Power Platform course.
In our previous modules, from Module 4 through Module 11, we focused entirely on building capabilities: we created agents, designed flows, implemented approval workflows, coordinated multi-agent systems, built semantic models, and developed Power BI dashboards.
Today, we shift our focus fundamentally. Module 12 is about governance and production readiness. In the Banking, Financial Services, and Insurance sector, having a system that works technically is simply not enough. Our systems must also be secure, auditable, compliant with regulations, cost-managed, and operationally resilient.
This module covers everything you need to take the Contoso Insurance agent system from a training lab environment to a genuine production deployment. We will explore Dataverse auditing and security roles, MCP access boundaries, Copilot Studio governance through Microsoft Purview and Sentinel, environment and ALM strategy, cost planning with Copilot Credits, and the compliance documentation that BFSI regulators expect.
The duration for this module is approximately 2.5 hours: 1 hour of theory followed by 1.5 hours of hands-on lab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our agenda for Module 12.
We will begin with an overview of the module and establish clear learning objectives. Then we will introduce the Five Pillars framework that structures our approach to production readiness.
Each pillar represents a critical area that must be addressed before any agentic AI system can move to production in a BFSI environment:
First, Security and Access Control, where we will discuss Dataverse security roles and MCP access boundaries.
Second, Auditing and Compliance, covering Dataverse auditing capabilities and the questions auditors will ask.
Third, Governance and Monitoring, exploring Copilot Studio governance features and monitoring architecture.
Fourth, Environment and ALM Strategy, detailing the development, test, and production environment approach.
Fifth, Cost and Capacity Planning, examining the Copilot Credits model and licensing requirements.
We will conclude with a comprehensive production readiness checklist and a knowledge check to reinforce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specific learning objectives for this module.
By the end of our session, you will be able to enable and configure Dataverse auditing to capture all agent-related data changes, and you will understand how to interpret those audit log records.
You will learn to design and implement Dataverse security roles that enforce the principle of least-privilege access for agents, approvers, and administrators. This is crucial in BFSI where access control failures can have regulatory consequences.
We will cover how to configure MCP access boundaries. These provide an additional layer of restriction beyond security roles, controlling which Dataverse tables and operations each agent can access.
You will gain understanding of Copilot Studio governance features including Microsoft Purview integration for data classification, Microsoft Sentinel for security monitoring, tenant-level agent inventory, and managed environments.
We will design an environment strategy appropriate for BFSI: separate development, test, and production environments with proper Application Lifecycle Management practices including source control and change approval gates.
You will learn to explain the Copilot Credits billing model introduced in September 2025 and perform capacity planning calculations for a BFSI agent deployment.
Finally, you will be able to create a comprehensive production readiness checklist and map the Contoso Insurance system components to BFSI regulatory requirements, particularly IRDAI guidelines for insurance operations.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proceed, let me confirm the prerequisites for this module.
You should have completed Modules 4 through 11. This means you have built the complete Contoso Insurance agent system including the claims processing agents, approval workflows, multi-agent coordination, and Power BI dashboards. If any component is missing, you may still follow the governance concepts, but the lab exercises assume a complete system.
You need the Environment Admin role in the Power Platform training environment. This role is required to configure auditing settings and create or modify security roles. If you do not have this role, please contact your training administrator before the lab session.
You also need access to the Copilot Studio admin centre. This is where we will review governance settings, agent inventory, and managed environment configurations. The admin centre URL is admin.powerplatform.microsoft.com.
Additionally, Power Platform Admin Centre access is required for environment-level settings including DLP policies and environment properties.
While not strictly a technical prerequisite, familiarity with BFSI compliance concepts will help you understand the 'why' behind our governance configurations. If you are new to BFSI compliance, the key concept is that regulators expect complete audit trails, access controls, and data protection measures.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enter the core framework of this module: The Five Pillars of Production Readiness.
This framework provides a structured approach to governance that covers all the areas BFSI regulators and enterprise IT teams will scrutinize. Think of these pillars as the foundation upon which production deployments must rest.
A system that is strong in four pillars but weak in one will still fail an audit or cause operational problems. All five must be addressed comprehensively.
As we explore each pillar, consider how they apply not just to the Contoso Insurance training scenario, but to real client engagements you may work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five pillars that structure our production readiness approach.
Pillar One is Security and Access Control. This answers the question: who can access what data and perform which operations? In our context, this includes Dataverse security roles that control table and column access, MCP access boundaries that restrict what agents can do, and row-level security in Power BI.
Pillar Two is Auditing and Compliance. This ensures we have a complete trail of all data changes and agent actions. Regulators will ask questions like 'show me every change to this claim record' and we must be able to answer definitively.
Pillar Three is Governance and Monitoring. This provides visibility, control, and alerting at scale. When you have dozens of agents across an organization, you need inventory management, usage monitoring, and security alerting capabilities.
Pillar Four is Environment and ALM Strategy. Production BFSI systems cannot be modified directly. You need separate development and test environments with controlled promotion to production using managed solutions and source control.
Pillar Five is Cost and Capacity Planning. Leadership needs predictable costs, and the system needs adequate capacity. The Copilot Credits model requires careful planning to avoid unexpected charges or throttling.
Each pillar is necessary; none is sufficient alone. A system with excellent security but no auditing will still fail compliance reviews. A system with perfect auditing but poor cost planning will cause budget overruns.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examine the first pillar in detail: Security and Access Control.
Security for an agentic AI system operates at multiple layers. It is not enough to secure just one layer; we need defense in depth.
The layers we will cover include Dataverse table-level and column-level security through security roles, MCP access boundaries that add restrictions at the agent connection level, and Power BI row-level security for reporting.
The principle that guides all of this is least privilege: every user, service principal, and agent should have only the minimum access needed to perform their specific function.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Dataverse security roles we need for the Contoso Insurance system.
The Claims Agent role is used by the agent's service principal. Notice it has Create, Read, and Write access to the Claims table because the agent needs to create new claim records and update existing ones. However, it has only Read access to Customers and Policies. The agent can look up customer and policy information but cannot modify those records. This is intentional: if the agent has a bug or is compromised, it cannot damage customer or policy data.
The Claims Agent can create and read AgentTaskLog records to track its own operations, but can only read ApprovalLog records, not create them. Approvals are created by the approval workflow, not by the claims agent.
The Approver Role is for human approvers in the system. They can read claims and update only the status field. They cannot modify claim amounts or other details. They can create and manage ApprovalLog records as part of the approval workflow.
The System Admin role has full access to all tables. This role should be assigned to very few individuals and only used when necessary.
The BI Analyst role has read-only access across all tables. Analysts can build reports and dashboards but cannot modify any data.
This is the principle of least privilege in action. Each role has exactly the permissions needed for its function and no more. If a security incident occurs with any account, the blast radius is limited to what that role can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Access Boundaries provide an additional layer of security beyond Dataverse security roles.
When you configure the Dataverse MCP Server connection for a Copilot Studio agent, as we did in Modules 4 through 9, that connection inherits the security role of the agent's service principal. However, you can add further restrictions at the MCP configuration level.
This is defense in depth. Even if someone accidentally grants broader permissions at the security role level, the MCP boundary still restricts what the agent sees.
Table restrictions let you specify exactly which tables the agent can query through the MCP connection. Even if the security role allows access to ten tables, you can limit the MCP connection to three specific tables.
Column restrictions work similarly. You can specify that the agent sees only certain columns from a table. For example, the agent might see claim ID, status, and amount, but not internal notes or audit flags.
Operation restrictions control what actions the agent can perform. You might allow an agent to read and create records but not update or delete them.
Row-level filtering adds conditions to data access. For example, an agent might only see claims from a specific region or claims assigned to its queue.
For our Claims Agent, the MCP boundary would allow access to the Claims table with full operations, plus read-only access to Customers and Policies tables. The agent cannot access AgentTaskLog or ApprovalLog through MCP, even though its security role might allow reading those tables. This keeps the agent focused on its specific function.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two security layers that protect our agent system.
The Security Role Layer is Dataverse native security. It applies at the user or service principal level. When an agent's service principal is assigned a security role, that role controls what tables, columns, and rows the principal can access. Security roles are managed in the Power Platform Admin Center and apply to all Dataverse access, whether through the UI, APIs, Power Automate, or MCP.
The MCP Boundary Layer adds agent-specific restrictions. This layer is configured at the tool connection level in Copilot Studio. It further limits what the agent can see and do when querying data through the MCP connection. Importantly, MCP boundaries only apply to queries made through that specific MCP connection. If the same service principal accessed Dataverse through a different mechanism, only the security role would apply.
Why do we need both layers? Consider a scenario where an organization has multiple agents using the same service principal for cost efficiency. Each agent might need access to different tables or have different operational restrictions. MCP boundaries let you customize access for each agent even when they share underlying credentials.
Also, MCP boundaries provide an additional safeguard against configuration errors. If someone accidentally grants a security role broader access than intended, the MCP boundary still restricts the agent's effective access.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move to Pillar 2: Auditing and Compliance.
In BFSI environments, auditing is not optional. It is a regulatory requirement and a fundamental operational necessity. When a regulator, internal auditor, or compliance officer asks questions about system activity, you must be able to provide definitive answers.
Dataverse auditing is the foundation of our compliance capability. It captures a record of every data change with full context: who made the change, when it happened, what the values were before and after.
We will also discuss what auditors will specifically ask and how our system answers those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Dataverse auditing is our primary compliance tool. Let me explain how it works.
When auditing is enabled, Dataverse automatically captures a record for every data change. Each audit record includes who made the change, identified by user ID or service principal, what was changed including the record ID and affected fields, when the change occurred with precise timestamp, and importantly, the before and after values so you can see exactly what changed.
Auditing is configured at three levels. First, global level: you must enable auditing for the entire environment. This is the master switch. If global auditing is off, no audit records are captured regardless of other settings.
Second, table level: you specify which tables should be audited. Not every table needs auditing. System tables or temporary data tables might be excluded to reduce storage costs. For our Contoso Insurance system, Claims, Customers, Policies, AgentTaskLog, and ApprovalLog all need auditing.
Third, column level: for sensitive columns, you can enable detailed auditing that captures changes to specific columns. This is useful when you have a table with many columns but only certain columns are audit-critical.
Audit records are stored in Dataverse itself with configurable retention. BFSI requirements typically mandate long retention periods, which we will discuss shortly.
You can access audit records through the Power Platform Admin Center UI for ad-hoc queries, or programmatically through the Dataverse API for reporting and integration with other systems.
For IRDAI compliance in the insurance sector, auditing is mandatory. Internal audit teams also depend on this capability for their periodic reviews.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specific questions auditors will ask to the governance capabilities that provide answers.
When an auditor asks 'Who changed claim number 12345?', you answer using the Dataverse audit log. In the Admin Center, you can view the audit history for any record and see every user or service principal that modified it.
'What was the original amount?' requires column-level auditing. The audit record captures before and after values for each change. You can see that the amount was 50,000 rupees before the change and 55,000 after.
'When was the approval granted?' is answered through the ApprovalLog table we created in Module 8. Each approval record has timestamps showing when the approval request was created and when the decision was made.
'Which agent processed this claim?' comes from the AgentTaskLog table from Module 9. By querying this table with the ClaimID, you can see which agents performed operations on the claim and what those operations were.
'What data can Agent X access?' requires reviewing both the security role assigned to the agent's service principal and the MCP access boundary configuration in Copilot Studio. You need both pieces to give a complete answer.
'Show all changes in the past 90 days' is a common request for periodic audits. This requires that your audit log retention exceeds 90 days, and you export or query audit records with appropriate date filters.
Being able to answer these questions quickly and confidently is what auditors expect. If you hesitate or cannot find the information, it raises concerns about the overall governance posture.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retention is a critical compliance area. Different regulations specify minimum periods for which data must be retained.
For claims records, IRDAI guidelines require retention of at least 8 years. This applies to our Claims table and the associated AgentTaskLog records that document how claims were processed.
Financial transactions fall under the Income Tax Act, which requires 10 years retention. The ApprovalLog table, which records financial decisions like claim approvals and amounts, must be retained for this period.
Customer records are governed by Know Your Customer and Anti-Money Laundering regulations. The requirement is 5 years after the customer relationship ends. Note the 'after relationship ends' qualifier. If a customer maintains an active policy, the clock does not start until that relationship terminates.
Policy documents follow IRDAI guidelines requiring 8 years after the policy expires. Again, the clock starts after expiry, not after creation.
For audit logs, the best practice is to match retention to the longest requirement of the underlying data. Since financial transaction records require 10 years, audit logs should also be retained for 10 years. This ensures you can always correlate audit records with the data they describe.
When configuring Dataverse retention policies, you need to consider these requirements and build in a safety margin. Many organizations add an extra year beyond the regulatory minimum to account for edge cases and ongoing investigations.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addresses Governance and Monitoring at scale.
When you have one agent in a training environment, governance is straightforward. When an organization has dozens or hundreds of agents across multiple teams and purposes, you need enterprise-grade governance capabilities.
Microsoft provides several tools for this purpose, including Microsoft Purview integration, Microsoft Sentinel monitoring, tenant-level agent inventory, and managed environments.
We will also discuss the monitoring architecture that a production BFSI deployment should implement.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provides comprehensive governance features for Copilot Studio that integrate with the broader Microsoft security and compliance ecosystem.
On the data governance side, Microsoft Purview integration allows you to apply sensitivity labels to data that agents access and process. You can classify data as confidential, internal, or public, and apply protection policies accordingly. Information protection policies can prevent agents from accessing or transmitting certain classified data. Compliance monitoring dashboards give visibility into how agents interact with sensitive data.
On the security governance side, Microsoft Sentinel integration provides security event monitoring. Sentinel is Microsoft's cloud-native SIEM solution, and it can ingest events from Copilot Studio to provide unified security monitoring.
Threat detection capabilities can identify unusual agent behavior, such as an agent suddenly accessing data it has never accessed before, or making far more requests than normal. These anomalies might indicate a compromised agent or misconfiguration.
Alert rules can be configured to notify security teams when specific events occur. Playbooks can automate response actions, such as disabling an agent that triggers certain alerts.
For BFSI environments where security is paramount, these integrations ensure that agent activity is monitored with the same rigor as any other enterprise system.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Purview and Sentinel, several additional governance capabilities are important for enterprise deployments.
Tenant-Level Agent Inventory provides a centralized view of all agents deployed across the organization. This answers questions like 'how many agents do we have?' and 'who owns each agent?' Without this inventory, shadow agents can proliferate without IT awareness.
Managed Environments allow you to designate certain environments for enhanced governance. A managed environment can have stricter policies than unmanaged environments, such as mandatory code review for solutions or restricted connector access.
Mandatory Authentication ensures that every agent interaction requires user authentication. In BFSI, anonymous agent access is generally not acceptable. You need to know who is using the agent for audit and compliance purposes.
Data Loss Prevention policies control data flow between connectors and services. You can prevent agents from sending sensitive data to unapproved external services.
Usage Analytics track how agents are being used. This informs capacity planning and identifies underutilized or overutilized agents.
Sharing Controls manage who can access and modify agent configurations. You want to prevent unauthorized changes to production agents.
Export and Import Controls govern how solutions move between environments. This ties into the ALM strategy we will discuss next.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production agent system requires three layers of monitoring working together.
Layer 1 is Application Monitoring. This tracks the performance and health of the agents themselves. Key metrics include response times for agent interactions, error rates, completion rates for workflows, and queue depths for pending work. If response times suddenly increase or error rates spike, this layer alerts the team.
Layer 2 is Infrastructure Monitoring. This tracks the underlying platform components. Dataverse capacity utilization tells you if you are approaching storage limits. API throttling metrics show if you are hitting rate limits. Connector health confirms that integrations with external systems are functioning. Power Automate flow run success rates are also tracked here.
Layer 3 is Security Monitoring. This tracks access patterns and looks for anomalies. If an agent that normally processes 100 claims per day suddenly processes 10,000, that is an anomaly worth investigating. Unauthorized access attempts, unusual data access patterns, and potential security threats are detected at this layer.
These layers integrate with Microsoft's monitoring tools. Azure Monitor and Application Insights provide the technical monitoring foundation. Microsoft Sentinel provides the security monitoring capabilities. And the Power BI dashboards we built in Module 11 can visualize all of these metrics for operational teams.
The goal is no surprises. If something is wrong with the system, monitoring should detect it and alert the team before users complain or regulators find out.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4 covers Environment and Application Lifecycle Management Strategy.
In BFSI production environments, you cannot make changes directly to production systems. There must be a controlled process with separate environments, testing, approvals, and rollback capabilities.
This is not optional for BFSI. Regulators expect change management processes, and IT audit will verify they are being followed.
We will examine the three-environment strategy and the role of managed solutions, source control, and change approval gates.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three-environment strategy is the foundation of BFSI change management.
The Development Environment is where active development occurs. Solutions are unmanaged, meaning components can be freely modified. Developers make frequent changes, test ideas, and iterate on designs. This environment is deliberately isolated from production data to prevent accidents.
The Test Environment receives managed solution imports from development. Managed solutions have locked components. They cannot be edited directly in the test environment. This mirrors how solutions will behave in production. Test environment is used for integration testing, user acceptance testing, and validation before production deployment.
The Production Environment contains only managed solutions. All changes come through the managed solution import process, which requires approval. No direct modifications are permitted. This environment is heavily monitored, and all changes are documented.
The key principle is that code flows forward, never backward. Development promotes to test, test promotes to production. If you need to make a fix, you make it in development, promote to test, validate, then promote to production. You never modify test or production directly.
Source control, typically a Git repository, stores the exported solution files. This provides version history, enables collaboration, and supports rollback if needed. When you export a solution, you commit it to Git before importing to the next environment.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ALM workflow for BFSI deployments.
Step 1: Develop. Create or modify components in the development environment. This includes agents, flows, tables, security roles, and any other solution components.
Step 2: Export. Export the solution as a managed solution from the development environment. The managed solution file is what gets deployed to other environments.
Step 3: Commit. Store the exported solution file in your Git repository with a version tag. This creates a permanent record and enables rollback if needed.
Step 4: Request. Submit a formal change request through your IT Service Management system. This documents what is changing, why, and what the business impact is.
Step 5: Review. Technical review by peers or architects. This is the approval gate before moving to test. Reviewers verify the change is technically sound and follows standards.
Step 6: Import to Test. Import the managed solution to the test environment. This is typically automated through a CI/CD pipeline.
Step 7: Validate. Execute test cases to verify the change works correctly. User acceptance testing gets sign-off from business stakeholders.
Step 8: Approve. Production change approval board reviews the change. In BFSI, this often includes IT security, compliance, and business representatives.
Step 9: Deploy. Import the managed solution to production. This is typically scheduled during a maintenance window with rollback plan ready.
Step 10: Verify. Post-deployment validation confirms the change is working correctly in production. Monitoring is watched closely for any anomalies.
This process may seem heavyweight, but it is what BFSI regulators and auditors expect. Every production change has a documented trail.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something goes wrong in production, you need a clear rollback procedure.
Let us say the production agent is behaving incorrectly after a recent update. Perhaps it is approving claims it should not, or generating errors for certain inputs.
Step 1 is to assess the impact and severity. Is this affecting all users? Is it causing financial loss or compliance violations? The severity determines how quickly you need to act.
Step 2 is to retrieve the previous managed solution version from Git. Because you committed every version, you have a complete history. Find the last known good version.
Step 3 is to import that previous version to production. Importing an older managed solution performs a solution upgrade that rolls back the changes. This is why managed solutions are powerful. The rollback is clean and complete.
Step 4 is to verify the rollback resolved the issue. Test the scenarios that were failing. Confirm the agent is behaving correctly again.
Step 5 is to document the incident and conduct root cause analysis. Why did the problematic change pass testing? What can be improved in the process?
Step 6 is to fix the issue properly in the development environment, then restart the ALM workflow. The fix goes through the full process: export, test, approve, deploy.
Critical point: never modify production directly to apply a quick fix. Even under pressure, going around the process creates bigger problems later. You lose audit trail, risk introducing more issues, and undermine the governance posture.
Managed solutions ensure that deployments are consistent and repeatable. What you deploy to production is exactly what you tested.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pillar is Cost and Capacity Planning.
Agentic AI systems consume resources and incur costs. Leadership needs predictable costs for budgeting. Operations needs adequate capacity to handle expected workloads without throttling or degradation.
We will examine the Copilot Credits billing model introduced in September 2025, work through a capacity planning example, and review the full licensing stack for a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September 2025, Copilot Studio uses a Copilot Credits billing model. Let me explain how it works.
Each agent interaction consumes a certain number of credits based on the complexity of the request.
Simple queries like status lookups or basic information retrieval consume 1 credit. These are quick, straightforward interactions.
Standard processing operations like claim intake or data validation consume 2 credits. These involve some processing logic but are not computationally intensive.
Complex reasoning tasks that require multi-step analysis or document processing consume 4 credits. These are the most resource-intensive operations.
External integrations, where the agent calls external APIs or uses connectors to other services, consume 3 credits per integration call.
Generative responses, where the agent creates reports, summaries, or other generated content, consume 3 credits.
An important note: a single user interaction with an agent might trigger multiple internal operations. If a user submits a claim and the agent does data validation (2 credits), calls an external API to verify policy details (3 credits), and generates a confirmation message (3 credits), that single interaction consumed 8 credits.
You need to understand your agents' typical interaction patterns to estimate credit consumption accurately.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work through a capacity planning example for the Contoso Insurance production deployment.
Our scenario is a production deployment handling claims processing. We estimate 500 claims submitted per day as the baseline volume.
Each claim requires an average of 2 agent interactions. The first interaction is the initial intake and validation. The second might be a follow-up query or status update.
Each interaction consumes an average of 2 credits. This assumes a mix of simple queries and standard processing operations.
The daily credit consumption is therefore 500 claims times 2 interactions times 2 credits, which equals 2,000 credits per day.
For monthly planning, assuming 22 working days per month, that is 44,000 credits per month.
However, you should never plan for exactly your expected consumption. A 30 percent buffer is recommended for unexpected spikes, new agents, or process changes. This brings our recommended capacity to 57,200 credits per month.
You also need to consider peak planning. In insurance, certain seasons have higher claim volumes. Monsoon season generates more vehicle and property damage claims. Holiday periods might generate more travel insurance claims. Your capacity plan needs to handle these peaks without throttling.
When purchasing Copilot Credits, buy enough to handle your peak periods with the buffer, not just your average usage.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full licensing stack required for a production BFSI agent deployment.
Copilot Studio licensing can be per agent or per tenant depending on your Microsoft agreement. This covers the ability to create and host agents.
Dataverse storage is licensed per gigabyte. You need to estimate your storage requirements based on table row counts, attachment sizes, and audit log retention periods.
Power Automate Premium is required for the approval workflows and automations we built in Module 8. It can be licensed per user for the people who run flows, or per flow for high-volume automated processes.
Power BI Pro or Premium Per User is required for dashboard access and sharing. If users only consume reports embedded in other applications, you might have different options.
Copilot Credits are purchased in credit packs and consumed by agent interactions as we discussed.
Microsoft 365 E3 or E5 licenses for your users provide the base productivity suite that Power Platform builds upon.
Important note: licensing terms and pricing change periodically. Always verify current pricing with Microsoft or your licensing partner before client proposals or budget requests. The information here is accurate as of February 2026 but may change.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covered all five pillars. Now let us put them together into a practical production readiness checklist.
This checklist is designed to be reusable. You can adapt it for real BFSI client engagements. Before any agent system goes to production, work through this checklist with the project team and stakeholders.
A system is ready for production only when every item on the checklist can be answered affirmatively with evidence.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half of our production readiness checklist.
For Security and Access Control, you need to verify:
- Security roles are defined for all personas. This means claims agents, approvers, system administrators, and BI analysts each have their own role.
- The least privilege principle is verified for each role. Review each role's permissions and confirm it has only what is needed.
- MCP access boundaries are configured for each agent. The agent's MCP connection restricts access appropriately.
- Service principal credentials are secured and rotation procedures are in place. Credentials should not be hardcoded or stored insecurely.
For Auditing and Compliance, verify:
- Global auditing is enabled for the environment. This is the master switch that must be on.
- Table-level auditing is enabled for all relevant tables. Claims, Customers, Policies, AgentTaskLog, ApprovalLog all need auditing.
- Audit log retention is configured to meet regulatory requirements. Remember, 8 to 10 years for BFSI.
- Audit retrieval procedures are documented and tested. When an auditor asks a question, the team knows exactly how to find the answer.
Do not skip any of these items. Each one addresses a specific compliance or security requirement that auditors will check.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second half of our production readiness checklist.
For Governance and Monitoring, verify:
- Monitoring dashboards are deployed and showing accurate data. The dashboards from Module 11 should display agent performance, error rates, and key metrics.
- Alert rules are configured for critical events. When something goes wrong, the right people are notified.
- Agent inventory is documented. You have a list of all agents, their purposes, their owners, and their configurations.
For Environment and ALM, verify:
- Development, Test, and Production environments are established and isolated from each other.
- The managed solution export and import process has been validated. You have successfully promoted a solution through all three environments.
- Git repository is configured and contains version history of solution files.
- Rollback procedure is documented and has been tested. The team knows how to roll back if a deployment fails.
For Cost and Capacity, verify:
- Credit consumption has been estimated using the methodology we discussed, and the budget has been approved.
- All required licenses have been procured: Copilot Studio, Dataverse storage, Power Automate, Power BI, and credit packs.
This checklist has 24 items across 6 categories. In a real engagement, you might add more items specific to the client's requirements, but these 24 are the minimum for BFSI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specific BFSI regulatory requirements to our system components.
IRDAI requires a complete audit trail for insurance operations. We address this through Dataverse auditing, which logs all data changes with who made the change, what was changed, and when it happened.
The Digital Personal Data Protection Act requires data protection measures. We address this through security roles that implement least privilege access and MCP boundaries that classify and restrict data access.
Income Tax Act record retention requirements are addressed through our retention policies. We configure 8 to 10 year retention for the relevant tables.
SOX-style change management requirements, which apply to publicly traded companies, are addressed through our ALM process with documented approval workflows for all changes to production.
RBI requirements for access control and segregation of duties are addressed through security roles. Approvers cannot modify claim amounts. Analysts can only read data. Each role is distinct with no overlapping modification privileges.
When presenting to compliance teams or regulators, this mapping demonstrates that the system was designed with regulations in mind, not as an afterthought.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key takeaways from Module 12.
Production readiness for BFSI agent systems is not just about technical functionality. It rests on five pillars: security and access control, auditing and compliance, governance and monitoring, environment and ALM strategy, and cost and capacity planning. Weakness in any pillar is a weakness in the entire system.
The principle of least privilege is implemented through two layers: Dataverse security roles at the platform level, and MCP access boundaries at the agent connection level. Every persona has only the access they need.
Dataverse auditing is the foundation of BFSI compliance. Enable it globally, at the table level, and where necessary at the column level. Ensure retention periods meet regulatory requirements of 8 to 10 years.
Copilot Studio governance capabilities integrate with Microsoft Purview for data classification, Microsoft Sentinel for security monitoring, and managed environments for policy enforcement.
The three-environment strategy with managed solutions ensures controlled change management. Code flows from development to test to production, never backward. Never modify production directly.
The Copilot Credits model requires careful capacity planning. Estimate daily interaction volume, average credits per interaction, and add a buffer for peaks and growth.
The production readiness checklist provides a reusable template with 24 items across 6 categories. Adapt it for each client engagement.
Finally, always map your system components to regulatory requirements. Demonstrate that governance was designed in, not bolted 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knowledge check questions for Module 12.
Question 1: Name the five pillars. Expected answer: Security and Access Control, Auditing and Compliance, Governance and Monitoring, Environment and ALM Strategy, Cost and Capacity Planning.
Question 2: Least privilege in Dataverse security roles means each persona role has only the minimum permissions needed. The Claims Agent cannot modify customers or policies. Approvers cannot delete records. Analysts can only read.
Question 3: MCP access boundaries are an additional restriction layer configured at the agent's tool connection level in Copilot Studio. Security roles apply to all Dataverse access by the service principal. MCP boundaries apply only to queries through that specific MCP connection, allowing different restrictions for different agents even with the same underlying credentials.
Question 4: Three levels of auditing: Global level enables auditing for the entire environment. Table level specifies which tables are audited. Column level enables detailed tracking for specific columns.
Question 5: Retention periods: Claims and policies 8 years per IRDAI. Financial transactions 10 years per Income Tax Act. Customer records 5 years after relationship ends per KYC/AML.
Question 6: Three governance features might include: Microsoft Purview integration for data classification, Microsoft Sentinel for security monitoring, managed environments for policy enforcement, tenant-level agent inventory, or mandatory authentication.
Question 7: Dev environment has unmanaged solutions for active development. Test receives managed solution imports for testing. Production contains only managed solutions with change approval required.
Question 8: 500 claims times 2 interactions times 2 credits equals 2,000 credits per day. Times 22 working days equals 44,000 credits per month. With 30 percent buffer, approximately 57,200 credits per month.</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Module 13 is the capstone that brings everything together.
In the capstone module, you will integrate everything you have learned across Modules 1 through 12 into a complete BFSI solution. This is not about learning new concepts. It is about applying all the concepts in a comprehensive, end-to-end scenario.
You will be asked to design a solution based on requirements, build the agents and workflows, apply the governance framework from this module, and present your solution as if presenting to a client.
This demonstrates mastery of the full agentic AI stack. From Plan Designer and vibe coding approaches in the early modules, through MCP-connected agents and multi-agent coordination in the middle modules, to approval workflows, Power BI dashboards, and governance.
The capstone is where you prove production readiness. It is not enough to have built components in isolated exercises. You need to show you can bring them together into a governed, production-ready system.
Prepare for the capstone by reviewing your work from all previous modules. Ensure your Contoso Insurance system is complete and that you understand how each component fits together.
Thank you for your attention in Module 12. You now have the governance foundation to take agentic AI from lab to production in BFSI environments.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references and resources for further learning.
Primary sources include Microsoft Learn documentation on Copilot Studio governance and security, which covers Purview integration, Sentinel, tenant inventory, and managed environments. The Dataverse auditing documentation on Microsoft Learn provides detailed guidance on audit logging for Dataverse operations. Microsoft Adoption site offers downloadable governance eBooks and controls decks.
Supplementary sources include the Licensing Guide site for Dataverse MCP Server requirements, which details production licensing requirements. The Microsoft Copilot blog covers the Copilot Credits model and capacity planning guidance.
Related course modules that connect to this governance content include Module 08 on Workflow Designer, which created the ApprovalLog table for approval audit trails. Module 09 on Multi-Agent Systems created the AgentTaskLog table for agent task audit trails. Module 11 on Power BI created monitoring dashboards that visualize the governed system.
I encourage you to explore these resources as you prepare for real client engagements. The governance concepts we covered are foundational, and the Microsoft documentation provides additional depth and keeps current with platform updates.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Module 12: Memory, Governance and Production Readiness.
We have covered the five pillars that take an agentic AI system from a training lab to a production BFSI deployment. Security and access control protect the system. Auditing and compliance satisfy regulators. Governance and monitoring provide visibility at scale. Environment and ALM strategy enable controlled change management. Cost and capacity planning ensure predictable operations.
Are there any questions about the governance framework, the production readiness checklist, or how these concepts apply to your specific scenarios?
Remember, governance is not a burden that slows down innovation. It is the foundation that enables sustainable, trusted AI deployments in regulated industries. The organizations that master governance will be the ones that successfully scale agentic AI across their enterprises.
Thank you for your engagement with this module. I look forward to seeing how you apply these concepts in the Module 13 capstone.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9" name="Shape 0">
            <a:extLst>
              <a:ext uri="{FF2B5EF4-FFF2-40B4-BE49-F238E27FC236}">
                <a16:creationId xmlns:a16="http://schemas.microsoft.com/office/drawing/2014/main" id="{9EA59608-127E-23BA-2E4A-093219F7138C}"/>
              </a:ext>
            </a:extLst>
          </p:cNvPr>
          <p:cNvSpPr/>
          <p:nvPr/>
        </p:nvSpPr>
        <p:spPr>
          <a:xfrm>
            <a:off x="0" y="274320"/>
            <a:ext cx="9144000" cy="4869180"/>
          </a:xfrm>
          <a:prstGeom prst="rect">
            <a:avLst/>
          </a:prstGeom>
          <a:solidFill>
            <a:srgbClr val="333333"/>
          </a:solidFill>
          <a:ln/>
        </p:spPr>
        <p:txBody>
          <a:bodyPr/>
          <a:lstStyle/>
          <a:p>
            <a:endParaRPr lang="en-IN"/>
          </a:p>
        </p:txBody>
      </p:sp>
      <p:sp>
        <p:nvSpPr>
          <p:cNvPr id="2" name="Shape 0"/>
          <p:cNvSpPr/>
          <p:nvPr/>
        </p:nvSpPr>
        <p:spPr>
          <a:xfrm>
            <a:off x="0" y="0"/>
            <a:ext cx="9144000" cy="274320"/>
          </a:xfrm>
          <a:prstGeom prst="rect">
            <a:avLst/>
          </a:prstGeom>
          <a:solidFill>
            <a:srgbClr val="FFE600"/>
          </a:solidFill>
          <a:ln/>
        </p:spPr>
        <p:txBody>
          <a:bodyPr/>
          <a:lstStyle/>
          <a:p>
            <a:endParaRPr lang="en-IN"/>
          </a:p>
        </p:txBody>
      </p:sp>
      <p:sp>
        <p:nvSpPr>
          <p:cNvPr id="3" name="Text 1"/>
          <p:cNvSpPr/>
          <p:nvPr/>
        </p:nvSpPr>
        <p:spPr>
          <a:xfrm>
            <a:off x="457200" y="960120"/>
            <a:ext cx="3657600" cy="457200"/>
          </a:xfrm>
          <a:prstGeom prst="rect">
            <a:avLst/>
          </a:prstGeom>
          <a:noFill/>
          <a:ln/>
        </p:spPr>
        <p:txBody>
          <a:bodyPr wrap="square" rtlCol="0" anchor="ctr"/>
          <a:lstStyle/>
          <a:p>
            <a:pPr marL="0" indent="0">
              <a:buNone/>
            </a:pPr>
            <a:r>
              <a:rPr lang="en-US" sz="2000" b="1" dirty="0">
                <a:solidFill>
                  <a:schemeClr val="bg1"/>
                </a:solidFill>
              </a:rPr>
              <a:t>MODULE 12</a:t>
            </a:r>
            <a:endParaRPr lang="en-US" sz="2000" dirty="0">
              <a:solidFill>
                <a:schemeClr val="bg1"/>
              </a:solidFill>
            </a:endParaRPr>
          </a:p>
        </p:txBody>
      </p:sp>
      <p:sp>
        <p:nvSpPr>
          <p:cNvPr id="4" name="Text 2"/>
          <p:cNvSpPr/>
          <p:nvPr/>
        </p:nvSpPr>
        <p:spPr>
          <a:xfrm>
            <a:off x="457200" y="1600200"/>
            <a:ext cx="7974767" cy="1097280"/>
          </a:xfrm>
          <a:prstGeom prst="rect">
            <a:avLst/>
          </a:prstGeom>
          <a:noFill/>
          <a:ln/>
        </p:spPr>
        <p:txBody>
          <a:bodyPr wrap="square" rtlCol="0" anchor="ctr"/>
          <a:lstStyle/>
          <a:p>
            <a:pPr marL="0" indent="0">
              <a:buNone/>
            </a:pPr>
            <a:r>
              <a:rPr lang="en-US" sz="4400" b="1" dirty="0">
                <a:solidFill>
                  <a:schemeClr val="bg1"/>
                </a:solidFill>
              </a:rPr>
              <a:t>Memory, Governance &amp; Production Readiness</a:t>
            </a:r>
            <a:endParaRPr lang="en-US" sz="4400" dirty="0">
              <a:solidFill>
                <a:schemeClr val="bg1"/>
              </a:solidFill>
            </a:endParaRPr>
          </a:p>
        </p:txBody>
      </p:sp>
      <p:sp>
        <p:nvSpPr>
          <p:cNvPr id="5" name="Text 3"/>
          <p:cNvSpPr/>
          <p:nvPr/>
        </p:nvSpPr>
        <p:spPr>
          <a:xfrm>
            <a:off x="457200" y="2788920"/>
            <a:ext cx="10972800" cy="731520"/>
          </a:xfrm>
          <a:prstGeom prst="rect">
            <a:avLst/>
          </a:prstGeom>
          <a:noFill/>
          <a:ln/>
        </p:spPr>
        <p:txBody>
          <a:bodyPr wrap="square" rtlCol="0" anchor="ctr"/>
          <a:lstStyle/>
          <a:p>
            <a:pPr marL="0" indent="0">
              <a:buNone/>
            </a:pPr>
            <a:r>
              <a:rPr lang="en-US" sz="2400" dirty="0">
                <a:solidFill>
                  <a:schemeClr val="bg1"/>
                </a:solidFill>
              </a:rPr>
              <a:t>Taking Agentic AI from Lab to Production in BFSI Environments</a:t>
            </a:r>
          </a:p>
        </p:txBody>
      </p:sp>
      <p:sp>
        <p:nvSpPr>
          <p:cNvPr id="7" name="Text 14">
            <a:extLst>
              <a:ext uri="{FF2B5EF4-FFF2-40B4-BE49-F238E27FC236}">
                <a16:creationId xmlns:a16="http://schemas.microsoft.com/office/drawing/2014/main" id="{9E28E7F6-BF9D-87A8-84FA-86FD7BE9196E}"/>
              </a:ext>
            </a:extLst>
          </p:cNvPr>
          <p:cNvSpPr/>
          <p:nvPr/>
        </p:nvSpPr>
        <p:spPr>
          <a:xfrm>
            <a:off x="290181" y="4721289"/>
            <a:ext cx="8659123" cy="342434"/>
          </a:xfrm>
          <a:prstGeom prst="rect">
            <a:avLst/>
          </a:prstGeom>
          <a:noFill/>
          <a:ln/>
        </p:spPr>
        <p:txBody>
          <a:bodyPr wrap="square" rtlCol="0" anchor="ctr"/>
          <a:lstStyle/>
          <a:p>
            <a:pPr marL="0" indent="0">
              <a:buNone/>
            </a:pPr>
            <a:r>
              <a:rPr lang="en-US" sz="900" dirty="0">
                <a:solidFill>
                  <a:schemeClr val="bg1"/>
                </a:solidFill>
              </a:rPr>
              <a:t>CONFIDENTIAL | Agentic AI in Power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32347" y="247338"/>
            <a:ext cx="8544394" cy="731520"/>
          </a:xfrm>
          <a:prstGeom prst="rect">
            <a:avLst/>
          </a:prstGeom>
          <a:noFill/>
          <a:ln/>
        </p:spPr>
        <p:txBody>
          <a:bodyPr wrap="square" rtlCol="0" anchor="ctr"/>
          <a:lstStyle/>
          <a:p>
            <a:pPr marL="0" indent="0">
              <a:buNone/>
            </a:pPr>
            <a:r>
              <a:rPr lang="en-US" sz="3200" b="1" dirty="0">
                <a:solidFill>
                  <a:srgbClr val="333333"/>
                </a:solidFill>
              </a:rPr>
              <a:t>Module Agenda</a:t>
            </a:r>
            <a:endParaRPr lang="en-US" sz="3200" dirty="0"/>
          </a:p>
        </p:txBody>
      </p:sp>
      <p:sp>
        <p:nvSpPr>
          <p:cNvPr id="4" name="Shape 2"/>
          <p:cNvSpPr/>
          <p:nvPr/>
        </p:nvSpPr>
        <p:spPr>
          <a:xfrm>
            <a:off x="232347" y="887418"/>
            <a:ext cx="8544394" cy="18288"/>
          </a:xfrm>
          <a:prstGeom prst="rect">
            <a:avLst/>
          </a:prstGeom>
          <a:solidFill>
            <a:srgbClr val="C8C8C8"/>
          </a:solidFill>
          <a:ln/>
        </p:spPr>
        <p:txBody>
          <a:bodyPr/>
          <a:lstStyle/>
          <a:p>
            <a:endParaRPr lang="en-IN"/>
          </a:p>
        </p:txBody>
      </p:sp>
      <p:sp>
        <p:nvSpPr>
          <p:cNvPr id="5" name="Text 3"/>
          <p:cNvSpPr/>
          <p:nvPr/>
        </p:nvSpPr>
        <p:spPr>
          <a:xfrm>
            <a:off x="93451" y="1265048"/>
            <a:ext cx="8544394" cy="108365"/>
          </a:xfrm>
          <a:prstGeom prst="rect">
            <a:avLst/>
          </a:prstGeom>
          <a:noFill/>
          <a:ln/>
        </p:spPr>
        <p:txBody>
          <a:bodyPr wrap="square" rtlCol="0" anchor="ctr"/>
          <a:lstStyle/>
          <a:p>
            <a:pPr marL="0" indent="0">
              <a:buNone/>
            </a:pPr>
            <a:r>
              <a:rPr lang="en-US" sz="1800" dirty="0">
                <a:solidFill>
                  <a:srgbClr val="333333"/>
                </a:solidFill>
              </a:rPr>
              <a:t>•  Module Overview &amp; Learning Objectives</a:t>
            </a:r>
            <a:endParaRPr lang="en-US" sz="1800" dirty="0"/>
          </a:p>
        </p:txBody>
      </p:sp>
      <p:sp>
        <p:nvSpPr>
          <p:cNvPr id="6" name="Text 4"/>
          <p:cNvSpPr/>
          <p:nvPr/>
        </p:nvSpPr>
        <p:spPr>
          <a:xfrm>
            <a:off x="93451" y="1577178"/>
            <a:ext cx="8544394" cy="108365"/>
          </a:xfrm>
          <a:prstGeom prst="rect">
            <a:avLst/>
          </a:prstGeom>
          <a:noFill/>
          <a:ln/>
        </p:spPr>
        <p:txBody>
          <a:bodyPr wrap="square" rtlCol="0" anchor="ctr"/>
          <a:lstStyle/>
          <a:p>
            <a:pPr marL="0" indent="0">
              <a:buNone/>
            </a:pPr>
            <a:r>
              <a:rPr lang="en-US" sz="1800" dirty="0">
                <a:solidFill>
                  <a:srgbClr val="333333"/>
                </a:solidFill>
              </a:rPr>
              <a:t>•  The Five Pillars of Production Readiness</a:t>
            </a:r>
            <a:endParaRPr lang="en-US" sz="1800" dirty="0"/>
          </a:p>
        </p:txBody>
      </p:sp>
      <p:sp>
        <p:nvSpPr>
          <p:cNvPr id="7" name="Text 5"/>
          <p:cNvSpPr/>
          <p:nvPr/>
        </p:nvSpPr>
        <p:spPr>
          <a:xfrm>
            <a:off x="93451" y="1908060"/>
            <a:ext cx="8544394" cy="108365"/>
          </a:xfrm>
          <a:prstGeom prst="rect">
            <a:avLst/>
          </a:prstGeom>
          <a:noFill/>
          <a:ln/>
        </p:spPr>
        <p:txBody>
          <a:bodyPr wrap="square" rtlCol="0" anchor="ctr"/>
          <a:lstStyle/>
          <a:p>
            <a:pPr marL="0" indent="0">
              <a:buNone/>
            </a:pPr>
            <a:r>
              <a:rPr lang="en-US" sz="1800" dirty="0">
                <a:solidFill>
                  <a:srgbClr val="333333"/>
                </a:solidFill>
              </a:rPr>
              <a:t>•  Pillar 1: Security &amp; Access Control</a:t>
            </a:r>
            <a:endParaRPr lang="en-US" sz="1800" dirty="0"/>
          </a:p>
        </p:txBody>
      </p:sp>
      <p:sp>
        <p:nvSpPr>
          <p:cNvPr id="8" name="Text 6"/>
          <p:cNvSpPr/>
          <p:nvPr/>
        </p:nvSpPr>
        <p:spPr>
          <a:xfrm>
            <a:off x="93451" y="2252026"/>
            <a:ext cx="8544394" cy="108365"/>
          </a:xfrm>
          <a:prstGeom prst="rect">
            <a:avLst/>
          </a:prstGeom>
          <a:noFill/>
          <a:ln/>
        </p:spPr>
        <p:txBody>
          <a:bodyPr wrap="square" rtlCol="0" anchor="ctr"/>
          <a:lstStyle/>
          <a:p>
            <a:pPr marL="0" indent="0">
              <a:buNone/>
            </a:pPr>
            <a:r>
              <a:rPr lang="en-US" sz="1800" dirty="0">
                <a:solidFill>
                  <a:srgbClr val="333333"/>
                </a:solidFill>
              </a:rPr>
              <a:t>•  Pillar 2: Auditing &amp; Compliance</a:t>
            </a:r>
            <a:endParaRPr lang="en-US" sz="1800" dirty="0"/>
          </a:p>
        </p:txBody>
      </p:sp>
      <p:sp>
        <p:nvSpPr>
          <p:cNvPr id="9" name="Text 7"/>
          <p:cNvSpPr/>
          <p:nvPr/>
        </p:nvSpPr>
        <p:spPr>
          <a:xfrm>
            <a:off x="93451" y="2592767"/>
            <a:ext cx="8544394" cy="108365"/>
          </a:xfrm>
          <a:prstGeom prst="rect">
            <a:avLst/>
          </a:prstGeom>
          <a:noFill/>
          <a:ln/>
        </p:spPr>
        <p:txBody>
          <a:bodyPr wrap="square" rtlCol="0" anchor="ctr"/>
          <a:lstStyle/>
          <a:p>
            <a:pPr marL="0" indent="0">
              <a:buNone/>
            </a:pPr>
            <a:r>
              <a:rPr lang="en-US" sz="1800" dirty="0">
                <a:solidFill>
                  <a:srgbClr val="333333"/>
                </a:solidFill>
              </a:rPr>
              <a:t>•  Pillar 3: Governance &amp; Monitoring</a:t>
            </a:r>
            <a:endParaRPr lang="en-US" sz="1800" dirty="0"/>
          </a:p>
        </p:txBody>
      </p:sp>
      <p:sp>
        <p:nvSpPr>
          <p:cNvPr id="10" name="Text 8"/>
          <p:cNvSpPr/>
          <p:nvPr/>
        </p:nvSpPr>
        <p:spPr>
          <a:xfrm>
            <a:off x="93451" y="2933508"/>
            <a:ext cx="8544394" cy="108365"/>
          </a:xfrm>
          <a:prstGeom prst="rect">
            <a:avLst/>
          </a:prstGeom>
          <a:noFill/>
          <a:ln/>
        </p:spPr>
        <p:txBody>
          <a:bodyPr wrap="square" rtlCol="0" anchor="ctr"/>
          <a:lstStyle/>
          <a:p>
            <a:pPr marL="0" indent="0">
              <a:buNone/>
            </a:pPr>
            <a:r>
              <a:rPr lang="en-US" sz="1800" dirty="0">
                <a:solidFill>
                  <a:srgbClr val="333333"/>
                </a:solidFill>
              </a:rPr>
              <a:t>•  Pillar 4: Environment &amp; ALM Strategy</a:t>
            </a:r>
            <a:endParaRPr lang="en-US" sz="1800" dirty="0"/>
          </a:p>
        </p:txBody>
      </p:sp>
      <p:sp>
        <p:nvSpPr>
          <p:cNvPr id="11" name="Text 9"/>
          <p:cNvSpPr/>
          <p:nvPr/>
        </p:nvSpPr>
        <p:spPr>
          <a:xfrm>
            <a:off x="93451" y="3237643"/>
            <a:ext cx="8544394" cy="108365"/>
          </a:xfrm>
          <a:prstGeom prst="rect">
            <a:avLst/>
          </a:prstGeom>
          <a:noFill/>
          <a:ln/>
        </p:spPr>
        <p:txBody>
          <a:bodyPr wrap="square" rtlCol="0" anchor="ctr"/>
          <a:lstStyle/>
          <a:p>
            <a:pPr marL="0" indent="0">
              <a:buNone/>
            </a:pPr>
            <a:r>
              <a:rPr lang="en-US" sz="1800" dirty="0">
                <a:solidFill>
                  <a:srgbClr val="333333"/>
                </a:solidFill>
              </a:rPr>
              <a:t>•  Pillar 5: Cost &amp; Capacity Planning</a:t>
            </a:r>
            <a:endParaRPr lang="en-US" sz="1800" dirty="0"/>
          </a:p>
        </p:txBody>
      </p:sp>
      <p:sp>
        <p:nvSpPr>
          <p:cNvPr id="12" name="Text 10"/>
          <p:cNvSpPr/>
          <p:nvPr/>
        </p:nvSpPr>
        <p:spPr>
          <a:xfrm>
            <a:off x="93451" y="3541778"/>
            <a:ext cx="8544394" cy="108365"/>
          </a:xfrm>
          <a:prstGeom prst="rect">
            <a:avLst/>
          </a:prstGeom>
          <a:noFill/>
          <a:ln/>
        </p:spPr>
        <p:txBody>
          <a:bodyPr wrap="square" rtlCol="0" anchor="ctr"/>
          <a:lstStyle/>
          <a:p>
            <a:pPr marL="0" indent="0">
              <a:buNone/>
            </a:pPr>
            <a:r>
              <a:rPr lang="en-US" sz="1800" dirty="0">
                <a:solidFill>
                  <a:srgbClr val="333333"/>
                </a:solidFill>
              </a:rPr>
              <a:t>•  Production Readiness Checklist</a:t>
            </a:r>
            <a:endParaRPr lang="en-US" sz="1800" dirty="0"/>
          </a:p>
        </p:txBody>
      </p:sp>
      <p:sp>
        <p:nvSpPr>
          <p:cNvPr id="13" name="Text 11"/>
          <p:cNvSpPr/>
          <p:nvPr/>
        </p:nvSpPr>
        <p:spPr>
          <a:xfrm>
            <a:off x="93451" y="3845913"/>
            <a:ext cx="8544394" cy="108365"/>
          </a:xfrm>
          <a:prstGeom prst="rect">
            <a:avLst/>
          </a:prstGeom>
          <a:noFill/>
          <a:ln/>
        </p:spPr>
        <p:txBody>
          <a:bodyPr wrap="square" rtlCol="0" anchor="ctr"/>
          <a:lstStyle/>
          <a:p>
            <a:pPr marL="0" indent="0">
              <a:buNone/>
            </a:pPr>
            <a:r>
              <a:rPr lang="en-US" sz="1800" dirty="0">
                <a:solidFill>
                  <a:srgbClr val="333333"/>
                </a:solidFill>
              </a:rPr>
              <a:t>•  Summary &amp; Knowledge Check</a:t>
            </a:r>
            <a:endParaRPr lang="en-US" sz="1800" dirty="0"/>
          </a:p>
        </p:txBody>
      </p:sp>
      <p:sp>
        <p:nvSpPr>
          <p:cNvPr id="15" name="Text 14">
            <a:extLst>
              <a:ext uri="{FF2B5EF4-FFF2-40B4-BE49-F238E27FC236}">
                <a16:creationId xmlns:a16="http://schemas.microsoft.com/office/drawing/2014/main" id="{2E389622-A4B9-4534-78F1-F44B9E515FB5}"/>
              </a:ext>
            </a:extLst>
          </p:cNvPr>
          <p:cNvSpPr/>
          <p:nvPr/>
        </p:nvSpPr>
        <p:spPr>
          <a:xfrm>
            <a:off x="290181" y="4801066"/>
            <a:ext cx="8659123" cy="342434"/>
          </a:xfrm>
          <a:prstGeom prst="rect">
            <a:avLst/>
          </a:prstGeom>
          <a:noFill/>
          <a:ln/>
        </p:spPr>
        <p:txBody>
          <a:bodyPr wrap="square" rtlCol="0" anchor="ctr"/>
          <a:lstStyle/>
          <a:p>
            <a:pPr marL="0" indent="0">
              <a:buNone/>
            </a:pPr>
            <a:r>
              <a:rPr lang="en-US" sz="900" dirty="0">
                <a:solidFill>
                  <a:srgbClr val="808080"/>
                </a:solidFill>
              </a:rPr>
              <a:t>CONFIDENTIAL | Agentic AI in Power Platform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45917" y="137160"/>
            <a:ext cx="8409482" cy="731520"/>
          </a:xfrm>
          <a:prstGeom prst="rect">
            <a:avLst/>
          </a:prstGeom>
          <a:noFill/>
          <a:ln/>
        </p:spPr>
        <p:txBody>
          <a:bodyPr wrap="square" rtlCol="0" anchor="ctr"/>
          <a:lstStyle/>
          <a:p>
            <a:pPr marL="0" indent="0">
              <a:buNone/>
            </a:pPr>
            <a:r>
              <a:rPr lang="en-US" sz="3200" b="1" dirty="0">
                <a:solidFill>
                  <a:srgbClr val="333333"/>
                </a:solidFill>
              </a:rPr>
              <a:t>Learning Objectives</a:t>
            </a:r>
            <a:endParaRPr lang="en-US" sz="3200" dirty="0"/>
          </a:p>
        </p:txBody>
      </p:sp>
      <p:sp>
        <p:nvSpPr>
          <p:cNvPr id="4" name="Shape 2"/>
          <p:cNvSpPr/>
          <p:nvPr/>
        </p:nvSpPr>
        <p:spPr>
          <a:xfrm>
            <a:off x="145917" y="777240"/>
            <a:ext cx="8409482" cy="18288"/>
          </a:xfrm>
          <a:prstGeom prst="rect">
            <a:avLst/>
          </a:prstGeom>
          <a:solidFill>
            <a:srgbClr val="C8C8C8"/>
          </a:solidFill>
          <a:ln/>
        </p:spPr>
        <p:txBody>
          <a:bodyPr/>
          <a:lstStyle/>
          <a:p>
            <a:endParaRPr lang="en-IN"/>
          </a:p>
        </p:txBody>
      </p:sp>
      <p:sp>
        <p:nvSpPr>
          <p:cNvPr id="5" name="Text 3"/>
          <p:cNvSpPr/>
          <p:nvPr/>
        </p:nvSpPr>
        <p:spPr>
          <a:xfrm>
            <a:off x="145917" y="1051560"/>
            <a:ext cx="8164706" cy="114300"/>
          </a:xfrm>
          <a:prstGeom prst="rect">
            <a:avLst/>
          </a:prstGeom>
          <a:noFill/>
          <a:ln/>
        </p:spPr>
        <p:txBody>
          <a:bodyPr wrap="square" rtlCol="0" anchor="ctr"/>
          <a:lstStyle/>
          <a:p>
            <a:pPr marL="0" indent="0">
              <a:buNone/>
            </a:pPr>
            <a:r>
              <a:rPr lang="en-US" sz="1700" dirty="0">
                <a:solidFill>
                  <a:srgbClr val="333333"/>
                </a:solidFill>
              </a:rPr>
              <a:t>•  Enable and configure Dataverse auditing for agent-related data changes</a:t>
            </a:r>
            <a:endParaRPr lang="en-US" sz="1700" dirty="0"/>
          </a:p>
        </p:txBody>
      </p:sp>
      <p:sp>
        <p:nvSpPr>
          <p:cNvPr id="6" name="Text 4"/>
          <p:cNvSpPr/>
          <p:nvPr/>
        </p:nvSpPr>
        <p:spPr>
          <a:xfrm>
            <a:off x="145917" y="1394460"/>
            <a:ext cx="8164706" cy="114300"/>
          </a:xfrm>
          <a:prstGeom prst="rect">
            <a:avLst/>
          </a:prstGeom>
          <a:noFill/>
          <a:ln/>
        </p:spPr>
        <p:txBody>
          <a:bodyPr wrap="square" rtlCol="0" anchor="ctr"/>
          <a:lstStyle/>
          <a:p>
            <a:pPr marL="0" indent="0">
              <a:buNone/>
            </a:pPr>
            <a:r>
              <a:rPr lang="en-US" sz="1700" dirty="0">
                <a:solidFill>
                  <a:srgbClr val="333333"/>
                </a:solidFill>
              </a:rPr>
              <a:t>•  Design Dataverse security roles enforcing least-privilege access</a:t>
            </a:r>
            <a:endParaRPr lang="en-US" sz="1700" dirty="0"/>
          </a:p>
        </p:txBody>
      </p:sp>
      <p:sp>
        <p:nvSpPr>
          <p:cNvPr id="7" name="Text 5"/>
          <p:cNvSpPr/>
          <p:nvPr/>
        </p:nvSpPr>
        <p:spPr>
          <a:xfrm>
            <a:off x="145917" y="1713053"/>
            <a:ext cx="8164706" cy="114300"/>
          </a:xfrm>
          <a:prstGeom prst="rect">
            <a:avLst/>
          </a:prstGeom>
          <a:noFill/>
          <a:ln/>
        </p:spPr>
        <p:txBody>
          <a:bodyPr wrap="square" rtlCol="0" anchor="ctr"/>
          <a:lstStyle/>
          <a:p>
            <a:pPr marL="0" indent="0">
              <a:buNone/>
            </a:pPr>
            <a:r>
              <a:rPr lang="en-US" sz="1700" dirty="0">
                <a:solidFill>
                  <a:srgbClr val="333333"/>
                </a:solidFill>
              </a:rPr>
              <a:t>•  Configure MCP access boundaries to restrict agent operations</a:t>
            </a:r>
            <a:endParaRPr lang="en-US" sz="1700" dirty="0"/>
          </a:p>
        </p:txBody>
      </p:sp>
      <p:sp>
        <p:nvSpPr>
          <p:cNvPr id="8" name="Text 6"/>
          <p:cNvSpPr/>
          <p:nvPr/>
        </p:nvSpPr>
        <p:spPr>
          <a:xfrm>
            <a:off x="145917" y="2038302"/>
            <a:ext cx="8164706" cy="114300"/>
          </a:xfrm>
          <a:prstGeom prst="rect">
            <a:avLst/>
          </a:prstGeom>
          <a:noFill/>
          <a:ln/>
        </p:spPr>
        <p:txBody>
          <a:bodyPr wrap="square" rtlCol="0" anchor="ctr"/>
          <a:lstStyle/>
          <a:p>
            <a:pPr marL="0" indent="0">
              <a:buNone/>
            </a:pPr>
            <a:r>
              <a:rPr lang="en-US" sz="1700" dirty="0">
                <a:solidFill>
                  <a:srgbClr val="333333"/>
                </a:solidFill>
              </a:rPr>
              <a:t>•  Describe Copilot Studio governance: Purview, Sentinel, managed environments</a:t>
            </a:r>
            <a:endParaRPr lang="en-US" sz="1700" dirty="0"/>
          </a:p>
        </p:txBody>
      </p:sp>
      <p:sp>
        <p:nvSpPr>
          <p:cNvPr id="9" name="Text 7"/>
          <p:cNvSpPr/>
          <p:nvPr/>
        </p:nvSpPr>
        <p:spPr>
          <a:xfrm>
            <a:off x="145917" y="2354580"/>
            <a:ext cx="8164706" cy="114300"/>
          </a:xfrm>
          <a:prstGeom prst="rect">
            <a:avLst/>
          </a:prstGeom>
          <a:noFill/>
          <a:ln/>
        </p:spPr>
        <p:txBody>
          <a:bodyPr wrap="square" rtlCol="0" anchor="ctr"/>
          <a:lstStyle/>
          <a:p>
            <a:pPr marL="0" indent="0">
              <a:buNone/>
            </a:pPr>
            <a:r>
              <a:rPr lang="en-US" sz="1700" dirty="0">
                <a:solidFill>
                  <a:srgbClr val="333333"/>
                </a:solidFill>
              </a:rPr>
              <a:t>•  Design Dev/Test/Prod environment strategy with ALM practices</a:t>
            </a:r>
            <a:endParaRPr lang="en-US" sz="1700" dirty="0"/>
          </a:p>
        </p:txBody>
      </p:sp>
      <p:sp>
        <p:nvSpPr>
          <p:cNvPr id="10" name="Text 8"/>
          <p:cNvSpPr/>
          <p:nvPr/>
        </p:nvSpPr>
        <p:spPr>
          <a:xfrm>
            <a:off x="145917" y="2670858"/>
            <a:ext cx="8164706" cy="114300"/>
          </a:xfrm>
          <a:prstGeom prst="rect">
            <a:avLst/>
          </a:prstGeom>
          <a:noFill/>
          <a:ln/>
        </p:spPr>
        <p:txBody>
          <a:bodyPr wrap="square" rtlCol="0" anchor="ctr"/>
          <a:lstStyle/>
          <a:p>
            <a:pPr marL="0" indent="0">
              <a:buNone/>
            </a:pPr>
            <a:r>
              <a:rPr lang="en-US" sz="1700" dirty="0">
                <a:solidFill>
                  <a:srgbClr val="333333"/>
                </a:solidFill>
              </a:rPr>
              <a:t>•  Explain Copilot Credits billing and perform capacity planning</a:t>
            </a:r>
            <a:endParaRPr lang="en-US" sz="1700" dirty="0"/>
          </a:p>
        </p:txBody>
      </p:sp>
      <p:sp>
        <p:nvSpPr>
          <p:cNvPr id="11" name="Text 9"/>
          <p:cNvSpPr/>
          <p:nvPr/>
        </p:nvSpPr>
        <p:spPr>
          <a:xfrm>
            <a:off x="145917" y="2981059"/>
            <a:ext cx="8164706" cy="114300"/>
          </a:xfrm>
          <a:prstGeom prst="rect">
            <a:avLst/>
          </a:prstGeom>
          <a:noFill/>
          <a:ln/>
        </p:spPr>
        <p:txBody>
          <a:bodyPr wrap="square" rtlCol="0" anchor="ctr"/>
          <a:lstStyle/>
          <a:p>
            <a:pPr marL="0" indent="0">
              <a:buNone/>
            </a:pPr>
            <a:r>
              <a:rPr lang="en-US" sz="1700" dirty="0">
                <a:solidFill>
                  <a:srgbClr val="333333"/>
                </a:solidFill>
              </a:rPr>
              <a:t>•  Create a production readiness checklist for BFSI deployments</a:t>
            </a:r>
            <a:endParaRPr lang="en-US" sz="1700" dirty="0"/>
          </a:p>
        </p:txBody>
      </p:sp>
      <p:sp>
        <p:nvSpPr>
          <p:cNvPr id="12" name="Text 10"/>
          <p:cNvSpPr/>
          <p:nvPr/>
        </p:nvSpPr>
        <p:spPr>
          <a:xfrm>
            <a:off x="145917" y="3291260"/>
            <a:ext cx="8164706" cy="114300"/>
          </a:xfrm>
          <a:prstGeom prst="rect">
            <a:avLst/>
          </a:prstGeom>
          <a:noFill/>
          <a:ln/>
        </p:spPr>
        <p:txBody>
          <a:bodyPr wrap="square" rtlCol="0" anchor="ctr"/>
          <a:lstStyle/>
          <a:p>
            <a:pPr marL="0" indent="0">
              <a:buNone/>
            </a:pPr>
            <a:r>
              <a:rPr lang="en-US" sz="1700" dirty="0">
                <a:solidFill>
                  <a:srgbClr val="333333"/>
                </a:solidFill>
              </a:rPr>
              <a:t>•  Map system components to BFSI regulatory requirements (IRDAI)</a:t>
            </a:r>
            <a:endParaRPr lang="en-US" sz="1700" dirty="0"/>
          </a:p>
        </p:txBody>
      </p:sp>
      <p:sp>
        <p:nvSpPr>
          <p:cNvPr id="14" name="Text 14">
            <a:extLst>
              <a:ext uri="{FF2B5EF4-FFF2-40B4-BE49-F238E27FC236}">
                <a16:creationId xmlns:a16="http://schemas.microsoft.com/office/drawing/2014/main" id="{0CCBD3FD-57EE-B063-280B-F1627E1AD4E3}"/>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96055" y="457200"/>
            <a:ext cx="8551889" cy="731520"/>
          </a:xfrm>
          <a:prstGeom prst="rect">
            <a:avLst/>
          </a:prstGeom>
          <a:noFill/>
          <a:ln/>
        </p:spPr>
        <p:txBody>
          <a:bodyPr wrap="square" rtlCol="0" anchor="ctr"/>
          <a:lstStyle/>
          <a:p>
            <a:pPr marL="0" indent="0">
              <a:buNone/>
            </a:pPr>
            <a:r>
              <a:rPr lang="en-US" sz="3200" b="1" dirty="0">
                <a:solidFill>
                  <a:srgbClr val="333333"/>
                </a:solidFill>
              </a:rPr>
              <a:t>Prerequisites</a:t>
            </a:r>
            <a:endParaRPr lang="en-US" sz="3200" dirty="0"/>
          </a:p>
        </p:txBody>
      </p:sp>
      <p:sp>
        <p:nvSpPr>
          <p:cNvPr id="4" name="Shape 2"/>
          <p:cNvSpPr/>
          <p:nvPr/>
        </p:nvSpPr>
        <p:spPr>
          <a:xfrm>
            <a:off x="296055" y="1097280"/>
            <a:ext cx="8551889" cy="18288"/>
          </a:xfrm>
          <a:prstGeom prst="rect">
            <a:avLst/>
          </a:prstGeom>
          <a:solidFill>
            <a:srgbClr val="C8C8C8"/>
          </a:solidFill>
          <a:ln/>
        </p:spPr>
        <p:txBody>
          <a:bodyPr/>
          <a:lstStyle/>
          <a:p>
            <a:endParaRPr lang="en-IN"/>
          </a:p>
        </p:txBody>
      </p:sp>
      <p:sp>
        <p:nvSpPr>
          <p:cNvPr id="5" name="Text 3"/>
          <p:cNvSpPr/>
          <p:nvPr/>
        </p:nvSpPr>
        <p:spPr>
          <a:xfrm>
            <a:off x="296055" y="1463040"/>
            <a:ext cx="8551889" cy="548640"/>
          </a:xfrm>
          <a:prstGeom prst="rect">
            <a:avLst/>
          </a:prstGeom>
          <a:noFill/>
          <a:ln/>
        </p:spPr>
        <p:txBody>
          <a:bodyPr wrap="square" rtlCol="0" anchor="ctr"/>
          <a:lstStyle/>
          <a:p>
            <a:pPr marL="0" indent="0">
              <a:buNone/>
            </a:pPr>
            <a:r>
              <a:rPr lang="en-US" sz="1800" dirty="0">
                <a:solidFill>
                  <a:srgbClr val="333333"/>
                </a:solidFill>
              </a:rPr>
              <a:t>•  Completion of Modules 04-11: Full Contoso Insurance agent system built</a:t>
            </a:r>
            <a:endParaRPr lang="en-US" sz="1800" dirty="0"/>
          </a:p>
        </p:txBody>
      </p:sp>
      <p:sp>
        <p:nvSpPr>
          <p:cNvPr id="6" name="Text 4"/>
          <p:cNvSpPr/>
          <p:nvPr/>
        </p:nvSpPr>
        <p:spPr>
          <a:xfrm>
            <a:off x="296055" y="2103120"/>
            <a:ext cx="8551889" cy="548640"/>
          </a:xfrm>
          <a:prstGeom prst="rect">
            <a:avLst/>
          </a:prstGeom>
          <a:noFill/>
          <a:ln/>
        </p:spPr>
        <p:txBody>
          <a:bodyPr wrap="square" rtlCol="0" anchor="ctr"/>
          <a:lstStyle/>
          <a:p>
            <a:pPr marL="0" indent="0">
              <a:buNone/>
            </a:pPr>
            <a:r>
              <a:rPr lang="en-US" sz="1800" dirty="0">
                <a:solidFill>
                  <a:srgbClr val="333333"/>
                </a:solidFill>
              </a:rPr>
              <a:t>•  Environment Admin role in Power Platform training environment</a:t>
            </a:r>
            <a:endParaRPr lang="en-US" sz="1800" dirty="0"/>
          </a:p>
        </p:txBody>
      </p:sp>
      <p:sp>
        <p:nvSpPr>
          <p:cNvPr id="7" name="Text 5"/>
          <p:cNvSpPr/>
          <p:nvPr/>
        </p:nvSpPr>
        <p:spPr>
          <a:xfrm>
            <a:off x="296055" y="2743200"/>
            <a:ext cx="8551889" cy="548640"/>
          </a:xfrm>
          <a:prstGeom prst="rect">
            <a:avLst/>
          </a:prstGeom>
          <a:noFill/>
          <a:ln/>
        </p:spPr>
        <p:txBody>
          <a:bodyPr wrap="square" rtlCol="0" anchor="ctr"/>
          <a:lstStyle/>
          <a:p>
            <a:pPr marL="0" indent="0">
              <a:buNone/>
            </a:pPr>
            <a:r>
              <a:rPr lang="en-US" sz="1800" dirty="0">
                <a:solidFill>
                  <a:srgbClr val="333333"/>
                </a:solidFill>
              </a:rPr>
              <a:t>•  Copilot Studio admin centre access for governance settings</a:t>
            </a:r>
            <a:endParaRPr lang="en-US" sz="1800" dirty="0"/>
          </a:p>
        </p:txBody>
      </p:sp>
      <p:sp>
        <p:nvSpPr>
          <p:cNvPr id="8" name="Text 6"/>
          <p:cNvSpPr/>
          <p:nvPr/>
        </p:nvSpPr>
        <p:spPr>
          <a:xfrm>
            <a:off x="296055" y="3383280"/>
            <a:ext cx="8551889" cy="548640"/>
          </a:xfrm>
          <a:prstGeom prst="rect">
            <a:avLst/>
          </a:prstGeom>
          <a:noFill/>
          <a:ln/>
        </p:spPr>
        <p:txBody>
          <a:bodyPr wrap="square" rtlCol="0" anchor="ctr"/>
          <a:lstStyle/>
          <a:p>
            <a:pPr marL="0" indent="0">
              <a:buNone/>
            </a:pPr>
            <a:r>
              <a:rPr lang="en-US" sz="1800" dirty="0">
                <a:solidFill>
                  <a:srgbClr val="333333"/>
                </a:solidFill>
              </a:rPr>
              <a:t>•  Power Platform Admin Centre access for environment settings</a:t>
            </a:r>
            <a:endParaRPr lang="en-US" sz="1800" dirty="0"/>
          </a:p>
        </p:txBody>
      </p:sp>
      <p:sp>
        <p:nvSpPr>
          <p:cNvPr id="9" name="Text 7"/>
          <p:cNvSpPr/>
          <p:nvPr/>
        </p:nvSpPr>
        <p:spPr>
          <a:xfrm>
            <a:off x="296055" y="4023360"/>
            <a:ext cx="8551889" cy="548640"/>
          </a:xfrm>
          <a:prstGeom prst="rect">
            <a:avLst/>
          </a:prstGeom>
          <a:noFill/>
          <a:ln/>
        </p:spPr>
        <p:txBody>
          <a:bodyPr wrap="square" rtlCol="0" anchor="ctr"/>
          <a:lstStyle/>
          <a:p>
            <a:pPr marL="0" indent="0">
              <a:buNone/>
            </a:pPr>
            <a:r>
              <a:rPr lang="en-US" sz="1800" dirty="0">
                <a:solidFill>
                  <a:srgbClr val="333333"/>
                </a:solidFill>
              </a:rPr>
              <a:t>•  Familiarity with BFSI compliance concepts</a:t>
            </a:r>
            <a:endParaRPr lang="en-US" sz="1800" dirty="0"/>
          </a:p>
        </p:txBody>
      </p:sp>
      <p:sp>
        <p:nvSpPr>
          <p:cNvPr id="11" name="Text 14">
            <a:extLst>
              <a:ext uri="{FF2B5EF4-FFF2-40B4-BE49-F238E27FC236}">
                <a16:creationId xmlns:a16="http://schemas.microsoft.com/office/drawing/2014/main" id="{67C25F58-D34D-1BAE-A3DF-2008AA085DE3}"/>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SECTION 1</a:t>
            </a:r>
            <a:endParaRPr lang="en-US" sz="1800" dirty="0"/>
          </a:p>
        </p:txBody>
      </p:sp>
      <p:sp>
        <p:nvSpPr>
          <p:cNvPr id="5" name="Text 3"/>
          <p:cNvSpPr/>
          <p:nvPr/>
        </p:nvSpPr>
        <p:spPr>
          <a:xfrm>
            <a:off x="457200" y="3108960"/>
            <a:ext cx="8469443" cy="1097280"/>
          </a:xfrm>
          <a:prstGeom prst="rect">
            <a:avLst/>
          </a:prstGeom>
          <a:noFill/>
          <a:ln/>
        </p:spPr>
        <p:txBody>
          <a:bodyPr wrap="square" rtlCol="0" anchor="ctr"/>
          <a:lstStyle/>
          <a:p>
            <a:pPr marL="0" indent="0">
              <a:buNone/>
            </a:pPr>
            <a:r>
              <a:rPr lang="en-US" sz="4000" b="1" dirty="0">
                <a:solidFill>
                  <a:srgbClr val="FFFFFF"/>
                </a:solidFill>
              </a:rPr>
              <a:t>The Five Pillars of Production Readiness</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27037"/>
            <a:ext cx="9144000" cy="137160"/>
          </a:xfrm>
          <a:prstGeom prst="rect">
            <a:avLst/>
          </a:prstGeom>
          <a:solidFill>
            <a:srgbClr val="FFE600"/>
          </a:solidFill>
          <a:ln/>
        </p:spPr>
        <p:txBody>
          <a:bodyPr/>
          <a:lstStyle/>
          <a:p>
            <a:endParaRPr lang="en-IN"/>
          </a:p>
        </p:txBody>
      </p:sp>
      <p:sp>
        <p:nvSpPr>
          <p:cNvPr id="3" name="Text 1"/>
          <p:cNvSpPr/>
          <p:nvPr/>
        </p:nvSpPr>
        <p:spPr>
          <a:xfrm>
            <a:off x="67456" y="363429"/>
            <a:ext cx="8529403" cy="457200"/>
          </a:xfrm>
          <a:prstGeom prst="rect">
            <a:avLst/>
          </a:prstGeom>
          <a:noFill/>
          <a:ln/>
        </p:spPr>
        <p:txBody>
          <a:bodyPr wrap="square" rtlCol="0" anchor="ctr"/>
          <a:lstStyle/>
          <a:p>
            <a:pPr marL="0" indent="0">
              <a:buNone/>
            </a:pPr>
            <a:r>
              <a:rPr lang="en-US" sz="3200" b="1" dirty="0">
                <a:solidFill>
                  <a:srgbClr val="333333"/>
                </a:solidFill>
              </a:rPr>
              <a:t>The Five Pillars Framework</a:t>
            </a:r>
            <a:endParaRPr lang="en-US" sz="3200" dirty="0"/>
          </a:p>
        </p:txBody>
      </p:sp>
      <p:sp>
        <p:nvSpPr>
          <p:cNvPr id="4" name="Shape 2"/>
          <p:cNvSpPr/>
          <p:nvPr/>
        </p:nvSpPr>
        <p:spPr>
          <a:xfrm>
            <a:off x="67456" y="917127"/>
            <a:ext cx="8529403" cy="18288"/>
          </a:xfrm>
          <a:prstGeom prst="rect">
            <a:avLst/>
          </a:prstGeom>
          <a:solidFill>
            <a:srgbClr val="C8C8C8"/>
          </a:solidFill>
          <a:ln/>
        </p:spPr>
        <p:txBody>
          <a:bodyPr/>
          <a:lstStyle/>
          <a:p>
            <a:endParaRPr lang="en-IN"/>
          </a:p>
        </p:txBody>
      </p:sp>
      <p:sp>
        <p:nvSpPr>
          <p:cNvPr id="5" name="Text 3"/>
          <p:cNvSpPr/>
          <p:nvPr/>
        </p:nvSpPr>
        <p:spPr>
          <a:xfrm>
            <a:off x="172387" y="1112486"/>
            <a:ext cx="8634333" cy="457200"/>
          </a:xfrm>
          <a:prstGeom prst="rect">
            <a:avLst/>
          </a:prstGeom>
          <a:noFill/>
          <a:ln/>
        </p:spPr>
        <p:txBody>
          <a:bodyPr wrap="square" rtlCol="0" anchor="ctr"/>
          <a:lstStyle/>
          <a:p>
            <a:pPr marL="0" indent="0">
              <a:buNone/>
            </a:pPr>
            <a:r>
              <a:rPr lang="en-US" sz="2000" b="1" dirty="0">
                <a:solidFill>
                  <a:srgbClr val="333333"/>
                </a:solidFill>
              </a:rPr>
              <a:t>•  Pillar 1: Security &amp; Access Control</a:t>
            </a:r>
            <a:endParaRPr lang="en-US" sz="2000" dirty="0"/>
          </a:p>
        </p:txBody>
      </p:sp>
      <p:sp>
        <p:nvSpPr>
          <p:cNvPr id="6" name="Text 4"/>
          <p:cNvSpPr/>
          <p:nvPr/>
        </p:nvSpPr>
        <p:spPr>
          <a:xfrm>
            <a:off x="172386" y="1406481"/>
            <a:ext cx="8634333" cy="457200"/>
          </a:xfrm>
          <a:prstGeom prst="rect">
            <a:avLst/>
          </a:prstGeom>
          <a:noFill/>
          <a:ln/>
        </p:spPr>
        <p:txBody>
          <a:bodyPr wrap="square" rtlCol="0" anchor="ctr"/>
          <a:lstStyle/>
          <a:p>
            <a:pPr marL="0" indent="0">
              <a:buNone/>
            </a:pPr>
            <a:r>
              <a:rPr lang="en-US" sz="1600" dirty="0">
                <a:solidFill>
                  <a:srgbClr val="808080"/>
                </a:solidFill>
              </a:rPr>
              <a:t>    — Who can access what data and operations</a:t>
            </a:r>
            <a:endParaRPr lang="en-US" sz="1600" dirty="0"/>
          </a:p>
        </p:txBody>
      </p:sp>
      <p:sp>
        <p:nvSpPr>
          <p:cNvPr id="7" name="Text 5"/>
          <p:cNvSpPr/>
          <p:nvPr/>
        </p:nvSpPr>
        <p:spPr>
          <a:xfrm>
            <a:off x="172387" y="1922423"/>
            <a:ext cx="8634333" cy="457200"/>
          </a:xfrm>
          <a:prstGeom prst="rect">
            <a:avLst/>
          </a:prstGeom>
          <a:noFill/>
          <a:ln/>
        </p:spPr>
        <p:txBody>
          <a:bodyPr wrap="square" rtlCol="0" anchor="ctr"/>
          <a:lstStyle/>
          <a:p>
            <a:pPr marL="0" indent="0">
              <a:buNone/>
            </a:pPr>
            <a:r>
              <a:rPr lang="en-US" sz="2000" b="1" dirty="0">
                <a:solidFill>
                  <a:srgbClr val="333333"/>
                </a:solidFill>
              </a:rPr>
              <a:t>•  Pillar 2: Auditing &amp; Compliance</a:t>
            </a:r>
            <a:endParaRPr lang="en-US" sz="2000" dirty="0"/>
          </a:p>
        </p:txBody>
      </p:sp>
      <p:sp>
        <p:nvSpPr>
          <p:cNvPr id="8" name="Text 6"/>
          <p:cNvSpPr/>
          <p:nvPr/>
        </p:nvSpPr>
        <p:spPr>
          <a:xfrm>
            <a:off x="119920" y="2170283"/>
            <a:ext cx="8634333" cy="457200"/>
          </a:xfrm>
          <a:prstGeom prst="rect">
            <a:avLst/>
          </a:prstGeom>
          <a:noFill/>
          <a:ln/>
        </p:spPr>
        <p:txBody>
          <a:bodyPr wrap="square" rtlCol="0" anchor="ctr"/>
          <a:lstStyle/>
          <a:p>
            <a:pPr marL="0" indent="0">
              <a:buNone/>
            </a:pPr>
            <a:r>
              <a:rPr lang="en-US" sz="1600" dirty="0">
                <a:solidFill>
                  <a:srgbClr val="808080"/>
                </a:solidFill>
              </a:rPr>
              <a:t>    — Complete trail of all data changes and agent actions</a:t>
            </a:r>
            <a:endParaRPr lang="en-US" sz="1600" dirty="0"/>
          </a:p>
        </p:txBody>
      </p:sp>
      <p:sp>
        <p:nvSpPr>
          <p:cNvPr id="9" name="Text 7"/>
          <p:cNvSpPr/>
          <p:nvPr/>
        </p:nvSpPr>
        <p:spPr>
          <a:xfrm>
            <a:off x="119921" y="2686225"/>
            <a:ext cx="8634333" cy="457200"/>
          </a:xfrm>
          <a:prstGeom prst="rect">
            <a:avLst/>
          </a:prstGeom>
          <a:noFill/>
          <a:ln/>
        </p:spPr>
        <p:txBody>
          <a:bodyPr wrap="square" rtlCol="0" anchor="ctr"/>
          <a:lstStyle/>
          <a:p>
            <a:pPr marL="0" indent="0">
              <a:buNone/>
            </a:pPr>
            <a:r>
              <a:rPr lang="en-US" sz="2000" b="1" dirty="0">
                <a:solidFill>
                  <a:srgbClr val="333333"/>
                </a:solidFill>
              </a:rPr>
              <a:t>•  Pillar 3: Governance &amp; Monitoring</a:t>
            </a:r>
            <a:endParaRPr lang="en-US" sz="2000" dirty="0"/>
          </a:p>
        </p:txBody>
      </p:sp>
      <p:sp>
        <p:nvSpPr>
          <p:cNvPr id="10" name="Text 8"/>
          <p:cNvSpPr/>
          <p:nvPr/>
        </p:nvSpPr>
        <p:spPr>
          <a:xfrm>
            <a:off x="172387" y="2948550"/>
            <a:ext cx="8634333" cy="457200"/>
          </a:xfrm>
          <a:prstGeom prst="rect">
            <a:avLst/>
          </a:prstGeom>
          <a:noFill/>
          <a:ln/>
        </p:spPr>
        <p:txBody>
          <a:bodyPr wrap="square" rtlCol="0" anchor="ctr"/>
          <a:lstStyle/>
          <a:p>
            <a:pPr marL="0" indent="0">
              <a:buNone/>
            </a:pPr>
            <a:r>
              <a:rPr lang="en-US" sz="1600" dirty="0">
                <a:solidFill>
                  <a:srgbClr val="808080"/>
                </a:solidFill>
              </a:rPr>
              <a:t>    — Visibility, control, and alerting at scale</a:t>
            </a:r>
            <a:endParaRPr lang="en-US" sz="1600" dirty="0"/>
          </a:p>
        </p:txBody>
      </p:sp>
      <p:sp>
        <p:nvSpPr>
          <p:cNvPr id="11" name="Text 9"/>
          <p:cNvSpPr/>
          <p:nvPr/>
        </p:nvSpPr>
        <p:spPr>
          <a:xfrm>
            <a:off x="119919" y="3405750"/>
            <a:ext cx="8634333" cy="457200"/>
          </a:xfrm>
          <a:prstGeom prst="rect">
            <a:avLst/>
          </a:prstGeom>
          <a:noFill/>
          <a:ln/>
        </p:spPr>
        <p:txBody>
          <a:bodyPr wrap="square" rtlCol="0" anchor="ctr"/>
          <a:lstStyle/>
          <a:p>
            <a:pPr marL="0" indent="0">
              <a:buNone/>
            </a:pPr>
            <a:r>
              <a:rPr lang="en-US" sz="2000" b="1" dirty="0">
                <a:solidFill>
                  <a:srgbClr val="333333"/>
                </a:solidFill>
              </a:rPr>
              <a:t>•  Pillar 4: Environment &amp; ALM Strategy</a:t>
            </a:r>
            <a:endParaRPr lang="en-US" sz="2000" dirty="0"/>
          </a:p>
        </p:txBody>
      </p:sp>
      <p:sp>
        <p:nvSpPr>
          <p:cNvPr id="12" name="Text 10"/>
          <p:cNvSpPr/>
          <p:nvPr/>
        </p:nvSpPr>
        <p:spPr>
          <a:xfrm>
            <a:off x="172387" y="3668075"/>
            <a:ext cx="8634333" cy="457200"/>
          </a:xfrm>
          <a:prstGeom prst="rect">
            <a:avLst/>
          </a:prstGeom>
          <a:noFill/>
          <a:ln/>
        </p:spPr>
        <p:txBody>
          <a:bodyPr wrap="square" rtlCol="0" anchor="ctr"/>
          <a:lstStyle/>
          <a:p>
            <a:pPr marL="0" indent="0">
              <a:buNone/>
            </a:pPr>
            <a:r>
              <a:rPr lang="en-US" sz="1600" dirty="0">
                <a:solidFill>
                  <a:srgbClr val="808080"/>
                </a:solidFill>
              </a:rPr>
              <a:t>    — Dev/Test/Prod with controlled promotion</a:t>
            </a:r>
            <a:endParaRPr lang="en-US" sz="1600" dirty="0"/>
          </a:p>
        </p:txBody>
      </p:sp>
      <p:sp>
        <p:nvSpPr>
          <p:cNvPr id="13" name="Text 11"/>
          <p:cNvSpPr/>
          <p:nvPr/>
        </p:nvSpPr>
        <p:spPr>
          <a:xfrm>
            <a:off x="104931" y="4064739"/>
            <a:ext cx="8634333" cy="457200"/>
          </a:xfrm>
          <a:prstGeom prst="rect">
            <a:avLst/>
          </a:prstGeom>
          <a:noFill/>
          <a:ln/>
        </p:spPr>
        <p:txBody>
          <a:bodyPr wrap="square" rtlCol="0" anchor="ctr"/>
          <a:lstStyle/>
          <a:p>
            <a:pPr marL="0" indent="0">
              <a:buNone/>
            </a:pPr>
            <a:r>
              <a:rPr lang="en-US" sz="2000" b="1" dirty="0">
                <a:solidFill>
                  <a:srgbClr val="333333"/>
                </a:solidFill>
              </a:rPr>
              <a:t>•  Pillar 5: Cost &amp; Capacity Planning</a:t>
            </a:r>
            <a:endParaRPr lang="en-US" sz="2000" dirty="0"/>
          </a:p>
        </p:txBody>
      </p:sp>
      <p:sp>
        <p:nvSpPr>
          <p:cNvPr id="14" name="Text 12"/>
          <p:cNvSpPr/>
          <p:nvPr/>
        </p:nvSpPr>
        <p:spPr>
          <a:xfrm>
            <a:off x="104934" y="4327064"/>
            <a:ext cx="8634333" cy="457200"/>
          </a:xfrm>
          <a:prstGeom prst="rect">
            <a:avLst/>
          </a:prstGeom>
          <a:noFill/>
          <a:ln/>
        </p:spPr>
        <p:txBody>
          <a:bodyPr wrap="square" rtlCol="0" anchor="ctr"/>
          <a:lstStyle/>
          <a:p>
            <a:pPr marL="0" indent="0">
              <a:buNone/>
            </a:pPr>
            <a:r>
              <a:rPr lang="en-US" sz="1600" dirty="0">
                <a:solidFill>
                  <a:srgbClr val="808080"/>
                </a:solidFill>
              </a:rPr>
              <a:t>    — Predictable costs and adequate capacity</a:t>
            </a:r>
            <a:endParaRPr lang="en-US" sz="1600" dirty="0"/>
          </a:p>
        </p:txBody>
      </p:sp>
      <p:sp>
        <p:nvSpPr>
          <p:cNvPr id="16" name="Text 14">
            <a:extLst>
              <a:ext uri="{FF2B5EF4-FFF2-40B4-BE49-F238E27FC236}">
                <a16:creationId xmlns:a16="http://schemas.microsoft.com/office/drawing/2014/main" id="{68F1A04B-6241-B0E3-12DF-24FE0DB909F2}"/>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PILLAR 1</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Security &amp; Access Control</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461947" cy="731520"/>
          </a:xfrm>
          <a:prstGeom prst="rect">
            <a:avLst/>
          </a:prstGeom>
          <a:noFill/>
          <a:ln/>
        </p:spPr>
        <p:txBody>
          <a:bodyPr wrap="square" rtlCol="0" anchor="ctr"/>
          <a:lstStyle/>
          <a:p>
            <a:pPr marL="0" indent="0">
              <a:buNone/>
            </a:pPr>
            <a:r>
              <a:rPr lang="en-US" sz="3200" b="1" dirty="0">
                <a:solidFill>
                  <a:srgbClr val="333333"/>
                </a:solidFill>
              </a:rPr>
              <a:t>Dataverse Security Roles by Persona</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2352315172"/>
              </p:ext>
            </p:extLst>
          </p:nvPr>
        </p:nvGraphicFramePr>
        <p:xfrm>
          <a:off x="274320" y="1280160"/>
          <a:ext cx="8644827" cy="2743200"/>
        </p:xfrm>
        <a:graphic>
          <a:graphicData uri="http://schemas.openxmlformats.org/drawingml/2006/table">
            <a:tbl>
              <a:tblPr/>
              <a:tblGrid>
                <a:gridCol w="1383172">
                  <a:extLst>
                    <a:ext uri="{9D8B030D-6E8A-4147-A177-3AD203B41FA5}">
                      <a16:colId xmlns:a16="http://schemas.microsoft.com/office/drawing/2014/main" val="20000"/>
                    </a:ext>
                  </a:extLst>
                </a:gridCol>
                <a:gridCol w="1452331">
                  <a:extLst>
                    <a:ext uri="{9D8B030D-6E8A-4147-A177-3AD203B41FA5}">
                      <a16:colId xmlns:a16="http://schemas.microsoft.com/office/drawing/2014/main" val="20001"/>
                    </a:ext>
                  </a:extLst>
                </a:gridCol>
                <a:gridCol w="1452331">
                  <a:extLst>
                    <a:ext uri="{9D8B030D-6E8A-4147-A177-3AD203B41FA5}">
                      <a16:colId xmlns:a16="http://schemas.microsoft.com/office/drawing/2014/main" val="20002"/>
                    </a:ext>
                  </a:extLst>
                </a:gridCol>
                <a:gridCol w="1452331">
                  <a:extLst>
                    <a:ext uri="{9D8B030D-6E8A-4147-A177-3AD203B41FA5}">
                      <a16:colId xmlns:a16="http://schemas.microsoft.com/office/drawing/2014/main" val="20003"/>
                    </a:ext>
                  </a:extLst>
                </a:gridCol>
                <a:gridCol w="1452331">
                  <a:extLst>
                    <a:ext uri="{9D8B030D-6E8A-4147-A177-3AD203B41FA5}">
                      <a16:colId xmlns:a16="http://schemas.microsoft.com/office/drawing/2014/main" val="20004"/>
                    </a:ext>
                  </a:extLst>
                </a:gridCol>
                <a:gridCol w="1452331">
                  <a:extLst>
                    <a:ext uri="{9D8B030D-6E8A-4147-A177-3AD203B41FA5}">
                      <a16:colId xmlns:a16="http://schemas.microsoft.com/office/drawing/2014/main" val="20005"/>
                    </a:ext>
                  </a:extLst>
                </a:gridCol>
              </a:tblGrid>
              <a:tr h="548640">
                <a:tc>
                  <a:txBody>
                    <a:bodyPr/>
                    <a:lstStyle/>
                    <a:p>
                      <a:pPr marL="0" indent="0" algn="l">
                        <a:buNone/>
                      </a:pPr>
                      <a:r>
                        <a:rPr lang="en-US" sz="1200" b="1" dirty="0">
                          <a:solidFill>
                            <a:srgbClr val="FFFFFF"/>
                          </a:solidFill>
                        </a:rPr>
                        <a:t>Role Name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Claims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Customers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Policies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AgentTaskLog</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ApprovalLog</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48640">
                <a:tc>
                  <a:txBody>
                    <a:bodyPr/>
                    <a:lstStyle/>
                    <a:p>
                      <a:pPr marL="0" indent="0" algn="l">
                        <a:buNone/>
                      </a:pPr>
                      <a:r>
                        <a:rPr lang="en-US" sz="1200" dirty="0">
                          <a:solidFill>
                            <a:srgbClr val="333333"/>
                          </a:solidFill>
                        </a:rPr>
                        <a:t>Claims Agent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Create, Read, Write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Create, 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200" dirty="0">
                          <a:solidFill>
                            <a:srgbClr val="333333"/>
                          </a:solidFill>
                        </a:rPr>
                        <a:t>Approver Role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 Write (status)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Create, Read, Write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200" dirty="0">
                          <a:solidFill>
                            <a:srgbClr val="333333"/>
                          </a:solidFill>
                        </a:rPr>
                        <a:t>System Admin</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Full Access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Full Access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Full Access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Full Access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Full Access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200" dirty="0">
                          <a:solidFill>
                            <a:srgbClr val="333333"/>
                          </a:solidFill>
                        </a:rPr>
                        <a:t>BI Analyst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Read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3449256" y="3919767"/>
            <a:ext cx="5576378" cy="457200"/>
          </a:xfrm>
          <a:prstGeom prst="rect">
            <a:avLst/>
          </a:prstGeom>
          <a:noFill/>
          <a:ln/>
        </p:spPr>
        <p:txBody>
          <a:bodyPr wrap="square" rtlCol="0" anchor="ctr"/>
          <a:lstStyle/>
          <a:p>
            <a:pPr marL="0" indent="0">
              <a:buNone/>
            </a:pPr>
            <a:r>
              <a:rPr lang="en-US" sz="1400" i="1" dirty="0">
                <a:solidFill>
                  <a:srgbClr val="2E3192"/>
                </a:solidFill>
              </a:rPr>
              <a:t>Principle of Least Privilege: Each role has only the minimum access needed</a:t>
            </a:r>
            <a:endParaRPr lang="en-US" sz="1400" dirty="0"/>
          </a:p>
        </p:txBody>
      </p:sp>
      <p:sp>
        <p:nvSpPr>
          <p:cNvPr id="4" name="Text 14">
            <a:extLst>
              <a:ext uri="{FF2B5EF4-FFF2-40B4-BE49-F238E27FC236}">
                <a16:creationId xmlns:a16="http://schemas.microsoft.com/office/drawing/2014/main" id="{635F3648-18F9-C91D-B9DC-87503E1C7ADE}"/>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22049" y="192405"/>
            <a:ext cx="8731770" cy="731520"/>
          </a:xfrm>
          <a:prstGeom prst="rect">
            <a:avLst/>
          </a:prstGeom>
          <a:noFill/>
          <a:ln/>
        </p:spPr>
        <p:txBody>
          <a:bodyPr wrap="square" rtlCol="0" anchor="ctr"/>
          <a:lstStyle/>
          <a:p>
            <a:pPr marL="0" indent="0">
              <a:buNone/>
            </a:pPr>
            <a:r>
              <a:rPr lang="en-US" sz="3200" b="1" dirty="0">
                <a:solidFill>
                  <a:srgbClr val="333333"/>
                </a:solidFill>
              </a:rPr>
              <a:t>MCP Access Boundaries</a:t>
            </a:r>
            <a:endParaRPr lang="en-US" sz="3200" dirty="0"/>
          </a:p>
        </p:txBody>
      </p:sp>
      <p:sp>
        <p:nvSpPr>
          <p:cNvPr id="4" name="Shape 2"/>
          <p:cNvSpPr/>
          <p:nvPr/>
        </p:nvSpPr>
        <p:spPr>
          <a:xfrm>
            <a:off x="122049" y="832485"/>
            <a:ext cx="8731770" cy="18288"/>
          </a:xfrm>
          <a:prstGeom prst="rect">
            <a:avLst/>
          </a:prstGeom>
          <a:solidFill>
            <a:srgbClr val="C8C8C8"/>
          </a:solidFill>
          <a:ln/>
        </p:spPr>
        <p:txBody>
          <a:bodyPr/>
          <a:lstStyle/>
          <a:p>
            <a:endParaRPr lang="en-IN"/>
          </a:p>
        </p:txBody>
      </p:sp>
      <p:sp>
        <p:nvSpPr>
          <p:cNvPr id="5" name="Text 3"/>
          <p:cNvSpPr/>
          <p:nvPr/>
        </p:nvSpPr>
        <p:spPr>
          <a:xfrm>
            <a:off x="122049" y="1106805"/>
            <a:ext cx="8731770" cy="548640"/>
          </a:xfrm>
          <a:prstGeom prst="rect">
            <a:avLst/>
          </a:prstGeom>
          <a:noFill/>
          <a:ln/>
        </p:spPr>
        <p:txBody>
          <a:bodyPr wrap="square" rtlCol="0" anchor="ctr"/>
          <a:lstStyle/>
          <a:p>
            <a:pPr marL="0" indent="0">
              <a:buNone/>
            </a:pPr>
            <a:r>
              <a:rPr lang="en-US" sz="1700" dirty="0">
                <a:solidFill>
                  <a:srgbClr val="333333"/>
                </a:solidFill>
              </a:rPr>
              <a:t>•  Additional restriction layer beyond Dataverse security roles</a:t>
            </a:r>
            <a:endParaRPr lang="en-US" sz="1700" dirty="0"/>
          </a:p>
        </p:txBody>
      </p:sp>
      <p:sp>
        <p:nvSpPr>
          <p:cNvPr id="6" name="Text 4"/>
          <p:cNvSpPr/>
          <p:nvPr/>
        </p:nvSpPr>
        <p:spPr>
          <a:xfrm>
            <a:off x="122049" y="1490853"/>
            <a:ext cx="8731770" cy="548640"/>
          </a:xfrm>
          <a:prstGeom prst="rect">
            <a:avLst/>
          </a:prstGeom>
          <a:noFill/>
          <a:ln/>
        </p:spPr>
        <p:txBody>
          <a:bodyPr wrap="square" rtlCol="0" anchor="ctr"/>
          <a:lstStyle/>
          <a:p>
            <a:pPr marL="0" indent="0">
              <a:buNone/>
            </a:pPr>
            <a:r>
              <a:rPr lang="en-US" sz="1700" dirty="0">
                <a:solidFill>
                  <a:srgbClr val="333333"/>
                </a:solidFill>
              </a:rPr>
              <a:t>•  Configured at the MCP Server tool connection level in Copilot Studio</a:t>
            </a:r>
            <a:endParaRPr lang="en-US" sz="1700" dirty="0"/>
          </a:p>
        </p:txBody>
      </p:sp>
      <p:sp>
        <p:nvSpPr>
          <p:cNvPr id="7" name="Text 5"/>
          <p:cNvSpPr/>
          <p:nvPr/>
        </p:nvSpPr>
        <p:spPr>
          <a:xfrm>
            <a:off x="122049" y="1852480"/>
            <a:ext cx="8731770" cy="548640"/>
          </a:xfrm>
          <a:prstGeom prst="rect">
            <a:avLst/>
          </a:prstGeom>
          <a:noFill/>
          <a:ln/>
        </p:spPr>
        <p:txBody>
          <a:bodyPr wrap="square" rtlCol="0" anchor="ctr"/>
          <a:lstStyle/>
          <a:p>
            <a:pPr marL="0" indent="0">
              <a:buNone/>
            </a:pPr>
            <a:r>
              <a:rPr lang="en-US" sz="1700" dirty="0">
                <a:solidFill>
                  <a:srgbClr val="333333"/>
                </a:solidFill>
              </a:rPr>
              <a:t>•  Table restrictions: Limit which tables the agent can query via MCP</a:t>
            </a:r>
            <a:endParaRPr lang="en-US" sz="1700" dirty="0"/>
          </a:p>
        </p:txBody>
      </p:sp>
      <p:sp>
        <p:nvSpPr>
          <p:cNvPr id="8" name="Text 6"/>
          <p:cNvSpPr/>
          <p:nvPr/>
        </p:nvSpPr>
        <p:spPr>
          <a:xfrm>
            <a:off x="122049" y="2256557"/>
            <a:ext cx="8731770" cy="548640"/>
          </a:xfrm>
          <a:prstGeom prst="rect">
            <a:avLst/>
          </a:prstGeom>
          <a:noFill/>
          <a:ln/>
        </p:spPr>
        <p:txBody>
          <a:bodyPr wrap="square" rtlCol="0" anchor="ctr"/>
          <a:lstStyle/>
          <a:p>
            <a:pPr marL="0" indent="0">
              <a:buNone/>
            </a:pPr>
            <a:r>
              <a:rPr lang="en-US" sz="1700" dirty="0">
                <a:solidFill>
                  <a:srgbClr val="333333"/>
                </a:solidFill>
              </a:rPr>
              <a:t>•  Column restrictions: Specify which columns are visible to the agent</a:t>
            </a:r>
            <a:endParaRPr lang="en-US" sz="1700" dirty="0"/>
          </a:p>
        </p:txBody>
      </p:sp>
      <p:sp>
        <p:nvSpPr>
          <p:cNvPr id="9" name="Text 7"/>
          <p:cNvSpPr/>
          <p:nvPr/>
        </p:nvSpPr>
        <p:spPr>
          <a:xfrm>
            <a:off x="122049" y="2618184"/>
            <a:ext cx="8731770" cy="548640"/>
          </a:xfrm>
          <a:prstGeom prst="rect">
            <a:avLst/>
          </a:prstGeom>
          <a:noFill/>
          <a:ln/>
        </p:spPr>
        <p:txBody>
          <a:bodyPr wrap="square" rtlCol="0" anchor="ctr"/>
          <a:lstStyle/>
          <a:p>
            <a:pPr marL="0" indent="0">
              <a:buNone/>
            </a:pPr>
            <a:r>
              <a:rPr lang="en-US" sz="1700" dirty="0">
                <a:solidFill>
                  <a:srgbClr val="333333"/>
                </a:solidFill>
              </a:rPr>
              <a:t>•  Operation restrictions: Allow only specific operations (Read, Create, Update)</a:t>
            </a:r>
            <a:endParaRPr lang="en-US" sz="1700" dirty="0"/>
          </a:p>
        </p:txBody>
      </p:sp>
      <p:sp>
        <p:nvSpPr>
          <p:cNvPr id="10" name="Text 8"/>
          <p:cNvSpPr/>
          <p:nvPr/>
        </p:nvSpPr>
        <p:spPr>
          <a:xfrm>
            <a:off x="122049" y="2953936"/>
            <a:ext cx="8731770" cy="548640"/>
          </a:xfrm>
          <a:prstGeom prst="rect">
            <a:avLst/>
          </a:prstGeom>
          <a:noFill/>
          <a:ln/>
        </p:spPr>
        <p:txBody>
          <a:bodyPr wrap="square" rtlCol="0" anchor="ctr"/>
          <a:lstStyle/>
          <a:p>
            <a:pPr marL="0" indent="0">
              <a:buNone/>
            </a:pPr>
            <a:r>
              <a:rPr lang="en-US" sz="1700" dirty="0">
                <a:solidFill>
                  <a:srgbClr val="333333"/>
                </a:solidFill>
              </a:rPr>
              <a:t>•  Row-level filtering: Restrict data access based on conditions</a:t>
            </a:r>
            <a:endParaRPr lang="en-US" sz="1700" dirty="0"/>
          </a:p>
        </p:txBody>
      </p:sp>
      <p:sp>
        <p:nvSpPr>
          <p:cNvPr id="11" name="Text 9"/>
          <p:cNvSpPr/>
          <p:nvPr/>
        </p:nvSpPr>
        <p:spPr>
          <a:xfrm>
            <a:off x="122049" y="3338026"/>
            <a:ext cx="8731770" cy="548640"/>
          </a:xfrm>
          <a:prstGeom prst="rect">
            <a:avLst/>
          </a:prstGeom>
          <a:noFill/>
          <a:ln/>
        </p:spPr>
        <p:txBody>
          <a:bodyPr wrap="square" rtlCol="0" anchor="ctr"/>
          <a:lstStyle/>
          <a:p>
            <a:pPr marL="0" indent="0">
              <a:buNone/>
            </a:pPr>
            <a:r>
              <a:rPr lang="en-US" sz="1700" dirty="0">
                <a:solidFill>
                  <a:srgbClr val="333333"/>
                </a:solidFill>
              </a:rPr>
              <a:t>•  Example: Claims Agent MCP sees only Claims, Customers (read), Policies (read)</a:t>
            </a:r>
            <a:endParaRPr lang="en-US" sz="1700" dirty="0"/>
          </a:p>
        </p:txBody>
      </p:sp>
      <p:sp>
        <p:nvSpPr>
          <p:cNvPr id="13" name="Text 14">
            <a:extLst>
              <a:ext uri="{FF2B5EF4-FFF2-40B4-BE49-F238E27FC236}">
                <a16:creationId xmlns:a16="http://schemas.microsoft.com/office/drawing/2014/main" id="{66810B97-C6EB-7A01-D63C-FEDD83123A13}"/>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357016" cy="731520"/>
          </a:xfrm>
          <a:prstGeom prst="rect">
            <a:avLst/>
          </a:prstGeom>
          <a:noFill/>
          <a:ln/>
        </p:spPr>
        <p:txBody>
          <a:bodyPr wrap="square" rtlCol="0" anchor="ctr"/>
          <a:lstStyle/>
          <a:p>
            <a:pPr marL="0" indent="0">
              <a:buNone/>
            </a:pPr>
            <a:r>
              <a:rPr lang="en-US" sz="3200" b="1" dirty="0">
                <a:solidFill>
                  <a:srgbClr val="333333"/>
                </a:solidFill>
              </a:rPr>
              <a:t>Security Layers: Defense in Depth</a:t>
            </a:r>
            <a:endParaRPr lang="en-US" sz="3200" dirty="0"/>
          </a:p>
        </p:txBody>
      </p:sp>
      <p:sp>
        <p:nvSpPr>
          <p:cNvPr id="4" name="Text 2"/>
          <p:cNvSpPr/>
          <p:nvPr/>
        </p:nvSpPr>
        <p:spPr>
          <a:xfrm>
            <a:off x="457200" y="1280160"/>
            <a:ext cx="5303520" cy="457200"/>
          </a:xfrm>
          <a:prstGeom prst="rect">
            <a:avLst/>
          </a:prstGeom>
          <a:noFill/>
          <a:ln/>
        </p:spPr>
        <p:txBody>
          <a:bodyPr wrap="square" rtlCol="0" anchor="ctr"/>
          <a:lstStyle/>
          <a:p>
            <a:pPr marL="0" indent="0">
              <a:buNone/>
            </a:pPr>
            <a:r>
              <a:rPr lang="en-US" sz="2000" b="1" dirty="0">
                <a:solidFill>
                  <a:srgbClr val="2E3192"/>
                </a:solidFill>
              </a:rPr>
              <a:t>Security Role Layer</a:t>
            </a:r>
            <a:endParaRPr lang="en-US" sz="2000" dirty="0"/>
          </a:p>
        </p:txBody>
      </p:sp>
      <p:sp>
        <p:nvSpPr>
          <p:cNvPr id="5" name="Text 3"/>
          <p:cNvSpPr/>
          <p:nvPr/>
        </p:nvSpPr>
        <p:spPr>
          <a:xfrm>
            <a:off x="457200" y="1828800"/>
            <a:ext cx="5303520" cy="502920"/>
          </a:xfrm>
          <a:prstGeom prst="rect">
            <a:avLst/>
          </a:prstGeom>
          <a:noFill/>
          <a:ln/>
        </p:spPr>
        <p:txBody>
          <a:bodyPr wrap="square" rtlCol="0" anchor="ctr"/>
          <a:lstStyle/>
          <a:p>
            <a:pPr marL="0" indent="0">
              <a:buNone/>
            </a:pPr>
            <a:r>
              <a:rPr lang="en-US" sz="1500" dirty="0">
                <a:solidFill>
                  <a:srgbClr val="333333"/>
                </a:solidFill>
              </a:rPr>
              <a:t>•  Dataverse native security</a:t>
            </a:r>
            <a:endParaRPr lang="en-US" sz="1500" dirty="0"/>
          </a:p>
        </p:txBody>
      </p:sp>
      <p:sp>
        <p:nvSpPr>
          <p:cNvPr id="6" name="Text 4"/>
          <p:cNvSpPr/>
          <p:nvPr/>
        </p:nvSpPr>
        <p:spPr>
          <a:xfrm>
            <a:off x="457200" y="2377440"/>
            <a:ext cx="5303520" cy="502920"/>
          </a:xfrm>
          <a:prstGeom prst="rect">
            <a:avLst/>
          </a:prstGeom>
          <a:noFill/>
          <a:ln/>
        </p:spPr>
        <p:txBody>
          <a:bodyPr wrap="square" rtlCol="0" anchor="ctr"/>
          <a:lstStyle/>
          <a:p>
            <a:pPr marL="0" indent="0">
              <a:buNone/>
            </a:pPr>
            <a:r>
              <a:rPr lang="en-US" sz="1500" dirty="0">
                <a:solidFill>
                  <a:srgbClr val="333333"/>
                </a:solidFill>
              </a:rPr>
              <a:t>•  Applied at user/service principal level</a:t>
            </a:r>
            <a:endParaRPr lang="en-US" sz="1500" dirty="0"/>
          </a:p>
        </p:txBody>
      </p:sp>
      <p:sp>
        <p:nvSpPr>
          <p:cNvPr id="7" name="Text 5"/>
          <p:cNvSpPr/>
          <p:nvPr/>
        </p:nvSpPr>
        <p:spPr>
          <a:xfrm>
            <a:off x="457200" y="2926080"/>
            <a:ext cx="5303520" cy="502920"/>
          </a:xfrm>
          <a:prstGeom prst="rect">
            <a:avLst/>
          </a:prstGeom>
          <a:noFill/>
          <a:ln/>
        </p:spPr>
        <p:txBody>
          <a:bodyPr wrap="square" rtlCol="0" anchor="ctr"/>
          <a:lstStyle/>
          <a:p>
            <a:pPr marL="0" indent="0">
              <a:buNone/>
            </a:pPr>
            <a:r>
              <a:rPr lang="en-US" sz="1500" dirty="0">
                <a:solidFill>
                  <a:srgbClr val="333333"/>
                </a:solidFill>
              </a:rPr>
              <a:t>•  Controls table, column, row access</a:t>
            </a:r>
            <a:endParaRPr lang="en-US" sz="1500" dirty="0"/>
          </a:p>
        </p:txBody>
      </p:sp>
      <p:sp>
        <p:nvSpPr>
          <p:cNvPr id="8" name="Text 6"/>
          <p:cNvSpPr/>
          <p:nvPr/>
        </p:nvSpPr>
        <p:spPr>
          <a:xfrm>
            <a:off x="457200" y="3474720"/>
            <a:ext cx="5303520" cy="502920"/>
          </a:xfrm>
          <a:prstGeom prst="rect">
            <a:avLst/>
          </a:prstGeom>
          <a:noFill/>
          <a:ln/>
        </p:spPr>
        <p:txBody>
          <a:bodyPr wrap="square" rtlCol="0" anchor="ctr"/>
          <a:lstStyle/>
          <a:p>
            <a:pPr marL="0" indent="0">
              <a:buNone/>
            </a:pPr>
            <a:r>
              <a:rPr lang="en-US" sz="1500" dirty="0">
                <a:solidFill>
                  <a:srgbClr val="333333"/>
                </a:solidFill>
              </a:rPr>
              <a:t>•  Managed in Power Platform Admin Center</a:t>
            </a:r>
            <a:endParaRPr lang="en-US" sz="1500" dirty="0"/>
          </a:p>
        </p:txBody>
      </p:sp>
      <p:sp>
        <p:nvSpPr>
          <p:cNvPr id="9" name="Text 7"/>
          <p:cNvSpPr/>
          <p:nvPr/>
        </p:nvSpPr>
        <p:spPr>
          <a:xfrm>
            <a:off x="457200" y="4023360"/>
            <a:ext cx="5303520" cy="502920"/>
          </a:xfrm>
          <a:prstGeom prst="rect">
            <a:avLst/>
          </a:prstGeom>
          <a:noFill/>
          <a:ln/>
        </p:spPr>
        <p:txBody>
          <a:bodyPr wrap="square" rtlCol="0" anchor="ctr"/>
          <a:lstStyle/>
          <a:p>
            <a:pPr marL="0" indent="0">
              <a:buNone/>
            </a:pPr>
            <a:r>
              <a:rPr lang="en-US" sz="1500" dirty="0">
                <a:solidFill>
                  <a:srgbClr val="333333"/>
                </a:solidFill>
              </a:rPr>
              <a:t>•  Applies to all Dataverse access</a:t>
            </a:r>
            <a:endParaRPr lang="en-US" sz="1500" dirty="0"/>
          </a:p>
        </p:txBody>
      </p:sp>
      <p:sp>
        <p:nvSpPr>
          <p:cNvPr id="10" name="Text 8"/>
          <p:cNvSpPr/>
          <p:nvPr/>
        </p:nvSpPr>
        <p:spPr>
          <a:xfrm>
            <a:off x="4651448" y="1280160"/>
            <a:ext cx="4267700" cy="457200"/>
          </a:xfrm>
          <a:prstGeom prst="rect">
            <a:avLst/>
          </a:prstGeom>
          <a:noFill/>
          <a:ln/>
        </p:spPr>
        <p:txBody>
          <a:bodyPr wrap="square" rtlCol="0" anchor="ctr"/>
          <a:lstStyle/>
          <a:p>
            <a:pPr marL="0" indent="0">
              <a:buNone/>
            </a:pPr>
            <a:r>
              <a:rPr lang="en-US" sz="2000" b="1" dirty="0">
                <a:solidFill>
                  <a:srgbClr val="2E3192"/>
                </a:solidFill>
              </a:rPr>
              <a:t>MCP Boundary Layer</a:t>
            </a:r>
            <a:endParaRPr lang="en-US" sz="2000" dirty="0"/>
          </a:p>
        </p:txBody>
      </p:sp>
      <p:sp>
        <p:nvSpPr>
          <p:cNvPr id="11" name="Text 9"/>
          <p:cNvSpPr/>
          <p:nvPr/>
        </p:nvSpPr>
        <p:spPr>
          <a:xfrm>
            <a:off x="4651448" y="1828800"/>
            <a:ext cx="4267700" cy="502920"/>
          </a:xfrm>
          <a:prstGeom prst="rect">
            <a:avLst/>
          </a:prstGeom>
          <a:noFill/>
          <a:ln/>
        </p:spPr>
        <p:txBody>
          <a:bodyPr wrap="square" rtlCol="0" anchor="ctr"/>
          <a:lstStyle/>
          <a:p>
            <a:pPr marL="0" indent="0">
              <a:buNone/>
            </a:pPr>
            <a:r>
              <a:rPr lang="en-US" sz="1500" dirty="0">
                <a:solidFill>
                  <a:srgbClr val="333333"/>
                </a:solidFill>
              </a:rPr>
              <a:t>•  Agent-specific restrictions</a:t>
            </a:r>
            <a:endParaRPr lang="en-US" sz="1500" dirty="0"/>
          </a:p>
        </p:txBody>
      </p:sp>
      <p:sp>
        <p:nvSpPr>
          <p:cNvPr id="12" name="Text 10"/>
          <p:cNvSpPr/>
          <p:nvPr/>
        </p:nvSpPr>
        <p:spPr>
          <a:xfrm>
            <a:off x="4651448" y="2377440"/>
            <a:ext cx="4267700" cy="502920"/>
          </a:xfrm>
          <a:prstGeom prst="rect">
            <a:avLst/>
          </a:prstGeom>
          <a:noFill/>
          <a:ln/>
        </p:spPr>
        <p:txBody>
          <a:bodyPr wrap="square" rtlCol="0" anchor="ctr"/>
          <a:lstStyle/>
          <a:p>
            <a:pPr marL="0" indent="0">
              <a:buNone/>
            </a:pPr>
            <a:r>
              <a:rPr lang="en-US" sz="1500" dirty="0">
                <a:solidFill>
                  <a:srgbClr val="333333"/>
                </a:solidFill>
              </a:rPr>
              <a:t>•  Applied at tool connection level</a:t>
            </a:r>
            <a:endParaRPr lang="en-US" sz="1500" dirty="0"/>
          </a:p>
        </p:txBody>
      </p:sp>
      <p:sp>
        <p:nvSpPr>
          <p:cNvPr id="13" name="Text 11"/>
          <p:cNvSpPr/>
          <p:nvPr/>
        </p:nvSpPr>
        <p:spPr>
          <a:xfrm>
            <a:off x="4651448" y="2926080"/>
            <a:ext cx="4267700" cy="502920"/>
          </a:xfrm>
          <a:prstGeom prst="rect">
            <a:avLst/>
          </a:prstGeom>
          <a:noFill/>
          <a:ln/>
        </p:spPr>
        <p:txBody>
          <a:bodyPr wrap="square" rtlCol="0" anchor="ctr"/>
          <a:lstStyle/>
          <a:p>
            <a:pPr marL="0" indent="0">
              <a:buNone/>
            </a:pPr>
            <a:r>
              <a:rPr lang="en-US" sz="1500" dirty="0">
                <a:solidFill>
                  <a:srgbClr val="333333"/>
                </a:solidFill>
              </a:rPr>
              <a:t>•  Further limits what agent sees via MCP</a:t>
            </a:r>
            <a:endParaRPr lang="en-US" sz="1500" dirty="0"/>
          </a:p>
        </p:txBody>
      </p:sp>
      <p:sp>
        <p:nvSpPr>
          <p:cNvPr id="14" name="Text 12"/>
          <p:cNvSpPr/>
          <p:nvPr/>
        </p:nvSpPr>
        <p:spPr>
          <a:xfrm>
            <a:off x="4651448" y="3474720"/>
            <a:ext cx="4267700" cy="502920"/>
          </a:xfrm>
          <a:prstGeom prst="rect">
            <a:avLst/>
          </a:prstGeom>
          <a:noFill/>
          <a:ln/>
        </p:spPr>
        <p:txBody>
          <a:bodyPr wrap="square" rtlCol="0" anchor="ctr"/>
          <a:lstStyle/>
          <a:p>
            <a:pPr marL="0" indent="0">
              <a:buNone/>
            </a:pPr>
            <a:r>
              <a:rPr lang="en-US" sz="1500" dirty="0">
                <a:solidFill>
                  <a:srgbClr val="333333"/>
                </a:solidFill>
              </a:rPr>
              <a:t>•  Configured in Copilot Studio</a:t>
            </a:r>
            <a:endParaRPr lang="en-US" sz="1500" dirty="0"/>
          </a:p>
        </p:txBody>
      </p:sp>
      <p:sp>
        <p:nvSpPr>
          <p:cNvPr id="15" name="Text 13"/>
          <p:cNvSpPr/>
          <p:nvPr/>
        </p:nvSpPr>
        <p:spPr>
          <a:xfrm>
            <a:off x="4651448" y="4023360"/>
            <a:ext cx="4267700" cy="502920"/>
          </a:xfrm>
          <a:prstGeom prst="rect">
            <a:avLst/>
          </a:prstGeom>
          <a:noFill/>
          <a:ln/>
        </p:spPr>
        <p:txBody>
          <a:bodyPr wrap="square" rtlCol="0" anchor="ctr"/>
          <a:lstStyle/>
          <a:p>
            <a:pPr marL="0" indent="0">
              <a:buNone/>
            </a:pPr>
            <a:r>
              <a:rPr lang="en-US" sz="1500" dirty="0">
                <a:solidFill>
                  <a:srgbClr val="333333"/>
                </a:solidFill>
              </a:rPr>
              <a:t>•  Applies only to MCP queries</a:t>
            </a:r>
            <a:endParaRPr lang="en-US" sz="1500" dirty="0"/>
          </a:p>
        </p:txBody>
      </p:sp>
      <p:sp>
        <p:nvSpPr>
          <p:cNvPr id="16" name="Shape 14"/>
          <p:cNvSpPr/>
          <p:nvPr/>
        </p:nvSpPr>
        <p:spPr>
          <a:xfrm>
            <a:off x="4173261" y="1298148"/>
            <a:ext cx="45719" cy="3502918"/>
          </a:xfrm>
          <a:prstGeom prst="rect">
            <a:avLst/>
          </a:prstGeom>
          <a:solidFill>
            <a:srgbClr val="C8C8C8"/>
          </a:solidFill>
          <a:ln/>
        </p:spPr>
        <p:txBody>
          <a:bodyPr/>
          <a:lstStyle/>
          <a:p>
            <a:endParaRPr lang="en-IN"/>
          </a:p>
        </p:txBody>
      </p:sp>
      <p:sp>
        <p:nvSpPr>
          <p:cNvPr id="18" name="Text 14">
            <a:extLst>
              <a:ext uri="{FF2B5EF4-FFF2-40B4-BE49-F238E27FC236}">
                <a16:creationId xmlns:a16="http://schemas.microsoft.com/office/drawing/2014/main" id="{AE3FFD7C-F49A-FE7E-D339-BBE966A46A0D}"/>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PILLAR 2</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Auditing &amp; Compliance</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77319" y="160020"/>
            <a:ext cx="8623614" cy="731520"/>
          </a:xfrm>
          <a:prstGeom prst="rect">
            <a:avLst/>
          </a:prstGeom>
          <a:noFill/>
          <a:ln/>
        </p:spPr>
        <p:txBody>
          <a:bodyPr wrap="square" rtlCol="0" anchor="ctr"/>
          <a:lstStyle/>
          <a:p>
            <a:pPr marL="0" indent="0">
              <a:buNone/>
            </a:pPr>
            <a:r>
              <a:rPr lang="en-US" sz="3200" b="1" dirty="0">
                <a:solidFill>
                  <a:srgbClr val="333333"/>
                </a:solidFill>
              </a:rPr>
              <a:t>Dataverse Auditing Overview</a:t>
            </a:r>
            <a:endParaRPr lang="en-US" sz="3200" dirty="0"/>
          </a:p>
        </p:txBody>
      </p:sp>
      <p:sp>
        <p:nvSpPr>
          <p:cNvPr id="4" name="Shape 2"/>
          <p:cNvSpPr/>
          <p:nvPr/>
        </p:nvSpPr>
        <p:spPr>
          <a:xfrm>
            <a:off x="344774" y="827532"/>
            <a:ext cx="8623614" cy="18288"/>
          </a:xfrm>
          <a:prstGeom prst="rect">
            <a:avLst/>
          </a:prstGeom>
          <a:solidFill>
            <a:srgbClr val="C8C8C8"/>
          </a:solidFill>
          <a:ln/>
        </p:spPr>
        <p:txBody>
          <a:bodyPr/>
          <a:lstStyle/>
          <a:p>
            <a:endParaRPr lang="en-IN"/>
          </a:p>
        </p:txBody>
      </p:sp>
      <p:sp>
        <p:nvSpPr>
          <p:cNvPr id="5" name="Text 3"/>
          <p:cNvSpPr/>
          <p:nvPr/>
        </p:nvSpPr>
        <p:spPr>
          <a:xfrm>
            <a:off x="344774" y="820337"/>
            <a:ext cx="8623614" cy="502920"/>
          </a:xfrm>
          <a:prstGeom prst="rect">
            <a:avLst/>
          </a:prstGeom>
          <a:noFill/>
          <a:ln/>
        </p:spPr>
        <p:txBody>
          <a:bodyPr wrap="square" rtlCol="0" anchor="ctr"/>
          <a:lstStyle/>
          <a:p>
            <a:pPr marL="285750" indent="-285750">
              <a:buFont typeface="Arial" panose="020B0604020202020204" pitchFamily="34" charset="0"/>
              <a:buChar char="•"/>
            </a:pPr>
            <a:r>
              <a:rPr lang="en-US" sz="1700" dirty="0">
                <a:solidFill>
                  <a:srgbClr val="333333"/>
                </a:solidFill>
              </a:rPr>
              <a:t>Captures every data change: who, what, when, before/after values</a:t>
            </a:r>
            <a:endParaRPr lang="en-US" sz="1700" dirty="0"/>
          </a:p>
        </p:txBody>
      </p:sp>
      <p:sp>
        <p:nvSpPr>
          <p:cNvPr id="6" name="Text 4"/>
          <p:cNvSpPr/>
          <p:nvPr/>
        </p:nvSpPr>
        <p:spPr>
          <a:xfrm>
            <a:off x="344774" y="1368977"/>
            <a:ext cx="8623614" cy="502920"/>
          </a:xfrm>
          <a:prstGeom prst="rect">
            <a:avLst/>
          </a:prstGeom>
          <a:noFill/>
          <a:ln/>
        </p:spPr>
        <p:txBody>
          <a:bodyPr wrap="square" rtlCol="0" anchor="ctr"/>
          <a:lstStyle/>
          <a:p>
            <a:pPr marL="285750" indent="-285750">
              <a:buFont typeface="Arial" panose="020B0604020202020204" pitchFamily="34" charset="0"/>
              <a:buChar char="•"/>
            </a:pPr>
            <a:r>
              <a:rPr lang="en-US" sz="1700" dirty="0">
                <a:solidFill>
                  <a:srgbClr val="333333"/>
                </a:solidFill>
              </a:rPr>
              <a:t>Three levels of auditing configuration:</a:t>
            </a:r>
            <a:endParaRPr lang="en-US" sz="1700" dirty="0"/>
          </a:p>
        </p:txBody>
      </p:sp>
      <p:sp>
        <p:nvSpPr>
          <p:cNvPr id="7" name="Text 5"/>
          <p:cNvSpPr/>
          <p:nvPr/>
        </p:nvSpPr>
        <p:spPr>
          <a:xfrm>
            <a:off x="344774" y="1917617"/>
            <a:ext cx="8623614" cy="502920"/>
          </a:xfrm>
          <a:prstGeom prst="rect">
            <a:avLst/>
          </a:prstGeom>
          <a:noFill/>
          <a:ln/>
        </p:spPr>
        <p:txBody>
          <a:bodyPr wrap="square" rtlCol="0" anchor="ctr"/>
          <a:lstStyle/>
          <a:p>
            <a:r>
              <a:rPr lang="en-US" sz="1700" dirty="0">
                <a:solidFill>
                  <a:srgbClr val="333333"/>
                </a:solidFill>
              </a:rPr>
              <a:t>→ Global Level: Enable auditing for the entire environment</a:t>
            </a:r>
            <a:endParaRPr lang="en-US" sz="1700" dirty="0"/>
          </a:p>
        </p:txBody>
      </p:sp>
      <p:sp>
        <p:nvSpPr>
          <p:cNvPr id="8" name="Text 6"/>
          <p:cNvSpPr/>
          <p:nvPr/>
        </p:nvSpPr>
        <p:spPr>
          <a:xfrm>
            <a:off x="344774" y="2214797"/>
            <a:ext cx="8623614" cy="502920"/>
          </a:xfrm>
          <a:prstGeom prst="rect">
            <a:avLst/>
          </a:prstGeom>
          <a:noFill/>
          <a:ln/>
        </p:spPr>
        <p:txBody>
          <a:bodyPr wrap="square" rtlCol="0" anchor="ctr"/>
          <a:lstStyle/>
          <a:p>
            <a:r>
              <a:rPr lang="en-US" sz="1700" dirty="0">
                <a:solidFill>
                  <a:srgbClr val="333333"/>
                </a:solidFill>
              </a:rPr>
              <a:t>→ Table Level: Specify which tables to audit</a:t>
            </a:r>
            <a:endParaRPr lang="en-US" sz="1700" dirty="0"/>
          </a:p>
        </p:txBody>
      </p:sp>
      <p:sp>
        <p:nvSpPr>
          <p:cNvPr id="9" name="Text 7"/>
          <p:cNvSpPr/>
          <p:nvPr/>
        </p:nvSpPr>
        <p:spPr>
          <a:xfrm>
            <a:off x="344774" y="2524718"/>
            <a:ext cx="8623614" cy="502920"/>
          </a:xfrm>
          <a:prstGeom prst="rect">
            <a:avLst/>
          </a:prstGeom>
          <a:noFill/>
          <a:ln/>
        </p:spPr>
        <p:txBody>
          <a:bodyPr wrap="square" rtlCol="0" anchor="ctr"/>
          <a:lstStyle/>
          <a:p>
            <a:r>
              <a:rPr lang="en-US" sz="1700" dirty="0">
                <a:solidFill>
                  <a:srgbClr val="333333"/>
                </a:solidFill>
              </a:rPr>
              <a:t>→ Column Level: Choose specific columns for detailed tracking</a:t>
            </a:r>
            <a:endParaRPr lang="en-US" sz="1700" dirty="0"/>
          </a:p>
        </p:txBody>
      </p:sp>
      <p:sp>
        <p:nvSpPr>
          <p:cNvPr id="10" name="Text 8"/>
          <p:cNvSpPr/>
          <p:nvPr/>
        </p:nvSpPr>
        <p:spPr>
          <a:xfrm>
            <a:off x="277319" y="3027638"/>
            <a:ext cx="8623614" cy="502920"/>
          </a:xfrm>
          <a:prstGeom prst="rect">
            <a:avLst/>
          </a:prstGeom>
          <a:noFill/>
          <a:ln/>
        </p:spPr>
        <p:txBody>
          <a:bodyPr wrap="square" rtlCol="0" anchor="ctr"/>
          <a:lstStyle/>
          <a:p>
            <a:pPr marL="285750" indent="-285750">
              <a:buFont typeface="Arial" panose="020B0604020202020204" pitchFamily="34" charset="0"/>
              <a:buChar char="•"/>
            </a:pPr>
            <a:r>
              <a:rPr lang="en-US" sz="1700" dirty="0">
                <a:solidFill>
                  <a:srgbClr val="333333"/>
                </a:solidFill>
              </a:rPr>
              <a:t>Audit records stored in Dataverse with configurable retention</a:t>
            </a:r>
            <a:endParaRPr lang="en-US" sz="1700" dirty="0"/>
          </a:p>
        </p:txBody>
      </p:sp>
      <p:sp>
        <p:nvSpPr>
          <p:cNvPr id="11" name="Text 9"/>
          <p:cNvSpPr/>
          <p:nvPr/>
        </p:nvSpPr>
        <p:spPr>
          <a:xfrm>
            <a:off x="277319" y="3576278"/>
            <a:ext cx="8623614" cy="502920"/>
          </a:xfrm>
          <a:prstGeom prst="rect">
            <a:avLst/>
          </a:prstGeom>
          <a:noFill/>
          <a:ln/>
        </p:spPr>
        <p:txBody>
          <a:bodyPr wrap="square" rtlCol="0" anchor="ctr"/>
          <a:lstStyle/>
          <a:p>
            <a:pPr marL="285750" indent="-285750">
              <a:buFont typeface="Arial" panose="020B0604020202020204" pitchFamily="34" charset="0"/>
              <a:buChar char="•"/>
            </a:pPr>
            <a:r>
              <a:rPr lang="en-US" sz="1700" dirty="0">
                <a:solidFill>
                  <a:srgbClr val="333333"/>
                </a:solidFill>
              </a:rPr>
              <a:t>Accessible via Power Platform Admin Center or programmatically</a:t>
            </a:r>
            <a:endParaRPr lang="en-US" sz="1700" dirty="0"/>
          </a:p>
        </p:txBody>
      </p:sp>
      <p:sp>
        <p:nvSpPr>
          <p:cNvPr id="12" name="Text 10"/>
          <p:cNvSpPr/>
          <p:nvPr/>
        </p:nvSpPr>
        <p:spPr>
          <a:xfrm>
            <a:off x="277319" y="4124918"/>
            <a:ext cx="8623614" cy="502920"/>
          </a:xfrm>
          <a:prstGeom prst="rect">
            <a:avLst/>
          </a:prstGeom>
          <a:noFill/>
          <a:ln/>
        </p:spPr>
        <p:txBody>
          <a:bodyPr wrap="square" rtlCol="0" anchor="ctr"/>
          <a:lstStyle/>
          <a:p>
            <a:pPr marL="285750" indent="-285750">
              <a:buFont typeface="Arial" panose="020B0604020202020204" pitchFamily="34" charset="0"/>
              <a:buChar char="•"/>
            </a:pPr>
            <a:r>
              <a:rPr lang="en-US" sz="1700" dirty="0">
                <a:solidFill>
                  <a:srgbClr val="333333"/>
                </a:solidFill>
              </a:rPr>
              <a:t>Required for IRDAI compliance and internal audit requirements</a:t>
            </a:r>
            <a:endParaRPr lang="en-US" sz="1700" dirty="0"/>
          </a:p>
        </p:txBody>
      </p:sp>
      <p:sp>
        <p:nvSpPr>
          <p:cNvPr id="14" name="Text 14">
            <a:extLst>
              <a:ext uri="{FF2B5EF4-FFF2-40B4-BE49-F238E27FC236}">
                <a16:creationId xmlns:a16="http://schemas.microsoft.com/office/drawing/2014/main" id="{69E5EA4A-A7F9-F2FC-2279-26AEA88CE3B0}"/>
              </a:ext>
            </a:extLst>
          </p:cNvPr>
          <p:cNvSpPr/>
          <p:nvPr/>
        </p:nvSpPr>
        <p:spPr>
          <a:xfrm>
            <a:off x="290181" y="4801066"/>
            <a:ext cx="8659123" cy="342434"/>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327985" cy="731520"/>
          </a:xfrm>
          <a:prstGeom prst="rect">
            <a:avLst/>
          </a:prstGeom>
          <a:noFill/>
          <a:ln/>
        </p:spPr>
        <p:txBody>
          <a:bodyPr wrap="square" rtlCol="0" anchor="ctr"/>
          <a:lstStyle/>
          <a:p>
            <a:pPr marL="0" indent="0">
              <a:buNone/>
            </a:pPr>
            <a:r>
              <a:rPr lang="en-US" sz="3200" b="1" dirty="0">
                <a:solidFill>
                  <a:srgbClr val="333333"/>
                </a:solidFill>
              </a:rPr>
              <a:t>What Auditors Will Ask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3674907683"/>
              </p:ext>
            </p:extLst>
          </p:nvPr>
        </p:nvGraphicFramePr>
        <p:xfrm>
          <a:off x="274320" y="1188720"/>
          <a:ext cx="8674984" cy="3520440"/>
        </p:xfrm>
        <a:graphic>
          <a:graphicData uri="http://schemas.openxmlformats.org/drawingml/2006/table">
            <a:tbl>
              <a:tblPr/>
              <a:tblGrid>
                <a:gridCol w="2775995">
                  <a:extLst>
                    <a:ext uri="{9D8B030D-6E8A-4147-A177-3AD203B41FA5}">
                      <a16:colId xmlns:a16="http://schemas.microsoft.com/office/drawing/2014/main" val="20000"/>
                    </a:ext>
                  </a:extLst>
                </a:gridCol>
                <a:gridCol w="2775995">
                  <a:extLst>
                    <a:ext uri="{9D8B030D-6E8A-4147-A177-3AD203B41FA5}">
                      <a16:colId xmlns:a16="http://schemas.microsoft.com/office/drawing/2014/main" val="20001"/>
                    </a:ext>
                  </a:extLst>
                </a:gridCol>
                <a:gridCol w="3122994">
                  <a:extLst>
                    <a:ext uri="{9D8B030D-6E8A-4147-A177-3AD203B41FA5}">
                      <a16:colId xmlns:a16="http://schemas.microsoft.com/office/drawing/2014/main" val="20002"/>
                    </a:ext>
                  </a:extLst>
                </a:gridCol>
              </a:tblGrid>
              <a:tr h="502920">
                <a:tc>
                  <a:txBody>
                    <a:bodyPr/>
                    <a:lstStyle/>
                    <a:p>
                      <a:pPr marL="0" indent="0" algn="l">
                        <a:buNone/>
                      </a:pPr>
                      <a:r>
                        <a:rPr lang="en-US" sz="1100" b="1" dirty="0">
                          <a:solidFill>
                            <a:srgbClr val="FFFFFF"/>
                          </a:solidFill>
                        </a:rPr>
                        <a:t>Question</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100" b="1" dirty="0">
                          <a:solidFill>
                            <a:srgbClr val="FFFFFF"/>
                          </a:solidFill>
                        </a:rPr>
                        <a:t>Governance Capability</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100" b="1" dirty="0">
                          <a:solidFill>
                            <a:srgbClr val="FFFFFF"/>
                          </a:solidFill>
                        </a:rPr>
                        <a:t>Where to Find Answer</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333333"/>
                          </a:solidFill>
                        </a:rPr>
                        <a:t>Who changed claim #12345?</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Dataverse Audit Log</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Audit History in Admin Center</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333333"/>
                          </a:solidFill>
                        </a:rPr>
                        <a:t>What was the original amount?</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Column-level auditing</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Audit before/after values</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333333"/>
                          </a:solidFill>
                        </a:rPr>
                        <a:t>When was approval granted?</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ApprovalLog + timestamps</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Query ApprovalLog table</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333333"/>
                          </a:solidFill>
                        </a:rPr>
                        <a:t>Which agent processed this?</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AgentTaskLog table</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Query by ClaimID</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333333"/>
                          </a:solidFill>
                        </a:rPr>
                        <a:t>What data can Agent X access?</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Security role + MCP config</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Admin Center + Copilot Studio</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lgn="l">
                        <a:buNone/>
                      </a:pPr>
                      <a:r>
                        <a:rPr lang="en-US" sz="1100" dirty="0">
                          <a:solidFill>
                            <a:srgbClr val="333333"/>
                          </a:solidFill>
                        </a:rPr>
                        <a:t>Show changes in past 90 days</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Audit log retention</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100" dirty="0">
                          <a:solidFill>
                            <a:srgbClr val="333333"/>
                          </a:solidFill>
                        </a:rPr>
                        <a:t>Export with date filter</a:t>
                      </a:r>
                      <a:endParaRPr lang="en-US" sz="11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4">
            <a:extLst>
              <a:ext uri="{FF2B5EF4-FFF2-40B4-BE49-F238E27FC236}">
                <a16:creationId xmlns:a16="http://schemas.microsoft.com/office/drawing/2014/main" id="{DBE2ED00-F6D5-076E-BDD9-D7D5BB1DA302}"/>
              </a:ext>
            </a:extLst>
          </p:cNvPr>
          <p:cNvSpPr/>
          <p:nvPr/>
        </p:nvSpPr>
        <p:spPr>
          <a:xfrm>
            <a:off x="290181" y="4905828"/>
            <a:ext cx="8659123" cy="237671"/>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327985" cy="731520"/>
          </a:xfrm>
          <a:prstGeom prst="rect">
            <a:avLst/>
          </a:prstGeom>
          <a:noFill/>
          <a:ln/>
        </p:spPr>
        <p:txBody>
          <a:bodyPr wrap="square" rtlCol="0" anchor="ctr"/>
          <a:lstStyle/>
          <a:p>
            <a:pPr marL="0" indent="0">
              <a:buNone/>
            </a:pPr>
            <a:r>
              <a:rPr lang="en-US" sz="3200" b="1" dirty="0">
                <a:solidFill>
                  <a:srgbClr val="333333"/>
                </a:solidFill>
              </a:rPr>
              <a:t>BFSI Data Retention Requirements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2270445774"/>
              </p:ext>
            </p:extLst>
          </p:nvPr>
        </p:nvGraphicFramePr>
        <p:xfrm>
          <a:off x="274320" y="1188720"/>
          <a:ext cx="8674984" cy="3017520"/>
        </p:xfrm>
        <a:graphic>
          <a:graphicData uri="http://schemas.openxmlformats.org/drawingml/2006/table">
            <a:tbl>
              <a:tblPr/>
              <a:tblGrid>
                <a:gridCol w="2220796">
                  <a:extLst>
                    <a:ext uri="{9D8B030D-6E8A-4147-A177-3AD203B41FA5}">
                      <a16:colId xmlns:a16="http://schemas.microsoft.com/office/drawing/2014/main" val="20000"/>
                    </a:ext>
                  </a:extLst>
                </a:gridCol>
                <a:gridCol w="2081996">
                  <a:extLst>
                    <a:ext uri="{9D8B030D-6E8A-4147-A177-3AD203B41FA5}">
                      <a16:colId xmlns:a16="http://schemas.microsoft.com/office/drawing/2014/main" val="20001"/>
                    </a:ext>
                  </a:extLst>
                </a:gridCol>
                <a:gridCol w="2081996">
                  <a:extLst>
                    <a:ext uri="{9D8B030D-6E8A-4147-A177-3AD203B41FA5}">
                      <a16:colId xmlns:a16="http://schemas.microsoft.com/office/drawing/2014/main" val="20002"/>
                    </a:ext>
                  </a:extLst>
                </a:gridCol>
                <a:gridCol w="2290196">
                  <a:extLst>
                    <a:ext uri="{9D8B030D-6E8A-4147-A177-3AD203B41FA5}">
                      <a16:colId xmlns:a16="http://schemas.microsoft.com/office/drawing/2014/main" val="20003"/>
                    </a:ext>
                  </a:extLst>
                </a:gridCol>
              </a:tblGrid>
              <a:tr h="502920">
                <a:tc>
                  <a:txBody>
                    <a:bodyPr/>
                    <a:lstStyle/>
                    <a:p>
                      <a:pPr marL="0" indent="0" algn="l">
                        <a:buNone/>
                      </a:pPr>
                      <a:r>
                        <a:rPr lang="en-US" sz="1200" b="1" dirty="0">
                          <a:solidFill>
                            <a:srgbClr val="FFFFFF"/>
                          </a:solidFill>
                        </a:rPr>
                        <a:t>Data Type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Regulation</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Minimum Retention</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Our Tables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333333"/>
                          </a:solidFill>
                        </a:rPr>
                        <a:t>Claims Records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IRDAI Guidelines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8 years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Claims, AgentTaskLog</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333333"/>
                          </a:solidFill>
                        </a:rPr>
                        <a:t>Financial Transactions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Income Tax Act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10 years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ApprovalLog</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333333"/>
                          </a:solidFill>
                        </a:rPr>
                        <a:t>Customer Records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KYC/AML Regulations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5 years after relationship</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Customers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200" dirty="0">
                          <a:solidFill>
                            <a:srgbClr val="333333"/>
                          </a:solidFill>
                        </a:rPr>
                        <a:t>Policy Documents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IRDAI Guidelines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8 years after expiry</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Policies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200" dirty="0">
                          <a:solidFill>
                            <a:srgbClr val="333333"/>
                          </a:solidFill>
                        </a:rPr>
                        <a:t>Audit Logs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Best Practice</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Match longest requirement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Dataverse Audit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4">
            <a:extLst>
              <a:ext uri="{FF2B5EF4-FFF2-40B4-BE49-F238E27FC236}">
                <a16:creationId xmlns:a16="http://schemas.microsoft.com/office/drawing/2014/main" id="{17DF22FB-0D47-1A1E-3BBA-8F4B580458A9}"/>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PILLAR 3</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Governance &amp; Monitoring</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10972800" cy="731520"/>
          </a:xfrm>
          <a:prstGeom prst="rect">
            <a:avLst/>
          </a:prstGeom>
          <a:noFill/>
          <a:ln/>
        </p:spPr>
        <p:txBody>
          <a:bodyPr wrap="square" rtlCol="0" anchor="ctr"/>
          <a:lstStyle/>
          <a:p>
            <a:pPr marL="0" indent="0">
              <a:buNone/>
            </a:pPr>
            <a:r>
              <a:rPr lang="en-US" sz="3200" b="1" dirty="0">
                <a:solidFill>
                  <a:srgbClr val="333333"/>
                </a:solidFill>
              </a:rPr>
              <a:t>Copilot Studio Governance Features</a:t>
            </a:r>
            <a:endParaRPr lang="en-US" sz="3200" dirty="0"/>
          </a:p>
        </p:txBody>
      </p:sp>
      <p:sp>
        <p:nvSpPr>
          <p:cNvPr id="4" name="Text 2"/>
          <p:cNvSpPr/>
          <p:nvPr/>
        </p:nvSpPr>
        <p:spPr>
          <a:xfrm>
            <a:off x="457200" y="1280160"/>
            <a:ext cx="5303520" cy="457200"/>
          </a:xfrm>
          <a:prstGeom prst="rect">
            <a:avLst/>
          </a:prstGeom>
          <a:noFill/>
          <a:ln/>
        </p:spPr>
        <p:txBody>
          <a:bodyPr wrap="square" rtlCol="0" anchor="ctr"/>
          <a:lstStyle/>
          <a:p>
            <a:pPr marL="0" indent="0">
              <a:buNone/>
            </a:pPr>
            <a:r>
              <a:rPr lang="en-US" sz="2000" b="1" dirty="0">
                <a:solidFill>
                  <a:srgbClr val="2E3192"/>
                </a:solidFill>
              </a:rPr>
              <a:t>Data Governance</a:t>
            </a:r>
            <a:endParaRPr lang="en-US" sz="2000" dirty="0"/>
          </a:p>
        </p:txBody>
      </p:sp>
      <p:sp>
        <p:nvSpPr>
          <p:cNvPr id="5" name="Text 3"/>
          <p:cNvSpPr/>
          <p:nvPr/>
        </p:nvSpPr>
        <p:spPr>
          <a:xfrm>
            <a:off x="457200" y="1828800"/>
            <a:ext cx="5303520" cy="502920"/>
          </a:xfrm>
          <a:prstGeom prst="rect">
            <a:avLst/>
          </a:prstGeom>
          <a:noFill/>
          <a:ln/>
        </p:spPr>
        <p:txBody>
          <a:bodyPr wrap="square" rtlCol="0" anchor="ctr"/>
          <a:lstStyle/>
          <a:p>
            <a:pPr marL="0" indent="0">
              <a:buNone/>
            </a:pPr>
            <a:r>
              <a:rPr lang="en-US" sz="1500" dirty="0">
                <a:solidFill>
                  <a:srgbClr val="333333"/>
                </a:solidFill>
              </a:rPr>
              <a:t>•  Microsoft Purview Integration</a:t>
            </a:r>
            <a:endParaRPr lang="en-US" sz="1500" dirty="0"/>
          </a:p>
        </p:txBody>
      </p:sp>
      <p:sp>
        <p:nvSpPr>
          <p:cNvPr id="6" name="Text 4"/>
          <p:cNvSpPr/>
          <p:nvPr/>
        </p:nvSpPr>
        <p:spPr>
          <a:xfrm>
            <a:off x="457200" y="2377440"/>
            <a:ext cx="5303520" cy="502920"/>
          </a:xfrm>
          <a:prstGeom prst="rect">
            <a:avLst/>
          </a:prstGeom>
          <a:noFill/>
          <a:ln/>
        </p:spPr>
        <p:txBody>
          <a:bodyPr wrap="square" rtlCol="0" anchor="ctr"/>
          <a:lstStyle/>
          <a:p>
            <a:pPr marL="0" indent="0">
              <a:buNone/>
            </a:pPr>
            <a:r>
              <a:rPr lang="en-US" sz="1500" dirty="0">
                <a:solidFill>
                  <a:srgbClr val="333333"/>
                </a:solidFill>
              </a:rPr>
              <a:t>•  Sensitivity labels on agent data</a:t>
            </a:r>
            <a:endParaRPr lang="en-US" sz="1500" dirty="0"/>
          </a:p>
        </p:txBody>
      </p:sp>
      <p:sp>
        <p:nvSpPr>
          <p:cNvPr id="7" name="Text 5"/>
          <p:cNvSpPr/>
          <p:nvPr/>
        </p:nvSpPr>
        <p:spPr>
          <a:xfrm>
            <a:off x="457200" y="2926080"/>
            <a:ext cx="5303520" cy="502920"/>
          </a:xfrm>
          <a:prstGeom prst="rect">
            <a:avLst/>
          </a:prstGeom>
          <a:noFill/>
          <a:ln/>
        </p:spPr>
        <p:txBody>
          <a:bodyPr wrap="square" rtlCol="0" anchor="ctr"/>
          <a:lstStyle/>
          <a:p>
            <a:pPr marL="0" indent="0">
              <a:buNone/>
            </a:pPr>
            <a:r>
              <a:rPr lang="en-US" sz="1500" dirty="0">
                <a:solidFill>
                  <a:srgbClr val="333333"/>
                </a:solidFill>
              </a:rPr>
              <a:t>•  Data classification and protection</a:t>
            </a:r>
            <a:endParaRPr lang="en-US" sz="1500" dirty="0"/>
          </a:p>
        </p:txBody>
      </p:sp>
      <p:sp>
        <p:nvSpPr>
          <p:cNvPr id="8" name="Text 6"/>
          <p:cNvSpPr/>
          <p:nvPr/>
        </p:nvSpPr>
        <p:spPr>
          <a:xfrm>
            <a:off x="457200" y="3474720"/>
            <a:ext cx="5303520" cy="502920"/>
          </a:xfrm>
          <a:prstGeom prst="rect">
            <a:avLst/>
          </a:prstGeom>
          <a:noFill/>
          <a:ln/>
        </p:spPr>
        <p:txBody>
          <a:bodyPr wrap="square" rtlCol="0" anchor="ctr"/>
          <a:lstStyle/>
          <a:p>
            <a:pPr marL="0" indent="0">
              <a:buNone/>
            </a:pPr>
            <a:r>
              <a:rPr lang="en-US" sz="1500" dirty="0">
                <a:solidFill>
                  <a:srgbClr val="333333"/>
                </a:solidFill>
              </a:rPr>
              <a:t>•  Information protection policies</a:t>
            </a:r>
            <a:endParaRPr lang="en-US" sz="1500" dirty="0"/>
          </a:p>
        </p:txBody>
      </p:sp>
      <p:sp>
        <p:nvSpPr>
          <p:cNvPr id="9" name="Text 7"/>
          <p:cNvSpPr/>
          <p:nvPr/>
        </p:nvSpPr>
        <p:spPr>
          <a:xfrm>
            <a:off x="457200" y="4023360"/>
            <a:ext cx="5303520" cy="502920"/>
          </a:xfrm>
          <a:prstGeom prst="rect">
            <a:avLst/>
          </a:prstGeom>
          <a:noFill/>
          <a:ln/>
        </p:spPr>
        <p:txBody>
          <a:bodyPr wrap="square" rtlCol="0" anchor="ctr"/>
          <a:lstStyle/>
          <a:p>
            <a:pPr marL="0" indent="0">
              <a:buNone/>
            </a:pPr>
            <a:r>
              <a:rPr lang="en-US" sz="1500" dirty="0">
                <a:solidFill>
                  <a:srgbClr val="333333"/>
                </a:solidFill>
              </a:rPr>
              <a:t>•  Compliance monitoring dashboards</a:t>
            </a:r>
            <a:endParaRPr lang="en-US" sz="1500" dirty="0"/>
          </a:p>
        </p:txBody>
      </p:sp>
      <p:sp>
        <p:nvSpPr>
          <p:cNvPr id="10" name="Text 8"/>
          <p:cNvSpPr/>
          <p:nvPr/>
        </p:nvSpPr>
        <p:spPr>
          <a:xfrm>
            <a:off x="4921556" y="1280160"/>
            <a:ext cx="5303520" cy="457200"/>
          </a:xfrm>
          <a:prstGeom prst="rect">
            <a:avLst/>
          </a:prstGeom>
          <a:noFill/>
          <a:ln/>
        </p:spPr>
        <p:txBody>
          <a:bodyPr wrap="square" rtlCol="0" anchor="ctr"/>
          <a:lstStyle/>
          <a:p>
            <a:pPr marL="0" indent="0">
              <a:buNone/>
            </a:pPr>
            <a:r>
              <a:rPr lang="en-US" sz="2000" b="1" dirty="0">
                <a:solidFill>
                  <a:srgbClr val="2E3192"/>
                </a:solidFill>
              </a:rPr>
              <a:t>Security Governance</a:t>
            </a:r>
            <a:endParaRPr lang="en-US" sz="2000" dirty="0"/>
          </a:p>
        </p:txBody>
      </p:sp>
      <p:sp>
        <p:nvSpPr>
          <p:cNvPr id="11" name="Text 9"/>
          <p:cNvSpPr/>
          <p:nvPr/>
        </p:nvSpPr>
        <p:spPr>
          <a:xfrm>
            <a:off x="4921556" y="1828800"/>
            <a:ext cx="5303520" cy="502920"/>
          </a:xfrm>
          <a:prstGeom prst="rect">
            <a:avLst/>
          </a:prstGeom>
          <a:noFill/>
          <a:ln/>
        </p:spPr>
        <p:txBody>
          <a:bodyPr wrap="square" rtlCol="0" anchor="ctr"/>
          <a:lstStyle/>
          <a:p>
            <a:pPr marL="0" indent="0">
              <a:buNone/>
            </a:pPr>
            <a:r>
              <a:rPr lang="en-US" sz="1500" dirty="0">
                <a:solidFill>
                  <a:srgbClr val="333333"/>
                </a:solidFill>
              </a:rPr>
              <a:t>•  Microsoft Sentinel Integration</a:t>
            </a:r>
            <a:endParaRPr lang="en-US" sz="1500" dirty="0"/>
          </a:p>
        </p:txBody>
      </p:sp>
      <p:sp>
        <p:nvSpPr>
          <p:cNvPr id="12" name="Text 10"/>
          <p:cNvSpPr/>
          <p:nvPr/>
        </p:nvSpPr>
        <p:spPr>
          <a:xfrm>
            <a:off x="4921556" y="2377440"/>
            <a:ext cx="5303520" cy="502920"/>
          </a:xfrm>
          <a:prstGeom prst="rect">
            <a:avLst/>
          </a:prstGeom>
          <a:noFill/>
          <a:ln/>
        </p:spPr>
        <p:txBody>
          <a:bodyPr wrap="square" rtlCol="0" anchor="ctr"/>
          <a:lstStyle/>
          <a:p>
            <a:pPr marL="0" indent="0">
              <a:buNone/>
            </a:pPr>
            <a:r>
              <a:rPr lang="en-US" sz="1500" dirty="0">
                <a:solidFill>
                  <a:srgbClr val="333333"/>
                </a:solidFill>
              </a:rPr>
              <a:t>•  Security event monitoring</a:t>
            </a:r>
            <a:endParaRPr lang="en-US" sz="1500" dirty="0"/>
          </a:p>
        </p:txBody>
      </p:sp>
      <p:sp>
        <p:nvSpPr>
          <p:cNvPr id="13" name="Text 11"/>
          <p:cNvSpPr/>
          <p:nvPr/>
        </p:nvSpPr>
        <p:spPr>
          <a:xfrm>
            <a:off x="4921556" y="2926080"/>
            <a:ext cx="5303520" cy="502920"/>
          </a:xfrm>
          <a:prstGeom prst="rect">
            <a:avLst/>
          </a:prstGeom>
          <a:noFill/>
          <a:ln/>
        </p:spPr>
        <p:txBody>
          <a:bodyPr wrap="square" rtlCol="0" anchor="ctr"/>
          <a:lstStyle/>
          <a:p>
            <a:pPr marL="0" indent="0">
              <a:buNone/>
            </a:pPr>
            <a:r>
              <a:rPr lang="en-US" sz="1500" dirty="0">
                <a:solidFill>
                  <a:srgbClr val="333333"/>
                </a:solidFill>
              </a:rPr>
              <a:t>•  Threat detection for agents</a:t>
            </a:r>
            <a:endParaRPr lang="en-US" sz="1500" dirty="0"/>
          </a:p>
        </p:txBody>
      </p:sp>
      <p:sp>
        <p:nvSpPr>
          <p:cNvPr id="14" name="Text 12"/>
          <p:cNvSpPr/>
          <p:nvPr/>
        </p:nvSpPr>
        <p:spPr>
          <a:xfrm>
            <a:off x="4921556" y="3474720"/>
            <a:ext cx="5303520" cy="502920"/>
          </a:xfrm>
          <a:prstGeom prst="rect">
            <a:avLst/>
          </a:prstGeom>
          <a:noFill/>
          <a:ln/>
        </p:spPr>
        <p:txBody>
          <a:bodyPr wrap="square" rtlCol="0" anchor="ctr"/>
          <a:lstStyle/>
          <a:p>
            <a:pPr marL="0" indent="0">
              <a:buNone/>
            </a:pPr>
            <a:r>
              <a:rPr lang="en-US" sz="1500" dirty="0">
                <a:solidFill>
                  <a:srgbClr val="333333"/>
                </a:solidFill>
              </a:rPr>
              <a:t>•  Alert rules and playbooks</a:t>
            </a:r>
            <a:endParaRPr lang="en-US" sz="1500" dirty="0"/>
          </a:p>
        </p:txBody>
      </p:sp>
      <p:sp>
        <p:nvSpPr>
          <p:cNvPr id="15" name="Text 13"/>
          <p:cNvSpPr/>
          <p:nvPr/>
        </p:nvSpPr>
        <p:spPr>
          <a:xfrm>
            <a:off x="4921556" y="4023360"/>
            <a:ext cx="5303520" cy="502920"/>
          </a:xfrm>
          <a:prstGeom prst="rect">
            <a:avLst/>
          </a:prstGeom>
          <a:noFill/>
          <a:ln/>
        </p:spPr>
        <p:txBody>
          <a:bodyPr wrap="square" rtlCol="0" anchor="ctr"/>
          <a:lstStyle/>
          <a:p>
            <a:pPr marL="0" indent="0">
              <a:buNone/>
            </a:pPr>
            <a:r>
              <a:rPr lang="en-US" sz="1500" dirty="0">
                <a:solidFill>
                  <a:srgbClr val="333333"/>
                </a:solidFill>
              </a:rPr>
              <a:t>•  SIEM integration capabilities</a:t>
            </a:r>
            <a:endParaRPr lang="en-US" sz="1500" dirty="0"/>
          </a:p>
        </p:txBody>
      </p:sp>
      <p:sp>
        <p:nvSpPr>
          <p:cNvPr id="16" name="Shape 14"/>
          <p:cNvSpPr/>
          <p:nvPr/>
        </p:nvSpPr>
        <p:spPr>
          <a:xfrm>
            <a:off x="4535424" y="1348740"/>
            <a:ext cx="18288" cy="3657600"/>
          </a:xfrm>
          <a:prstGeom prst="rect">
            <a:avLst/>
          </a:prstGeom>
          <a:solidFill>
            <a:srgbClr val="C8C8C8"/>
          </a:solidFill>
          <a:ln/>
        </p:spPr>
        <p:txBody>
          <a:bodyPr/>
          <a:lstStyle/>
          <a:p>
            <a:endParaRPr lang="en-IN"/>
          </a:p>
        </p:txBody>
      </p:sp>
      <p:sp>
        <p:nvSpPr>
          <p:cNvPr id="18" name="Text 14">
            <a:extLst>
              <a:ext uri="{FF2B5EF4-FFF2-40B4-BE49-F238E27FC236}">
                <a16:creationId xmlns:a16="http://schemas.microsoft.com/office/drawing/2014/main" id="{0C271631-6500-3CB7-9E51-AD5585CADF25}"/>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02557" y="142947"/>
            <a:ext cx="8698375" cy="731520"/>
          </a:xfrm>
          <a:prstGeom prst="rect">
            <a:avLst/>
          </a:prstGeom>
          <a:noFill/>
          <a:ln/>
        </p:spPr>
        <p:txBody>
          <a:bodyPr wrap="square" rtlCol="0" anchor="ctr"/>
          <a:lstStyle/>
          <a:p>
            <a:pPr marL="0" indent="0">
              <a:buNone/>
            </a:pPr>
            <a:r>
              <a:rPr lang="en-US" sz="3200" b="1" dirty="0">
                <a:solidFill>
                  <a:srgbClr val="333333"/>
                </a:solidFill>
              </a:rPr>
              <a:t>Additional Governance Capabilities</a:t>
            </a:r>
            <a:endParaRPr lang="en-US" sz="3200" dirty="0"/>
          </a:p>
        </p:txBody>
      </p:sp>
      <p:sp>
        <p:nvSpPr>
          <p:cNvPr id="4" name="Shape 2"/>
          <p:cNvSpPr/>
          <p:nvPr/>
        </p:nvSpPr>
        <p:spPr>
          <a:xfrm>
            <a:off x="202557" y="783027"/>
            <a:ext cx="8698375" cy="18288"/>
          </a:xfrm>
          <a:prstGeom prst="rect">
            <a:avLst/>
          </a:prstGeom>
          <a:solidFill>
            <a:srgbClr val="C8C8C8"/>
          </a:solidFill>
          <a:ln/>
        </p:spPr>
        <p:txBody>
          <a:bodyPr/>
          <a:lstStyle/>
          <a:p>
            <a:endParaRPr lang="en-IN"/>
          </a:p>
        </p:txBody>
      </p:sp>
      <p:sp>
        <p:nvSpPr>
          <p:cNvPr id="5" name="Text 3"/>
          <p:cNvSpPr/>
          <p:nvPr/>
        </p:nvSpPr>
        <p:spPr>
          <a:xfrm>
            <a:off x="202557" y="874467"/>
            <a:ext cx="8698375" cy="548640"/>
          </a:xfrm>
          <a:prstGeom prst="rect">
            <a:avLst/>
          </a:prstGeom>
          <a:noFill/>
          <a:ln/>
        </p:spPr>
        <p:txBody>
          <a:bodyPr wrap="square" rtlCol="0" anchor="ctr"/>
          <a:lstStyle/>
          <a:p>
            <a:pPr marL="0" indent="0">
              <a:buNone/>
            </a:pPr>
            <a:r>
              <a:rPr lang="en-US" sz="1700" dirty="0">
                <a:solidFill>
                  <a:srgbClr val="333333"/>
                </a:solidFill>
              </a:rPr>
              <a:t>•  Tenant-Level Agent Inventory: View all agents across the organization</a:t>
            </a:r>
            <a:endParaRPr lang="en-US" sz="1700" dirty="0"/>
          </a:p>
        </p:txBody>
      </p:sp>
      <p:sp>
        <p:nvSpPr>
          <p:cNvPr id="6" name="Text 4"/>
          <p:cNvSpPr/>
          <p:nvPr/>
        </p:nvSpPr>
        <p:spPr>
          <a:xfrm>
            <a:off x="202557" y="1283053"/>
            <a:ext cx="8698375" cy="548640"/>
          </a:xfrm>
          <a:prstGeom prst="rect">
            <a:avLst/>
          </a:prstGeom>
          <a:noFill/>
          <a:ln/>
        </p:spPr>
        <p:txBody>
          <a:bodyPr wrap="square" rtlCol="0" anchor="ctr"/>
          <a:lstStyle/>
          <a:p>
            <a:pPr marL="0" indent="0">
              <a:buNone/>
            </a:pPr>
            <a:r>
              <a:rPr lang="en-US" sz="1700" dirty="0">
                <a:solidFill>
                  <a:srgbClr val="333333"/>
                </a:solidFill>
              </a:rPr>
              <a:t>•  Managed Environments: Enforce governance policies on specific environments</a:t>
            </a:r>
            <a:endParaRPr lang="en-US" sz="1700" dirty="0"/>
          </a:p>
        </p:txBody>
      </p:sp>
      <p:sp>
        <p:nvSpPr>
          <p:cNvPr id="7" name="Text 5"/>
          <p:cNvSpPr/>
          <p:nvPr/>
        </p:nvSpPr>
        <p:spPr>
          <a:xfrm>
            <a:off x="202556" y="1716524"/>
            <a:ext cx="8698375" cy="548640"/>
          </a:xfrm>
          <a:prstGeom prst="rect">
            <a:avLst/>
          </a:prstGeom>
          <a:noFill/>
          <a:ln/>
        </p:spPr>
        <p:txBody>
          <a:bodyPr wrap="square" rtlCol="0" anchor="ctr"/>
          <a:lstStyle/>
          <a:p>
            <a:pPr marL="0" indent="0">
              <a:buNone/>
            </a:pPr>
            <a:r>
              <a:rPr lang="en-US" sz="1700" dirty="0">
                <a:solidFill>
                  <a:srgbClr val="333333"/>
                </a:solidFill>
              </a:rPr>
              <a:t>•  Mandatory Authentication: Require user authentication for all agent interactions</a:t>
            </a:r>
            <a:endParaRPr lang="en-US" sz="1700" dirty="0"/>
          </a:p>
        </p:txBody>
      </p:sp>
      <p:sp>
        <p:nvSpPr>
          <p:cNvPr id="8" name="Text 6"/>
          <p:cNvSpPr/>
          <p:nvPr/>
        </p:nvSpPr>
        <p:spPr>
          <a:xfrm>
            <a:off x="182296" y="2192679"/>
            <a:ext cx="8698375" cy="548640"/>
          </a:xfrm>
          <a:prstGeom prst="rect">
            <a:avLst/>
          </a:prstGeom>
          <a:noFill/>
          <a:ln/>
        </p:spPr>
        <p:txBody>
          <a:bodyPr wrap="square" rtlCol="0" anchor="ctr"/>
          <a:lstStyle/>
          <a:p>
            <a:pPr marL="0" indent="0">
              <a:buNone/>
            </a:pPr>
            <a:r>
              <a:rPr lang="en-US" sz="1700" dirty="0">
                <a:solidFill>
                  <a:srgbClr val="333333"/>
                </a:solidFill>
              </a:rPr>
              <a:t>•  DLP Policies: Control data flow between connectors and services</a:t>
            </a:r>
            <a:endParaRPr lang="en-US" sz="1700" dirty="0"/>
          </a:p>
        </p:txBody>
      </p:sp>
      <p:sp>
        <p:nvSpPr>
          <p:cNvPr id="9" name="Text 7"/>
          <p:cNvSpPr/>
          <p:nvPr/>
        </p:nvSpPr>
        <p:spPr>
          <a:xfrm>
            <a:off x="202554" y="2621375"/>
            <a:ext cx="8698375" cy="548640"/>
          </a:xfrm>
          <a:prstGeom prst="rect">
            <a:avLst/>
          </a:prstGeom>
          <a:noFill/>
          <a:ln/>
        </p:spPr>
        <p:txBody>
          <a:bodyPr wrap="square" rtlCol="0" anchor="ctr"/>
          <a:lstStyle/>
          <a:p>
            <a:pPr marL="0" indent="0">
              <a:buNone/>
            </a:pPr>
            <a:r>
              <a:rPr lang="en-US" sz="1700" dirty="0">
                <a:solidFill>
                  <a:srgbClr val="333333"/>
                </a:solidFill>
              </a:rPr>
              <a:t>•  Usage Analytics: Track agent usage patterns and costs</a:t>
            </a:r>
            <a:endParaRPr lang="en-US" sz="1700" dirty="0"/>
          </a:p>
        </p:txBody>
      </p:sp>
      <p:sp>
        <p:nvSpPr>
          <p:cNvPr id="10" name="Text 8"/>
          <p:cNvSpPr/>
          <p:nvPr/>
        </p:nvSpPr>
        <p:spPr>
          <a:xfrm>
            <a:off x="222812" y="3102305"/>
            <a:ext cx="8698375" cy="548640"/>
          </a:xfrm>
          <a:prstGeom prst="rect">
            <a:avLst/>
          </a:prstGeom>
          <a:noFill/>
          <a:ln/>
        </p:spPr>
        <p:txBody>
          <a:bodyPr wrap="square" rtlCol="0" anchor="ctr"/>
          <a:lstStyle/>
          <a:p>
            <a:pPr marL="0" indent="0">
              <a:buNone/>
            </a:pPr>
            <a:r>
              <a:rPr lang="en-US" sz="1700" dirty="0">
                <a:solidFill>
                  <a:srgbClr val="333333"/>
                </a:solidFill>
              </a:rPr>
              <a:t>•  Sharing Controls: Manage who can access and modify agents</a:t>
            </a:r>
            <a:endParaRPr lang="en-US" sz="1700" dirty="0"/>
          </a:p>
        </p:txBody>
      </p:sp>
      <p:sp>
        <p:nvSpPr>
          <p:cNvPr id="11" name="Text 9"/>
          <p:cNvSpPr/>
          <p:nvPr/>
        </p:nvSpPr>
        <p:spPr>
          <a:xfrm>
            <a:off x="202557" y="3524141"/>
            <a:ext cx="8698375" cy="548640"/>
          </a:xfrm>
          <a:prstGeom prst="rect">
            <a:avLst/>
          </a:prstGeom>
          <a:noFill/>
          <a:ln/>
        </p:spPr>
        <p:txBody>
          <a:bodyPr wrap="square" rtlCol="0" anchor="ctr"/>
          <a:lstStyle/>
          <a:p>
            <a:pPr marL="0" indent="0">
              <a:buNone/>
            </a:pPr>
            <a:r>
              <a:rPr lang="en-US" sz="1700" dirty="0">
                <a:solidFill>
                  <a:srgbClr val="333333"/>
                </a:solidFill>
              </a:rPr>
              <a:t>•  Export/Import Controls: Govern solution movement between environments</a:t>
            </a:r>
            <a:endParaRPr lang="en-US" sz="1700" dirty="0"/>
          </a:p>
        </p:txBody>
      </p:sp>
      <p:sp>
        <p:nvSpPr>
          <p:cNvPr id="13" name="Text 14">
            <a:extLst>
              <a:ext uri="{FF2B5EF4-FFF2-40B4-BE49-F238E27FC236}">
                <a16:creationId xmlns:a16="http://schemas.microsoft.com/office/drawing/2014/main" id="{6E69453A-AA88-3C5B-73F4-BF8A0BF17CEC}"/>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25707" y="283580"/>
            <a:ext cx="8432157" cy="731520"/>
          </a:xfrm>
          <a:prstGeom prst="rect">
            <a:avLst/>
          </a:prstGeom>
          <a:noFill/>
          <a:ln/>
        </p:spPr>
        <p:txBody>
          <a:bodyPr wrap="square" rtlCol="0" anchor="ctr"/>
          <a:lstStyle/>
          <a:p>
            <a:pPr marL="0" indent="0">
              <a:buNone/>
            </a:pPr>
            <a:r>
              <a:rPr lang="en-US" sz="3200" b="1" dirty="0">
                <a:solidFill>
                  <a:srgbClr val="333333"/>
                </a:solidFill>
              </a:rPr>
              <a:t>Production Monitoring Architecture</a:t>
            </a:r>
            <a:endParaRPr lang="en-US" sz="3200" dirty="0"/>
          </a:p>
        </p:txBody>
      </p:sp>
      <p:sp>
        <p:nvSpPr>
          <p:cNvPr id="4" name="Shape 2"/>
          <p:cNvSpPr/>
          <p:nvPr/>
        </p:nvSpPr>
        <p:spPr>
          <a:xfrm>
            <a:off x="225707" y="923660"/>
            <a:ext cx="8432157" cy="18288"/>
          </a:xfrm>
          <a:prstGeom prst="rect">
            <a:avLst/>
          </a:prstGeom>
          <a:solidFill>
            <a:srgbClr val="C8C8C8"/>
          </a:solidFill>
          <a:ln/>
        </p:spPr>
        <p:txBody>
          <a:bodyPr/>
          <a:lstStyle/>
          <a:p>
            <a:endParaRPr lang="en-IN"/>
          </a:p>
        </p:txBody>
      </p:sp>
      <p:sp>
        <p:nvSpPr>
          <p:cNvPr id="5" name="Text 3"/>
          <p:cNvSpPr/>
          <p:nvPr/>
        </p:nvSpPr>
        <p:spPr>
          <a:xfrm>
            <a:off x="225707" y="1197980"/>
            <a:ext cx="3593939" cy="502920"/>
          </a:xfrm>
          <a:prstGeom prst="rect">
            <a:avLst/>
          </a:prstGeom>
          <a:noFill/>
          <a:ln/>
        </p:spPr>
        <p:txBody>
          <a:bodyPr wrap="square" rtlCol="0" anchor="ctr"/>
          <a:lstStyle/>
          <a:p>
            <a:pPr marL="0" indent="0">
              <a:buNone/>
            </a:pPr>
            <a:r>
              <a:rPr lang="en-US" sz="1800" b="1" dirty="0">
                <a:solidFill>
                  <a:srgbClr val="333333"/>
                </a:solidFill>
              </a:rPr>
              <a:t>Layer 1: Application Monitoring</a:t>
            </a:r>
            <a:endParaRPr lang="en-US" sz="1800" dirty="0"/>
          </a:p>
        </p:txBody>
      </p:sp>
      <p:sp>
        <p:nvSpPr>
          <p:cNvPr id="6" name="Text 4"/>
          <p:cNvSpPr/>
          <p:nvPr/>
        </p:nvSpPr>
        <p:spPr>
          <a:xfrm>
            <a:off x="225707" y="1728332"/>
            <a:ext cx="3593939" cy="502920"/>
          </a:xfrm>
          <a:prstGeom prst="rect">
            <a:avLst/>
          </a:prstGeom>
          <a:noFill/>
          <a:ln/>
        </p:spPr>
        <p:txBody>
          <a:bodyPr wrap="square" rtlCol="0" anchor="ctr"/>
          <a:lstStyle/>
          <a:p>
            <a:pPr marL="0" indent="0">
              <a:buNone/>
            </a:pPr>
            <a:r>
              <a:rPr lang="en-US" sz="1600" dirty="0">
                <a:solidFill>
                  <a:srgbClr val="333333"/>
                </a:solidFill>
              </a:rPr>
              <a:t> → Agent performance metrics, response times, error rates</a:t>
            </a:r>
            <a:endParaRPr lang="en-US" sz="1600" dirty="0"/>
          </a:p>
        </p:txBody>
      </p:sp>
      <p:sp>
        <p:nvSpPr>
          <p:cNvPr id="7" name="Text 5"/>
          <p:cNvSpPr/>
          <p:nvPr/>
        </p:nvSpPr>
        <p:spPr>
          <a:xfrm>
            <a:off x="225707" y="2258684"/>
            <a:ext cx="3593939" cy="502920"/>
          </a:xfrm>
          <a:prstGeom prst="rect">
            <a:avLst/>
          </a:prstGeom>
          <a:noFill/>
          <a:ln/>
        </p:spPr>
        <p:txBody>
          <a:bodyPr wrap="square" rtlCol="0" anchor="ctr"/>
          <a:lstStyle/>
          <a:p>
            <a:pPr marL="0" indent="0">
              <a:buNone/>
            </a:pPr>
            <a:r>
              <a:rPr lang="en-US" sz="1800" b="1" dirty="0">
                <a:solidFill>
                  <a:srgbClr val="333333"/>
                </a:solidFill>
              </a:rPr>
              <a:t>Layer 2: Infrastructure Monitoring</a:t>
            </a:r>
            <a:endParaRPr lang="en-US" sz="1800" dirty="0"/>
          </a:p>
        </p:txBody>
      </p:sp>
      <p:sp>
        <p:nvSpPr>
          <p:cNvPr id="8" name="Text 6"/>
          <p:cNvSpPr/>
          <p:nvPr/>
        </p:nvSpPr>
        <p:spPr>
          <a:xfrm>
            <a:off x="225707" y="2789036"/>
            <a:ext cx="3593939" cy="502920"/>
          </a:xfrm>
          <a:prstGeom prst="rect">
            <a:avLst/>
          </a:prstGeom>
          <a:noFill/>
          <a:ln/>
        </p:spPr>
        <p:txBody>
          <a:bodyPr wrap="square" rtlCol="0" anchor="ctr"/>
          <a:lstStyle/>
          <a:p>
            <a:pPr marL="0" indent="0">
              <a:buNone/>
            </a:pPr>
            <a:r>
              <a:rPr lang="en-US" sz="1600" dirty="0">
                <a:solidFill>
                  <a:srgbClr val="333333"/>
                </a:solidFill>
              </a:rPr>
              <a:t> → Dataverse capacity, API throttling, connector health</a:t>
            </a:r>
            <a:endParaRPr lang="en-US" sz="1600" dirty="0"/>
          </a:p>
        </p:txBody>
      </p:sp>
      <p:sp>
        <p:nvSpPr>
          <p:cNvPr id="9" name="Text 7"/>
          <p:cNvSpPr/>
          <p:nvPr/>
        </p:nvSpPr>
        <p:spPr>
          <a:xfrm>
            <a:off x="4508340" y="1152260"/>
            <a:ext cx="3593939" cy="502920"/>
          </a:xfrm>
          <a:prstGeom prst="rect">
            <a:avLst/>
          </a:prstGeom>
          <a:noFill/>
          <a:ln/>
        </p:spPr>
        <p:txBody>
          <a:bodyPr wrap="square" rtlCol="0" anchor="ctr"/>
          <a:lstStyle/>
          <a:p>
            <a:pPr marL="0" indent="0">
              <a:buNone/>
            </a:pPr>
            <a:r>
              <a:rPr lang="en-US" sz="1800" b="1" dirty="0">
                <a:solidFill>
                  <a:srgbClr val="333333"/>
                </a:solidFill>
              </a:rPr>
              <a:t>Layer 3: Security Monitoring</a:t>
            </a:r>
            <a:endParaRPr lang="en-US" sz="1800" dirty="0"/>
          </a:p>
        </p:txBody>
      </p:sp>
      <p:sp>
        <p:nvSpPr>
          <p:cNvPr id="10" name="Text 8"/>
          <p:cNvSpPr/>
          <p:nvPr/>
        </p:nvSpPr>
        <p:spPr>
          <a:xfrm>
            <a:off x="4508340" y="1682612"/>
            <a:ext cx="3593939" cy="502920"/>
          </a:xfrm>
          <a:prstGeom prst="rect">
            <a:avLst/>
          </a:prstGeom>
          <a:noFill/>
          <a:ln/>
        </p:spPr>
        <p:txBody>
          <a:bodyPr wrap="square" rtlCol="0" anchor="ctr"/>
          <a:lstStyle/>
          <a:p>
            <a:pPr marL="0" indent="0">
              <a:buNone/>
            </a:pPr>
            <a:r>
              <a:rPr lang="en-US" sz="1600" dirty="0">
                <a:solidFill>
                  <a:srgbClr val="333333"/>
                </a:solidFill>
              </a:rPr>
              <a:t> → Access patterns, anomaly detection, threat alerts</a:t>
            </a:r>
            <a:endParaRPr lang="en-US" sz="1600" dirty="0"/>
          </a:p>
        </p:txBody>
      </p:sp>
      <p:sp>
        <p:nvSpPr>
          <p:cNvPr id="11" name="Text 9"/>
          <p:cNvSpPr/>
          <p:nvPr/>
        </p:nvSpPr>
        <p:spPr>
          <a:xfrm>
            <a:off x="4508340" y="2271879"/>
            <a:ext cx="3593939" cy="502920"/>
          </a:xfrm>
          <a:prstGeom prst="rect">
            <a:avLst/>
          </a:prstGeom>
          <a:noFill/>
          <a:ln/>
        </p:spPr>
        <p:txBody>
          <a:bodyPr wrap="square" rtlCol="0" anchor="ctr"/>
          <a:lstStyle/>
          <a:p>
            <a:pPr marL="0" indent="0">
              <a:buNone/>
            </a:pPr>
            <a:r>
              <a:rPr lang="en-US" sz="1800" b="1" dirty="0">
                <a:solidFill>
                  <a:srgbClr val="333333"/>
                </a:solidFill>
              </a:rPr>
              <a:t>Integration Points:</a:t>
            </a:r>
            <a:endParaRPr lang="en-US" sz="1800" dirty="0"/>
          </a:p>
        </p:txBody>
      </p:sp>
      <p:sp>
        <p:nvSpPr>
          <p:cNvPr id="12" name="Text 10"/>
          <p:cNvSpPr/>
          <p:nvPr/>
        </p:nvSpPr>
        <p:spPr>
          <a:xfrm>
            <a:off x="4508340" y="2802231"/>
            <a:ext cx="3593939" cy="502920"/>
          </a:xfrm>
          <a:prstGeom prst="rect">
            <a:avLst/>
          </a:prstGeom>
          <a:noFill/>
          <a:ln/>
        </p:spPr>
        <p:txBody>
          <a:bodyPr wrap="square" rtlCol="0" anchor="ctr"/>
          <a:lstStyle/>
          <a:p>
            <a:pPr marL="0" indent="0">
              <a:buNone/>
            </a:pPr>
            <a:r>
              <a:rPr lang="en-US" sz="1600" dirty="0">
                <a:solidFill>
                  <a:srgbClr val="333333"/>
                </a:solidFill>
              </a:rPr>
              <a:t> → Azure Monitor, Application Insights, Microsoft Sentinel</a:t>
            </a:r>
            <a:endParaRPr lang="en-US" sz="1600" dirty="0"/>
          </a:p>
        </p:txBody>
      </p:sp>
      <p:sp>
        <p:nvSpPr>
          <p:cNvPr id="13" name="Text 11"/>
          <p:cNvSpPr/>
          <p:nvPr/>
        </p:nvSpPr>
        <p:spPr>
          <a:xfrm>
            <a:off x="4508340" y="3332583"/>
            <a:ext cx="3593939" cy="502920"/>
          </a:xfrm>
          <a:prstGeom prst="rect">
            <a:avLst/>
          </a:prstGeom>
          <a:noFill/>
          <a:ln/>
        </p:spPr>
        <p:txBody>
          <a:bodyPr wrap="square" rtlCol="0" anchor="ctr"/>
          <a:lstStyle/>
          <a:p>
            <a:pPr marL="0" indent="0">
              <a:buNone/>
            </a:pPr>
            <a:r>
              <a:rPr lang="en-US" sz="1600" dirty="0">
                <a:solidFill>
                  <a:srgbClr val="333333"/>
                </a:solidFill>
              </a:rPr>
              <a:t> → Power BI dashboards (from Module 11) for visualization</a:t>
            </a:r>
            <a:endParaRPr lang="en-US" sz="1600" dirty="0"/>
          </a:p>
        </p:txBody>
      </p:sp>
      <p:sp>
        <p:nvSpPr>
          <p:cNvPr id="15" name="Text 14">
            <a:extLst>
              <a:ext uri="{FF2B5EF4-FFF2-40B4-BE49-F238E27FC236}">
                <a16:creationId xmlns:a16="http://schemas.microsoft.com/office/drawing/2014/main" id="{DA28BBEA-CEF2-0C3A-24F8-F84646DC2376}"/>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
        <p:nvSpPr>
          <p:cNvPr id="16" name="Shape 14">
            <a:extLst>
              <a:ext uri="{FF2B5EF4-FFF2-40B4-BE49-F238E27FC236}">
                <a16:creationId xmlns:a16="http://schemas.microsoft.com/office/drawing/2014/main" id="{AE271E50-9585-EE3B-DA4F-0FE19928AEB2}"/>
              </a:ext>
            </a:extLst>
          </p:cNvPr>
          <p:cNvSpPr/>
          <p:nvPr/>
        </p:nvSpPr>
        <p:spPr>
          <a:xfrm>
            <a:off x="4034935" y="1070314"/>
            <a:ext cx="18288" cy="3657600"/>
          </a:xfrm>
          <a:prstGeom prst="rect">
            <a:avLst/>
          </a:prstGeom>
          <a:solidFill>
            <a:srgbClr val="C8C8C8"/>
          </a:solidFill>
          <a:ln/>
        </p:spPr>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PILLAR 4</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Environment &amp; ALM Strategy</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37281" y="228600"/>
            <a:ext cx="8281686" cy="731520"/>
          </a:xfrm>
          <a:prstGeom prst="rect">
            <a:avLst/>
          </a:prstGeom>
          <a:noFill/>
          <a:ln/>
        </p:spPr>
        <p:txBody>
          <a:bodyPr wrap="square" rtlCol="0" anchor="ctr"/>
          <a:lstStyle/>
          <a:p>
            <a:pPr marL="0" indent="0">
              <a:buNone/>
            </a:pPr>
            <a:r>
              <a:rPr lang="en-US" sz="3200" b="1" dirty="0">
                <a:solidFill>
                  <a:srgbClr val="333333"/>
                </a:solidFill>
              </a:rPr>
              <a:t>The Three-Environment Strategy</a:t>
            </a:r>
            <a:endParaRPr lang="en-US" sz="3200" dirty="0"/>
          </a:p>
        </p:txBody>
      </p:sp>
      <p:sp>
        <p:nvSpPr>
          <p:cNvPr id="4" name="Shape 2"/>
          <p:cNvSpPr/>
          <p:nvPr/>
        </p:nvSpPr>
        <p:spPr>
          <a:xfrm>
            <a:off x="396840" y="1005840"/>
            <a:ext cx="8281686" cy="18288"/>
          </a:xfrm>
          <a:prstGeom prst="rect">
            <a:avLst/>
          </a:prstGeom>
          <a:solidFill>
            <a:srgbClr val="C8C8C8"/>
          </a:solidFill>
          <a:ln/>
        </p:spPr>
        <p:txBody>
          <a:bodyPr/>
          <a:lstStyle/>
          <a:p>
            <a:endParaRPr lang="en-IN"/>
          </a:p>
        </p:txBody>
      </p:sp>
      <p:sp>
        <p:nvSpPr>
          <p:cNvPr id="5" name="Text 3"/>
          <p:cNvSpPr/>
          <p:nvPr/>
        </p:nvSpPr>
        <p:spPr>
          <a:xfrm>
            <a:off x="457200" y="1371600"/>
            <a:ext cx="8281686" cy="548640"/>
          </a:xfrm>
          <a:prstGeom prst="rect">
            <a:avLst/>
          </a:prstGeom>
          <a:noFill/>
          <a:ln/>
        </p:spPr>
        <p:txBody>
          <a:bodyPr wrap="square" rtlCol="0" anchor="ctr"/>
          <a:lstStyle/>
          <a:p>
            <a:pPr marL="0" indent="0">
              <a:buNone/>
            </a:pPr>
            <a:r>
              <a:rPr lang="en-US" sz="1900" b="1" dirty="0">
                <a:solidFill>
                  <a:srgbClr val="333333"/>
                </a:solidFill>
              </a:rPr>
              <a:t>Development Environment</a:t>
            </a:r>
            <a:endParaRPr lang="en-US" sz="1900" dirty="0"/>
          </a:p>
        </p:txBody>
      </p:sp>
      <p:sp>
        <p:nvSpPr>
          <p:cNvPr id="6" name="Text 4"/>
          <p:cNvSpPr/>
          <p:nvPr/>
        </p:nvSpPr>
        <p:spPr>
          <a:xfrm>
            <a:off x="457200" y="1998948"/>
            <a:ext cx="3975904" cy="548640"/>
          </a:xfrm>
          <a:prstGeom prst="rect">
            <a:avLst/>
          </a:prstGeom>
          <a:noFill/>
          <a:ln/>
        </p:spPr>
        <p:txBody>
          <a:bodyPr wrap="square" rtlCol="0" anchor="ctr"/>
          <a:lstStyle/>
          <a:p>
            <a:pPr marL="0" indent="0">
              <a:buNone/>
            </a:pPr>
            <a:r>
              <a:rPr lang="en-US" sz="1600" dirty="0">
                <a:solidFill>
                  <a:srgbClr val="333333"/>
                </a:solidFill>
              </a:rPr>
              <a:t>→ Unmanaged solutions, active development, frequent changes</a:t>
            </a:r>
            <a:endParaRPr lang="en-US" sz="1600" dirty="0"/>
          </a:p>
        </p:txBody>
      </p:sp>
      <p:sp>
        <p:nvSpPr>
          <p:cNvPr id="7" name="Text 5"/>
          <p:cNvSpPr/>
          <p:nvPr/>
        </p:nvSpPr>
        <p:spPr>
          <a:xfrm>
            <a:off x="457201" y="2547588"/>
            <a:ext cx="3489767" cy="548640"/>
          </a:xfrm>
          <a:prstGeom prst="rect">
            <a:avLst/>
          </a:prstGeom>
          <a:noFill/>
          <a:ln/>
        </p:spPr>
        <p:txBody>
          <a:bodyPr wrap="square" rtlCol="0" anchor="ctr"/>
          <a:lstStyle/>
          <a:p>
            <a:pPr marL="0" indent="0">
              <a:buNone/>
            </a:pPr>
            <a:r>
              <a:rPr lang="en-US" sz="1900" b="1" dirty="0">
                <a:solidFill>
                  <a:srgbClr val="333333"/>
                </a:solidFill>
              </a:rPr>
              <a:t>Test Environment</a:t>
            </a:r>
            <a:endParaRPr lang="en-US" sz="1900" dirty="0"/>
          </a:p>
        </p:txBody>
      </p:sp>
      <p:sp>
        <p:nvSpPr>
          <p:cNvPr id="8" name="Text 6"/>
          <p:cNvSpPr/>
          <p:nvPr/>
        </p:nvSpPr>
        <p:spPr>
          <a:xfrm>
            <a:off x="457201" y="3009417"/>
            <a:ext cx="2971801" cy="548640"/>
          </a:xfrm>
          <a:prstGeom prst="rect">
            <a:avLst/>
          </a:prstGeom>
          <a:noFill/>
          <a:ln/>
        </p:spPr>
        <p:txBody>
          <a:bodyPr wrap="square" rtlCol="0" anchor="ctr"/>
          <a:lstStyle/>
          <a:p>
            <a:pPr marL="0" indent="0">
              <a:buNone/>
            </a:pPr>
            <a:r>
              <a:rPr lang="en-US" sz="1600" dirty="0">
                <a:solidFill>
                  <a:srgbClr val="333333"/>
                </a:solidFill>
              </a:rPr>
              <a:t>→ Managed solutions imported, integration testing, UAT</a:t>
            </a:r>
            <a:endParaRPr lang="en-US" sz="1600" dirty="0"/>
          </a:p>
        </p:txBody>
      </p:sp>
      <p:sp>
        <p:nvSpPr>
          <p:cNvPr id="14" name="Text 7"/>
          <p:cNvSpPr/>
          <p:nvPr/>
        </p:nvSpPr>
        <p:spPr>
          <a:xfrm>
            <a:off x="4187142" y="1371600"/>
            <a:ext cx="4331825" cy="548640"/>
          </a:xfrm>
          <a:prstGeom prst="rect">
            <a:avLst/>
          </a:prstGeom>
          <a:noFill/>
          <a:ln/>
        </p:spPr>
        <p:txBody>
          <a:bodyPr wrap="square" rtlCol="0" anchor="ctr"/>
          <a:lstStyle/>
          <a:p>
            <a:pPr marL="0" indent="0">
              <a:buNone/>
            </a:pPr>
            <a:r>
              <a:rPr lang="en-US" sz="1900" b="1" dirty="0">
                <a:solidFill>
                  <a:srgbClr val="333333"/>
                </a:solidFill>
              </a:rPr>
              <a:t>Production Environment</a:t>
            </a:r>
            <a:endParaRPr lang="en-US" sz="1900" dirty="0"/>
          </a:p>
        </p:txBody>
      </p:sp>
      <p:sp>
        <p:nvSpPr>
          <p:cNvPr id="15" name="Text 8"/>
          <p:cNvSpPr/>
          <p:nvPr/>
        </p:nvSpPr>
        <p:spPr>
          <a:xfrm>
            <a:off x="4187142" y="1965960"/>
            <a:ext cx="4331825" cy="548640"/>
          </a:xfrm>
          <a:prstGeom prst="rect">
            <a:avLst/>
          </a:prstGeom>
          <a:noFill/>
          <a:ln/>
        </p:spPr>
        <p:txBody>
          <a:bodyPr wrap="square" rtlCol="0" anchor="ctr"/>
          <a:lstStyle/>
          <a:p>
            <a:pPr marL="0" indent="0">
              <a:buNone/>
            </a:pPr>
            <a:r>
              <a:rPr lang="en-US" sz="1600" dirty="0">
                <a:solidFill>
                  <a:srgbClr val="333333"/>
                </a:solidFill>
              </a:rPr>
              <a:t>→ Managed solutions only, change approval required, monitored</a:t>
            </a:r>
            <a:endParaRPr lang="en-US" sz="1600" dirty="0"/>
          </a:p>
        </p:txBody>
      </p:sp>
      <p:sp>
        <p:nvSpPr>
          <p:cNvPr id="16" name="Text 9"/>
          <p:cNvSpPr/>
          <p:nvPr/>
        </p:nvSpPr>
        <p:spPr>
          <a:xfrm>
            <a:off x="4187142" y="2834640"/>
            <a:ext cx="4551744" cy="548640"/>
          </a:xfrm>
          <a:prstGeom prst="rect">
            <a:avLst/>
          </a:prstGeom>
          <a:noFill/>
          <a:ln/>
        </p:spPr>
        <p:txBody>
          <a:bodyPr wrap="square" rtlCol="0" anchor="ctr"/>
          <a:lstStyle/>
          <a:p>
            <a:pPr marL="0" indent="0">
              <a:buNone/>
            </a:pPr>
            <a:r>
              <a:rPr lang="en-US" sz="1600" i="1" dirty="0">
                <a:solidFill>
                  <a:srgbClr val="2E3192"/>
                </a:solidFill>
              </a:rPr>
              <a:t>Key Principle: Code flows forward, never backward</a:t>
            </a:r>
            <a:endParaRPr lang="en-US" sz="1600" dirty="0"/>
          </a:p>
        </p:txBody>
      </p:sp>
      <p:sp>
        <p:nvSpPr>
          <p:cNvPr id="17" name="Text 10"/>
          <p:cNvSpPr/>
          <p:nvPr/>
        </p:nvSpPr>
        <p:spPr>
          <a:xfrm>
            <a:off x="4187142" y="3154680"/>
            <a:ext cx="4551744" cy="548640"/>
          </a:xfrm>
          <a:prstGeom prst="rect">
            <a:avLst/>
          </a:prstGeom>
          <a:noFill/>
          <a:ln/>
        </p:spPr>
        <p:txBody>
          <a:bodyPr wrap="square" rtlCol="0" anchor="ctr"/>
          <a:lstStyle/>
          <a:p>
            <a:pPr marL="0" indent="0">
              <a:buNone/>
            </a:pPr>
            <a:r>
              <a:rPr lang="en-US" sz="1600" i="1" dirty="0">
                <a:solidFill>
                  <a:srgbClr val="2E3192"/>
                </a:solidFill>
              </a:rPr>
              <a:t>Source Control: Git repository for solution export files</a:t>
            </a:r>
            <a:endParaRPr lang="en-US" sz="1600" dirty="0"/>
          </a:p>
        </p:txBody>
      </p:sp>
      <p:sp>
        <p:nvSpPr>
          <p:cNvPr id="18" name="Text 14">
            <a:extLst>
              <a:ext uri="{FF2B5EF4-FFF2-40B4-BE49-F238E27FC236}">
                <a16:creationId xmlns:a16="http://schemas.microsoft.com/office/drawing/2014/main" id="{019B49CC-BE50-D716-8534-4792845EA331}"/>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
        <p:nvSpPr>
          <p:cNvPr id="19" name="Shape 14">
            <a:extLst>
              <a:ext uri="{FF2B5EF4-FFF2-40B4-BE49-F238E27FC236}">
                <a16:creationId xmlns:a16="http://schemas.microsoft.com/office/drawing/2014/main" id="{0773BC88-FF1E-4A26-161F-823C2435289E}"/>
              </a:ext>
            </a:extLst>
          </p:cNvPr>
          <p:cNvSpPr/>
          <p:nvPr/>
        </p:nvSpPr>
        <p:spPr>
          <a:xfrm>
            <a:off x="3780640" y="1280160"/>
            <a:ext cx="18288" cy="3657600"/>
          </a:xfrm>
          <a:prstGeom prst="rect">
            <a:avLst/>
          </a:prstGeom>
          <a:solidFill>
            <a:srgbClr val="C8C8C8"/>
          </a:solidFill>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79408" y="189245"/>
            <a:ext cx="8027043" cy="502917"/>
          </a:xfrm>
          <a:prstGeom prst="rect">
            <a:avLst/>
          </a:prstGeom>
          <a:noFill/>
          <a:ln/>
        </p:spPr>
        <p:txBody>
          <a:bodyPr wrap="square" rtlCol="0" anchor="ctr"/>
          <a:lstStyle/>
          <a:p>
            <a:pPr marL="0" indent="0">
              <a:buNone/>
            </a:pPr>
            <a:r>
              <a:rPr lang="en-US" sz="3200" b="1" dirty="0">
                <a:solidFill>
                  <a:srgbClr val="333333"/>
                </a:solidFill>
              </a:rPr>
              <a:t>ALM Workflow for BFSI</a:t>
            </a:r>
            <a:endParaRPr lang="en-US" sz="3200" dirty="0"/>
          </a:p>
        </p:txBody>
      </p:sp>
      <p:sp>
        <p:nvSpPr>
          <p:cNvPr id="4" name="Shape 2"/>
          <p:cNvSpPr/>
          <p:nvPr/>
        </p:nvSpPr>
        <p:spPr>
          <a:xfrm>
            <a:off x="179408" y="829325"/>
            <a:ext cx="8027043" cy="45719"/>
          </a:xfrm>
          <a:prstGeom prst="rect">
            <a:avLst/>
          </a:prstGeom>
          <a:solidFill>
            <a:srgbClr val="C8C8C8"/>
          </a:solidFill>
          <a:ln/>
        </p:spPr>
        <p:txBody>
          <a:bodyPr/>
          <a:lstStyle/>
          <a:p>
            <a:endParaRPr lang="en-IN"/>
          </a:p>
        </p:txBody>
      </p:sp>
      <p:sp>
        <p:nvSpPr>
          <p:cNvPr id="5" name="Text 3"/>
          <p:cNvSpPr/>
          <p:nvPr/>
        </p:nvSpPr>
        <p:spPr>
          <a:xfrm>
            <a:off x="179408" y="1012206"/>
            <a:ext cx="8027043" cy="137160"/>
          </a:xfrm>
          <a:prstGeom prst="rect">
            <a:avLst/>
          </a:prstGeom>
          <a:noFill/>
          <a:ln/>
        </p:spPr>
        <p:txBody>
          <a:bodyPr wrap="square" rtlCol="0" anchor="ctr"/>
          <a:lstStyle/>
          <a:p>
            <a:pPr marL="0" indent="0">
              <a:buNone/>
            </a:pPr>
            <a:r>
              <a:rPr lang="en-US" sz="1500" dirty="0">
                <a:solidFill>
                  <a:srgbClr val="333333"/>
                </a:solidFill>
              </a:rPr>
              <a:t>1. Develop: Create or modify components in Dev environment</a:t>
            </a:r>
            <a:endParaRPr lang="en-US" sz="1500" dirty="0"/>
          </a:p>
        </p:txBody>
      </p:sp>
      <p:sp>
        <p:nvSpPr>
          <p:cNvPr id="6" name="Text 4"/>
          <p:cNvSpPr/>
          <p:nvPr/>
        </p:nvSpPr>
        <p:spPr>
          <a:xfrm>
            <a:off x="179408" y="1286528"/>
            <a:ext cx="8027043" cy="137160"/>
          </a:xfrm>
          <a:prstGeom prst="rect">
            <a:avLst/>
          </a:prstGeom>
          <a:noFill/>
          <a:ln/>
        </p:spPr>
        <p:txBody>
          <a:bodyPr wrap="square" rtlCol="0" anchor="ctr"/>
          <a:lstStyle/>
          <a:p>
            <a:pPr marL="0" indent="0">
              <a:buNone/>
            </a:pPr>
            <a:r>
              <a:rPr lang="en-US" sz="1500" dirty="0">
                <a:solidFill>
                  <a:srgbClr val="333333"/>
                </a:solidFill>
              </a:rPr>
              <a:t>2. Export: Export solution as managed from Dev</a:t>
            </a:r>
            <a:endParaRPr lang="en-US" sz="1500" dirty="0"/>
          </a:p>
        </p:txBody>
      </p:sp>
      <p:sp>
        <p:nvSpPr>
          <p:cNvPr id="7" name="Text 5"/>
          <p:cNvSpPr/>
          <p:nvPr/>
        </p:nvSpPr>
        <p:spPr>
          <a:xfrm>
            <a:off x="179408" y="1589206"/>
            <a:ext cx="8027043" cy="137160"/>
          </a:xfrm>
          <a:prstGeom prst="rect">
            <a:avLst/>
          </a:prstGeom>
          <a:noFill/>
          <a:ln/>
        </p:spPr>
        <p:txBody>
          <a:bodyPr wrap="square" rtlCol="0" anchor="ctr"/>
          <a:lstStyle/>
          <a:p>
            <a:pPr marL="0" indent="0">
              <a:buNone/>
            </a:pPr>
            <a:r>
              <a:rPr lang="en-US" sz="1500" dirty="0">
                <a:solidFill>
                  <a:srgbClr val="333333"/>
                </a:solidFill>
              </a:rPr>
              <a:t>3. Commit: Store solution in Git with version tag</a:t>
            </a:r>
            <a:endParaRPr lang="en-US" sz="1500" dirty="0"/>
          </a:p>
        </p:txBody>
      </p:sp>
      <p:sp>
        <p:nvSpPr>
          <p:cNvPr id="8" name="Text 6"/>
          <p:cNvSpPr/>
          <p:nvPr/>
        </p:nvSpPr>
        <p:spPr>
          <a:xfrm>
            <a:off x="179408" y="1867867"/>
            <a:ext cx="8027043" cy="137160"/>
          </a:xfrm>
          <a:prstGeom prst="rect">
            <a:avLst/>
          </a:prstGeom>
          <a:noFill/>
          <a:ln/>
        </p:spPr>
        <p:txBody>
          <a:bodyPr wrap="square" rtlCol="0" anchor="ctr"/>
          <a:lstStyle/>
          <a:p>
            <a:pPr marL="0" indent="0">
              <a:buNone/>
            </a:pPr>
            <a:r>
              <a:rPr lang="en-US" sz="1500" dirty="0">
                <a:solidFill>
                  <a:srgbClr val="333333"/>
                </a:solidFill>
              </a:rPr>
              <a:t>4. Request: Submit change request through ITSM system</a:t>
            </a:r>
            <a:endParaRPr lang="en-US" sz="1500" dirty="0"/>
          </a:p>
        </p:txBody>
      </p:sp>
      <p:sp>
        <p:nvSpPr>
          <p:cNvPr id="9" name="Text 7"/>
          <p:cNvSpPr/>
          <p:nvPr/>
        </p:nvSpPr>
        <p:spPr>
          <a:xfrm>
            <a:off x="179407" y="2125778"/>
            <a:ext cx="8027043" cy="137160"/>
          </a:xfrm>
          <a:prstGeom prst="rect">
            <a:avLst/>
          </a:prstGeom>
          <a:noFill/>
          <a:ln/>
        </p:spPr>
        <p:txBody>
          <a:bodyPr wrap="square" rtlCol="0" anchor="ctr"/>
          <a:lstStyle/>
          <a:p>
            <a:pPr marL="0" indent="0">
              <a:buNone/>
            </a:pPr>
            <a:r>
              <a:rPr lang="en-US" sz="1500" dirty="0">
                <a:solidFill>
                  <a:srgbClr val="333333"/>
                </a:solidFill>
              </a:rPr>
              <a:t>5. Review: Technical review and approval gate</a:t>
            </a:r>
            <a:endParaRPr lang="en-US" sz="1500" dirty="0"/>
          </a:p>
        </p:txBody>
      </p:sp>
      <p:sp>
        <p:nvSpPr>
          <p:cNvPr id="10" name="Text 8"/>
          <p:cNvSpPr/>
          <p:nvPr/>
        </p:nvSpPr>
        <p:spPr>
          <a:xfrm>
            <a:off x="179408" y="2415145"/>
            <a:ext cx="8027043" cy="137160"/>
          </a:xfrm>
          <a:prstGeom prst="rect">
            <a:avLst/>
          </a:prstGeom>
          <a:noFill/>
          <a:ln/>
        </p:spPr>
        <p:txBody>
          <a:bodyPr wrap="square" rtlCol="0" anchor="ctr"/>
          <a:lstStyle/>
          <a:p>
            <a:pPr marL="0" indent="0">
              <a:buNone/>
            </a:pPr>
            <a:r>
              <a:rPr lang="en-US" sz="1500" dirty="0">
                <a:solidFill>
                  <a:srgbClr val="333333"/>
                </a:solidFill>
              </a:rPr>
              <a:t>6. Import to Test: Import managed solution to Test environment</a:t>
            </a:r>
            <a:endParaRPr lang="en-US" sz="1500" dirty="0"/>
          </a:p>
        </p:txBody>
      </p:sp>
      <p:sp>
        <p:nvSpPr>
          <p:cNvPr id="11" name="Text 9"/>
          <p:cNvSpPr/>
          <p:nvPr/>
        </p:nvSpPr>
        <p:spPr>
          <a:xfrm>
            <a:off x="179408" y="2753691"/>
            <a:ext cx="8027043" cy="137160"/>
          </a:xfrm>
          <a:prstGeom prst="rect">
            <a:avLst/>
          </a:prstGeom>
          <a:noFill/>
          <a:ln/>
        </p:spPr>
        <p:txBody>
          <a:bodyPr wrap="square" rtlCol="0" anchor="ctr"/>
          <a:lstStyle/>
          <a:p>
            <a:pPr marL="0" indent="0">
              <a:buNone/>
            </a:pPr>
            <a:r>
              <a:rPr lang="en-US" sz="1500" dirty="0">
                <a:solidFill>
                  <a:srgbClr val="333333"/>
                </a:solidFill>
              </a:rPr>
              <a:t>7. Validate: Execute test cases, UAT sign-off</a:t>
            </a:r>
            <a:endParaRPr lang="en-US" sz="1500" dirty="0"/>
          </a:p>
        </p:txBody>
      </p:sp>
      <p:sp>
        <p:nvSpPr>
          <p:cNvPr id="12" name="Text 10"/>
          <p:cNvSpPr/>
          <p:nvPr/>
        </p:nvSpPr>
        <p:spPr>
          <a:xfrm>
            <a:off x="179408" y="3092019"/>
            <a:ext cx="8027043" cy="137160"/>
          </a:xfrm>
          <a:prstGeom prst="rect">
            <a:avLst/>
          </a:prstGeom>
          <a:noFill/>
          <a:ln/>
        </p:spPr>
        <p:txBody>
          <a:bodyPr wrap="square" rtlCol="0" anchor="ctr"/>
          <a:lstStyle/>
          <a:p>
            <a:pPr marL="0" indent="0">
              <a:buNone/>
            </a:pPr>
            <a:r>
              <a:rPr lang="en-US" sz="1500" dirty="0">
                <a:solidFill>
                  <a:srgbClr val="333333"/>
                </a:solidFill>
              </a:rPr>
              <a:t>8. Approve: Production change approval board</a:t>
            </a:r>
            <a:endParaRPr lang="en-US" sz="1500" dirty="0"/>
          </a:p>
        </p:txBody>
      </p:sp>
      <p:sp>
        <p:nvSpPr>
          <p:cNvPr id="13" name="Text 11"/>
          <p:cNvSpPr/>
          <p:nvPr/>
        </p:nvSpPr>
        <p:spPr>
          <a:xfrm>
            <a:off x="179408" y="3430347"/>
            <a:ext cx="8027043" cy="137160"/>
          </a:xfrm>
          <a:prstGeom prst="rect">
            <a:avLst/>
          </a:prstGeom>
          <a:noFill/>
          <a:ln/>
        </p:spPr>
        <p:txBody>
          <a:bodyPr wrap="square" rtlCol="0" anchor="ctr"/>
          <a:lstStyle/>
          <a:p>
            <a:pPr marL="0" indent="0">
              <a:buNone/>
            </a:pPr>
            <a:r>
              <a:rPr lang="en-US" sz="1500" dirty="0">
                <a:solidFill>
                  <a:srgbClr val="333333"/>
                </a:solidFill>
              </a:rPr>
              <a:t>9. Deploy: Import managed solution to Production</a:t>
            </a:r>
            <a:endParaRPr lang="en-US" sz="1500" dirty="0"/>
          </a:p>
        </p:txBody>
      </p:sp>
      <p:sp>
        <p:nvSpPr>
          <p:cNvPr id="14" name="Text 12"/>
          <p:cNvSpPr/>
          <p:nvPr/>
        </p:nvSpPr>
        <p:spPr>
          <a:xfrm>
            <a:off x="179406" y="3747493"/>
            <a:ext cx="8027043" cy="137160"/>
          </a:xfrm>
          <a:prstGeom prst="rect">
            <a:avLst/>
          </a:prstGeom>
          <a:noFill/>
          <a:ln/>
        </p:spPr>
        <p:txBody>
          <a:bodyPr wrap="square" rtlCol="0" anchor="ctr"/>
          <a:lstStyle/>
          <a:p>
            <a:pPr marL="0" indent="0">
              <a:buNone/>
            </a:pPr>
            <a:r>
              <a:rPr lang="en-US" sz="1500" dirty="0">
                <a:solidFill>
                  <a:srgbClr val="333333"/>
                </a:solidFill>
              </a:rPr>
              <a:t>10. Verify: Post-deployment validation and monitoring</a:t>
            </a:r>
            <a:endParaRPr lang="en-US" sz="1500" dirty="0"/>
          </a:p>
        </p:txBody>
      </p:sp>
      <p:sp>
        <p:nvSpPr>
          <p:cNvPr id="16" name="Text 14">
            <a:extLst>
              <a:ext uri="{FF2B5EF4-FFF2-40B4-BE49-F238E27FC236}">
                <a16:creationId xmlns:a16="http://schemas.microsoft.com/office/drawing/2014/main" id="{1A8AE9B1-D355-72DA-5F69-6396E3735BB9}"/>
              </a:ext>
            </a:extLst>
          </p:cNvPr>
          <p:cNvSpPr/>
          <p:nvPr/>
        </p:nvSpPr>
        <p:spPr>
          <a:xfrm>
            <a:off x="290181" y="4801066"/>
            <a:ext cx="8495004"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09959" y="166097"/>
            <a:ext cx="8397433" cy="731520"/>
          </a:xfrm>
          <a:prstGeom prst="rect">
            <a:avLst/>
          </a:prstGeom>
          <a:noFill/>
          <a:ln/>
        </p:spPr>
        <p:txBody>
          <a:bodyPr wrap="square" rtlCol="0" anchor="ctr"/>
          <a:lstStyle/>
          <a:p>
            <a:pPr marL="0" indent="0">
              <a:buNone/>
            </a:pPr>
            <a:r>
              <a:rPr lang="en-US" sz="3200" b="1" dirty="0">
                <a:solidFill>
                  <a:srgbClr val="333333"/>
                </a:solidFill>
              </a:rPr>
              <a:t>Rollback Procedure</a:t>
            </a:r>
            <a:endParaRPr lang="en-US" sz="3200" dirty="0"/>
          </a:p>
        </p:txBody>
      </p:sp>
      <p:sp>
        <p:nvSpPr>
          <p:cNvPr id="4" name="Shape 2"/>
          <p:cNvSpPr/>
          <p:nvPr/>
        </p:nvSpPr>
        <p:spPr>
          <a:xfrm>
            <a:off x="109959" y="806177"/>
            <a:ext cx="8397433" cy="18288"/>
          </a:xfrm>
          <a:prstGeom prst="rect">
            <a:avLst/>
          </a:prstGeom>
          <a:solidFill>
            <a:srgbClr val="C8C8C8"/>
          </a:solidFill>
          <a:ln/>
        </p:spPr>
        <p:txBody>
          <a:bodyPr/>
          <a:lstStyle/>
          <a:p>
            <a:endParaRPr lang="en-IN"/>
          </a:p>
        </p:txBody>
      </p:sp>
      <p:sp>
        <p:nvSpPr>
          <p:cNvPr id="5" name="Text 3"/>
          <p:cNvSpPr/>
          <p:nvPr/>
        </p:nvSpPr>
        <p:spPr>
          <a:xfrm>
            <a:off x="109959" y="1080497"/>
            <a:ext cx="8397433" cy="457200"/>
          </a:xfrm>
          <a:prstGeom prst="rect">
            <a:avLst/>
          </a:prstGeom>
          <a:noFill/>
          <a:ln/>
        </p:spPr>
        <p:txBody>
          <a:bodyPr wrap="square" rtlCol="0" anchor="ctr"/>
          <a:lstStyle/>
          <a:p>
            <a:pPr marL="0" indent="0">
              <a:buNone/>
            </a:pPr>
            <a:r>
              <a:rPr lang="en-US" sz="1600" dirty="0">
                <a:solidFill>
                  <a:srgbClr val="333333"/>
                </a:solidFill>
              </a:rPr>
              <a:t>Scenario: Production agent behaving incorrectly after update</a:t>
            </a:r>
            <a:endParaRPr lang="en-US" sz="1600" dirty="0"/>
          </a:p>
        </p:txBody>
      </p:sp>
      <p:sp>
        <p:nvSpPr>
          <p:cNvPr id="6" name="Text 4"/>
          <p:cNvSpPr/>
          <p:nvPr/>
        </p:nvSpPr>
        <p:spPr>
          <a:xfrm>
            <a:off x="109959" y="1583417"/>
            <a:ext cx="8397433" cy="457200"/>
          </a:xfrm>
          <a:prstGeom prst="rect">
            <a:avLst/>
          </a:prstGeom>
          <a:noFill/>
          <a:ln/>
        </p:spPr>
        <p:txBody>
          <a:bodyPr wrap="square" rtlCol="0" anchor="ctr"/>
          <a:lstStyle/>
          <a:p>
            <a:pPr marL="0" indent="0">
              <a:buNone/>
            </a:pPr>
            <a:r>
              <a:rPr lang="en-US" sz="1600" dirty="0">
                <a:solidFill>
                  <a:srgbClr val="333333"/>
                </a:solidFill>
              </a:rPr>
              <a:t>Step 1: Assess impact and severity</a:t>
            </a:r>
            <a:endParaRPr lang="en-US" sz="1600" dirty="0"/>
          </a:p>
        </p:txBody>
      </p:sp>
      <p:sp>
        <p:nvSpPr>
          <p:cNvPr id="7" name="Text 5"/>
          <p:cNvSpPr/>
          <p:nvPr/>
        </p:nvSpPr>
        <p:spPr>
          <a:xfrm>
            <a:off x="109959" y="2086337"/>
            <a:ext cx="8397433" cy="457200"/>
          </a:xfrm>
          <a:prstGeom prst="rect">
            <a:avLst/>
          </a:prstGeom>
          <a:noFill/>
          <a:ln/>
        </p:spPr>
        <p:txBody>
          <a:bodyPr wrap="square" rtlCol="0" anchor="ctr"/>
          <a:lstStyle/>
          <a:p>
            <a:pPr marL="0" indent="0">
              <a:buNone/>
            </a:pPr>
            <a:r>
              <a:rPr lang="en-US" sz="1600" dirty="0">
                <a:solidFill>
                  <a:srgbClr val="333333"/>
                </a:solidFill>
              </a:rPr>
              <a:t>Step 2: Retrieve previous managed solution version from Git</a:t>
            </a:r>
            <a:endParaRPr lang="en-US" sz="1600" dirty="0"/>
          </a:p>
        </p:txBody>
      </p:sp>
      <p:sp>
        <p:nvSpPr>
          <p:cNvPr id="8" name="Text 6"/>
          <p:cNvSpPr/>
          <p:nvPr/>
        </p:nvSpPr>
        <p:spPr>
          <a:xfrm>
            <a:off x="109959" y="2589257"/>
            <a:ext cx="8397433" cy="457200"/>
          </a:xfrm>
          <a:prstGeom prst="rect">
            <a:avLst/>
          </a:prstGeom>
          <a:noFill/>
          <a:ln/>
        </p:spPr>
        <p:txBody>
          <a:bodyPr wrap="square" rtlCol="0" anchor="ctr"/>
          <a:lstStyle/>
          <a:p>
            <a:pPr marL="0" indent="0">
              <a:buNone/>
            </a:pPr>
            <a:r>
              <a:rPr lang="en-US" sz="1600" dirty="0">
                <a:solidFill>
                  <a:srgbClr val="333333"/>
                </a:solidFill>
              </a:rPr>
              <a:t>Step 3: Import previous version to production (solution upgrade)</a:t>
            </a:r>
            <a:endParaRPr lang="en-US" sz="1600" dirty="0"/>
          </a:p>
        </p:txBody>
      </p:sp>
      <p:sp>
        <p:nvSpPr>
          <p:cNvPr id="9" name="Text 7"/>
          <p:cNvSpPr/>
          <p:nvPr/>
        </p:nvSpPr>
        <p:spPr>
          <a:xfrm>
            <a:off x="109959" y="3092177"/>
            <a:ext cx="8397433" cy="457200"/>
          </a:xfrm>
          <a:prstGeom prst="rect">
            <a:avLst/>
          </a:prstGeom>
          <a:noFill/>
          <a:ln/>
        </p:spPr>
        <p:txBody>
          <a:bodyPr wrap="square" rtlCol="0" anchor="ctr"/>
          <a:lstStyle/>
          <a:p>
            <a:pPr marL="0" indent="0">
              <a:buNone/>
            </a:pPr>
            <a:r>
              <a:rPr lang="en-US" sz="1600" dirty="0">
                <a:solidFill>
                  <a:srgbClr val="333333"/>
                </a:solidFill>
              </a:rPr>
              <a:t>Step 4: Verify rollback resolved the issue</a:t>
            </a:r>
            <a:endParaRPr lang="en-US" sz="1600" dirty="0"/>
          </a:p>
        </p:txBody>
      </p:sp>
      <p:sp>
        <p:nvSpPr>
          <p:cNvPr id="10" name="Text 8"/>
          <p:cNvSpPr/>
          <p:nvPr/>
        </p:nvSpPr>
        <p:spPr>
          <a:xfrm>
            <a:off x="109959" y="3595097"/>
            <a:ext cx="8397433" cy="457200"/>
          </a:xfrm>
          <a:prstGeom prst="rect">
            <a:avLst/>
          </a:prstGeom>
          <a:noFill/>
          <a:ln/>
        </p:spPr>
        <p:txBody>
          <a:bodyPr wrap="square" rtlCol="0" anchor="ctr"/>
          <a:lstStyle/>
          <a:p>
            <a:pPr marL="0" indent="0">
              <a:buNone/>
            </a:pPr>
            <a:r>
              <a:rPr lang="en-US" sz="1600" dirty="0">
                <a:solidFill>
                  <a:srgbClr val="333333"/>
                </a:solidFill>
              </a:rPr>
              <a:t>Step 5: Document incident and root cause</a:t>
            </a:r>
            <a:endParaRPr lang="en-US" sz="1600" dirty="0"/>
          </a:p>
        </p:txBody>
      </p:sp>
      <p:sp>
        <p:nvSpPr>
          <p:cNvPr id="11" name="Text 9"/>
          <p:cNvSpPr/>
          <p:nvPr/>
        </p:nvSpPr>
        <p:spPr>
          <a:xfrm>
            <a:off x="109959" y="4098017"/>
            <a:ext cx="8397433" cy="457200"/>
          </a:xfrm>
          <a:prstGeom prst="rect">
            <a:avLst/>
          </a:prstGeom>
          <a:noFill/>
          <a:ln/>
        </p:spPr>
        <p:txBody>
          <a:bodyPr wrap="square" rtlCol="0" anchor="ctr"/>
          <a:lstStyle/>
          <a:p>
            <a:pPr marL="0" indent="0">
              <a:buNone/>
            </a:pPr>
            <a:r>
              <a:rPr lang="en-US" sz="1600" dirty="0">
                <a:solidFill>
                  <a:srgbClr val="333333"/>
                </a:solidFill>
              </a:rPr>
              <a:t>Step 6: Fix issue in Development, restart ALM workflow</a:t>
            </a:r>
            <a:endParaRPr lang="en-US" sz="1600" dirty="0"/>
          </a:p>
        </p:txBody>
      </p:sp>
      <p:sp>
        <p:nvSpPr>
          <p:cNvPr id="12" name="Text 10"/>
          <p:cNvSpPr/>
          <p:nvPr/>
        </p:nvSpPr>
        <p:spPr>
          <a:xfrm>
            <a:off x="4995317" y="4326617"/>
            <a:ext cx="3285084" cy="291624"/>
          </a:xfrm>
          <a:prstGeom prst="rect">
            <a:avLst/>
          </a:prstGeom>
          <a:noFill/>
          <a:ln/>
        </p:spPr>
        <p:txBody>
          <a:bodyPr wrap="square" rtlCol="0" anchor="ctr"/>
          <a:lstStyle/>
          <a:p>
            <a:pPr marL="0" indent="0">
              <a:buNone/>
            </a:pPr>
            <a:r>
              <a:rPr lang="en-US" sz="1000" b="1" dirty="0">
                <a:solidFill>
                  <a:srgbClr val="2E3192"/>
                </a:solidFill>
              </a:rPr>
              <a:t>⚠  Critical: Never modify production directly to 'quick fix'</a:t>
            </a:r>
            <a:endParaRPr lang="en-US" sz="1000" dirty="0"/>
          </a:p>
        </p:txBody>
      </p:sp>
      <p:sp>
        <p:nvSpPr>
          <p:cNvPr id="13" name="Text 11"/>
          <p:cNvSpPr/>
          <p:nvPr/>
        </p:nvSpPr>
        <p:spPr>
          <a:xfrm>
            <a:off x="4995317" y="4545089"/>
            <a:ext cx="3727769" cy="291624"/>
          </a:xfrm>
          <a:prstGeom prst="rect">
            <a:avLst/>
          </a:prstGeom>
          <a:noFill/>
          <a:ln/>
        </p:spPr>
        <p:txBody>
          <a:bodyPr wrap="square" rtlCol="0" anchor="ctr"/>
          <a:lstStyle/>
          <a:p>
            <a:pPr marL="0" indent="0">
              <a:buNone/>
            </a:pPr>
            <a:r>
              <a:rPr lang="en-US" sz="1000" b="1" dirty="0">
                <a:solidFill>
                  <a:srgbClr val="2E3192"/>
                </a:solidFill>
              </a:rPr>
              <a:t>⚠  Managed solutions ensure consistent, repeatable deployments</a:t>
            </a:r>
            <a:endParaRPr lang="en-US" sz="1000" dirty="0"/>
          </a:p>
        </p:txBody>
      </p:sp>
      <p:sp>
        <p:nvSpPr>
          <p:cNvPr id="15" name="Text 14">
            <a:extLst>
              <a:ext uri="{FF2B5EF4-FFF2-40B4-BE49-F238E27FC236}">
                <a16:creationId xmlns:a16="http://schemas.microsoft.com/office/drawing/2014/main" id="{57AE703F-5BCC-3C4B-DECB-348B87D86441}"/>
              </a:ext>
            </a:extLst>
          </p:cNvPr>
          <p:cNvSpPr/>
          <p:nvPr/>
        </p:nvSpPr>
        <p:spPr>
          <a:xfrm>
            <a:off x="290181" y="4801066"/>
            <a:ext cx="2997029"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2743200" cy="457200"/>
          </a:xfrm>
          <a:prstGeom prst="rect">
            <a:avLst/>
          </a:prstGeom>
          <a:noFill/>
          <a:ln/>
        </p:spPr>
        <p:txBody>
          <a:bodyPr wrap="square" rtlCol="0" anchor="ctr"/>
          <a:lstStyle/>
          <a:p>
            <a:pPr marL="0" indent="0">
              <a:buNone/>
            </a:pPr>
            <a:r>
              <a:rPr lang="en-US" sz="1800" dirty="0">
                <a:solidFill>
                  <a:srgbClr val="FFE600"/>
                </a:solidFill>
              </a:rPr>
              <a:t>PILLAR 5</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Cost &amp; Capacity Planning</a:t>
            </a:r>
            <a:endParaRPr 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378890" cy="731520"/>
          </a:xfrm>
          <a:prstGeom prst="rect">
            <a:avLst/>
          </a:prstGeom>
          <a:noFill/>
          <a:ln/>
        </p:spPr>
        <p:txBody>
          <a:bodyPr wrap="square" rtlCol="0" anchor="ctr"/>
          <a:lstStyle/>
          <a:p>
            <a:pPr marL="0" indent="0">
              <a:buNone/>
            </a:pPr>
            <a:r>
              <a:rPr lang="en-US" sz="3200" b="1" dirty="0">
                <a:solidFill>
                  <a:srgbClr val="333333"/>
                </a:solidFill>
              </a:rPr>
              <a:t>Copilot Credits Billing Model</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839724665"/>
              </p:ext>
            </p:extLst>
          </p:nvPr>
        </p:nvGraphicFramePr>
        <p:xfrm>
          <a:off x="274320" y="1188720"/>
          <a:ext cx="8728011" cy="3017520"/>
        </p:xfrm>
        <a:graphic>
          <a:graphicData uri="http://schemas.openxmlformats.org/drawingml/2006/table">
            <a:tbl>
              <a:tblPr/>
              <a:tblGrid>
                <a:gridCol w="2443843">
                  <a:extLst>
                    <a:ext uri="{9D8B030D-6E8A-4147-A177-3AD203B41FA5}">
                      <a16:colId xmlns:a16="http://schemas.microsoft.com/office/drawing/2014/main" val="20000"/>
                    </a:ext>
                  </a:extLst>
                </a:gridCol>
                <a:gridCol w="1396482">
                  <a:extLst>
                    <a:ext uri="{9D8B030D-6E8A-4147-A177-3AD203B41FA5}">
                      <a16:colId xmlns:a16="http://schemas.microsoft.com/office/drawing/2014/main" val="20001"/>
                    </a:ext>
                  </a:extLst>
                </a:gridCol>
                <a:gridCol w="4887686">
                  <a:extLst>
                    <a:ext uri="{9D8B030D-6E8A-4147-A177-3AD203B41FA5}">
                      <a16:colId xmlns:a16="http://schemas.microsoft.com/office/drawing/2014/main" val="20002"/>
                    </a:ext>
                  </a:extLst>
                </a:gridCol>
              </a:tblGrid>
              <a:tr h="502920">
                <a:tc>
                  <a:txBody>
                    <a:bodyPr/>
                    <a:lstStyle/>
                    <a:p>
                      <a:pPr marL="0" indent="0" algn="l">
                        <a:buNone/>
                      </a:pPr>
                      <a:r>
                        <a:rPr lang="en-US" sz="1300" b="1" dirty="0">
                          <a:solidFill>
                            <a:srgbClr val="FFFFFF"/>
                          </a:solidFill>
                        </a:rPr>
                        <a:t>Interaction Type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300" b="1" dirty="0">
                          <a:solidFill>
                            <a:srgbClr val="FFFFFF"/>
                          </a:solidFill>
                        </a:rPr>
                        <a:t>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300" b="1" dirty="0">
                          <a:solidFill>
                            <a:srgbClr val="FFFFFF"/>
                          </a:solidFill>
                        </a:rPr>
                        <a:t>Example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333333"/>
                          </a:solidFill>
                        </a:rPr>
                        <a:t>Simple Query</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1 credit</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Status lookup, basic information retrieval</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333333"/>
                          </a:solidFill>
                        </a:rPr>
                        <a:t>Standard Processing</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2 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Claim intake, data validation</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333333"/>
                          </a:solidFill>
                        </a:rPr>
                        <a:t>Complex Reasoning</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4 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Multi-step analysis, document processing</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333333"/>
                          </a:solidFill>
                        </a:rPr>
                        <a:t>External Integration</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3 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Calls to external APIs or connectors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300" dirty="0">
                          <a:solidFill>
                            <a:srgbClr val="333333"/>
                          </a:solidFill>
                        </a:rPr>
                        <a:t>Generative Response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3 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Generating reports or summaries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823927" y="4073746"/>
            <a:ext cx="4178404" cy="457200"/>
          </a:xfrm>
          <a:prstGeom prst="rect">
            <a:avLst/>
          </a:prstGeom>
          <a:noFill/>
          <a:ln/>
        </p:spPr>
        <p:txBody>
          <a:bodyPr wrap="square" rtlCol="0" anchor="ctr"/>
          <a:lstStyle/>
          <a:p>
            <a:pPr marL="0" indent="0">
              <a:buNone/>
            </a:pPr>
            <a:r>
              <a:rPr lang="en-US" sz="1200" i="1" dirty="0">
                <a:solidFill>
                  <a:srgbClr val="808080"/>
                </a:solidFill>
              </a:rPr>
              <a:t>Since September 2025 — verify current pricing before proposals</a:t>
            </a:r>
            <a:endParaRPr lang="en-US" sz="1200" dirty="0"/>
          </a:p>
        </p:txBody>
      </p:sp>
      <p:sp>
        <p:nvSpPr>
          <p:cNvPr id="4" name="Text 14">
            <a:extLst>
              <a:ext uri="{FF2B5EF4-FFF2-40B4-BE49-F238E27FC236}">
                <a16:creationId xmlns:a16="http://schemas.microsoft.com/office/drawing/2014/main" id="{AD0297EC-2742-9E9D-CD31-F83A00CC8CD4}"/>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462865" cy="731520"/>
          </a:xfrm>
          <a:prstGeom prst="rect">
            <a:avLst/>
          </a:prstGeom>
          <a:noFill/>
          <a:ln/>
        </p:spPr>
        <p:txBody>
          <a:bodyPr wrap="square" rtlCol="0" anchor="ctr"/>
          <a:lstStyle/>
          <a:p>
            <a:pPr marL="0" indent="0">
              <a:buNone/>
            </a:pPr>
            <a:r>
              <a:rPr lang="en-US" sz="3200" b="1" dirty="0">
                <a:solidFill>
                  <a:srgbClr val="333333"/>
                </a:solidFill>
              </a:rPr>
              <a:t>Capacity Planning Example: Contoso Insurance</a:t>
            </a:r>
            <a:endParaRPr lang="en-US" sz="3200" dirty="0"/>
          </a:p>
        </p:txBody>
      </p:sp>
      <p:sp>
        <p:nvSpPr>
          <p:cNvPr id="4" name="Shape 2"/>
          <p:cNvSpPr/>
          <p:nvPr/>
        </p:nvSpPr>
        <p:spPr>
          <a:xfrm>
            <a:off x="457200" y="1097280"/>
            <a:ext cx="8462865" cy="18288"/>
          </a:xfrm>
          <a:prstGeom prst="rect">
            <a:avLst/>
          </a:prstGeom>
          <a:solidFill>
            <a:srgbClr val="C8C8C8"/>
          </a:solidFill>
          <a:ln/>
        </p:spPr>
        <p:txBody>
          <a:bodyPr/>
          <a:lstStyle/>
          <a:p>
            <a:endParaRPr lang="en-IN"/>
          </a:p>
        </p:txBody>
      </p:sp>
      <p:sp>
        <p:nvSpPr>
          <p:cNvPr id="5" name="Text 3"/>
          <p:cNvSpPr/>
          <p:nvPr/>
        </p:nvSpPr>
        <p:spPr>
          <a:xfrm>
            <a:off x="457199" y="1156716"/>
            <a:ext cx="8462865" cy="384048"/>
          </a:xfrm>
          <a:prstGeom prst="rect">
            <a:avLst/>
          </a:prstGeom>
          <a:noFill/>
          <a:ln/>
        </p:spPr>
        <p:txBody>
          <a:bodyPr wrap="square" rtlCol="0" anchor="ctr"/>
          <a:lstStyle/>
          <a:p>
            <a:pPr marL="0" indent="0">
              <a:buNone/>
            </a:pPr>
            <a:r>
              <a:rPr lang="en-US" sz="1700" dirty="0">
                <a:solidFill>
                  <a:srgbClr val="333333"/>
                </a:solidFill>
              </a:rPr>
              <a:t>•  Scenario: Production deployment for claims processing</a:t>
            </a:r>
            <a:endParaRPr lang="en-US" sz="1700" dirty="0"/>
          </a:p>
        </p:txBody>
      </p:sp>
      <p:sp>
        <p:nvSpPr>
          <p:cNvPr id="6" name="Text 4"/>
          <p:cNvSpPr/>
          <p:nvPr/>
        </p:nvSpPr>
        <p:spPr>
          <a:xfrm>
            <a:off x="457200" y="1618954"/>
            <a:ext cx="8462865" cy="273387"/>
          </a:xfrm>
          <a:prstGeom prst="rect">
            <a:avLst/>
          </a:prstGeom>
          <a:noFill/>
          <a:ln/>
        </p:spPr>
        <p:txBody>
          <a:bodyPr wrap="square" rtlCol="0" anchor="ctr"/>
          <a:lstStyle/>
          <a:p>
            <a:pPr marL="0" indent="0">
              <a:buNone/>
            </a:pPr>
            <a:r>
              <a:rPr lang="en-US" sz="1700" dirty="0">
                <a:solidFill>
                  <a:srgbClr val="333333"/>
                </a:solidFill>
              </a:rPr>
              <a:t>•  Daily Volume: 500 claims per day</a:t>
            </a:r>
            <a:endParaRPr lang="en-US" sz="1700" dirty="0"/>
          </a:p>
        </p:txBody>
      </p:sp>
      <p:sp>
        <p:nvSpPr>
          <p:cNvPr id="7" name="Text 5"/>
          <p:cNvSpPr/>
          <p:nvPr/>
        </p:nvSpPr>
        <p:spPr>
          <a:xfrm>
            <a:off x="457199" y="1998430"/>
            <a:ext cx="8462865" cy="273387"/>
          </a:xfrm>
          <a:prstGeom prst="rect">
            <a:avLst/>
          </a:prstGeom>
          <a:noFill/>
          <a:ln/>
        </p:spPr>
        <p:txBody>
          <a:bodyPr wrap="square" rtlCol="0" anchor="ctr"/>
          <a:lstStyle/>
          <a:p>
            <a:pPr marL="0" indent="0">
              <a:buNone/>
            </a:pPr>
            <a:r>
              <a:rPr lang="en-US" sz="1700" dirty="0">
                <a:solidFill>
                  <a:srgbClr val="333333"/>
                </a:solidFill>
              </a:rPr>
              <a:t>•  Interactions per Claim: Average 2 agent interactions</a:t>
            </a:r>
            <a:endParaRPr lang="en-US" sz="1700" dirty="0"/>
          </a:p>
        </p:txBody>
      </p:sp>
      <p:sp>
        <p:nvSpPr>
          <p:cNvPr id="8" name="Text 6"/>
          <p:cNvSpPr/>
          <p:nvPr/>
        </p:nvSpPr>
        <p:spPr>
          <a:xfrm>
            <a:off x="457198" y="2336619"/>
            <a:ext cx="8462865" cy="273387"/>
          </a:xfrm>
          <a:prstGeom prst="rect">
            <a:avLst/>
          </a:prstGeom>
          <a:noFill/>
          <a:ln/>
        </p:spPr>
        <p:txBody>
          <a:bodyPr wrap="square" rtlCol="0" anchor="ctr"/>
          <a:lstStyle/>
          <a:p>
            <a:pPr marL="0" indent="0">
              <a:buNone/>
            </a:pPr>
            <a:r>
              <a:rPr lang="en-US" sz="1700" dirty="0">
                <a:solidFill>
                  <a:srgbClr val="333333"/>
                </a:solidFill>
              </a:rPr>
              <a:t>•  Credits per Interaction: Average 2 credits (mix of simple and standard)</a:t>
            </a:r>
            <a:endParaRPr lang="en-US" sz="1700" dirty="0"/>
          </a:p>
        </p:txBody>
      </p:sp>
      <p:sp>
        <p:nvSpPr>
          <p:cNvPr id="9" name="Text 7"/>
          <p:cNvSpPr/>
          <p:nvPr/>
        </p:nvSpPr>
        <p:spPr>
          <a:xfrm>
            <a:off x="457200" y="2705924"/>
            <a:ext cx="8462865" cy="273387"/>
          </a:xfrm>
          <a:prstGeom prst="rect">
            <a:avLst/>
          </a:prstGeom>
          <a:noFill/>
          <a:ln/>
        </p:spPr>
        <p:txBody>
          <a:bodyPr wrap="square" rtlCol="0" anchor="ctr"/>
          <a:lstStyle/>
          <a:p>
            <a:pPr marL="0" indent="0">
              <a:buNone/>
            </a:pPr>
            <a:r>
              <a:rPr lang="en-US" sz="1700" b="1" dirty="0">
                <a:solidFill>
                  <a:srgbClr val="2E3192"/>
                </a:solidFill>
              </a:rPr>
              <a:t>•  Daily Credits: 500 × 2 × 2 = 2,000 credits/day</a:t>
            </a:r>
            <a:endParaRPr lang="en-US" sz="1700" dirty="0"/>
          </a:p>
        </p:txBody>
      </p:sp>
      <p:sp>
        <p:nvSpPr>
          <p:cNvPr id="10" name="Text 8"/>
          <p:cNvSpPr/>
          <p:nvPr/>
        </p:nvSpPr>
        <p:spPr>
          <a:xfrm>
            <a:off x="457197" y="3041640"/>
            <a:ext cx="8462865" cy="273387"/>
          </a:xfrm>
          <a:prstGeom prst="rect">
            <a:avLst/>
          </a:prstGeom>
          <a:noFill/>
          <a:ln/>
        </p:spPr>
        <p:txBody>
          <a:bodyPr wrap="square" rtlCol="0" anchor="ctr"/>
          <a:lstStyle/>
          <a:p>
            <a:pPr marL="0" indent="0">
              <a:buNone/>
            </a:pPr>
            <a:r>
              <a:rPr lang="en-US" sz="1700" b="1" dirty="0">
                <a:solidFill>
                  <a:srgbClr val="2E3192"/>
                </a:solidFill>
              </a:rPr>
              <a:t>•  Monthly Credits: 2,000 × 22 working days = 44,000 credits/month</a:t>
            </a:r>
            <a:endParaRPr lang="en-US" sz="1700" dirty="0"/>
          </a:p>
        </p:txBody>
      </p:sp>
      <p:sp>
        <p:nvSpPr>
          <p:cNvPr id="11" name="Text 9"/>
          <p:cNvSpPr/>
          <p:nvPr/>
        </p:nvSpPr>
        <p:spPr>
          <a:xfrm>
            <a:off x="457196" y="3397883"/>
            <a:ext cx="8462865" cy="273387"/>
          </a:xfrm>
          <a:prstGeom prst="rect">
            <a:avLst/>
          </a:prstGeom>
          <a:noFill/>
          <a:ln/>
        </p:spPr>
        <p:txBody>
          <a:bodyPr wrap="square" rtlCol="0" anchor="ctr"/>
          <a:lstStyle/>
          <a:p>
            <a:pPr marL="0" indent="0">
              <a:buNone/>
            </a:pPr>
            <a:r>
              <a:rPr lang="en-US" sz="1700" b="1" dirty="0">
                <a:solidFill>
                  <a:srgbClr val="2E3192"/>
                </a:solidFill>
              </a:rPr>
              <a:t>•  Add 30% Buffer: 57,200 credits/month recommended capacity</a:t>
            </a:r>
            <a:endParaRPr lang="en-US" sz="1700" dirty="0"/>
          </a:p>
        </p:txBody>
      </p:sp>
      <p:sp>
        <p:nvSpPr>
          <p:cNvPr id="12" name="Text 10"/>
          <p:cNvSpPr/>
          <p:nvPr/>
        </p:nvSpPr>
        <p:spPr>
          <a:xfrm>
            <a:off x="457200" y="3753193"/>
            <a:ext cx="8462865" cy="273387"/>
          </a:xfrm>
          <a:prstGeom prst="rect">
            <a:avLst/>
          </a:prstGeom>
          <a:noFill/>
          <a:ln/>
        </p:spPr>
        <p:txBody>
          <a:bodyPr wrap="square" rtlCol="0" anchor="ctr"/>
          <a:lstStyle/>
          <a:p>
            <a:pPr marL="0" indent="0">
              <a:buNone/>
            </a:pPr>
            <a:r>
              <a:rPr lang="en-US" sz="1700" dirty="0">
                <a:solidFill>
                  <a:srgbClr val="333333"/>
                </a:solidFill>
              </a:rPr>
              <a:t>•  Peak Planning: Consider seasonal spikes (monsoon claims, etc.)</a:t>
            </a:r>
            <a:endParaRPr lang="en-US" sz="1700" dirty="0"/>
          </a:p>
        </p:txBody>
      </p:sp>
      <p:sp>
        <p:nvSpPr>
          <p:cNvPr id="14" name="Text 14">
            <a:extLst>
              <a:ext uri="{FF2B5EF4-FFF2-40B4-BE49-F238E27FC236}">
                <a16:creationId xmlns:a16="http://schemas.microsoft.com/office/drawing/2014/main" id="{82271A8A-E7B6-E8B4-12D2-31C2B9E38603}"/>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51390" y="205273"/>
            <a:ext cx="8369559" cy="731520"/>
          </a:xfrm>
          <a:prstGeom prst="rect">
            <a:avLst/>
          </a:prstGeom>
          <a:noFill/>
          <a:ln/>
        </p:spPr>
        <p:txBody>
          <a:bodyPr wrap="square" rtlCol="0" anchor="ctr"/>
          <a:lstStyle/>
          <a:p>
            <a:pPr marL="0" indent="0">
              <a:buNone/>
            </a:pPr>
            <a:r>
              <a:rPr lang="en-US" sz="3200" b="1" dirty="0">
                <a:solidFill>
                  <a:srgbClr val="333333"/>
                </a:solidFill>
              </a:rPr>
              <a:t>Full Licensing Stack for Production</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309143635"/>
              </p:ext>
            </p:extLst>
          </p:nvPr>
        </p:nvGraphicFramePr>
        <p:xfrm>
          <a:off x="274320" y="936793"/>
          <a:ext cx="8718290" cy="3520440"/>
        </p:xfrm>
        <a:graphic>
          <a:graphicData uri="http://schemas.openxmlformats.org/drawingml/2006/table">
            <a:tbl>
              <a:tblPr/>
              <a:tblGrid>
                <a:gridCol w="2789853">
                  <a:extLst>
                    <a:ext uri="{9D8B030D-6E8A-4147-A177-3AD203B41FA5}">
                      <a16:colId xmlns:a16="http://schemas.microsoft.com/office/drawing/2014/main" val="20000"/>
                    </a:ext>
                  </a:extLst>
                </a:gridCol>
                <a:gridCol w="2441121">
                  <a:extLst>
                    <a:ext uri="{9D8B030D-6E8A-4147-A177-3AD203B41FA5}">
                      <a16:colId xmlns:a16="http://schemas.microsoft.com/office/drawing/2014/main" val="20001"/>
                    </a:ext>
                  </a:extLst>
                </a:gridCol>
                <a:gridCol w="3487316">
                  <a:extLst>
                    <a:ext uri="{9D8B030D-6E8A-4147-A177-3AD203B41FA5}">
                      <a16:colId xmlns:a16="http://schemas.microsoft.com/office/drawing/2014/main" val="20002"/>
                    </a:ext>
                  </a:extLst>
                </a:gridCol>
              </a:tblGrid>
              <a:tr h="502920">
                <a:tc>
                  <a:txBody>
                    <a:bodyPr/>
                    <a:lstStyle/>
                    <a:p>
                      <a:pPr marL="0" indent="0" algn="l">
                        <a:buNone/>
                      </a:pPr>
                      <a:r>
                        <a:rPr lang="en-US" sz="1300" b="1" dirty="0">
                          <a:solidFill>
                            <a:srgbClr val="FFFFFF"/>
                          </a:solidFill>
                        </a:rPr>
                        <a:t>Component</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300" b="1" dirty="0">
                          <a:solidFill>
                            <a:srgbClr val="FFFFFF"/>
                          </a:solidFill>
                        </a:rPr>
                        <a:t>License Type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300" b="1" dirty="0">
                          <a:solidFill>
                            <a:srgbClr val="FFFFFF"/>
                          </a:solidFill>
                        </a:rPr>
                        <a:t>Purpose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333333"/>
                          </a:solidFill>
                        </a:rPr>
                        <a:t>Copilot Studio</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Per agent or per tenant</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Agent creation and hosting</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333333"/>
                          </a:solidFill>
                        </a:rPr>
                        <a:t>Dataverse Storage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Per GB</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Data storage for tables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333333"/>
                          </a:solidFill>
                        </a:rPr>
                        <a:t>Power Automate Premium</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Per user or per flow</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Approval workflows, automations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333333"/>
                          </a:solidFill>
                        </a:rPr>
                        <a:t>Power BI Pro/PPU</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Per user</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Dashboard access and sharing</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300" dirty="0">
                          <a:solidFill>
                            <a:srgbClr val="333333"/>
                          </a:solidFill>
                        </a:rPr>
                        <a:t>Copilot Credits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Credit packs</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Agent interaction consumption</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lgn="l">
                        <a:buNone/>
                      </a:pPr>
                      <a:r>
                        <a:rPr lang="en-US" sz="1300" dirty="0">
                          <a:solidFill>
                            <a:srgbClr val="333333"/>
                          </a:solidFill>
                        </a:rPr>
                        <a:t>Microsoft 365 E3/E5</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Per user</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300" dirty="0">
                          <a:solidFill>
                            <a:srgbClr val="333333"/>
                          </a:solidFill>
                        </a:rPr>
                        <a:t>Base productivity suite</a:t>
                      </a:r>
                      <a:endParaRPr lang="en-US" sz="13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5094515" y="4349931"/>
            <a:ext cx="3898096" cy="457200"/>
          </a:xfrm>
          <a:prstGeom prst="rect">
            <a:avLst/>
          </a:prstGeom>
          <a:noFill/>
          <a:ln/>
        </p:spPr>
        <p:txBody>
          <a:bodyPr wrap="square" rtlCol="0" anchor="ctr"/>
          <a:lstStyle/>
          <a:p>
            <a:pPr marL="0" indent="0">
              <a:buNone/>
            </a:pPr>
            <a:r>
              <a:rPr lang="en-US" sz="1200" i="1" dirty="0">
                <a:solidFill>
                  <a:srgbClr val="808080"/>
                </a:solidFill>
              </a:rPr>
              <a:t>Verify current pricing with Microsoft before client proposals</a:t>
            </a:r>
            <a:endParaRPr lang="en-US" sz="1200" dirty="0"/>
          </a:p>
        </p:txBody>
      </p:sp>
      <p:sp>
        <p:nvSpPr>
          <p:cNvPr id="4" name="Text 14">
            <a:extLst>
              <a:ext uri="{FF2B5EF4-FFF2-40B4-BE49-F238E27FC236}">
                <a16:creationId xmlns:a16="http://schemas.microsoft.com/office/drawing/2014/main" id="{91473159-0080-B0A8-9EE2-07F3A5A670D7}"/>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2286000"/>
            <a:ext cx="5486400" cy="457200"/>
          </a:xfrm>
          <a:prstGeom prst="rect">
            <a:avLst/>
          </a:prstGeom>
          <a:noFill/>
          <a:ln/>
        </p:spPr>
        <p:txBody>
          <a:bodyPr wrap="square" rtlCol="0" anchor="ctr"/>
          <a:lstStyle/>
          <a:p>
            <a:pPr marL="0" indent="0">
              <a:buNone/>
            </a:pPr>
            <a:r>
              <a:rPr lang="en-US" sz="1800" dirty="0">
                <a:solidFill>
                  <a:srgbClr val="FFE600"/>
                </a:solidFill>
              </a:rPr>
              <a:t>PUTTING IT ALL TOGETHER</a:t>
            </a:r>
            <a:endParaRPr lang="en-US" sz="1800" dirty="0"/>
          </a:p>
        </p:txBody>
      </p:sp>
      <p:sp>
        <p:nvSpPr>
          <p:cNvPr id="5" name="Text 3"/>
          <p:cNvSpPr/>
          <p:nvPr/>
        </p:nvSpPr>
        <p:spPr>
          <a:xfrm>
            <a:off x="457200" y="3108960"/>
            <a:ext cx="10972800" cy="1097280"/>
          </a:xfrm>
          <a:prstGeom prst="rect">
            <a:avLst/>
          </a:prstGeom>
          <a:noFill/>
          <a:ln/>
        </p:spPr>
        <p:txBody>
          <a:bodyPr wrap="square" rtlCol="0" anchor="ctr"/>
          <a:lstStyle/>
          <a:p>
            <a:pPr marL="0" indent="0">
              <a:buNone/>
            </a:pPr>
            <a:r>
              <a:rPr lang="en-US" sz="4000" b="1" dirty="0">
                <a:solidFill>
                  <a:srgbClr val="FFFFFF"/>
                </a:solidFill>
              </a:rPr>
              <a:t>Production Readiness Checklist</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02637" y="137160"/>
            <a:ext cx="8322906" cy="731520"/>
          </a:xfrm>
          <a:prstGeom prst="rect">
            <a:avLst/>
          </a:prstGeom>
          <a:noFill/>
          <a:ln/>
        </p:spPr>
        <p:txBody>
          <a:bodyPr wrap="square" rtlCol="0" anchor="ctr"/>
          <a:lstStyle/>
          <a:p>
            <a:pPr marL="0" indent="0">
              <a:buNone/>
            </a:pPr>
            <a:r>
              <a:rPr lang="en-US" sz="3200" b="1" dirty="0">
                <a:solidFill>
                  <a:srgbClr val="333333"/>
                </a:solidFill>
              </a:rPr>
              <a:t>Production Readiness Checklist (1/2)</a:t>
            </a:r>
            <a:endParaRPr lang="en-US" sz="3200" dirty="0"/>
          </a:p>
        </p:txBody>
      </p:sp>
      <p:sp>
        <p:nvSpPr>
          <p:cNvPr id="4" name="Text 2"/>
          <p:cNvSpPr/>
          <p:nvPr/>
        </p:nvSpPr>
        <p:spPr>
          <a:xfrm>
            <a:off x="102637" y="731520"/>
            <a:ext cx="8322906" cy="365760"/>
          </a:xfrm>
          <a:prstGeom prst="rect">
            <a:avLst/>
          </a:prstGeom>
          <a:noFill/>
          <a:ln/>
        </p:spPr>
        <p:txBody>
          <a:bodyPr wrap="square" rtlCol="0" anchor="ctr"/>
          <a:lstStyle/>
          <a:p>
            <a:pPr marL="0" indent="0">
              <a:buNone/>
            </a:pPr>
            <a:r>
              <a:rPr lang="en-US" sz="1800" b="1" dirty="0">
                <a:solidFill>
                  <a:srgbClr val="2E3192"/>
                </a:solidFill>
              </a:rPr>
              <a:t>Security &amp; Access Control:</a:t>
            </a:r>
            <a:endParaRPr lang="en-US" sz="1800" dirty="0"/>
          </a:p>
        </p:txBody>
      </p:sp>
      <p:sp>
        <p:nvSpPr>
          <p:cNvPr id="5" name="Text 3"/>
          <p:cNvSpPr/>
          <p:nvPr/>
        </p:nvSpPr>
        <p:spPr>
          <a:xfrm>
            <a:off x="285517" y="1143000"/>
            <a:ext cx="7629331" cy="365760"/>
          </a:xfrm>
          <a:prstGeom prst="rect">
            <a:avLst/>
          </a:prstGeom>
          <a:noFill/>
          <a:ln/>
        </p:spPr>
        <p:txBody>
          <a:bodyPr wrap="square" rtlCol="0" anchor="ctr"/>
          <a:lstStyle/>
          <a:p>
            <a:pPr marL="0" indent="0">
              <a:buNone/>
            </a:pPr>
            <a:r>
              <a:rPr lang="en-US" sz="1400" dirty="0">
                <a:solidFill>
                  <a:srgbClr val="333333"/>
                </a:solidFill>
              </a:rPr>
              <a:t>☐ Security roles defined for all personas (agent, approver, admin, analyst)</a:t>
            </a:r>
            <a:endParaRPr lang="en-US" sz="1400" dirty="0"/>
          </a:p>
        </p:txBody>
      </p:sp>
      <p:sp>
        <p:nvSpPr>
          <p:cNvPr id="6" name="Text 4"/>
          <p:cNvSpPr/>
          <p:nvPr/>
        </p:nvSpPr>
        <p:spPr>
          <a:xfrm>
            <a:off x="285517" y="1554480"/>
            <a:ext cx="7629331" cy="365760"/>
          </a:xfrm>
          <a:prstGeom prst="rect">
            <a:avLst/>
          </a:prstGeom>
          <a:noFill/>
          <a:ln/>
        </p:spPr>
        <p:txBody>
          <a:bodyPr wrap="square" rtlCol="0" anchor="ctr"/>
          <a:lstStyle/>
          <a:p>
            <a:pPr marL="0" indent="0">
              <a:buNone/>
            </a:pPr>
            <a:r>
              <a:rPr lang="en-US" sz="1400" dirty="0">
                <a:solidFill>
                  <a:srgbClr val="333333"/>
                </a:solidFill>
              </a:rPr>
              <a:t>☐ Least privilege principle verified for each role</a:t>
            </a:r>
            <a:endParaRPr lang="en-US" sz="1400" dirty="0"/>
          </a:p>
        </p:txBody>
      </p:sp>
      <p:sp>
        <p:nvSpPr>
          <p:cNvPr id="7" name="Text 5"/>
          <p:cNvSpPr/>
          <p:nvPr/>
        </p:nvSpPr>
        <p:spPr>
          <a:xfrm>
            <a:off x="285517" y="1965960"/>
            <a:ext cx="7629331" cy="365760"/>
          </a:xfrm>
          <a:prstGeom prst="rect">
            <a:avLst/>
          </a:prstGeom>
          <a:noFill/>
          <a:ln/>
        </p:spPr>
        <p:txBody>
          <a:bodyPr wrap="square" rtlCol="0" anchor="ctr"/>
          <a:lstStyle/>
          <a:p>
            <a:pPr marL="0" indent="0">
              <a:buNone/>
            </a:pPr>
            <a:r>
              <a:rPr lang="en-US" sz="1400" dirty="0">
                <a:solidFill>
                  <a:srgbClr val="333333"/>
                </a:solidFill>
              </a:rPr>
              <a:t>☐ MCP access boundaries configured for each agent</a:t>
            </a:r>
            <a:endParaRPr lang="en-US" sz="1400" dirty="0"/>
          </a:p>
        </p:txBody>
      </p:sp>
      <p:sp>
        <p:nvSpPr>
          <p:cNvPr id="8" name="Text 6"/>
          <p:cNvSpPr/>
          <p:nvPr/>
        </p:nvSpPr>
        <p:spPr>
          <a:xfrm>
            <a:off x="285517" y="2377440"/>
            <a:ext cx="7629331" cy="365760"/>
          </a:xfrm>
          <a:prstGeom prst="rect">
            <a:avLst/>
          </a:prstGeom>
          <a:noFill/>
          <a:ln/>
        </p:spPr>
        <p:txBody>
          <a:bodyPr wrap="square" rtlCol="0" anchor="ctr"/>
          <a:lstStyle/>
          <a:p>
            <a:pPr marL="0" indent="0">
              <a:buNone/>
            </a:pPr>
            <a:r>
              <a:rPr lang="en-US" sz="1400" dirty="0">
                <a:solidFill>
                  <a:srgbClr val="333333"/>
                </a:solidFill>
              </a:rPr>
              <a:t>☐ Service principal credentials secured and rotated</a:t>
            </a:r>
            <a:endParaRPr lang="en-US" sz="1400" dirty="0"/>
          </a:p>
        </p:txBody>
      </p:sp>
      <p:sp>
        <p:nvSpPr>
          <p:cNvPr id="9" name="Text 7"/>
          <p:cNvSpPr/>
          <p:nvPr/>
        </p:nvSpPr>
        <p:spPr>
          <a:xfrm>
            <a:off x="102637" y="2768393"/>
            <a:ext cx="8322906" cy="365760"/>
          </a:xfrm>
          <a:prstGeom prst="rect">
            <a:avLst/>
          </a:prstGeom>
          <a:noFill/>
          <a:ln/>
        </p:spPr>
        <p:txBody>
          <a:bodyPr wrap="square" rtlCol="0" anchor="ctr"/>
          <a:lstStyle/>
          <a:p>
            <a:pPr marL="0" indent="0">
              <a:buNone/>
            </a:pPr>
            <a:r>
              <a:rPr lang="en-US" sz="1800" b="1" dirty="0">
                <a:solidFill>
                  <a:srgbClr val="2E3192"/>
                </a:solidFill>
              </a:rPr>
              <a:t>Auditing &amp; Compliance:</a:t>
            </a:r>
            <a:endParaRPr lang="en-US" sz="1800" dirty="0"/>
          </a:p>
        </p:txBody>
      </p:sp>
      <p:sp>
        <p:nvSpPr>
          <p:cNvPr id="10" name="Text 8"/>
          <p:cNvSpPr/>
          <p:nvPr/>
        </p:nvSpPr>
        <p:spPr>
          <a:xfrm>
            <a:off x="285517" y="3179873"/>
            <a:ext cx="7629331" cy="365760"/>
          </a:xfrm>
          <a:prstGeom prst="rect">
            <a:avLst/>
          </a:prstGeom>
          <a:noFill/>
          <a:ln/>
        </p:spPr>
        <p:txBody>
          <a:bodyPr wrap="square" rtlCol="0" anchor="ctr"/>
          <a:lstStyle/>
          <a:p>
            <a:pPr marL="0" indent="0">
              <a:buNone/>
            </a:pPr>
            <a:r>
              <a:rPr lang="en-US" sz="1400" dirty="0">
                <a:solidFill>
                  <a:srgbClr val="333333"/>
                </a:solidFill>
              </a:rPr>
              <a:t>☐ Global auditing enabled for environment</a:t>
            </a:r>
            <a:endParaRPr lang="en-US" sz="1400" dirty="0"/>
          </a:p>
        </p:txBody>
      </p:sp>
      <p:sp>
        <p:nvSpPr>
          <p:cNvPr id="11" name="Text 9"/>
          <p:cNvSpPr/>
          <p:nvPr/>
        </p:nvSpPr>
        <p:spPr>
          <a:xfrm>
            <a:off x="285517" y="3591353"/>
            <a:ext cx="7629331" cy="365760"/>
          </a:xfrm>
          <a:prstGeom prst="rect">
            <a:avLst/>
          </a:prstGeom>
          <a:noFill/>
          <a:ln/>
        </p:spPr>
        <p:txBody>
          <a:bodyPr wrap="square" rtlCol="0" anchor="ctr"/>
          <a:lstStyle/>
          <a:p>
            <a:pPr marL="0" indent="0">
              <a:buNone/>
            </a:pPr>
            <a:r>
              <a:rPr lang="en-US" sz="1400" dirty="0">
                <a:solidFill>
                  <a:srgbClr val="333333"/>
                </a:solidFill>
              </a:rPr>
              <a:t>☐ Table-level auditing enabled for all relevant tables</a:t>
            </a:r>
            <a:endParaRPr lang="en-US" sz="1400" dirty="0"/>
          </a:p>
        </p:txBody>
      </p:sp>
      <p:sp>
        <p:nvSpPr>
          <p:cNvPr id="12" name="Text 10"/>
          <p:cNvSpPr/>
          <p:nvPr/>
        </p:nvSpPr>
        <p:spPr>
          <a:xfrm>
            <a:off x="285517" y="4002833"/>
            <a:ext cx="7629331" cy="365760"/>
          </a:xfrm>
          <a:prstGeom prst="rect">
            <a:avLst/>
          </a:prstGeom>
          <a:noFill/>
          <a:ln/>
        </p:spPr>
        <p:txBody>
          <a:bodyPr wrap="square" rtlCol="0" anchor="ctr"/>
          <a:lstStyle/>
          <a:p>
            <a:pPr marL="0" indent="0">
              <a:buNone/>
            </a:pPr>
            <a:r>
              <a:rPr lang="en-US" sz="1400" dirty="0">
                <a:solidFill>
                  <a:srgbClr val="333333"/>
                </a:solidFill>
              </a:rPr>
              <a:t>☐ Audit log retention meets regulatory requirements</a:t>
            </a:r>
            <a:endParaRPr lang="en-US" sz="1400" dirty="0"/>
          </a:p>
        </p:txBody>
      </p:sp>
      <p:sp>
        <p:nvSpPr>
          <p:cNvPr id="13" name="Text 11"/>
          <p:cNvSpPr/>
          <p:nvPr/>
        </p:nvSpPr>
        <p:spPr>
          <a:xfrm>
            <a:off x="285517" y="4414313"/>
            <a:ext cx="7629331" cy="365760"/>
          </a:xfrm>
          <a:prstGeom prst="rect">
            <a:avLst/>
          </a:prstGeom>
          <a:noFill/>
          <a:ln/>
        </p:spPr>
        <p:txBody>
          <a:bodyPr wrap="square" rtlCol="0" anchor="ctr"/>
          <a:lstStyle/>
          <a:p>
            <a:pPr marL="0" indent="0">
              <a:buNone/>
            </a:pPr>
            <a:r>
              <a:rPr lang="en-US" sz="1400" dirty="0">
                <a:solidFill>
                  <a:srgbClr val="333333"/>
                </a:solidFill>
              </a:rPr>
              <a:t>☐ Audit retrieval procedures documented and tested</a:t>
            </a:r>
            <a:endParaRPr lang="en-US" sz="1400" dirty="0"/>
          </a:p>
        </p:txBody>
      </p:sp>
      <p:sp>
        <p:nvSpPr>
          <p:cNvPr id="15" name="Text 14">
            <a:extLst>
              <a:ext uri="{FF2B5EF4-FFF2-40B4-BE49-F238E27FC236}">
                <a16:creationId xmlns:a16="http://schemas.microsoft.com/office/drawing/2014/main" id="{7B94163A-A5BC-5A20-8D31-0E808F2D2F86}"/>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192278" cy="731520"/>
          </a:xfrm>
          <a:prstGeom prst="rect">
            <a:avLst/>
          </a:prstGeom>
          <a:noFill/>
          <a:ln/>
        </p:spPr>
        <p:txBody>
          <a:bodyPr wrap="square" rtlCol="0" anchor="ctr"/>
          <a:lstStyle/>
          <a:p>
            <a:pPr marL="0" indent="0">
              <a:buNone/>
            </a:pPr>
            <a:r>
              <a:rPr lang="en-US" sz="3200" b="1" dirty="0">
                <a:solidFill>
                  <a:srgbClr val="333333"/>
                </a:solidFill>
              </a:rPr>
              <a:t>Production Readiness Checklist (2/2)</a:t>
            </a:r>
            <a:endParaRPr lang="en-US" sz="3200" dirty="0"/>
          </a:p>
        </p:txBody>
      </p:sp>
      <p:sp>
        <p:nvSpPr>
          <p:cNvPr id="4" name="Text 2"/>
          <p:cNvSpPr/>
          <p:nvPr/>
        </p:nvSpPr>
        <p:spPr>
          <a:xfrm>
            <a:off x="457200" y="1188720"/>
            <a:ext cx="4320073" cy="365760"/>
          </a:xfrm>
          <a:prstGeom prst="rect">
            <a:avLst/>
          </a:prstGeom>
          <a:noFill/>
          <a:ln/>
        </p:spPr>
        <p:txBody>
          <a:bodyPr wrap="square" rtlCol="0" anchor="ctr"/>
          <a:lstStyle/>
          <a:p>
            <a:pPr marL="0" indent="0">
              <a:buNone/>
            </a:pPr>
            <a:r>
              <a:rPr lang="en-US" sz="1800" b="1" dirty="0">
                <a:solidFill>
                  <a:srgbClr val="2E3192"/>
                </a:solidFill>
              </a:rPr>
              <a:t>Governance &amp; Monitoring:</a:t>
            </a:r>
            <a:endParaRPr lang="en-US" sz="1800" dirty="0"/>
          </a:p>
        </p:txBody>
      </p:sp>
      <p:sp>
        <p:nvSpPr>
          <p:cNvPr id="5" name="Text 3"/>
          <p:cNvSpPr/>
          <p:nvPr/>
        </p:nvSpPr>
        <p:spPr>
          <a:xfrm>
            <a:off x="640080" y="1600200"/>
            <a:ext cx="3960067" cy="365760"/>
          </a:xfrm>
          <a:prstGeom prst="rect">
            <a:avLst/>
          </a:prstGeom>
          <a:noFill/>
          <a:ln/>
        </p:spPr>
        <p:txBody>
          <a:bodyPr wrap="square" rtlCol="0" anchor="ctr"/>
          <a:lstStyle/>
          <a:p>
            <a:pPr marL="0" indent="0">
              <a:buNone/>
            </a:pPr>
            <a:r>
              <a:rPr lang="en-US" sz="1400" dirty="0">
                <a:solidFill>
                  <a:srgbClr val="333333"/>
                </a:solidFill>
              </a:rPr>
              <a:t>☐ Monitoring dashboards deployed and validated</a:t>
            </a:r>
            <a:endParaRPr lang="en-US" sz="1400" dirty="0"/>
          </a:p>
        </p:txBody>
      </p:sp>
      <p:sp>
        <p:nvSpPr>
          <p:cNvPr id="6" name="Text 4"/>
          <p:cNvSpPr/>
          <p:nvPr/>
        </p:nvSpPr>
        <p:spPr>
          <a:xfrm>
            <a:off x="640080" y="1984248"/>
            <a:ext cx="3960067" cy="365760"/>
          </a:xfrm>
          <a:prstGeom prst="rect">
            <a:avLst/>
          </a:prstGeom>
          <a:noFill/>
          <a:ln/>
        </p:spPr>
        <p:txBody>
          <a:bodyPr wrap="square" rtlCol="0" anchor="ctr"/>
          <a:lstStyle/>
          <a:p>
            <a:pPr marL="0" indent="0">
              <a:buNone/>
            </a:pPr>
            <a:r>
              <a:rPr lang="en-US" sz="1400" dirty="0">
                <a:solidFill>
                  <a:srgbClr val="333333"/>
                </a:solidFill>
              </a:rPr>
              <a:t>☐ Alert rules configured for critical events</a:t>
            </a:r>
            <a:endParaRPr lang="en-US" sz="1400" dirty="0"/>
          </a:p>
        </p:txBody>
      </p:sp>
      <p:sp>
        <p:nvSpPr>
          <p:cNvPr id="7" name="Text 5"/>
          <p:cNvSpPr/>
          <p:nvPr/>
        </p:nvSpPr>
        <p:spPr>
          <a:xfrm>
            <a:off x="640080" y="2368296"/>
            <a:ext cx="3960067" cy="365760"/>
          </a:xfrm>
          <a:prstGeom prst="rect">
            <a:avLst/>
          </a:prstGeom>
          <a:noFill/>
          <a:ln/>
        </p:spPr>
        <p:txBody>
          <a:bodyPr wrap="square" rtlCol="0" anchor="ctr"/>
          <a:lstStyle/>
          <a:p>
            <a:pPr marL="0" indent="0">
              <a:buNone/>
            </a:pPr>
            <a:r>
              <a:rPr lang="en-US" sz="1400" dirty="0">
                <a:solidFill>
                  <a:srgbClr val="333333"/>
                </a:solidFill>
              </a:rPr>
              <a:t>☐ Agent inventory documented and maintained</a:t>
            </a:r>
            <a:endParaRPr lang="en-US" sz="1400" dirty="0"/>
          </a:p>
        </p:txBody>
      </p:sp>
      <p:sp>
        <p:nvSpPr>
          <p:cNvPr id="8" name="Text 6"/>
          <p:cNvSpPr/>
          <p:nvPr/>
        </p:nvSpPr>
        <p:spPr>
          <a:xfrm>
            <a:off x="457200" y="2880360"/>
            <a:ext cx="4320073" cy="365760"/>
          </a:xfrm>
          <a:prstGeom prst="rect">
            <a:avLst/>
          </a:prstGeom>
          <a:noFill/>
          <a:ln/>
        </p:spPr>
        <p:txBody>
          <a:bodyPr wrap="square" rtlCol="0" anchor="ctr"/>
          <a:lstStyle/>
          <a:p>
            <a:pPr marL="0" indent="0">
              <a:buNone/>
            </a:pPr>
            <a:r>
              <a:rPr lang="en-US" sz="1800" b="1" dirty="0">
                <a:solidFill>
                  <a:srgbClr val="2E3192"/>
                </a:solidFill>
              </a:rPr>
              <a:t>Environment &amp; ALM:</a:t>
            </a:r>
            <a:endParaRPr lang="en-US" sz="1800" dirty="0"/>
          </a:p>
        </p:txBody>
      </p:sp>
      <p:sp>
        <p:nvSpPr>
          <p:cNvPr id="9" name="Text 7"/>
          <p:cNvSpPr/>
          <p:nvPr/>
        </p:nvSpPr>
        <p:spPr>
          <a:xfrm>
            <a:off x="640080" y="3246120"/>
            <a:ext cx="3960067" cy="365760"/>
          </a:xfrm>
          <a:prstGeom prst="rect">
            <a:avLst/>
          </a:prstGeom>
          <a:noFill/>
          <a:ln/>
        </p:spPr>
        <p:txBody>
          <a:bodyPr wrap="square" rtlCol="0" anchor="ctr"/>
          <a:lstStyle/>
          <a:p>
            <a:pPr marL="0" indent="0">
              <a:buNone/>
            </a:pPr>
            <a:r>
              <a:rPr lang="en-US" sz="1400" dirty="0">
                <a:solidFill>
                  <a:srgbClr val="333333"/>
                </a:solidFill>
              </a:rPr>
              <a:t>☐ Dev/Test/Prod environments established</a:t>
            </a:r>
            <a:endParaRPr lang="en-US" sz="1400" dirty="0"/>
          </a:p>
        </p:txBody>
      </p:sp>
      <p:sp>
        <p:nvSpPr>
          <p:cNvPr id="10" name="Text 8"/>
          <p:cNvSpPr/>
          <p:nvPr/>
        </p:nvSpPr>
        <p:spPr>
          <a:xfrm>
            <a:off x="640080" y="3630168"/>
            <a:ext cx="3960067" cy="365760"/>
          </a:xfrm>
          <a:prstGeom prst="rect">
            <a:avLst/>
          </a:prstGeom>
          <a:noFill/>
          <a:ln/>
        </p:spPr>
        <p:txBody>
          <a:bodyPr wrap="square" rtlCol="0" anchor="ctr"/>
          <a:lstStyle/>
          <a:p>
            <a:pPr marL="0" indent="0">
              <a:buNone/>
            </a:pPr>
            <a:r>
              <a:rPr lang="en-US" sz="1400" dirty="0">
                <a:solidFill>
                  <a:srgbClr val="333333"/>
                </a:solidFill>
              </a:rPr>
              <a:t>☐ Managed solution export/import process validated</a:t>
            </a:r>
            <a:endParaRPr lang="en-US" sz="1400" dirty="0"/>
          </a:p>
        </p:txBody>
      </p:sp>
      <p:sp>
        <p:nvSpPr>
          <p:cNvPr id="11" name="Text 9"/>
          <p:cNvSpPr/>
          <p:nvPr/>
        </p:nvSpPr>
        <p:spPr>
          <a:xfrm>
            <a:off x="640080" y="4014216"/>
            <a:ext cx="3960067" cy="365760"/>
          </a:xfrm>
          <a:prstGeom prst="rect">
            <a:avLst/>
          </a:prstGeom>
          <a:noFill/>
          <a:ln/>
        </p:spPr>
        <p:txBody>
          <a:bodyPr wrap="square" rtlCol="0" anchor="ctr"/>
          <a:lstStyle/>
          <a:p>
            <a:pPr marL="0" indent="0">
              <a:buNone/>
            </a:pPr>
            <a:r>
              <a:rPr lang="en-US" sz="1400" dirty="0">
                <a:solidFill>
                  <a:srgbClr val="333333"/>
                </a:solidFill>
              </a:rPr>
              <a:t>☐ Git repository configured with solution versions</a:t>
            </a:r>
            <a:endParaRPr lang="en-US" sz="1400" dirty="0"/>
          </a:p>
        </p:txBody>
      </p:sp>
      <p:sp>
        <p:nvSpPr>
          <p:cNvPr id="12" name="Text 10"/>
          <p:cNvSpPr/>
          <p:nvPr/>
        </p:nvSpPr>
        <p:spPr>
          <a:xfrm>
            <a:off x="640080" y="4398264"/>
            <a:ext cx="3960067" cy="365760"/>
          </a:xfrm>
          <a:prstGeom prst="rect">
            <a:avLst/>
          </a:prstGeom>
          <a:noFill/>
          <a:ln/>
        </p:spPr>
        <p:txBody>
          <a:bodyPr wrap="square" rtlCol="0" anchor="ctr"/>
          <a:lstStyle/>
          <a:p>
            <a:pPr marL="0" indent="0">
              <a:buNone/>
            </a:pPr>
            <a:r>
              <a:rPr lang="en-US" sz="1400" dirty="0">
                <a:solidFill>
                  <a:srgbClr val="333333"/>
                </a:solidFill>
              </a:rPr>
              <a:t>☐ Rollback procedure documented and tested</a:t>
            </a:r>
            <a:endParaRPr lang="en-US" sz="1400" dirty="0"/>
          </a:p>
        </p:txBody>
      </p:sp>
      <p:sp>
        <p:nvSpPr>
          <p:cNvPr id="13" name="Text 11"/>
          <p:cNvSpPr/>
          <p:nvPr/>
        </p:nvSpPr>
        <p:spPr>
          <a:xfrm>
            <a:off x="4777273" y="1234440"/>
            <a:ext cx="4320073" cy="365760"/>
          </a:xfrm>
          <a:prstGeom prst="rect">
            <a:avLst/>
          </a:prstGeom>
          <a:noFill/>
          <a:ln/>
        </p:spPr>
        <p:txBody>
          <a:bodyPr wrap="square" rtlCol="0" anchor="ctr"/>
          <a:lstStyle/>
          <a:p>
            <a:pPr marL="0" indent="0">
              <a:buNone/>
            </a:pPr>
            <a:r>
              <a:rPr lang="en-US" sz="1800" b="1" dirty="0">
                <a:solidFill>
                  <a:srgbClr val="2E3192"/>
                </a:solidFill>
              </a:rPr>
              <a:t>Cost &amp; Capacity:</a:t>
            </a:r>
            <a:endParaRPr lang="en-US" sz="1800" dirty="0"/>
          </a:p>
        </p:txBody>
      </p:sp>
      <p:sp>
        <p:nvSpPr>
          <p:cNvPr id="14" name="Text 12"/>
          <p:cNvSpPr/>
          <p:nvPr/>
        </p:nvSpPr>
        <p:spPr>
          <a:xfrm>
            <a:off x="4960153" y="1600200"/>
            <a:ext cx="3960067" cy="365760"/>
          </a:xfrm>
          <a:prstGeom prst="rect">
            <a:avLst/>
          </a:prstGeom>
          <a:noFill/>
          <a:ln/>
        </p:spPr>
        <p:txBody>
          <a:bodyPr wrap="square" rtlCol="0" anchor="ctr"/>
          <a:lstStyle/>
          <a:p>
            <a:pPr marL="0" indent="0">
              <a:buNone/>
            </a:pPr>
            <a:r>
              <a:rPr lang="en-US" sz="1400" dirty="0">
                <a:solidFill>
                  <a:srgbClr val="333333"/>
                </a:solidFill>
              </a:rPr>
              <a:t>☐ Credit consumption estimated and budgeted</a:t>
            </a:r>
            <a:endParaRPr lang="en-US" sz="1400" dirty="0"/>
          </a:p>
        </p:txBody>
      </p:sp>
      <p:sp>
        <p:nvSpPr>
          <p:cNvPr id="15" name="Text 13"/>
          <p:cNvSpPr/>
          <p:nvPr/>
        </p:nvSpPr>
        <p:spPr>
          <a:xfrm>
            <a:off x="4960153" y="1984248"/>
            <a:ext cx="3960067" cy="365760"/>
          </a:xfrm>
          <a:prstGeom prst="rect">
            <a:avLst/>
          </a:prstGeom>
          <a:noFill/>
          <a:ln/>
        </p:spPr>
        <p:txBody>
          <a:bodyPr wrap="square" rtlCol="0" anchor="ctr"/>
          <a:lstStyle/>
          <a:p>
            <a:pPr marL="0" indent="0">
              <a:buNone/>
            </a:pPr>
            <a:r>
              <a:rPr lang="en-US" sz="1400" dirty="0">
                <a:solidFill>
                  <a:srgbClr val="333333"/>
                </a:solidFill>
              </a:rPr>
              <a:t>☐ All required licenses procured</a:t>
            </a:r>
            <a:endParaRPr lang="en-US" sz="1400" dirty="0"/>
          </a:p>
        </p:txBody>
      </p:sp>
      <p:sp>
        <p:nvSpPr>
          <p:cNvPr id="17" name="Text 14">
            <a:extLst>
              <a:ext uri="{FF2B5EF4-FFF2-40B4-BE49-F238E27FC236}">
                <a16:creationId xmlns:a16="http://schemas.microsoft.com/office/drawing/2014/main" id="{38F28823-8B51-98C2-8FDA-10FCA7B0E182}"/>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
        <p:nvSpPr>
          <p:cNvPr id="18" name="Shape 14">
            <a:extLst>
              <a:ext uri="{FF2B5EF4-FFF2-40B4-BE49-F238E27FC236}">
                <a16:creationId xmlns:a16="http://schemas.microsoft.com/office/drawing/2014/main" id="{49A33AC5-2EB8-989C-0BF9-6105B186B71B}"/>
              </a:ext>
            </a:extLst>
          </p:cNvPr>
          <p:cNvSpPr/>
          <p:nvPr/>
        </p:nvSpPr>
        <p:spPr>
          <a:xfrm>
            <a:off x="4602737" y="1201687"/>
            <a:ext cx="18288" cy="3657600"/>
          </a:xfrm>
          <a:prstGeom prst="rect">
            <a:avLst/>
          </a:prstGeom>
          <a:solidFill>
            <a:srgbClr val="C8C8C8"/>
          </a:solidFill>
          <a:ln/>
        </p:spPr>
        <p:txBody>
          <a:bodyPr/>
          <a:lstStyle/>
          <a:p>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1" y="457200"/>
            <a:ext cx="8264086" cy="731520"/>
          </a:xfrm>
          <a:prstGeom prst="rect">
            <a:avLst/>
          </a:prstGeom>
          <a:noFill/>
          <a:ln/>
        </p:spPr>
        <p:txBody>
          <a:bodyPr wrap="square" rtlCol="0" anchor="ctr"/>
          <a:lstStyle/>
          <a:p>
            <a:pPr marL="0" indent="0">
              <a:buNone/>
            </a:pPr>
            <a:r>
              <a:rPr lang="en-US" sz="3200" b="1" dirty="0">
                <a:solidFill>
                  <a:srgbClr val="333333"/>
                </a:solidFill>
              </a:rPr>
              <a:t>Mapping to BFSI Regulations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796890149"/>
              </p:ext>
            </p:extLst>
          </p:nvPr>
        </p:nvGraphicFramePr>
        <p:xfrm>
          <a:off x="274320" y="1188720"/>
          <a:ext cx="8608423" cy="3017520"/>
        </p:xfrm>
        <a:graphic>
          <a:graphicData uri="http://schemas.openxmlformats.org/drawingml/2006/table">
            <a:tbl>
              <a:tblPr/>
              <a:tblGrid>
                <a:gridCol w="2754696">
                  <a:extLst>
                    <a:ext uri="{9D8B030D-6E8A-4147-A177-3AD203B41FA5}">
                      <a16:colId xmlns:a16="http://schemas.microsoft.com/office/drawing/2014/main" val="20000"/>
                    </a:ext>
                  </a:extLst>
                </a:gridCol>
                <a:gridCol w="2410358">
                  <a:extLst>
                    <a:ext uri="{9D8B030D-6E8A-4147-A177-3AD203B41FA5}">
                      <a16:colId xmlns:a16="http://schemas.microsoft.com/office/drawing/2014/main" val="20001"/>
                    </a:ext>
                  </a:extLst>
                </a:gridCol>
                <a:gridCol w="3443369">
                  <a:extLst>
                    <a:ext uri="{9D8B030D-6E8A-4147-A177-3AD203B41FA5}">
                      <a16:colId xmlns:a16="http://schemas.microsoft.com/office/drawing/2014/main" val="20002"/>
                    </a:ext>
                  </a:extLst>
                </a:gridCol>
              </a:tblGrid>
              <a:tr h="502920">
                <a:tc>
                  <a:txBody>
                    <a:bodyPr/>
                    <a:lstStyle/>
                    <a:p>
                      <a:pPr marL="0" indent="0" algn="l">
                        <a:buNone/>
                      </a:pPr>
                      <a:r>
                        <a:rPr lang="en-US" sz="1200" b="1" dirty="0">
                          <a:solidFill>
                            <a:srgbClr val="FFFFFF"/>
                          </a:solidFill>
                        </a:rPr>
                        <a:t>Regulatory Requirement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System Component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tc>
                  <a:txBody>
                    <a:bodyPr/>
                    <a:lstStyle/>
                    <a:p>
                      <a:pPr marL="0" indent="0" algn="l">
                        <a:buNone/>
                      </a:pPr>
                      <a:r>
                        <a:rPr lang="en-US" sz="1200" b="1" dirty="0">
                          <a:solidFill>
                            <a:srgbClr val="FFFFFF"/>
                          </a:solidFill>
                        </a:rPr>
                        <a:t>How We Address It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333333"/>
                          </a:solidFill>
                        </a:rPr>
                        <a:t>Complete Audit Trail (IRDAI)</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Dataverse Auditing</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All changes logged with who/what/when</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333333"/>
                          </a:solidFill>
                        </a:rPr>
                        <a:t>Data Protection (DPDP Act)</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Security Roles, MCP</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Least privilege, data classification</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333333"/>
                          </a:solidFill>
                        </a:rPr>
                        <a:t>Record Retention (Income Tax)</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Retention Policies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8-10 year retention configured</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200" dirty="0">
                          <a:solidFill>
                            <a:srgbClr val="333333"/>
                          </a:solidFill>
                        </a:rPr>
                        <a:t>Change Management (SOX)</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ALM Process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Documented approval workflow</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200" dirty="0">
                          <a:solidFill>
                            <a:srgbClr val="333333"/>
                          </a:solidFill>
                        </a:rPr>
                        <a:t>Access Control (RBI)</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Security Roles</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tc>
                  <a:txBody>
                    <a:bodyPr/>
                    <a:lstStyle/>
                    <a:p>
                      <a:pPr marL="0" indent="0" algn="l">
                        <a:buNone/>
                      </a:pPr>
                      <a:r>
                        <a:rPr lang="en-US" sz="1200" dirty="0">
                          <a:solidFill>
                            <a:srgbClr val="333333"/>
                          </a:solidFill>
                        </a:rPr>
                        <a:t>Segregation of duties, RBAC</a:t>
                      </a:r>
                      <a:endParaRPr lang="en-US" sz="1200" dirty="0"/>
                    </a:p>
                  </a:txBody>
                  <a:tcPr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4">
            <a:extLst>
              <a:ext uri="{FF2B5EF4-FFF2-40B4-BE49-F238E27FC236}">
                <a16:creationId xmlns:a16="http://schemas.microsoft.com/office/drawing/2014/main" id="{600F6EF3-A212-AF18-1FB1-49FA895CF5BC}"/>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158621" y="91440"/>
            <a:ext cx="8453535" cy="731520"/>
          </a:xfrm>
          <a:prstGeom prst="rect">
            <a:avLst/>
          </a:prstGeom>
          <a:noFill/>
          <a:ln/>
        </p:spPr>
        <p:txBody>
          <a:bodyPr wrap="square" rtlCol="0" anchor="ctr"/>
          <a:lstStyle/>
          <a:p>
            <a:pPr marL="0" indent="0">
              <a:buNone/>
            </a:pPr>
            <a:r>
              <a:rPr lang="en-US" sz="3200" b="1" dirty="0">
                <a:solidFill>
                  <a:srgbClr val="333333"/>
                </a:solidFill>
              </a:rPr>
              <a:t>Module Summary: Key Takeaways</a:t>
            </a:r>
            <a:endParaRPr lang="en-US" sz="3200" dirty="0"/>
          </a:p>
        </p:txBody>
      </p:sp>
      <p:sp>
        <p:nvSpPr>
          <p:cNvPr id="4" name="Shape 2"/>
          <p:cNvSpPr/>
          <p:nvPr/>
        </p:nvSpPr>
        <p:spPr>
          <a:xfrm>
            <a:off x="158621" y="731520"/>
            <a:ext cx="8453535" cy="18288"/>
          </a:xfrm>
          <a:prstGeom prst="rect">
            <a:avLst/>
          </a:prstGeom>
          <a:solidFill>
            <a:srgbClr val="C8C8C8"/>
          </a:solidFill>
          <a:ln/>
        </p:spPr>
        <p:txBody>
          <a:bodyPr/>
          <a:lstStyle/>
          <a:p>
            <a:endParaRPr lang="en-IN"/>
          </a:p>
        </p:txBody>
      </p:sp>
      <p:sp>
        <p:nvSpPr>
          <p:cNvPr id="5" name="Text 3"/>
          <p:cNvSpPr/>
          <p:nvPr/>
        </p:nvSpPr>
        <p:spPr>
          <a:xfrm>
            <a:off x="158621" y="868680"/>
            <a:ext cx="8453535" cy="548640"/>
          </a:xfrm>
          <a:prstGeom prst="rect">
            <a:avLst/>
          </a:prstGeom>
          <a:noFill/>
          <a:ln/>
        </p:spPr>
        <p:txBody>
          <a:bodyPr wrap="square" rtlCol="0" anchor="ctr"/>
          <a:lstStyle/>
          <a:p>
            <a:pPr marL="0" indent="0">
              <a:buNone/>
            </a:pPr>
            <a:r>
              <a:rPr lang="en-US" sz="1700" dirty="0">
                <a:solidFill>
                  <a:srgbClr val="333333"/>
                </a:solidFill>
              </a:rPr>
              <a:t>•  Production readiness rests on five pillars: Security, Auditing, Governance, ALM, Cost</a:t>
            </a:r>
            <a:endParaRPr lang="en-US" sz="1700" dirty="0"/>
          </a:p>
        </p:txBody>
      </p:sp>
      <p:sp>
        <p:nvSpPr>
          <p:cNvPr id="6" name="Text 4"/>
          <p:cNvSpPr/>
          <p:nvPr/>
        </p:nvSpPr>
        <p:spPr>
          <a:xfrm>
            <a:off x="158621" y="1201783"/>
            <a:ext cx="8453535" cy="548640"/>
          </a:xfrm>
          <a:prstGeom prst="rect">
            <a:avLst/>
          </a:prstGeom>
          <a:noFill/>
          <a:ln/>
        </p:spPr>
        <p:txBody>
          <a:bodyPr wrap="square" rtlCol="0" anchor="ctr"/>
          <a:lstStyle/>
          <a:p>
            <a:pPr marL="0" indent="0">
              <a:buNone/>
            </a:pPr>
            <a:r>
              <a:rPr lang="en-US" sz="1700" dirty="0">
                <a:solidFill>
                  <a:srgbClr val="333333"/>
                </a:solidFill>
              </a:rPr>
              <a:t>•  Least privilege through Dataverse security roles + MCP access boundaries</a:t>
            </a:r>
            <a:endParaRPr lang="en-US" sz="1700" dirty="0"/>
          </a:p>
        </p:txBody>
      </p:sp>
      <p:sp>
        <p:nvSpPr>
          <p:cNvPr id="7" name="Text 5"/>
          <p:cNvSpPr/>
          <p:nvPr/>
        </p:nvSpPr>
        <p:spPr>
          <a:xfrm>
            <a:off x="158620" y="1542817"/>
            <a:ext cx="8453535" cy="548640"/>
          </a:xfrm>
          <a:prstGeom prst="rect">
            <a:avLst/>
          </a:prstGeom>
          <a:noFill/>
          <a:ln/>
        </p:spPr>
        <p:txBody>
          <a:bodyPr wrap="square" rtlCol="0" anchor="ctr"/>
          <a:lstStyle/>
          <a:p>
            <a:pPr marL="0" indent="0">
              <a:buNone/>
            </a:pPr>
            <a:r>
              <a:rPr lang="en-US" sz="1700" dirty="0">
                <a:solidFill>
                  <a:srgbClr val="333333"/>
                </a:solidFill>
              </a:rPr>
              <a:t>•  Dataverse auditing is the foundation of BFSI compliance</a:t>
            </a:r>
            <a:endParaRPr lang="en-US" sz="1700" dirty="0"/>
          </a:p>
        </p:txBody>
      </p:sp>
      <p:sp>
        <p:nvSpPr>
          <p:cNvPr id="8" name="Text 6"/>
          <p:cNvSpPr/>
          <p:nvPr/>
        </p:nvSpPr>
        <p:spPr>
          <a:xfrm>
            <a:off x="158621" y="1883851"/>
            <a:ext cx="8453535" cy="548640"/>
          </a:xfrm>
          <a:prstGeom prst="rect">
            <a:avLst/>
          </a:prstGeom>
          <a:noFill/>
          <a:ln/>
        </p:spPr>
        <p:txBody>
          <a:bodyPr wrap="square" rtlCol="0" anchor="ctr"/>
          <a:lstStyle/>
          <a:p>
            <a:pPr marL="0" indent="0">
              <a:buNone/>
            </a:pPr>
            <a:r>
              <a:rPr lang="en-US" sz="1700" dirty="0">
                <a:solidFill>
                  <a:srgbClr val="333333"/>
                </a:solidFill>
              </a:rPr>
              <a:t>•  Copilot Studio governance: Purview, Sentinel, managed environments</a:t>
            </a:r>
            <a:endParaRPr lang="en-US" sz="1700" dirty="0"/>
          </a:p>
        </p:txBody>
      </p:sp>
      <p:sp>
        <p:nvSpPr>
          <p:cNvPr id="9" name="Text 7"/>
          <p:cNvSpPr/>
          <p:nvPr/>
        </p:nvSpPr>
        <p:spPr>
          <a:xfrm>
            <a:off x="158621" y="2200999"/>
            <a:ext cx="8453535" cy="515516"/>
          </a:xfrm>
          <a:prstGeom prst="rect">
            <a:avLst/>
          </a:prstGeom>
          <a:noFill/>
          <a:ln/>
        </p:spPr>
        <p:txBody>
          <a:bodyPr wrap="square" rtlCol="0" anchor="ctr"/>
          <a:lstStyle/>
          <a:p>
            <a:pPr marL="0" indent="0">
              <a:buNone/>
            </a:pPr>
            <a:r>
              <a:rPr lang="en-US" sz="1700" dirty="0">
                <a:solidFill>
                  <a:srgbClr val="333333"/>
                </a:solidFill>
              </a:rPr>
              <a:t>•  Three-environment strategy (Dev/Test/Prod) with managed solutions</a:t>
            </a:r>
            <a:endParaRPr lang="en-US" sz="1700" dirty="0"/>
          </a:p>
        </p:txBody>
      </p:sp>
      <p:sp>
        <p:nvSpPr>
          <p:cNvPr id="10" name="Text 8"/>
          <p:cNvSpPr/>
          <p:nvPr/>
        </p:nvSpPr>
        <p:spPr>
          <a:xfrm>
            <a:off x="158621" y="2458757"/>
            <a:ext cx="8453535" cy="548640"/>
          </a:xfrm>
          <a:prstGeom prst="rect">
            <a:avLst/>
          </a:prstGeom>
          <a:noFill/>
          <a:ln/>
        </p:spPr>
        <p:txBody>
          <a:bodyPr wrap="square" rtlCol="0" anchor="ctr"/>
          <a:lstStyle/>
          <a:p>
            <a:pPr marL="0" indent="0">
              <a:buNone/>
            </a:pPr>
            <a:r>
              <a:rPr lang="en-US" sz="1700" dirty="0">
                <a:solidFill>
                  <a:srgbClr val="333333"/>
                </a:solidFill>
              </a:rPr>
              <a:t>•  Copilot Credits model requires careful capacity planning</a:t>
            </a:r>
            <a:endParaRPr lang="en-US" sz="1700" dirty="0"/>
          </a:p>
        </p:txBody>
      </p:sp>
      <p:sp>
        <p:nvSpPr>
          <p:cNvPr id="11" name="Text 9"/>
          <p:cNvSpPr/>
          <p:nvPr/>
        </p:nvSpPr>
        <p:spPr>
          <a:xfrm>
            <a:off x="158619" y="2753512"/>
            <a:ext cx="8453535" cy="548640"/>
          </a:xfrm>
          <a:prstGeom prst="rect">
            <a:avLst/>
          </a:prstGeom>
          <a:noFill/>
          <a:ln/>
        </p:spPr>
        <p:txBody>
          <a:bodyPr wrap="square" rtlCol="0" anchor="ctr"/>
          <a:lstStyle/>
          <a:p>
            <a:pPr marL="0" indent="0">
              <a:buNone/>
            </a:pPr>
            <a:r>
              <a:rPr lang="en-US" sz="1700" dirty="0">
                <a:solidFill>
                  <a:srgbClr val="333333"/>
                </a:solidFill>
              </a:rPr>
              <a:t>•  Production readiness checklist: 24 items across 6 categories</a:t>
            </a:r>
            <a:endParaRPr lang="en-US" sz="1700" dirty="0"/>
          </a:p>
        </p:txBody>
      </p:sp>
      <p:sp>
        <p:nvSpPr>
          <p:cNvPr id="12" name="Text 10"/>
          <p:cNvSpPr/>
          <p:nvPr/>
        </p:nvSpPr>
        <p:spPr>
          <a:xfrm>
            <a:off x="158621" y="3054098"/>
            <a:ext cx="8453535" cy="548640"/>
          </a:xfrm>
          <a:prstGeom prst="rect">
            <a:avLst/>
          </a:prstGeom>
          <a:noFill/>
          <a:ln/>
        </p:spPr>
        <p:txBody>
          <a:bodyPr wrap="square" rtlCol="0" anchor="ctr"/>
          <a:lstStyle/>
          <a:p>
            <a:pPr marL="0" indent="0">
              <a:buNone/>
            </a:pPr>
            <a:r>
              <a:rPr lang="en-US" sz="1700" dirty="0">
                <a:solidFill>
                  <a:srgbClr val="333333"/>
                </a:solidFill>
              </a:rPr>
              <a:t>•  Map all system components to regulatory requirements</a:t>
            </a:r>
            <a:endParaRPr lang="en-US" sz="1700" dirty="0"/>
          </a:p>
        </p:txBody>
      </p:sp>
      <p:sp>
        <p:nvSpPr>
          <p:cNvPr id="14" name="Text 14">
            <a:extLst>
              <a:ext uri="{FF2B5EF4-FFF2-40B4-BE49-F238E27FC236}">
                <a16:creationId xmlns:a16="http://schemas.microsoft.com/office/drawing/2014/main" id="{CB549BB5-5AA6-9CA6-5707-428DB3EFAA1A}"/>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242596" y="137160"/>
            <a:ext cx="8201608" cy="731520"/>
          </a:xfrm>
          <a:prstGeom prst="rect">
            <a:avLst/>
          </a:prstGeom>
          <a:noFill/>
          <a:ln/>
        </p:spPr>
        <p:txBody>
          <a:bodyPr wrap="square" rtlCol="0" anchor="ctr"/>
          <a:lstStyle/>
          <a:p>
            <a:pPr marL="0" indent="0">
              <a:buNone/>
            </a:pPr>
            <a:r>
              <a:rPr lang="en-US" sz="3200" b="1" dirty="0">
                <a:solidFill>
                  <a:srgbClr val="333333"/>
                </a:solidFill>
              </a:rPr>
              <a:t>Knowledge Check Questions</a:t>
            </a:r>
            <a:endParaRPr lang="en-US" sz="3200" dirty="0"/>
          </a:p>
        </p:txBody>
      </p:sp>
      <p:sp>
        <p:nvSpPr>
          <p:cNvPr id="4" name="Shape 2"/>
          <p:cNvSpPr/>
          <p:nvPr/>
        </p:nvSpPr>
        <p:spPr>
          <a:xfrm>
            <a:off x="242596" y="777240"/>
            <a:ext cx="8201608" cy="18288"/>
          </a:xfrm>
          <a:prstGeom prst="rect">
            <a:avLst/>
          </a:prstGeom>
          <a:solidFill>
            <a:srgbClr val="C8C8C8"/>
          </a:solidFill>
          <a:ln/>
        </p:spPr>
        <p:txBody>
          <a:bodyPr/>
          <a:lstStyle/>
          <a:p>
            <a:endParaRPr lang="en-IN"/>
          </a:p>
        </p:txBody>
      </p:sp>
      <p:sp>
        <p:nvSpPr>
          <p:cNvPr id="5" name="Text 3"/>
          <p:cNvSpPr/>
          <p:nvPr/>
        </p:nvSpPr>
        <p:spPr>
          <a:xfrm>
            <a:off x="242596" y="783585"/>
            <a:ext cx="8201608" cy="548640"/>
          </a:xfrm>
          <a:prstGeom prst="rect">
            <a:avLst/>
          </a:prstGeom>
          <a:noFill/>
          <a:ln/>
        </p:spPr>
        <p:txBody>
          <a:bodyPr wrap="square" rtlCol="0" anchor="ctr"/>
          <a:lstStyle/>
          <a:p>
            <a:pPr marL="0" indent="0">
              <a:buNone/>
            </a:pPr>
            <a:r>
              <a:rPr lang="en-US" sz="1600" dirty="0">
                <a:solidFill>
                  <a:srgbClr val="333333"/>
                </a:solidFill>
              </a:rPr>
              <a:t>1. Name the five pillars of production readiness for agentic AI in BFSI.</a:t>
            </a:r>
            <a:endParaRPr lang="en-US" sz="1600" dirty="0"/>
          </a:p>
        </p:txBody>
      </p:sp>
      <p:sp>
        <p:nvSpPr>
          <p:cNvPr id="6" name="Text 4"/>
          <p:cNvSpPr/>
          <p:nvPr/>
        </p:nvSpPr>
        <p:spPr>
          <a:xfrm>
            <a:off x="242596" y="1169592"/>
            <a:ext cx="8201608" cy="548640"/>
          </a:xfrm>
          <a:prstGeom prst="rect">
            <a:avLst/>
          </a:prstGeom>
          <a:noFill/>
          <a:ln/>
        </p:spPr>
        <p:txBody>
          <a:bodyPr wrap="square" rtlCol="0" anchor="ctr"/>
          <a:lstStyle/>
          <a:p>
            <a:pPr marL="0" indent="0">
              <a:buNone/>
            </a:pPr>
            <a:r>
              <a:rPr lang="en-US" sz="1600" dirty="0">
                <a:solidFill>
                  <a:srgbClr val="333333"/>
                </a:solidFill>
              </a:rPr>
              <a:t>2. How does the principle of least privilege apply to Dataverse security roles?</a:t>
            </a:r>
            <a:endParaRPr lang="en-US" sz="1600" dirty="0"/>
          </a:p>
        </p:txBody>
      </p:sp>
      <p:sp>
        <p:nvSpPr>
          <p:cNvPr id="7" name="Text 5"/>
          <p:cNvSpPr/>
          <p:nvPr/>
        </p:nvSpPr>
        <p:spPr>
          <a:xfrm>
            <a:off x="242596" y="1564744"/>
            <a:ext cx="8201608" cy="548640"/>
          </a:xfrm>
          <a:prstGeom prst="rect">
            <a:avLst/>
          </a:prstGeom>
          <a:noFill/>
          <a:ln/>
        </p:spPr>
        <p:txBody>
          <a:bodyPr wrap="square" rtlCol="0" anchor="ctr"/>
          <a:lstStyle/>
          <a:p>
            <a:pPr marL="0" indent="0">
              <a:buNone/>
            </a:pPr>
            <a:r>
              <a:rPr lang="en-US" sz="1600" dirty="0">
                <a:solidFill>
                  <a:srgbClr val="333333"/>
                </a:solidFill>
              </a:rPr>
              <a:t>3. What are MCP access boundaries and how do they differ from security roles?</a:t>
            </a:r>
            <a:endParaRPr lang="en-US" sz="1600" dirty="0"/>
          </a:p>
        </p:txBody>
      </p:sp>
      <p:sp>
        <p:nvSpPr>
          <p:cNvPr id="8" name="Text 6"/>
          <p:cNvSpPr/>
          <p:nvPr/>
        </p:nvSpPr>
        <p:spPr>
          <a:xfrm>
            <a:off x="242596" y="1948232"/>
            <a:ext cx="8201608" cy="548640"/>
          </a:xfrm>
          <a:prstGeom prst="rect">
            <a:avLst/>
          </a:prstGeom>
          <a:noFill/>
          <a:ln/>
        </p:spPr>
        <p:txBody>
          <a:bodyPr wrap="square" rtlCol="0" anchor="ctr"/>
          <a:lstStyle/>
          <a:p>
            <a:pPr marL="0" indent="0">
              <a:buNone/>
            </a:pPr>
            <a:r>
              <a:rPr lang="en-US" sz="1600" dirty="0">
                <a:solidFill>
                  <a:srgbClr val="333333"/>
                </a:solidFill>
              </a:rPr>
              <a:t>4. Explain the three levels of Dataverse auditing.</a:t>
            </a:r>
            <a:endParaRPr lang="en-US" sz="1600" dirty="0"/>
          </a:p>
        </p:txBody>
      </p:sp>
      <p:sp>
        <p:nvSpPr>
          <p:cNvPr id="9" name="Text 7"/>
          <p:cNvSpPr/>
          <p:nvPr/>
        </p:nvSpPr>
        <p:spPr>
          <a:xfrm>
            <a:off x="242596" y="2357380"/>
            <a:ext cx="8201608" cy="548640"/>
          </a:xfrm>
          <a:prstGeom prst="rect">
            <a:avLst/>
          </a:prstGeom>
          <a:noFill/>
          <a:ln/>
        </p:spPr>
        <p:txBody>
          <a:bodyPr wrap="square" rtlCol="0" anchor="ctr"/>
          <a:lstStyle/>
          <a:p>
            <a:pPr marL="0" indent="0">
              <a:buNone/>
            </a:pPr>
            <a:r>
              <a:rPr lang="en-US" sz="1600" dirty="0">
                <a:solidFill>
                  <a:srgbClr val="333333"/>
                </a:solidFill>
              </a:rPr>
              <a:t>5. What are the recommended data retention periods for BFSI?</a:t>
            </a:r>
            <a:endParaRPr lang="en-US" sz="1600" dirty="0"/>
          </a:p>
        </p:txBody>
      </p:sp>
      <p:sp>
        <p:nvSpPr>
          <p:cNvPr id="10" name="Text 8"/>
          <p:cNvSpPr/>
          <p:nvPr/>
        </p:nvSpPr>
        <p:spPr>
          <a:xfrm>
            <a:off x="242596" y="2715441"/>
            <a:ext cx="8201608" cy="548640"/>
          </a:xfrm>
          <a:prstGeom prst="rect">
            <a:avLst/>
          </a:prstGeom>
          <a:noFill/>
          <a:ln/>
        </p:spPr>
        <p:txBody>
          <a:bodyPr wrap="square" rtlCol="0" anchor="ctr"/>
          <a:lstStyle/>
          <a:p>
            <a:pPr marL="0" indent="0">
              <a:buNone/>
            </a:pPr>
            <a:r>
              <a:rPr lang="en-US" sz="1600" dirty="0">
                <a:solidFill>
                  <a:srgbClr val="333333"/>
                </a:solidFill>
              </a:rPr>
              <a:t>6. Describe three Copilot Studio governance features.</a:t>
            </a:r>
            <a:endParaRPr lang="en-US" sz="1600" dirty="0"/>
          </a:p>
        </p:txBody>
      </p:sp>
      <p:sp>
        <p:nvSpPr>
          <p:cNvPr id="11" name="Text 9"/>
          <p:cNvSpPr/>
          <p:nvPr/>
        </p:nvSpPr>
        <p:spPr>
          <a:xfrm>
            <a:off x="242596" y="3124589"/>
            <a:ext cx="8201608" cy="548640"/>
          </a:xfrm>
          <a:prstGeom prst="rect">
            <a:avLst/>
          </a:prstGeom>
          <a:noFill/>
          <a:ln/>
        </p:spPr>
        <p:txBody>
          <a:bodyPr wrap="square" rtlCol="0" anchor="ctr"/>
          <a:lstStyle/>
          <a:p>
            <a:pPr marL="0" indent="0">
              <a:buNone/>
            </a:pPr>
            <a:r>
              <a:rPr lang="en-US" sz="1600" dirty="0">
                <a:solidFill>
                  <a:srgbClr val="333333"/>
                </a:solidFill>
              </a:rPr>
              <a:t>7. Explain the Dev/Test/Prod environment strategy.</a:t>
            </a:r>
            <a:endParaRPr lang="en-US" sz="1600" dirty="0"/>
          </a:p>
        </p:txBody>
      </p:sp>
      <p:sp>
        <p:nvSpPr>
          <p:cNvPr id="14" name="Text 14">
            <a:extLst>
              <a:ext uri="{FF2B5EF4-FFF2-40B4-BE49-F238E27FC236}">
                <a16:creationId xmlns:a16="http://schemas.microsoft.com/office/drawing/2014/main" id="{6BBC9F0E-077F-06B3-FBB2-F0D29782BA90}"/>
              </a:ext>
            </a:extLst>
          </p:cNvPr>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164286" cy="731520"/>
          </a:xfrm>
          <a:prstGeom prst="rect">
            <a:avLst/>
          </a:prstGeom>
          <a:noFill/>
          <a:ln/>
        </p:spPr>
        <p:txBody>
          <a:bodyPr wrap="square" rtlCol="0" anchor="ctr"/>
          <a:lstStyle/>
          <a:p>
            <a:pPr marL="0" indent="0">
              <a:buNone/>
            </a:pPr>
            <a:r>
              <a:rPr lang="en-US" sz="3200" b="1" dirty="0">
                <a:solidFill>
                  <a:srgbClr val="333333"/>
                </a:solidFill>
              </a:rPr>
              <a:t>What's Next: Module 13 Capstone</a:t>
            </a:r>
            <a:endParaRPr lang="en-US" sz="3200" dirty="0"/>
          </a:p>
        </p:txBody>
      </p:sp>
      <p:sp>
        <p:nvSpPr>
          <p:cNvPr id="4" name="Shape 2"/>
          <p:cNvSpPr/>
          <p:nvPr/>
        </p:nvSpPr>
        <p:spPr>
          <a:xfrm>
            <a:off x="457200" y="1097280"/>
            <a:ext cx="8164286" cy="18288"/>
          </a:xfrm>
          <a:prstGeom prst="rect">
            <a:avLst/>
          </a:prstGeom>
          <a:solidFill>
            <a:srgbClr val="C8C8C8"/>
          </a:solidFill>
          <a:ln/>
        </p:spPr>
        <p:txBody>
          <a:bodyPr/>
          <a:lstStyle/>
          <a:p>
            <a:endParaRPr lang="en-IN"/>
          </a:p>
        </p:txBody>
      </p:sp>
      <p:sp>
        <p:nvSpPr>
          <p:cNvPr id="5" name="Text 3"/>
          <p:cNvSpPr/>
          <p:nvPr/>
        </p:nvSpPr>
        <p:spPr>
          <a:xfrm>
            <a:off x="489857" y="1148598"/>
            <a:ext cx="8164286" cy="502920"/>
          </a:xfrm>
          <a:prstGeom prst="rect">
            <a:avLst/>
          </a:prstGeom>
          <a:noFill/>
          <a:ln/>
        </p:spPr>
        <p:txBody>
          <a:bodyPr wrap="square" rtlCol="0" anchor="ctr"/>
          <a:lstStyle/>
          <a:p>
            <a:pPr marL="0" indent="0">
              <a:buNone/>
            </a:pPr>
            <a:r>
              <a:rPr lang="en-US" sz="1700" dirty="0">
                <a:solidFill>
                  <a:srgbClr val="333333"/>
                </a:solidFill>
              </a:rPr>
              <a:t>•  Module 13: End-to-End MCP-Driven Agent System</a:t>
            </a:r>
            <a:endParaRPr lang="en-US" sz="1700" dirty="0"/>
          </a:p>
        </p:txBody>
      </p:sp>
      <p:sp>
        <p:nvSpPr>
          <p:cNvPr id="6" name="Text 4"/>
          <p:cNvSpPr/>
          <p:nvPr/>
        </p:nvSpPr>
        <p:spPr>
          <a:xfrm>
            <a:off x="457200" y="1537265"/>
            <a:ext cx="8164286" cy="502920"/>
          </a:xfrm>
          <a:prstGeom prst="rect">
            <a:avLst/>
          </a:prstGeom>
          <a:noFill/>
          <a:ln/>
        </p:spPr>
        <p:txBody>
          <a:bodyPr wrap="square" rtlCol="0" anchor="ctr"/>
          <a:lstStyle/>
          <a:p>
            <a:pPr marL="0" indent="0">
              <a:buNone/>
            </a:pPr>
            <a:r>
              <a:rPr lang="en-US" sz="1700" dirty="0">
                <a:solidFill>
                  <a:srgbClr val="333333"/>
                </a:solidFill>
              </a:rPr>
              <a:t>•  Integrate everything from Modules 01-12</a:t>
            </a:r>
            <a:endParaRPr lang="en-US" sz="1700" dirty="0"/>
          </a:p>
        </p:txBody>
      </p:sp>
      <p:sp>
        <p:nvSpPr>
          <p:cNvPr id="7" name="Text 5"/>
          <p:cNvSpPr/>
          <p:nvPr/>
        </p:nvSpPr>
        <p:spPr>
          <a:xfrm>
            <a:off x="457200" y="1916788"/>
            <a:ext cx="8164286" cy="502920"/>
          </a:xfrm>
          <a:prstGeom prst="rect">
            <a:avLst/>
          </a:prstGeom>
          <a:noFill/>
          <a:ln/>
        </p:spPr>
        <p:txBody>
          <a:bodyPr wrap="square" rtlCol="0" anchor="ctr"/>
          <a:lstStyle/>
          <a:p>
            <a:pPr marL="0" indent="0">
              <a:buNone/>
            </a:pPr>
            <a:r>
              <a:rPr lang="en-US" sz="1700" dirty="0">
                <a:solidFill>
                  <a:srgbClr val="333333"/>
                </a:solidFill>
              </a:rPr>
              <a:t>•  Design, build, govern, and present a complete BFSI solution</a:t>
            </a:r>
            <a:endParaRPr lang="en-US" sz="1700" dirty="0"/>
          </a:p>
        </p:txBody>
      </p:sp>
      <p:sp>
        <p:nvSpPr>
          <p:cNvPr id="8" name="Text 6"/>
          <p:cNvSpPr/>
          <p:nvPr/>
        </p:nvSpPr>
        <p:spPr>
          <a:xfrm>
            <a:off x="489857" y="2233562"/>
            <a:ext cx="8164286" cy="502920"/>
          </a:xfrm>
          <a:prstGeom prst="rect">
            <a:avLst/>
          </a:prstGeom>
          <a:noFill/>
          <a:ln/>
        </p:spPr>
        <p:txBody>
          <a:bodyPr wrap="square" rtlCol="0" anchor="ctr"/>
          <a:lstStyle/>
          <a:p>
            <a:pPr marL="0" indent="0">
              <a:buNone/>
            </a:pPr>
            <a:r>
              <a:rPr lang="en-US" sz="1700" dirty="0">
                <a:solidFill>
                  <a:srgbClr val="333333"/>
                </a:solidFill>
              </a:rPr>
              <a:t>•  Demonstrate mastery of the full agentic AI stack:</a:t>
            </a:r>
            <a:endParaRPr lang="en-US" sz="1700" dirty="0"/>
          </a:p>
        </p:txBody>
      </p:sp>
      <p:sp>
        <p:nvSpPr>
          <p:cNvPr id="9" name="Text 7"/>
          <p:cNvSpPr/>
          <p:nvPr/>
        </p:nvSpPr>
        <p:spPr>
          <a:xfrm>
            <a:off x="457200" y="2662956"/>
            <a:ext cx="8164286" cy="326571"/>
          </a:xfrm>
          <a:prstGeom prst="rect">
            <a:avLst/>
          </a:prstGeom>
          <a:noFill/>
          <a:ln/>
        </p:spPr>
        <p:txBody>
          <a:bodyPr wrap="square" rtlCol="0" anchor="ctr"/>
          <a:lstStyle/>
          <a:p>
            <a:pPr marL="0" indent="0">
              <a:buNone/>
            </a:pPr>
            <a:r>
              <a:rPr lang="en-US" sz="1500" dirty="0">
                <a:solidFill>
                  <a:srgbClr val="333333"/>
                </a:solidFill>
              </a:rPr>
              <a:t>    → Plan Designer and vibe coding</a:t>
            </a:r>
            <a:endParaRPr lang="en-US" sz="1500" dirty="0"/>
          </a:p>
        </p:txBody>
      </p:sp>
      <p:sp>
        <p:nvSpPr>
          <p:cNvPr id="10" name="Text 8"/>
          <p:cNvSpPr/>
          <p:nvPr/>
        </p:nvSpPr>
        <p:spPr>
          <a:xfrm>
            <a:off x="457200" y="2979730"/>
            <a:ext cx="8164286" cy="326571"/>
          </a:xfrm>
          <a:prstGeom prst="rect">
            <a:avLst/>
          </a:prstGeom>
          <a:noFill/>
          <a:ln/>
        </p:spPr>
        <p:txBody>
          <a:bodyPr wrap="square" rtlCol="0" anchor="ctr"/>
          <a:lstStyle/>
          <a:p>
            <a:pPr marL="0" indent="0">
              <a:buNone/>
            </a:pPr>
            <a:r>
              <a:rPr lang="en-US" sz="1500" dirty="0">
                <a:solidFill>
                  <a:srgbClr val="333333"/>
                </a:solidFill>
              </a:rPr>
              <a:t>    → MCP-connected agents and multi-agent coordination</a:t>
            </a:r>
            <a:endParaRPr lang="en-US" sz="1500" dirty="0"/>
          </a:p>
        </p:txBody>
      </p:sp>
      <p:sp>
        <p:nvSpPr>
          <p:cNvPr id="11" name="Text 9"/>
          <p:cNvSpPr/>
          <p:nvPr/>
        </p:nvSpPr>
        <p:spPr>
          <a:xfrm>
            <a:off x="457200" y="3261514"/>
            <a:ext cx="8164286" cy="326571"/>
          </a:xfrm>
          <a:prstGeom prst="rect">
            <a:avLst/>
          </a:prstGeom>
          <a:noFill/>
          <a:ln/>
        </p:spPr>
        <p:txBody>
          <a:bodyPr wrap="square" rtlCol="0" anchor="ctr"/>
          <a:lstStyle/>
          <a:p>
            <a:pPr marL="0" indent="0">
              <a:buNone/>
            </a:pPr>
            <a:r>
              <a:rPr lang="en-US" sz="1500" dirty="0">
                <a:solidFill>
                  <a:srgbClr val="333333"/>
                </a:solidFill>
              </a:rPr>
              <a:t>    → Approval workflows and Power BI dashboards</a:t>
            </a:r>
            <a:endParaRPr lang="en-US" sz="1500" dirty="0"/>
          </a:p>
        </p:txBody>
      </p:sp>
      <p:sp>
        <p:nvSpPr>
          <p:cNvPr id="12" name="Text 10"/>
          <p:cNvSpPr/>
          <p:nvPr/>
        </p:nvSpPr>
        <p:spPr>
          <a:xfrm>
            <a:off x="457200" y="3562426"/>
            <a:ext cx="8164286" cy="326571"/>
          </a:xfrm>
          <a:prstGeom prst="rect">
            <a:avLst/>
          </a:prstGeom>
          <a:noFill/>
          <a:ln/>
        </p:spPr>
        <p:txBody>
          <a:bodyPr wrap="square" rtlCol="0" anchor="ctr"/>
          <a:lstStyle/>
          <a:p>
            <a:pPr marL="0" indent="0">
              <a:buNone/>
            </a:pPr>
            <a:r>
              <a:rPr lang="en-US" sz="1500" dirty="0">
                <a:solidFill>
                  <a:srgbClr val="333333"/>
                </a:solidFill>
              </a:rPr>
              <a:t>    → Governance framework from this module</a:t>
            </a:r>
            <a:endParaRPr lang="en-US" sz="1500" dirty="0"/>
          </a:p>
        </p:txBody>
      </p:sp>
      <p:sp>
        <p:nvSpPr>
          <p:cNvPr id="13" name="Text 11"/>
          <p:cNvSpPr/>
          <p:nvPr/>
        </p:nvSpPr>
        <p:spPr>
          <a:xfrm>
            <a:off x="415212" y="3910368"/>
            <a:ext cx="8500188" cy="326571"/>
          </a:xfrm>
          <a:prstGeom prst="rect">
            <a:avLst/>
          </a:prstGeom>
          <a:noFill/>
          <a:ln/>
        </p:spPr>
        <p:txBody>
          <a:bodyPr wrap="square" rtlCol="0" anchor="ctr"/>
          <a:lstStyle/>
          <a:p>
            <a:pPr marL="0" indent="0">
              <a:buNone/>
            </a:pPr>
            <a:r>
              <a:rPr lang="en-US" sz="1700" dirty="0">
                <a:solidFill>
                  <a:srgbClr val="333333"/>
                </a:solidFill>
              </a:rPr>
              <a:t>•  The capstone is where you prove production readiness</a:t>
            </a:r>
            <a:endParaRPr lang="en-US" sz="1700" dirty="0"/>
          </a:p>
        </p:txBody>
      </p:sp>
      <p:sp>
        <p:nvSpPr>
          <p:cNvPr id="15" name="Text 14">
            <a:extLst>
              <a:ext uri="{FF2B5EF4-FFF2-40B4-BE49-F238E27FC236}">
                <a16:creationId xmlns:a16="http://schemas.microsoft.com/office/drawing/2014/main" id="{579D2846-1A80-8B11-DBE2-6F832D31F842}"/>
              </a:ext>
            </a:extLst>
          </p:cNvPr>
          <p:cNvSpPr/>
          <p:nvPr/>
        </p:nvSpPr>
        <p:spPr>
          <a:xfrm>
            <a:off x="304177" y="4772889"/>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FFE600"/>
          </a:solidFill>
          <a:ln/>
        </p:spPr>
        <p:txBody>
          <a:bodyPr/>
          <a:lstStyle/>
          <a:p>
            <a:endParaRPr lang="en-IN"/>
          </a:p>
        </p:txBody>
      </p:sp>
      <p:sp>
        <p:nvSpPr>
          <p:cNvPr id="3" name="Text 1"/>
          <p:cNvSpPr/>
          <p:nvPr/>
        </p:nvSpPr>
        <p:spPr>
          <a:xfrm>
            <a:off x="457200" y="457200"/>
            <a:ext cx="8444204" cy="731520"/>
          </a:xfrm>
          <a:prstGeom prst="rect">
            <a:avLst/>
          </a:prstGeom>
          <a:noFill/>
          <a:ln/>
        </p:spPr>
        <p:txBody>
          <a:bodyPr wrap="square" rtlCol="0" anchor="ctr"/>
          <a:lstStyle/>
          <a:p>
            <a:pPr marL="0" indent="0">
              <a:buNone/>
            </a:pPr>
            <a:r>
              <a:rPr lang="en-US" sz="3200" b="1" dirty="0">
                <a:solidFill>
                  <a:srgbClr val="333333"/>
                </a:solidFill>
              </a:rPr>
              <a:t>References &amp; Resources</a:t>
            </a:r>
            <a:endParaRPr lang="en-US" sz="3200" dirty="0"/>
          </a:p>
        </p:txBody>
      </p:sp>
      <p:sp>
        <p:nvSpPr>
          <p:cNvPr id="4" name="Shape 2"/>
          <p:cNvSpPr/>
          <p:nvPr/>
        </p:nvSpPr>
        <p:spPr>
          <a:xfrm>
            <a:off x="457200" y="1097280"/>
            <a:ext cx="8444204" cy="18288"/>
          </a:xfrm>
          <a:prstGeom prst="rect">
            <a:avLst/>
          </a:prstGeom>
          <a:solidFill>
            <a:srgbClr val="C8C8C8"/>
          </a:solidFill>
          <a:ln/>
        </p:spPr>
        <p:txBody>
          <a:bodyPr/>
          <a:lstStyle/>
          <a:p>
            <a:endParaRPr lang="en-IN"/>
          </a:p>
        </p:txBody>
      </p:sp>
      <p:sp>
        <p:nvSpPr>
          <p:cNvPr id="5" name="Text 3"/>
          <p:cNvSpPr/>
          <p:nvPr/>
        </p:nvSpPr>
        <p:spPr>
          <a:xfrm>
            <a:off x="457200" y="1188720"/>
            <a:ext cx="3573624" cy="365760"/>
          </a:xfrm>
          <a:prstGeom prst="rect">
            <a:avLst/>
          </a:prstGeom>
          <a:noFill/>
          <a:ln/>
        </p:spPr>
        <p:txBody>
          <a:bodyPr wrap="square" rtlCol="0" anchor="ctr"/>
          <a:lstStyle/>
          <a:p>
            <a:pPr marL="0" indent="0">
              <a:buNone/>
            </a:pPr>
            <a:r>
              <a:rPr lang="en-US" b="1" dirty="0">
                <a:solidFill>
                  <a:srgbClr val="2E3192"/>
                </a:solidFill>
              </a:rPr>
              <a:t>Primary Sources:</a:t>
            </a:r>
            <a:endParaRPr lang="en-US" dirty="0"/>
          </a:p>
        </p:txBody>
      </p:sp>
      <p:sp>
        <p:nvSpPr>
          <p:cNvPr id="6" name="Text 4"/>
          <p:cNvSpPr/>
          <p:nvPr/>
        </p:nvSpPr>
        <p:spPr>
          <a:xfrm>
            <a:off x="640079" y="1600200"/>
            <a:ext cx="3573623" cy="365760"/>
          </a:xfrm>
          <a:prstGeom prst="rect">
            <a:avLst/>
          </a:prstGeom>
          <a:noFill/>
          <a:ln/>
        </p:spPr>
        <p:txBody>
          <a:bodyPr wrap="square" rtlCol="0" anchor="ctr"/>
          <a:lstStyle/>
          <a:p>
            <a:pPr marL="0" indent="0">
              <a:buNone/>
            </a:pPr>
            <a:r>
              <a:rPr lang="en-US" sz="1400" dirty="0">
                <a:solidFill>
                  <a:srgbClr val="333333"/>
                </a:solidFill>
              </a:rPr>
              <a:t>→ Microsoft Learn: Copilot Studio Governance and Security</a:t>
            </a:r>
            <a:endParaRPr lang="en-US" sz="1400" dirty="0"/>
          </a:p>
        </p:txBody>
      </p:sp>
      <p:sp>
        <p:nvSpPr>
          <p:cNvPr id="7" name="Text 5"/>
          <p:cNvSpPr/>
          <p:nvPr/>
        </p:nvSpPr>
        <p:spPr>
          <a:xfrm>
            <a:off x="640080" y="2011680"/>
            <a:ext cx="3773300" cy="365760"/>
          </a:xfrm>
          <a:prstGeom prst="rect">
            <a:avLst/>
          </a:prstGeom>
          <a:noFill/>
          <a:ln/>
        </p:spPr>
        <p:txBody>
          <a:bodyPr wrap="square" rtlCol="0" anchor="ctr"/>
          <a:lstStyle/>
          <a:p>
            <a:pPr marL="0" indent="0">
              <a:buNone/>
            </a:pPr>
            <a:r>
              <a:rPr lang="en-US" sz="1400" dirty="0">
                <a:solidFill>
                  <a:srgbClr val="333333"/>
                </a:solidFill>
              </a:rPr>
              <a:t>→ Microsoft Learn: Dataverse Auditing Documentation</a:t>
            </a:r>
            <a:endParaRPr lang="en-US" sz="1400" dirty="0"/>
          </a:p>
        </p:txBody>
      </p:sp>
      <p:sp>
        <p:nvSpPr>
          <p:cNvPr id="8" name="Text 6"/>
          <p:cNvSpPr/>
          <p:nvPr/>
        </p:nvSpPr>
        <p:spPr>
          <a:xfrm>
            <a:off x="640079" y="2423160"/>
            <a:ext cx="3641739" cy="365760"/>
          </a:xfrm>
          <a:prstGeom prst="rect">
            <a:avLst/>
          </a:prstGeom>
          <a:noFill/>
          <a:ln/>
        </p:spPr>
        <p:txBody>
          <a:bodyPr wrap="square" rtlCol="0" anchor="ctr"/>
          <a:lstStyle/>
          <a:p>
            <a:pPr marL="0" indent="0">
              <a:buNone/>
            </a:pPr>
            <a:r>
              <a:rPr lang="en-US" sz="1400" dirty="0">
                <a:solidFill>
                  <a:srgbClr val="333333"/>
                </a:solidFill>
              </a:rPr>
              <a:t>→ Microsoft Adoption: Copilot Studio Governance Controls Deck</a:t>
            </a:r>
            <a:endParaRPr lang="en-US" sz="1400" dirty="0"/>
          </a:p>
        </p:txBody>
      </p:sp>
      <p:sp>
        <p:nvSpPr>
          <p:cNvPr id="9" name="Text 7"/>
          <p:cNvSpPr/>
          <p:nvPr/>
        </p:nvSpPr>
        <p:spPr>
          <a:xfrm>
            <a:off x="4679302" y="1325880"/>
            <a:ext cx="3573624" cy="365760"/>
          </a:xfrm>
          <a:prstGeom prst="rect">
            <a:avLst/>
          </a:prstGeom>
          <a:noFill/>
          <a:ln/>
        </p:spPr>
        <p:txBody>
          <a:bodyPr wrap="square" rtlCol="0" anchor="ctr"/>
          <a:lstStyle/>
          <a:p>
            <a:pPr marL="0" indent="0">
              <a:buNone/>
            </a:pPr>
            <a:r>
              <a:rPr lang="en-US" b="1" dirty="0">
                <a:solidFill>
                  <a:srgbClr val="2E3192"/>
                </a:solidFill>
              </a:rPr>
              <a:t>Supplementary:</a:t>
            </a:r>
            <a:endParaRPr lang="en-US" dirty="0"/>
          </a:p>
        </p:txBody>
      </p:sp>
      <p:sp>
        <p:nvSpPr>
          <p:cNvPr id="10" name="Text 8"/>
          <p:cNvSpPr/>
          <p:nvPr/>
        </p:nvSpPr>
        <p:spPr>
          <a:xfrm>
            <a:off x="4862182" y="1737360"/>
            <a:ext cx="3479384" cy="365760"/>
          </a:xfrm>
          <a:prstGeom prst="rect">
            <a:avLst/>
          </a:prstGeom>
          <a:noFill/>
          <a:ln/>
        </p:spPr>
        <p:txBody>
          <a:bodyPr wrap="square" rtlCol="0" anchor="ctr"/>
          <a:lstStyle/>
          <a:p>
            <a:pPr marL="0" indent="0">
              <a:buNone/>
            </a:pPr>
            <a:r>
              <a:rPr lang="en-US" sz="1400" dirty="0">
                <a:solidFill>
                  <a:srgbClr val="333333"/>
                </a:solidFill>
              </a:rPr>
              <a:t>→ Licensing Guide: Dataverse MCP Server Requirements</a:t>
            </a:r>
            <a:endParaRPr lang="en-US" sz="1400" dirty="0"/>
          </a:p>
        </p:txBody>
      </p:sp>
      <p:sp>
        <p:nvSpPr>
          <p:cNvPr id="11" name="Text 9"/>
          <p:cNvSpPr/>
          <p:nvPr/>
        </p:nvSpPr>
        <p:spPr>
          <a:xfrm>
            <a:off x="4862181" y="2148840"/>
            <a:ext cx="3479385" cy="365760"/>
          </a:xfrm>
          <a:prstGeom prst="rect">
            <a:avLst/>
          </a:prstGeom>
          <a:noFill/>
          <a:ln/>
        </p:spPr>
        <p:txBody>
          <a:bodyPr wrap="square" rtlCol="0" anchor="ctr"/>
          <a:lstStyle/>
          <a:p>
            <a:pPr marL="0" indent="0">
              <a:buNone/>
            </a:pPr>
            <a:r>
              <a:rPr lang="en-US" sz="1400" dirty="0">
                <a:solidFill>
                  <a:srgbClr val="333333"/>
                </a:solidFill>
              </a:rPr>
              <a:t>→ Microsoft Blog: Copilot Studio Billing and Credits</a:t>
            </a:r>
            <a:endParaRPr lang="en-US" sz="1400" dirty="0"/>
          </a:p>
        </p:txBody>
      </p:sp>
      <p:sp>
        <p:nvSpPr>
          <p:cNvPr id="12" name="Text 10"/>
          <p:cNvSpPr/>
          <p:nvPr/>
        </p:nvSpPr>
        <p:spPr>
          <a:xfrm>
            <a:off x="457200" y="3073037"/>
            <a:ext cx="3573624" cy="365760"/>
          </a:xfrm>
          <a:prstGeom prst="rect">
            <a:avLst/>
          </a:prstGeom>
          <a:noFill/>
          <a:ln/>
        </p:spPr>
        <p:txBody>
          <a:bodyPr wrap="square" rtlCol="0" anchor="ctr"/>
          <a:lstStyle/>
          <a:p>
            <a:pPr marL="0" indent="0">
              <a:buNone/>
            </a:pPr>
            <a:r>
              <a:rPr lang="en-US" b="1" dirty="0">
                <a:solidFill>
                  <a:srgbClr val="2E3192"/>
                </a:solidFill>
              </a:rPr>
              <a:t>Related Modules:</a:t>
            </a:r>
            <a:endParaRPr lang="en-US" dirty="0"/>
          </a:p>
        </p:txBody>
      </p:sp>
      <p:sp>
        <p:nvSpPr>
          <p:cNvPr id="13" name="Text 11"/>
          <p:cNvSpPr/>
          <p:nvPr/>
        </p:nvSpPr>
        <p:spPr>
          <a:xfrm>
            <a:off x="640080" y="3484517"/>
            <a:ext cx="3773300" cy="365760"/>
          </a:xfrm>
          <a:prstGeom prst="rect">
            <a:avLst/>
          </a:prstGeom>
          <a:noFill/>
          <a:ln/>
        </p:spPr>
        <p:txBody>
          <a:bodyPr wrap="square" rtlCol="0" anchor="ctr"/>
          <a:lstStyle/>
          <a:p>
            <a:pPr marL="0" indent="0">
              <a:buNone/>
            </a:pPr>
            <a:r>
              <a:rPr lang="en-US" sz="1400" dirty="0">
                <a:solidFill>
                  <a:srgbClr val="333333"/>
                </a:solidFill>
              </a:rPr>
              <a:t>→ Module 08: Approval Audit Trail (ApprovalLog)</a:t>
            </a:r>
            <a:endParaRPr lang="en-US" sz="1400" dirty="0"/>
          </a:p>
        </p:txBody>
      </p:sp>
      <p:sp>
        <p:nvSpPr>
          <p:cNvPr id="14" name="Text 12"/>
          <p:cNvSpPr/>
          <p:nvPr/>
        </p:nvSpPr>
        <p:spPr>
          <a:xfrm>
            <a:off x="640080" y="3895997"/>
            <a:ext cx="3931920" cy="365760"/>
          </a:xfrm>
          <a:prstGeom prst="rect">
            <a:avLst/>
          </a:prstGeom>
          <a:noFill/>
          <a:ln/>
        </p:spPr>
        <p:txBody>
          <a:bodyPr wrap="square" rtlCol="0" anchor="ctr"/>
          <a:lstStyle/>
          <a:p>
            <a:pPr marL="0" indent="0">
              <a:buNone/>
            </a:pPr>
            <a:r>
              <a:rPr lang="en-US" sz="1400" dirty="0">
                <a:solidFill>
                  <a:srgbClr val="333333"/>
                </a:solidFill>
              </a:rPr>
              <a:t>→ Module 09: Agent Task Audit (AgentTaskLog)</a:t>
            </a:r>
            <a:endParaRPr lang="en-US" sz="1400" dirty="0"/>
          </a:p>
        </p:txBody>
      </p:sp>
      <p:sp>
        <p:nvSpPr>
          <p:cNvPr id="15" name="Text 13"/>
          <p:cNvSpPr/>
          <p:nvPr/>
        </p:nvSpPr>
        <p:spPr>
          <a:xfrm>
            <a:off x="640080" y="4307477"/>
            <a:ext cx="3275822" cy="365760"/>
          </a:xfrm>
          <a:prstGeom prst="rect">
            <a:avLst/>
          </a:prstGeom>
          <a:noFill/>
          <a:ln/>
        </p:spPr>
        <p:txBody>
          <a:bodyPr wrap="square" rtlCol="0" anchor="ctr"/>
          <a:lstStyle/>
          <a:p>
            <a:pPr marL="0" indent="0">
              <a:buNone/>
            </a:pPr>
            <a:r>
              <a:rPr lang="en-US" sz="1400" dirty="0">
                <a:solidFill>
                  <a:srgbClr val="333333"/>
                </a:solidFill>
              </a:rPr>
              <a:t>→ Module 11: Monitoring Dashboards</a:t>
            </a:r>
            <a:endParaRPr lang="en-US" sz="1400" dirty="0"/>
          </a:p>
        </p:txBody>
      </p:sp>
      <p:sp>
        <p:nvSpPr>
          <p:cNvPr id="17" name="Text 14"/>
          <p:cNvSpPr/>
          <p:nvPr/>
        </p:nvSpPr>
        <p:spPr>
          <a:xfrm>
            <a:off x="290181" y="4801066"/>
            <a:ext cx="8611223" cy="324146"/>
          </a:xfrm>
          <a:prstGeom prst="rect">
            <a:avLst/>
          </a:prstGeom>
          <a:noFill/>
          <a:ln/>
        </p:spPr>
        <p:txBody>
          <a:bodyPr wrap="square" rtlCol="0" anchor="ctr"/>
          <a:lstStyle/>
          <a:p>
            <a:r>
              <a:rPr lang="en-US" sz="900" dirty="0">
                <a:solidFill>
                  <a:srgbClr val="808080"/>
                </a:solidFill>
              </a:rPr>
              <a:t>CONFIDENTIAL | Agentic AI in Power Platform</a:t>
            </a:r>
            <a:endParaRPr lang="en-US" sz="900" dirty="0"/>
          </a:p>
        </p:txBody>
      </p:sp>
      <p:sp>
        <p:nvSpPr>
          <p:cNvPr id="18" name="Shape 14">
            <a:extLst>
              <a:ext uri="{FF2B5EF4-FFF2-40B4-BE49-F238E27FC236}">
                <a16:creationId xmlns:a16="http://schemas.microsoft.com/office/drawing/2014/main" id="{A1083E76-F35E-F7A1-3813-74293C3F4A56}"/>
              </a:ext>
            </a:extLst>
          </p:cNvPr>
          <p:cNvSpPr/>
          <p:nvPr/>
        </p:nvSpPr>
        <p:spPr>
          <a:xfrm flipH="1">
            <a:off x="4449020" y="1325880"/>
            <a:ext cx="45719" cy="3475186"/>
          </a:xfrm>
          <a:prstGeom prst="rect">
            <a:avLst/>
          </a:prstGeom>
          <a:solidFill>
            <a:srgbClr val="C8C8C8"/>
          </a:solidFill>
          <a:ln/>
        </p:spPr>
        <p:txBody>
          <a:bodyPr/>
          <a:lstStyle/>
          <a:p>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33333"/>
          </a:solidFill>
          <a:ln/>
        </p:spPr>
        <p:txBody>
          <a:bodyPr/>
          <a:lstStyle/>
          <a:p>
            <a:endParaRPr lang="en-IN"/>
          </a:p>
        </p:txBody>
      </p:sp>
      <p:sp>
        <p:nvSpPr>
          <p:cNvPr id="3" name="Shape 1"/>
          <p:cNvSpPr/>
          <p:nvPr/>
        </p:nvSpPr>
        <p:spPr>
          <a:xfrm>
            <a:off x="0" y="2926080"/>
            <a:ext cx="1371600" cy="73152"/>
          </a:xfrm>
          <a:prstGeom prst="rect">
            <a:avLst/>
          </a:prstGeom>
          <a:solidFill>
            <a:srgbClr val="FFE600"/>
          </a:solidFill>
          <a:ln/>
        </p:spPr>
        <p:txBody>
          <a:bodyPr/>
          <a:lstStyle/>
          <a:p>
            <a:endParaRPr lang="en-IN"/>
          </a:p>
        </p:txBody>
      </p:sp>
      <p:sp>
        <p:nvSpPr>
          <p:cNvPr id="4" name="Text 2"/>
          <p:cNvSpPr/>
          <p:nvPr/>
        </p:nvSpPr>
        <p:spPr>
          <a:xfrm>
            <a:off x="457200" y="3108960"/>
            <a:ext cx="10972800" cy="1097280"/>
          </a:xfrm>
          <a:prstGeom prst="rect">
            <a:avLst/>
          </a:prstGeom>
          <a:noFill/>
          <a:ln/>
        </p:spPr>
        <p:txBody>
          <a:bodyPr wrap="square" rtlCol="0" anchor="ctr"/>
          <a:lstStyle/>
          <a:p>
            <a:pPr marL="0" indent="0">
              <a:buNone/>
            </a:pPr>
            <a:r>
              <a:rPr lang="en-US" sz="4800" b="1" dirty="0">
                <a:solidFill>
                  <a:srgbClr val="FFFFFF"/>
                </a:solidFill>
              </a:rPr>
              <a:t>Questions?</a:t>
            </a:r>
            <a:endParaRPr lang="en-US" sz="4800" dirty="0"/>
          </a:p>
        </p:txBody>
      </p:sp>
      <p:sp>
        <p:nvSpPr>
          <p:cNvPr id="5" name="Text 3"/>
          <p:cNvSpPr/>
          <p:nvPr/>
        </p:nvSpPr>
        <p:spPr>
          <a:xfrm>
            <a:off x="457200" y="4389120"/>
            <a:ext cx="7309413" cy="548640"/>
          </a:xfrm>
          <a:prstGeom prst="rect">
            <a:avLst/>
          </a:prstGeom>
          <a:noFill/>
          <a:ln/>
        </p:spPr>
        <p:txBody>
          <a:bodyPr wrap="square" rtlCol="0" anchor="ctr"/>
          <a:lstStyle/>
          <a:p>
            <a:pPr marL="0" indent="0">
              <a:buNone/>
            </a:pPr>
            <a:r>
              <a:rPr lang="en-US" sz="2000" dirty="0">
                <a:solidFill>
                  <a:srgbClr val="FFFFFF"/>
                </a:solidFill>
              </a:rPr>
              <a:t>Thank you for your engagement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67</TotalTime>
  <Words>10203</Words>
  <Application>Microsoft Office PowerPoint</Application>
  <PresentationFormat>On-screen Show (16:9)</PresentationFormat>
  <Paragraphs>456</Paragraphs>
  <Slides>35</Slides>
  <Notes>35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35</vt:i4>
      </vt:variant>
    </vt:vector>
  </HeadingPairs>
  <TitlesOfParts>
    <vt:vector size="3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 Memory, Governance &amp; Production Readiness</dc:title>
  <dc:subject>Agentic AI in Power Platform</dc:subject>
  <dc:creator>EY BFSI Training</dc:creator>
  <cp:lastModifiedBy>Jalal Khan</cp:lastModifiedBy>
  <cp:revision>21</cp:revision>
  <dcterms:created xsi:type="dcterms:W3CDTF">2026-02-05T13:35:59Z</dcterms:created>
  <dcterms:modified xsi:type="dcterms:W3CDTF">2026-02-05T19:37:59Z</dcterms:modified>
</cp:coreProperties>
</file>