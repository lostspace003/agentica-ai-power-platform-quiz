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7" r:id="rId21"/>
    <p:sldId id="278" r:id="rId22"/>
    <p:sldId id="279" r:id="rId23"/>
    <p:sldId id="280" r:id="rId24"/>
    <p:sldId id="281" r:id="rId25"/>
    <p:sldId id="282" r:id="rId26"/>
    <p:sldId id="283" r:id="rId27"/>
    <p:sldId id="284" r:id="rId28"/>
    <p:sldId id="285" r:id="rId29"/>
    <p:sldId id="286" r:id="rId30"/>
    <p:sldId id="287"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80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5977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10: Data Preprocessing with Claude Desktop + MCP Power BI.
This module deliberately steps outside the Microsoft Power Platform boundary to introduce a complementary AI tool: Claude Desktop, connected to Power BI semantic models via the Power BI Modeling MCP Server.
The key message for participants is that MCP is a universal protocol — the same MCP concepts you learned for Dataverse in Modules 04-09 apply to any MCP-compatible data source, including Power BI.
The practical goal is data preprocessing. Before building the agent telemetry and operational dashboards in Module 11, the underlying Power BI semantic model must be well-structured. Claude Desktop with the MCP Power BI Server lets you do this work conversationally — describing what you need in natural language while the AI handles the DAX, schema inspection, and model modification.
This broadens your AI toolkit and demonstrates the versatility of the MCP pattern you've been learning throughout this course.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is structured with one hour of theory covering the MCP Power BI architecture and setup options, followed by two hours of hands-on lab work building the Contoso Insurance Analytics semantic model.
The core value proposition is this: if you can describe what you need in plain English, Claude Desktop can generate the DAX, apply it to your model, and validate the results — all conversationally.
By the end of this module, you'll have a production-ready semantic model that will power the dashboards you build in Module 11. This creates continuity across the course: Module 10 prepares the data layer, Module 11 visualizes it.
Important note: allow extra time for setup, as participants need to install and configure Claude Desktop with the MCP Server before the lab exercises.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six primary learning objectives for this module.
The first objective emphasizes that MCP is a universal protocol — you're not learning something new, you're applying what you already know to a new data source.
The second objective addresses the reality that different participants will have different environments and preferences. We cover all three paths so everyone can find the approach that works for them.
Objectives 3 through 6 are practical skills you'll apply in the lab exercises. By the end of the module, you should be able to sit down with any Power BI model, connect Claude Desktop, and start making improvements conversationally.
The BFSI focus in objective 5 connects this module back to the insurance domain we've been working with throughout the course.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prerequisites are essential for the hands-on lab. Let me walk through each one.
Windows is required because both Power BI Desktop and Claude Desktop are Windows applications. Mac users can participate in the theory portions but will need access to a Windows machine for the lab.
Power BI Desktop should be the latest version — older versions may not expose the Analysis Services endpoint that the MCP Server connects to.
Claude Desktop is free to download and the free tier provides enough capacity for the lab exercises. Participants don't need a paid Claude subscription.
Node.js is required because the Power BI Modeling MCP Server is a Node.js application. Version 18 or later is required.
The Contoso Insurance .pbix starter file will be distributed by the instructor. It's pre-connected to the same Dataverse tables used throughout the course.
The Power BI Pro license is only needed for the optional step of publishing to the Power BI Service. A trial license works fine.
Give participants 15-20 minutes at the start of the lab session to verify these prerequisites are in place.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begin by understanding why MCP works the same way for Power BI as it did for Dataverse.
This is the key conceptual insight of the module: MCP is a protocol, not a product. It defines how AI clients communicate with data sources. Any system that implements an MCP Server can connect to any AI client that speaks MCP.
This means the skills you developed in Modules 04-09 transfer directly to this module. You're not learning a new paradigm — you're applying a familiar pattern to a new data source.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four-step loop is the same loop you saw in Module 04 with Dataverse MCP. The AI client sends a request, the MCP Server translates it, the data source executes it, and the AI reasons about the result.
What changes between Dataverse MCP and Power BI MCP is step 2 — the translation layer. For Dataverse, the MCP Server translates to Web API calls. For Power BI, it translates to XMLA and TMSL (the Analysis Services protocols).
But from your perspective as the user, the experience is identical: you describe what you want in natural language, and the AI handles the technical details.
This is the power of protocol standardization. Once you understand the MCP pattern, you can apply it to any MCP-compatible data source — Power BI, Dataverse, databases, file systems, whatever. The learning investment pays off across multiple domains.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shows how the same MCP pattern applies to different data sources.
Dataverse MCP, which you used in Modules 04-09, focuses on CRUD operations against business data. You list tables, query records, create, update, delete — standard data operations.
Power BI MCP focuses on model development. You inspect schemas, create measures, define relationships, run analytical queries. The purpose is different, but the interaction pattern is identical.
Notice that both have "list tables" and "describe" operations — this is the common MCP vocabulary for schema discovery. Once you learn it for one data source, you know it for all.
The underlying protocols are completely different (Web API vs XMLA/TMSL), but MCP abstracts that away. You work in natural language; the MCP Server handles the protocol translation.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how the Power BI Modeling MCP Server actually works — the architecture that enables Claude Desktop to communicate with Power BI Desktop.
Understanding this architecture helps you troubleshoot issues and explains why certain prerequisites are necessary.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architecture diagram shows the three-component stack: Claude Desktop, the MCP Server, and Power BI Desktop.
Power BI Desktop contains an embedded Analysis Services instance — this is the tabular model engine that stores your semantic model. When Power BI Desktop opens a .pbix file, it loads the model into this local Analysis Services instance.
The MCP Server is a Node.js application that connects to this local Analysis Services instance using the XMLA protocol. It discovers the port automatically by scanning for running Power BI Desktop instances.
Claude Desktop communicates with the MCP Server using the MCP protocol — the same protocol used for all MCP connections.
The key security point: all processing happens locally on your machine. Your data doesn't leave your workstation. Claude Desktop sends natural language queries to the MCP Server, the MCP Server translates them to XMLA commands, and the results come back. The actual model data stays in Power BI Desktop.
This local-only architecture is important for BFSI environments where data sovereignty is critical.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BI Modeling MCP Server exposes a rich set of operations organized into seven categories.
Schema Discovery operations let you understand what's in the model — list all tables, describe a specific table's columns, get metadata about the model itself.
Data Inspection operations let you look at actual data — preview rows from a table, see column statistics like min/max/distinct count, examine the relationships between tables.
DAX Query operations are the analytical core — run any DAX query, evaluate a specific measure with a filter context, and importantly, analyze query performance to understand where time is spent.
Model Modification operations are where the magic happens — you can create measures, calculated columns, and hierarchies conversationally. This is the main productivity unlock.
Relationship operations let you define and modify how tables connect to each other.
Formatting operations set display properties — format strings for numbers and dates, display folders for organizing measures, descriptions for documentation.
Storage Analysis operations are advanced — they let you examine the VertiPaq storage engine internals, which is valuable for model optimization.
In the lab, you'll use operations from most of these categories.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ways to connect an AI client to a Power BI semantic model via MCP. Each has different requirements, trade-offs, and use cases.
Understanding these paths helps you choose the right approach for your specific environment and needs.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each of the three paths.
Path A is Claude Desktop — this is what we'll use in the lab. It provides the most intuitive conversational experience, requires only free tools, and clearly demonstrates the MCP pattern. It's ideal for business analysts and for learning.
Path B is VS Code with GitHub Copilot. This is better for developers who prefer an IDE-based workflow and need version control and audit trails. The trade-off is that it requires a GitHub Copilot subscription and has more setup steps.
Path C is Remote MCP Server, which connects to Power BI Service models in the cloud rather than local Power BI Desktop files. This is the production deployment model for team environments, but it's currently in Preview status and requires network configuration.
For this module, we focus on Path A because it's accessible to everyone — Claude Desktop is free and provides the clearest learning experience. But we'll discuss Path B as an alternative for participants who already have GitHub Copilot subscriptions.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step-by-step setup process for Path A — Claude Desktop.
Step 1 is installing the prerequisites: Node.js version 18 or later, Power BI Desktop, and Claude Desktop. All are free downloads.
Step 2 installs the MCP Server globally using npm. This makes the powerbi-mcp command available.
Step 3 is the critical configuration step. You edit Claude Desktop's configuration file to tell it where to find the MCP Server. We'll walk through this in detail during the lab.
Step 4 is opening your Power BI model. Power BI Desktop must be running with your .pbix file open — the MCP Server connects to the running instance.
Step 5 is starting Claude Desktop and verifying it sees the MCP connection. There's an icon that indicates MCP servers are connected.
Step 6 is the fun part — you start conversing! Try "List all tables in my model" as your first query to verify everything is working.
The whole setup takes about 15-20 minutes if everything goes smoothly. We'll allocate time at the start of the lab for this.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introduce the semantic model we'll build in the lab — the Contoso Insurance Analytics model.
This model connects to the same Dataverse tables you've been using throughout the course and adds the analytical layer needed for the dashboards in Module 11.</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Contoso Insurance Analytics model contains four core tables, all sourced from the Dataverse tables you've been working with throughout the course.
The Customer table contains demographics, risk profiles, and customer segments.
The Policy table contains policy details — premiums, coverage amounts, status, and dates.
The Claim table contains claims filed against policies — amounts, outcomes, processing dates.
The Transaction table contains financial transactions — premium payments, claim payouts, refunds.
The relationships form a classic star schema with Customer as the primary dimension. A customer can have many policies, each policy can have many claims, and each claim can have many transactions.
This is the same data model structure you'd see in a real BFSI organization. The lab exercises will add the analytical measures and formatting that turn this raw schema into a useful semantic model.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key measures we'll build during the lab using Claude Desktop.
Claims Loss Ratio is the core profitability metric for insurance. It's total claims paid divided by total premiums collected. A ratio over 100% means you're paying out more than you're collecting.
Policy Renewal Rate measures customer retention — what percentage of expiring policies are renewed?
High Risk Customer Count is a risk exposure metric — how many customers have risk scores above a threshold?
Average Claim Amount is a baseline for claims analysis — useful for detecting anomalies.
Transaction Volume MTD (month-to-date) is an operational metric for monitoring activity levels.
Customer Lifetime Value is a customer profitability measure — the difference between premiums paid and claims filed over the customer's history.
The key point is that you won't need to write the DAX yourself. You'll describe what you want in natural language, and Claude will generate, apply, and validate the DAX.</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Connecting AI tools to Power BI semantic models raises important security questions, especially in BFSI environments where data sensitivity is high.
Let's address these questions directly so you can make informed decisions about when and how to use these tools.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the key security guidelines for using MCP Power BI in BFSI environments.
First, with Claude Desktop and Path A, all processing happens locally. Your data doesn't leave your machine. The MCP Server runs locally and connects to your local Power BI Desktop instance.
Second, for learning and development, always use non-production data. The starter .pbix file for this lab uses sample data, not real customer information.
Third, if you need audit trails for compliance, the VS Code path provides better logging than Claude Desktop. VS Code can integrate with your organization's logging infrastructure.
Fourth, for enterprise deployment, the Remote MCP Server path integrates with Azure AD and enterprise access controls. This is the production model, though it's currently in Preview.
Fifth, always review AI-generated DAX before deploying to production. Claude is excellent at generating DAX, but it can make mistakes. Test thoroughly.
Sixth, don't paste actual customer data into your conversations. Describe what you need in terms of patterns and schema — "create a measure that counts customers with risk score above 7" — not by copying actual data.
These guidelines balance the productivity benefits of AI-assisted development with the security requirements of BFSI environments.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question is how MCP Power BI differs from the built-in Copilot features in Power BI. They serve completely different purposes.
MCP Power BI with Claude Desktop is for building and modifying semantic models. You use it to create measures, define relationships, optimize model structure — the development and preprocessing work.
Copilot in Power BI (the built-in feature) is for consuming and exploring reports. Business users use it to generate visuals from prompts, summarize report pages, and ask questions about the data.
Think of it this way: MCP Power BI is for the people who build the model. Copilot in Power BI is for the people who use the reports.
They're complementary, not competing. In a typical workflow, you'd use MCP Power BI with Claude Desktop to build and refine the semantic model, then publish the model to the Power BI Service where business users can consume it using the built-in Copilot features.
This module focuses on the model development side — the preprocessing that makes the downstream reports and AI features work well.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what a typical conversation with Claude looks like when creating a measure.
You describe what you want in plain English: "Create a measure called Claims Loss Ratio that divides total claims paid by total premiums collected. Format it as a percentage with one decimal place."
Claude responds by showing you what it's doing: it generates the DAX using DIVIDE (which handles division by zero gracefully), applies the format string, and confirms the measure has been created.
The measure is immediately available in Power BI Desktop. If you switch to Power BI and refresh the model view, you'll see the new measure in the table.
This is the productivity unlock: instead of looking up DAX syntax, worrying about edge cases like division by zero, and manually navigating the Power BI UI — you just describe what you need and Claude handles the details.
Of course, you should still review the generated DAX to make sure it matches your intent. But for most common measures, Claude gets it right.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consolidate the key takeaways from this module.
The first takeaway is conceptual: MCP is a universal protocol. The skills you built with Dataverse MCP transfer directly to Power BI MCP and any other MCP-compatible data source.
The second through fifth takeaways are practical: how the system works, what setup options exist, and what you can do with it.
The sixth takeaway addresses security — this is critical for BFSI environments. Always use non-production data when learning, and always review AI-generated code.
The seventh takeaway clarifies the relationship between MCP Power BI and the built-in Copilot features — they're complementary, not competing.
These takeaways form the foundation for the hands-on lab and prepare you for Module 11, where you'll use the semantic model you build to create operational dashboards.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test your understanding of MCP Power BI with three quick questions.
Take a moment to think about each answer before moving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Module 11 builds directly on what you've created in this module.
You'll connect the semantic model to the AgentTaskLog and ApprovalLog tables from Modules 08 and 09 — the telemetry data from the agents you built earlier in the course.
You'll create operational dashboards that show agent performance: task completion rates, approval turnaround times, error patterns, and usage trends.
This creates a feedback loop: the agents generate data, Power BI visualizes it, and those visualizations inform decisions about agent configuration and optimization.
Module 11 closes the loop between the AI agents you've been building and the business intelligence platform that monitors them. It's the observability layer for your agentic AI system.
Make sure to save your Contoso Insurance Analytics model from this module's lab — you'll extend it with the agent telemetry tables in Module 11.</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throughout this module on Data Preprocessing with Claude Desktop + MCP Power BI.
This module expanded your AI toolkit beyond the Microsoft Power Platform to include Claude Desktop — demonstrating that MCP is a universal protocol that works across different AI clients and data sources.
The semantic model you'll build in the lab prepares the foundation for Module 11's dashboards. The skills you've developed — conversational model development, DAX creation, and model optimization — will serve you well in any Power BI project.
If you have questions about the setup process or encounter issues during the lab, don't hesitate to ask. The setup can be tricky the first time, but once it's working, the conversational workflow is remarkably productive.
See you in Module 11 for Power BI as Agent Insight &amp; Feedback Loop!</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109728"/>
          </a:xfrm>
          <a:prstGeom prst="rect">
            <a:avLst/>
          </a:prstGeom>
          <a:solidFill>
            <a:srgbClr val="0891B2"/>
          </a:solidFill>
          <a:ln/>
        </p:spPr>
        <p:txBody>
          <a:bodyPr/>
          <a:lstStyle/>
          <a:p>
            <a:endParaRPr lang="en-IN"/>
          </a:p>
        </p:txBody>
      </p:sp>
      <p:sp>
        <p:nvSpPr>
          <p:cNvPr id="3" name="Shape 1"/>
          <p:cNvSpPr/>
          <p:nvPr/>
        </p:nvSpPr>
        <p:spPr>
          <a:xfrm>
            <a:off x="7315200" y="109728"/>
            <a:ext cx="1828800" cy="54864"/>
          </a:xfrm>
          <a:prstGeom prst="rect">
            <a:avLst/>
          </a:prstGeom>
          <a:solidFill>
            <a:srgbClr val="0E7490"/>
          </a:solidFill>
          <a:ln/>
        </p:spPr>
        <p:txBody>
          <a:bodyPr/>
          <a:lstStyle/>
          <a:p>
            <a:endParaRPr lang="en-IN"/>
          </a:p>
        </p:txBody>
      </p:sp>
      <p:sp>
        <p:nvSpPr>
          <p:cNvPr id="4" name="Text 2"/>
          <p:cNvSpPr/>
          <p:nvPr/>
        </p:nvSpPr>
        <p:spPr>
          <a:xfrm>
            <a:off x="375920" y="984069"/>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MODULE 10</a:t>
            </a:r>
            <a:endParaRPr lang="en-US" sz="1300" dirty="0"/>
          </a:p>
        </p:txBody>
      </p:sp>
      <p:sp>
        <p:nvSpPr>
          <p:cNvPr id="5" name="Text 3"/>
          <p:cNvSpPr/>
          <p:nvPr/>
        </p:nvSpPr>
        <p:spPr>
          <a:xfrm>
            <a:off x="375920" y="1441269"/>
            <a:ext cx="7315200" cy="1280160"/>
          </a:xfrm>
          <a:prstGeom prst="rect">
            <a:avLst/>
          </a:prstGeom>
          <a:noFill/>
          <a:ln/>
        </p:spPr>
        <p:txBody>
          <a:bodyPr wrap="square" rtlCol="0" anchor="ctr"/>
          <a:lstStyle/>
          <a:p>
            <a:pPr marL="0" indent="0">
              <a:buNone/>
            </a:pPr>
            <a:r>
              <a:rPr lang="en-US" sz="3400" b="1" dirty="0">
                <a:solidFill>
                  <a:srgbClr val="FFFFFF"/>
                </a:solidFill>
                <a:latin typeface="Segoe UI" pitchFamily="34" charset="0"/>
                <a:ea typeface="Segoe UI" pitchFamily="34" charset="-122"/>
                <a:cs typeface="Segoe UI" pitchFamily="34" charset="-120"/>
              </a:rPr>
              <a:t>Data Preprocessing</a:t>
            </a:r>
            <a:endParaRPr lang="en-US" sz="3400" dirty="0"/>
          </a:p>
          <a:p>
            <a:pPr marL="0" indent="0">
              <a:buNone/>
            </a:pPr>
            <a:r>
              <a:rPr lang="en-US" sz="3400" b="1" dirty="0">
                <a:solidFill>
                  <a:srgbClr val="FFFFFF"/>
                </a:solidFill>
                <a:latin typeface="Segoe UI" pitchFamily="34" charset="0"/>
                <a:ea typeface="Segoe UI" pitchFamily="34" charset="-122"/>
                <a:cs typeface="Segoe UI" pitchFamily="34" charset="-120"/>
              </a:rPr>
              <a:t>with Claude Desktop + MCP</a:t>
            </a:r>
            <a:endParaRPr lang="en-US" sz="3400" dirty="0"/>
          </a:p>
        </p:txBody>
      </p:sp>
      <p:sp>
        <p:nvSpPr>
          <p:cNvPr id="6" name="Text 4"/>
          <p:cNvSpPr/>
          <p:nvPr/>
        </p:nvSpPr>
        <p:spPr>
          <a:xfrm>
            <a:off x="375920" y="2767149"/>
            <a:ext cx="6400800" cy="457200"/>
          </a:xfrm>
          <a:prstGeom prst="rect">
            <a:avLst/>
          </a:prstGeom>
          <a:noFill/>
          <a:ln/>
        </p:spPr>
        <p:txBody>
          <a:bodyPr wrap="square" rtlCol="0" anchor="ctr"/>
          <a:lstStyle/>
          <a:p>
            <a:pPr marL="0" indent="0">
              <a:buNone/>
            </a:pPr>
            <a:r>
              <a:rPr lang="en-US" sz="2000" dirty="0">
                <a:solidFill>
                  <a:srgbClr val="22D3EE"/>
                </a:solidFill>
                <a:latin typeface="Segoe UI" pitchFamily="34" charset="0"/>
                <a:ea typeface="Segoe UI" pitchFamily="34" charset="-122"/>
                <a:cs typeface="Segoe UI" pitchFamily="34" charset="-120"/>
              </a:rPr>
              <a:t>Power BI Semantic Model Development Using AI</a:t>
            </a:r>
            <a:endParaRPr lang="en-US" sz="2000" dirty="0"/>
          </a:p>
        </p:txBody>
      </p:sp>
      <p:sp>
        <p:nvSpPr>
          <p:cNvPr id="7" name="Text 5"/>
          <p:cNvSpPr/>
          <p:nvPr/>
        </p:nvSpPr>
        <p:spPr>
          <a:xfrm>
            <a:off x="375920" y="3452949"/>
            <a:ext cx="4572000" cy="365760"/>
          </a:xfrm>
          <a:prstGeom prst="rect">
            <a:avLst/>
          </a:prstGeom>
          <a:noFill/>
          <a:ln/>
        </p:spPr>
        <p:txBody>
          <a:bodyPr wrap="square" rtlCol="0" anchor="ctr"/>
          <a:lstStyle/>
          <a:p>
            <a:pPr marL="0" indent="0">
              <a:buNone/>
            </a:pPr>
            <a:r>
              <a:rPr lang="en-US" sz="1400" dirty="0">
                <a:solidFill>
                  <a:srgbClr val="94A3B8"/>
                </a:solidFill>
                <a:latin typeface="Segoe UI" pitchFamily="34" charset="0"/>
                <a:ea typeface="Segoe UI" pitchFamily="34" charset="-122"/>
                <a:cs typeface="Segoe UI" pitchFamily="34" charset="-120"/>
              </a:rPr>
              <a:t>Agentic AI in Power Platform</a:t>
            </a:r>
            <a:endParaRPr lang="en-US" sz="1400" dirty="0"/>
          </a:p>
        </p:txBody>
      </p:sp>
      <p:sp>
        <p:nvSpPr>
          <p:cNvPr id="8" name="Text 6"/>
          <p:cNvSpPr/>
          <p:nvPr/>
        </p:nvSpPr>
        <p:spPr>
          <a:xfrm>
            <a:off x="375920" y="4733109"/>
            <a:ext cx="4572000" cy="274320"/>
          </a:xfrm>
          <a:prstGeom prst="rect">
            <a:avLst/>
          </a:prstGeom>
          <a:noFill/>
          <a:ln/>
        </p:spPr>
        <p:txBody>
          <a:bodyPr wrap="square" rtlCol="0" anchor="ctr"/>
          <a:lstStyle/>
          <a:p>
            <a:pPr marL="0" indent="0">
              <a:buNone/>
            </a:pPr>
            <a:r>
              <a:rPr lang="en-US" sz="900" dirty="0">
                <a:solidFill>
                  <a:srgbClr val="94A3B8"/>
                </a:solidFill>
                <a:latin typeface="Segoe UI" pitchFamily="34" charset="0"/>
                <a:ea typeface="Segoe UI" pitchFamily="34" charset="-122"/>
                <a:cs typeface="Segoe UI" pitchFamily="34" charset="-120"/>
              </a:rPr>
              <a:t>CONFIDENTIAL – For Training Purposes Only</a:t>
            </a:r>
            <a:endParaRPr lang="en-US" sz="900" dirty="0"/>
          </a:p>
        </p:txBody>
      </p:sp>
      <p:sp>
        <p:nvSpPr>
          <p:cNvPr id="9" name="Text 7"/>
          <p:cNvSpPr/>
          <p:nvPr/>
        </p:nvSpPr>
        <p:spPr>
          <a:xfrm>
            <a:off x="7955280" y="4782675"/>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1 / 30</a:t>
            </a:r>
            <a:endParaRPr lang="en-US" sz="9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640080"/>
          </a:xfrm>
          <a:prstGeom prst="rect">
            <a:avLst/>
          </a:prstGeom>
          <a:noFill/>
          <a:ln/>
        </p:spPr>
        <p:txBody>
          <a:bodyPr wrap="square" rtlCol="0" anchor="ctr"/>
          <a:lstStyle/>
          <a:p>
            <a:pPr marL="0" indent="0">
              <a:buNone/>
            </a:pPr>
            <a:r>
              <a:rPr lang="en-US" sz="3200" b="1" dirty="0">
                <a:solidFill>
                  <a:srgbClr val="1E293B"/>
                </a:solidFill>
                <a:latin typeface="Segoe UI" pitchFamily="34" charset="0"/>
                <a:ea typeface="Segoe UI" pitchFamily="34" charset="-122"/>
                <a:cs typeface="Segoe UI" pitchFamily="34" charset="-120"/>
              </a:rPr>
              <a:t>Module Overview</a:t>
            </a:r>
            <a:endParaRPr lang="en-US" sz="3200" dirty="0"/>
          </a:p>
        </p:txBody>
      </p:sp>
      <p:sp>
        <p:nvSpPr>
          <p:cNvPr id="4" name="Shape 2"/>
          <p:cNvSpPr/>
          <p:nvPr/>
        </p:nvSpPr>
        <p:spPr>
          <a:xfrm>
            <a:off x="640080" y="1051560"/>
            <a:ext cx="7863840" cy="1097280"/>
          </a:xfrm>
          <a:prstGeom prst="rect">
            <a:avLst/>
          </a:prstGeom>
          <a:solidFill>
            <a:srgbClr val="F1F5F9"/>
          </a:solidFill>
          <a:ln/>
        </p:spPr>
        <p:txBody>
          <a:bodyPr/>
          <a:lstStyle/>
          <a:p>
            <a:endParaRPr lang="en-IN"/>
          </a:p>
        </p:txBody>
      </p:sp>
      <p:sp>
        <p:nvSpPr>
          <p:cNvPr id="5" name="Shape 3"/>
          <p:cNvSpPr/>
          <p:nvPr/>
        </p:nvSpPr>
        <p:spPr>
          <a:xfrm>
            <a:off x="640080" y="1051560"/>
            <a:ext cx="73152" cy="1097280"/>
          </a:xfrm>
          <a:prstGeom prst="rect">
            <a:avLst/>
          </a:prstGeom>
          <a:solidFill>
            <a:srgbClr val="0891B2"/>
          </a:solidFill>
          <a:ln/>
        </p:spPr>
        <p:txBody>
          <a:bodyPr/>
          <a:lstStyle/>
          <a:p>
            <a:endParaRPr lang="en-IN"/>
          </a:p>
        </p:txBody>
      </p:sp>
      <p:sp>
        <p:nvSpPr>
          <p:cNvPr id="6" name="Text 4"/>
          <p:cNvSpPr/>
          <p:nvPr/>
        </p:nvSpPr>
        <p:spPr>
          <a:xfrm>
            <a:off x="1005840" y="1115568"/>
            <a:ext cx="7223760" cy="960120"/>
          </a:xfrm>
          <a:prstGeom prst="rect">
            <a:avLst/>
          </a:prstGeom>
          <a:noFill/>
          <a:ln/>
        </p:spPr>
        <p:txBody>
          <a:bodyPr wrap="square" rtlCol="0" anchor="ctr"/>
          <a:lstStyle/>
          <a:p>
            <a:pPr marL="0" indent="0">
              <a:buNone/>
            </a:pPr>
            <a:r>
              <a:rPr lang="en-US" sz="1450" dirty="0">
                <a:solidFill>
                  <a:srgbClr val="1E293B"/>
                </a:solidFill>
                <a:latin typeface="Segoe UI" pitchFamily="34" charset="0"/>
                <a:ea typeface="Segoe UI" pitchFamily="34" charset="-122"/>
                <a:cs typeface="Segoe UI" pitchFamily="34" charset="-120"/>
              </a:rPr>
              <a:t>This module introduces Claude Desktop with the Power BI Modeling MCP Server — enabling conversational development of Power BI semantic models using the same MCP patterns learned in Modules 04–09.</a:t>
            </a:r>
            <a:endParaRPr lang="en-US" sz="1450" dirty="0"/>
          </a:p>
        </p:txBody>
      </p:sp>
      <p:sp>
        <p:nvSpPr>
          <p:cNvPr id="7" name="Shape 5"/>
          <p:cNvSpPr/>
          <p:nvPr/>
        </p:nvSpPr>
        <p:spPr>
          <a:xfrm>
            <a:off x="640080" y="2468880"/>
            <a:ext cx="2468880" cy="2103120"/>
          </a:xfrm>
          <a:prstGeom prst="rect">
            <a:avLst/>
          </a:prstGeom>
          <a:solidFill>
            <a:srgbClr val="F1F5F9"/>
          </a:solidFill>
          <a:ln/>
        </p:spPr>
        <p:txBody>
          <a:bodyPr/>
          <a:lstStyle/>
          <a:p>
            <a:endParaRPr lang="en-IN"/>
          </a:p>
        </p:txBody>
      </p:sp>
      <p:sp>
        <p:nvSpPr>
          <p:cNvPr id="8" name="Text 6"/>
          <p:cNvSpPr/>
          <p:nvPr/>
        </p:nvSpPr>
        <p:spPr>
          <a:xfrm>
            <a:off x="868680" y="2697480"/>
            <a:ext cx="411480" cy="41148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9" name="Text 7"/>
          <p:cNvSpPr/>
          <p:nvPr/>
        </p:nvSpPr>
        <p:spPr>
          <a:xfrm>
            <a:off x="822960" y="3200400"/>
            <a:ext cx="2103120" cy="320040"/>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1 hr Theory</a:t>
            </a:r>
            <a:endParaRPr lang="en-US" sz="1400" dirty="0"/>
          </a:p>
        </p:txBody>
      </p:sp>
      <p:sp>
        <p:nvSpPr>
          <p:cNvPr id="10" name="Text 8"/>
          <p:cNvSpPr/>
          <p:nvPr/>
        </p:nvSpPr>
        <p:spPr>
          <a:xfrm>
            <a:off x="822960" y="3566160"/>
            <a:ext cx="2103120" cy="8229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MCP for Power BI, architecture, setup paths</a:t>
            </a:r>
            <a:endParaRPr lang="en-US" sz="1100" dirty="0"/>
          </a:p>
        </p:txBody>
      </p:sp>
      <p:sp>
        <p:nvSpPr>
          <p:cNvPr id="11" name="Shape 9"/>
          <p:cNvSpPr/>
          <p:nvPr/>
        </p:nvSpPr>
        <p:spPr>
          <a:xfrm>
            <a:off x="3383280" y="2468880"/>
            <a:ext cx="2468880" cy="2103120"/>
          </a:xfrm>
          <a:prstGeom prst="rect">
            <a:avLst/>
          </a:prstGeom>
          <a:solidFill>
            <a:srgbClr val="F1F5F9"/>
          </a:solidFill>
          <a:ln/>
        </p:spPr>
        <p:txBody>
          <a:bodyPr/>
          <a:lstStyle/>
          <a:p>
            <a:endParaRPr lang="en-IN"/>
          </a:p>
        </p:txBody>
      </p:sp>
      <p:sp>
        <p:nvSpPr>
          <p:cNvPr id="12" name="Text 10"/>
          <p:cNvSpPr/>
          <p:nvPr/>
        </p:nvSpPr>
        <p:spPr>
          <a:xfrm>
            <a:off x="3611880" y="2697480"/>
            <a:ext cx="411480" cy="41148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3" name="Text 11"/>
          <p:cNvSpPr/>
          <p:nvPr/>
        </p:nvSpPr>
        <p:spPr>
          <a:xfrm>
            <a:off x="3566160" y="3200400"/>
            <a:ext cx="2103120" cy="320040"/>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2 hrs Lab</a:t>
            </a:r>
            <a:endParaRPr lang="en-US" sz="1400" dirty="0"/>
          </a:p>
        </p:txBody>
      </p:sp>
      <p:sp>
        <p:nvSpPr>
          <p:cNvPr id="14" name="Text 12"/>
          <p:cNvSpPr/>
          <p:nvPr/>
        </p:nvSpPr>
        <p:spPr>
          <a:xfrm>
            <a:off x="3566160" y="3566160"/>
            <a:ext cx="2103120" cy="8229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Build BFSI Analytics model with Claude</a:t>
            </a:r>
            <a:endParaRPr lang="en-US" sz="1100" dirty="0"/>
          </a:p>
        </p:txBody>
      </p:sp>
      <p:sp>
        <p:nvSpPr>
          <p:cNvPr id="15" name="Shape 13"/>
          <p:cNvSpPr/>
          <p:nvPr/>
        </p:nvSpPr>
        <p:spPr>
          <a:xfrm>
            <a:off x="6126480" y="2468880"/>
            <a:ext cx="2468880" cy="2103120"/>
          </a:xfrm>
          <a:prstGeom prst="rect">
            <a:avLst/>
          </a:prstGeom>
          <a:solidFill>
            <a:srgbClr val="F1F5F9"/>
          </a:solidFill>
          <a:ln/>
        </p:spPr>
        <p:txBody>
          <a:bodyPr/>
          <a:lstStyle/>
          <a:p>
            <a:endParaRPr lang="en-IN"/>
          </a:p>
        </p:txBody>
      </p:sp>
      <p:sp>
        <p:nvSpPr>
          <p:cNvPr id="16" name="Text 14"/>
          <p:cNvSpPr/>
          <p:nvPr/>
        </p:nvSpPr>
        <p:spPr>
          <a:xfrm>
            <a:off x="6355080" y="2697480"/>
            <a:ext cx="411480" cy="41148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7" name="Text 15"/>
          <p:cNvSpPr/>
          <p:nvPr/>
        </p:nvSpPr>
        <p:spPr>
          <a:xfrm>
            <a:off x="6309360" y="3200400"/>
            <a:ext cx="2103120" cy="320040"/>
          </a:xfrm>
          <a:prstGeom prst="rect">
            <a:avLst/>
          </a:prstGeom>
          <a:noFill/>
          <a:ln/>
        </p:spPr>
        <p:txBody>
          <a:bodyPr wrap="square" rtlCol="0" anchor="ctr"/>
          <a:lstStyle/>
          <a:p>
            <a:pPr marL="0" indent="0">
              <a:buNone/>
            </a:pPr>
            <a:r>
              <a:rPr lang="en-US" sz="1400" b="1" dirty="0">
                <a:solidFill>
                  <a:srgbClr val="1E293B"/>
                </a:solidFill>
                <a:latin typeface="Segoe UI" pitchFamily="34" charset="0"/>
                <a:ea typeface="Segoe UI" pitchFamily="34" charset="-122"/>
                <a:cs typeface="Segoe UI" pitchFamily="34" charset="-120"/>
              </a:rPr>
              <a:t>Outcome</a:t>
            </a:r>
            <a:endParaRPr lang="en-US" sz="1400" dirty="0"/>
          </a:p>
        </p:txBody>
      </p:sp>
      <p:sp>
        <p:nvSpPr>
          <p:cNvPr id="18" name="Text 16"/>
          <p:cNvSpPr/>
          <p:nvPr/>
        </p:nvSpPr>
        <p:spPr>
          <a:xfrm>
            <a:off x="6309360" y="3566160"/>
            <a:ext cx="2103120" cy="8229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Ready-to-use semantic model for Module 11</a:t>
            </a:r>
            <a:endParaRPr lang="en-US" sz="1100" dirty="0"/>
          </a:p>
        </p:txBody>
      </p:sp>
      <p:sp>
        <p:nvSpPr>
          <p:cNvPr id="19" name="Shape 17"/>
          <p:cNvSpPr/>
          <p:nvPr/>
        </p:nvSpPr>
        <p:spPr>
          <a:xfrm>
            <a:off x="0" y="4846320"/>
            <a:ext cx="9144000" cy="297180"/>
          </a:xfrm>
          <a:prstGeom prst="rect">
            <a:avLst/>
          </a:prstGeom>
          <a:solidFill>
            <a:srgbClr val="F1F5F9"/>
          </a:solidFill>
          <a:ln/>
        </p:spPr>
        <p:txBody>
          <a:bodyPr/>
          <a:lstStyle/>
          <a:p>
            <a:endParaRPr lang="en-IN"/>
          </a:p>
        </p:txBody>
      </p:sp>
      <p:sp>
        <p:nvSpPr>
          <p:cNvPr id="20" name="Text 1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10</a:t>
            </a:r>
            <a:endParaRPr lang="en-US" sz="800" dirty="0"/>
          </a:p>
        </p:txBody>
      </p:sp>
      <p:sp>
        <p:nvSpPr>
          <p:cNvPr id="21" name="Text 19"/>
          <p:cNvSpPr/>
          <p:nvPr/>
        </p:nvSpPr>
        <p:spPr>
          <a:xfrm>
            <a:off x="7977051"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 / 30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640080"/>
          </a:xfrm>
          <a:prstGeom prst="rect">
            <a:avLst/>
          </a:prstGeom>
          <a:noFill/>
          <a:ln/>
        </p:spPr>
        <p:txBody>
          <a:bodyPr wrap="square" rtlCol="0" anchor="ctr"/>
          <a:lstStyle/>
          <a:p>
            <a:pPr marL="0" indent="0">
              <a:buNone/>
            </a:pPr>
            <a:r>
              <a:rPr lang="en-US" sz="3200" b="1" dirty="0">
                <a:solidFill>
                  <a:srgbClr val="1E293B"/>
                </a:solidFill>
                <a:latin typeface="Segoe UI" pitchFamily="34" charset="0"/>
                <a:ea typeface="Segoe UI" pitchFamily="34" charset="-122"/>
                <a:cs typeface="Segoe UI" pitchFamily="34" charset="-120"/>
              </a:rPr>
              <a:t>Learning Objectives</a:t>
            </a:r>
            <a:endParaRPr lang="en-US" sz="3200" dirty="0"/>
          </a:p>
        </p:txBody>
      </p:sp>
      <p:sp>
        <p:nvSpPr>
          <p:cNvPr id="4" name="Shape 2"/>
          <p:cNvSpPr/>
          <p:nvPr/>
        </p:nvSpPr>
        <p:spPr>
          <a:xfrm>
            <a:off x="640080" y="1051560"/>
            <a:ext cx="7863840" cy="502920"/>
          </a:xfrm>
          <a:prstGeom prst="rect">
            <a:avLst/>
          </a:prstGeom>
          <a:solidFill>
            <a:srgbClr val="F1F5F9"/>
          </a:solidFill>
          <a:ln/>
        </p:spPr>
        <p:txBody>
          <a:bodyPr/>
          <a:lstStyle/>
          <a:p>
            <a:endParaRPr lang="en-IN"/>
          </a:p>
        </p:txBody>
      </p:sp>
      <p:sp>
        <p:nvSpPr>
          <p:cNvPr id="5" name="Text 3"/>
          <p:cNvSpPr/>
          <p:nvPr/>
        </p:nvSpPr>
        <p:spPr>
          <a:xfrm>
            <a:off x="777240" y="1124712"/>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01</a:t>
            </a:r>
            <a:endParaRPr lang="en-US" sz="1300" dirty="0"/>
          </a:p>
        </p:txBody>
      </p:sp>
      <p:sp>
        <p:nvSpPr>
          <p:cNvPr id="6" name="Text 4"/>
          <p:cNvSpPr/>
          <p:nvPr/>
        </p:nvSpPr>
        <p:spPr>
          <a:xfrm>
            <a:off x="1325880" y="1124712"/>
            <a:ext cx="694944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Explain how MCP extends beyond Dataverse to Power BI semantic models</a:t>
            </a:r>
            <a:endParaRPr lang="en-US" sz="1300" dirty="0"/>
          </a:p>
        </p:txBody>
      </p:sp>
      <p:sp>
        <p:nvSpPr>
          <p:cNvPr id="7" name="Shape 5"/>
          <p:cNvSpPr/>
          <p:nvPr/>
        </p:nvSpPr>
        <p:spPr>
          <a:xfrm>
            <a:off x="640080" y="1645920"/>
            <a:ext cx="7863840" cy="502920"/>
          </a:xfrm>
          <a:prstGeom prst="rect">
            <a:avLst/>
          </a:prstGeom>
          <a:solidFill>
            <a:srgbClr val="F1F5F9"/>
          </a:solidFill>
          <a:ln/>
        </p:spPr>
        <p:txBody>
          <a:bodyPr/>
          <a:lstStyle/>
          <a:p>
            <a:endParaRPr lang="en-IN"/>
          </a:p>
        </p:txBody>
      </p:sp>
      <p:sp>
        <p:nvSpPr>
          <p:cNvPr id="8" name="Text 6"/>
          <p:cNvSpPr/>
          <p:nvPr/>
        </p:nvSpPr>
        <p:spPr>
          <a:xfrm>
            <a:off x="777240" y="1719072"/>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02</a:t>
            </a:r>
            <a:endParaRPr lang="en-US" sz="1300" dirty="0"/>
          </a:p>
        </p:txBody>
      </p:sp>
      <p:sp>
        <p:nvSpPr>
          <p:cNvPr id="9" name="Text 7"/>
          <p:cNvSpPr/>
          <p:nvPr/>
        </p:nvSpPr>
        <p:spPr>
          <a:xfrm>
            <a:off x="1325880" y="1719072"/>
            <a:ext cx="694944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Compare the three setup paths: Claude Desktop, VS Code + Copilot, Remote MCP</a:t>
            </a:r>
            <a:endParaRPr lang="en-US" sz="1300" dirty="0"/>
          </a:p>
        </p:txBody>
      </p:sp>
      <p:sp>
        <p:nvSpPr>
          <p:cNvPr id="10" name="Shape 8"/>
          <p:cNvSpPr/>
          <p:nvPr/>
        </p:nvSpPr>
        <p:spPr>
          <a:xfrm>
            <a:off x="640080" y="2240280"/>
            <a:ext cx="7863840" cy="502920"/>
          </a:xfrm>
          <a:prstGeom prst="rect">
            <a:avLst/>
          </a:prstGeom>
          <a:solidFill>
            <a:srgbClr val="F1F5F9"/>
          </a:solidFill>
          <a:ln/>
        </p:spPr>
        <p:txBody>
          <a:bodyPr/>
          <a:lstStyle/>
          <a:p>
            <a:endParaRPr lang="en-IN"/>
          </a:p>
        </p:txBody>
      </p:sp>
      <p:sp>
        <p:nvSpPr>
          <p:cNvPr id="11" name="Text 9"/>
          <p:cNvSpPr/>
          <p:nvPr/>
        </p:nvSpPr>
        <p:spPr>
          <a:xfrm>
            <a:off x="777240" y="2313432"/>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03</a:t>
            </a:r>
            <a:endParaRPr lang="en-US" sz="1300" dirty="0"/>
          </a:p>
        </p:txBody>
      </p:sp>
      <p:sp>
        <p:nvSpPr>
          <p:cNvPr id="12" name="Text 10"/>
          <p:cNvSpPr/>
          <p:nvPr/>
        </p:nvSpPr>
        <p:spPr>
          <a:xfrm>
            <a:off x="1325880" y="2313432"/>
            <a:ext cx="694944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Install and configure Claude Desktop with the Power BI Modeling MCP Server</a:t>
            </a:r>
            <a:endParaRPr lang="en-US" sz="1300" dirty="0"/>
          </a:p>
        </p:txBody>
      </p:sp>
      <p:sp>
        <p:nvSpPr>
          <p:cNvPr id="13" name="Shape 11"/>
          <p:cNvSpPr/>
          <p:nvPr/>
        </p:nvSpPr>
        <p:spPr>
          <a:xfrm>
            <a:off x="640080" y="2834640"/>
            <a:ext cx="7863840" cy="502920"/>
          </a:xfrm>
          <a:prstGeom prst="rect">
            <a:avLst/>
          </a:prstGeom>
          <a:solidFill>
            <a:srgbClr val="F1F5F9"/>
          </a:solidFill>
          <a:ln/>
        </p:spPr>
        <p:txBody>
          <a:bodyPr/>
          <a:lstStyle/>
          <a:p>
            <a:endParaRPr lang="en-IN"/>
          </a:p>
        </p:txBody>
      </p:sp>
      <p:sp>
        <p:nvSpPr>
          <p:cNvPr id="14" name="Text 12"/>
          <p:cNvSpPr/>
          <p:nvPr/>
        </p:nvSpPr>
        <p:spPr>
          <a:xfrm>
            <a:off x="777240" y="2907792"/>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04</a:t>
            </a:r>
            <a:endParaRPr lang="en-US" sz="1300" dirty="0"/>
          </a:p>
        </p:txBody>
      </p:sp>
      <p:sp>
        <p:nvSpPr>
          <p:cNvPr id="15" name="Text 13"/>
          <p:cNvSpPr/>
          <p:nvPr/>
        </p:nvSpPr>
        <p:spPr>
          <a:xfrm>
            <a:off x="1325880" y="2907792"/>
            <a:ext cx="694944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Use Claude Desktop to inspect, query, and modify Power BI semantic models</a:t>
            </a:r>
            <a:endParaRPr lang="en-US" sz="1300" dirty="0"/>
          </a:p>
        </p:txBody>
      </p:sp>
      <p:sp>
        <p:nvSpPr>
          <p:cNvPr id="16" name="Shape 14"/>
          <p:cNvSpPr/>
          <p:nvPr/>
        </p:nvSpPr>
        <p:spPr>
          <a:xfrm>
            <a:off x="640080" y="3429000"/>
            <a:ext cx="7863840" cy="502920"/>
          </a:xfrm>
          <a:prstGeom prst="rect">
            <a:avLst/>
          </a:prstGeom>
          <a:solidFill>
            <a:srgbClr val="F1F5F9"/>
          </a:solidFill>
          <a:ln/>
        </p:spPr>
        <p:txBody>
          <a:bodyPr/>
          <a:lstStyle/>
          <a:p>
            <a:endParaRPr lang="en-IN"/>
          </a:p>
        </p:txBody>
      </p:sp>
      <p:sp>
        <p:nvSpPr>
          <p:cNvPr id="17" name="Text 15"/>
          <p:cNvSpPr/>
          <p:nvPr/>
        </p:nvSpPr>
        <p:spPr>
          <a:xfrm>
            <a:off x="777240" y="3502152"/>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05</a:t>
            </a:r>
            <a:endParaRPr lang="en-US" sz="1300" dirty="0"/>
          </a:p>
        </p:txBody>
      </p:sp>
      <p:sp>
        <p:nvSpPr>
          <p:cNvPr id="18" name="Text 16"/>
          <p:cNvSpPr/>
          <p:nvPr/>
        </p:nvSpPr>
        <p:spPr>
          <a:xfrm>
            <a:off x="1325880" y="3502152"/>
            <a:ext cx="694944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Create DAX measures conversationally for BFSI analytics (loss ratio, renewal rate)</a:t>
            </a:r>
            <a:endParaRPr lang="en-US" sz="1300" dirty="0"/>
          </a:p>
        </p:txBody>
      </p:sp>
      <p:sp>
        <p:nvSpPr>
          <p:cNvPr id="19" name="Shape 17"/>
          <p:cNvSpPr/>
          <p:nvPr/>
        </p:nvSpPr>
        <p:spPr>
          <a:xfrm>
            <a:off x="640080" y="4023360"/>
            <a:ext cx="7863840" cy="502920"/>
          </a:xfrm>
          <a:prstGeom prst="rect">
            <a:avLst/>
          </a:prstGeom>
          <a:solidFill>
            <a:srgbClr val="F1F5F9"/>
          </a:solidFill>
          <a:ln/>
        </p:spPr>
        <p:txBody>
          <a:bodyPr/>
          <a:lstStyle/>
          <a:p>
            <a:endParaRPr lang="en-IN"/>
          </a:p>
        </p:txBody>
      </p:sp>
      <p:sp>
        <p:nvSpPr>
          <p:cNvPr id="20" name="Text 18"/>
          <p:cNvSpPr/>
          <p:nvPr/>
        </p:nvSpPr>
        <p:spPr>
          <a:xfrm>
            <a:off x="777240" y="4096512"/>
            <a:ext cx="41148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06</a:t>
            </a:r>
            <a:endParaRPr lang="en-US" sz="1300" dirty="0"/>
          </a:p>
        </p:txBody>
      </p:sp>
      <p:sp>
        <p:nvSpPr>
          <p:cNvPr id="21" name="Text 19"/>
          <p:cNvSpPr/>
          <p:nvPr/>
        </p:nvSpPr>
        <p:spPr>
          <a:xfrm>
            <a:off x="1325880" y="4096512"/>
            <a:ext cx="694944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Build relationships, hierarchies, and calculated columns via natural language</a:t>
            </a:r>
            <a:endParaRPr lang="en-US" sz="1300" dirty="0"/>
          </a:p>
        </p:txBody>
      </p:sp>
      <p:sp>
        <p:nvSpPr>
          <p:cNvPr id="22" name="Shape 20"/>
          <p:cNvSpPr/>
          <p:nvPr/>
        </p:nvSpPr>
        <p:spPr>
          <a:xfrm>
            <a:off x="0" y="4846320"/>
            <a:ext cx="9144000" cy="297180"/>
          </a:xfrm>
          <a:prstGeom prst="rect">
            <a:avLst/>
          </a:prstGeom>
          <a:solidFill>
            <a:srgbClr val="F1F5F9"/>
          </a:solidFill>
          <a:ln/>
        </p:spPr>
        <p:txBody>
          <a:bodyPr/>
          <a:lstStyle/>
          <a:p>
            <a:endParaRPr lang="en-IN" dirty="0"/>
          </a:p>
        </p:txBody>
      </p:sp>
      <p:sp>
        <p:nvSpPr>
          <p:cNvPr id="23" name="Text 21"/>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10</a:t>
            </a:r>
            <a:endParaRPr lang="en-US" sz="800" dirty="0"/>
          </a:p>
        </p:txBody>
      </p:sp>
      <p:sp>
        <p:nvSpPr>
          <p:cNvPr id="24" name="Text 22"/>
          <p:cNvSpPr/>
          <p:nvPr/>
        </p:nvSpPr>
        <p:spPr>
          <a:xfrm>
            <a:off x="7955280" y="486918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3 / 30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Prerequisites</a:t>
            </a:r>
            <a:endParaRPr lang="en-US" sz="3000" dirty="0"/>
          </a:p>
        </p:txBody>
      </p:sp>
      <p:sp>
        <p:nvSpPr>
          <p:cNvPr id="4" name="Text 2"/>
          <p:cNvSpPr/>
          <p:nvPr/>
        </p:nvSpPr>
        <p:spPr>
          <a:xfrm>
            <a:off x="640080" y="777240"/>
            <a:ext cx="7863840" cy="320040"/>
          </a:xfrm>
          <a:prstGeom prst="rect">
            <a:avLst/>
          </a:prstGeom>
          <a:noFill/>
          <a:ln/>
        </p:spPr>
        <p:txBody>
          <a:bodyPr wrap="square" rtlCol="0" anchor="ctr"/>
          <a:lstStyle/>
          <a:p>
            <a:pPr marL="0" indent="0">
              <a:buNone/>
            </a:pPr>
            <a:r>
              <a:rPr lang="en-US" sz="1300" dirty="0">
                <a:solidFill>
                  <a:srgbClr val="475569"/>
                </a:solidFill>
                <a:latin typeface="Segoe UI" pitchFamily="34" charset="0"/>
                <a:ea typeface="Segoe UI" pitchFamily="34" charset="-122"/>
                <a:cs typeface="Segoe UI" pitchFamily="34" charset="-120"/>
              </a:rPr>
              <a:t>Required setup before the hands-on lab:</a:t>
            </a:r>
            <a:endParaRPr lang="en-US" sz="1300" dirty="0"/>
          </a:p>
        </p:txBody>
      </p:sp>
      <p:sp>
        <p:nvSpPr>
          <p:cNvPr id="5" name="Shape 3"/>
          <p:cNvSpPr/>
          <p:nvPr/>
        </p:nvSpPr>
        <p:spPr>
          <a:xfrm>
            <a:off x="457200" y="1143000"/>
            <a:ext cx="8229600" cy="502920"/>
          </a:xfrm>
          <a:prstGeom prst="rect">
            <a:avLst/>
          </a:prstGeom>
          <a:solidFill>
            <a:srgbClr val="F1F5F9"/>
          </a:solidFill>
          <a:ln/>
        </p:spPr>
        <p:txBody>
          <a:bodyPr/>
          <a:lstStyle/>
          <a:p>
            <a:endParaRPr lang="en-IN"/>
          </a:p>
        </p:txBody>
      </p:sp>
      <p:sp>
        <p:nvSpPr>
          <p:cNvPr id="6" name="Text 4"/>
          <p:cNvSpPr/>
          <p:nvPr/>
        </p:nvSpPr>
        <p:spPr>
          <a:xfrm>
            <a:off x="594360" y="1216152"/>
            <a:ext cx="41148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7" name="Text 5"/>
          <p:cNvSpPr/>
          <p:nvPr/>
        </p:nvSpPr>
        <p:spPr>
          <a:xfrm>
            <a:off x="1097280" y="1216152"/>
            <a:ext cx="2743200" cy="36576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Windows 10/11 Workstation</a:t>
            </a:r>
            <a:endParaRPr lang="en-US" sz="1200" dirty="0"/>
          </a:p>
        </p:txBody>
      </p:sp>
      <p:sp>
        <p:nvSpPr>
          <p:cNvPr id="8" name="Text 6"/>
          <p:cNvSpPr/>
          <p:nvPr/>
        </p:nvSpPr>
        <p:spPr>
          <a:xfrm>
            <a:off x="3931920" y="1216152"/>
            <a:ext cx="4572000" cy="3657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Power BI Desktop and Claude Desktop both require Windows</a:t>
            </a:r>
            <a:endParaRPr lang="en-US" sz="1100" dirty="0"/>
          </a:p>
        </p:txBody>
      </p:sp>
      <p:sp>
        <p:nvSpPr>
          <p:cNvPr id="9" name="Shape 7"/>
          <p:cNvSpPr/>
          <p:nvPr/>
        </p:nvSpPr>
        <p:spPr>
          <a:xfrm>
            <a:off x="457200" y="1737360"/>
            <a:ext cx="8229600" cy="502920"/>
          </a:xfrm>
          <a:prstGeom prst="rect">
            <a:avLst/>
          </a:prstGeom>
          <a:solidFill>
            <a:srgbClr val="F1F5F9"/>
          </a:solidFill>
          <a:ln/>
        </p:spPr>
        <p:txBody>
          <a:bodyPr/>
          <a:lstStyle/>
          <a:p>
            <a:endParaRPr lang="en-IN"/>
          </a:p>
        </p:txBody>
      </p:sp>
      <p:sp>
        <p:nvSpPr>
          <p:cNvPr id="10" name="Text 8"/>
          <p:cNvSpPr/>
          <p:nvPr/>
        </p:nvSpPr>
        <p:spPr>
          <a:xfrm>
            <a:off x="594360" y="1810512"/>
            <a:ext cx="41148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11" name="Text 9"/>
          <p:cNvSpPr/>
          <p:nvPr/>
        </p:nvSpPr>
        <p:spPr>
          <a:xfrm>
            <a:off x="1097280" y="1810512"/>
            <a:ext cx="2743200" cy="36576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Power BI Desktop</a:t>
            </a:r>
            <a:endParaRPr lang="en-US" sz="1200" dirty="0"/>
          </a:p>
        </p:txBody>
      </p:sp>
      <p:sp>
        <p:nvSpPr>
          <p:cNvPr id="12" name="Text 10"/>
          <p:cNvSpPr/>
          <p:nvPr/>
        </p:nvSpPr>
        <p:spPr>
          <a:xfrm>
            <a:off x="3931920" y="1810512"/>
            <a:ext cx="4572000" cy="3657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Latest version from Microsoft Store or download centre</a:t>
            </a:r>
            <a:endParaRPr lang="en-US" sz="1100" dirty="0"/>
          </a:p>
        </p:txBody>
      </p:sp>
      <p:sp>
        <p:nvSpPr>
          <p:cNvPr id="13" name="Shape 11"/>
          <p:cNvSpPr/>
          <p:nvPr/>
        </p:nvSpPr>
        <p:spPr>
          <a:xfrm>
            <a:off x="457200" y="2331720"/>
            <a:ext cx="8229600" cy="502920"/>
          </a:xfrm>
          <a:prstGeom prst="rect">
            <a:avLst/>
          </a:prstGeom>
          <a:solidFill>
            <a:srgbClr val="F1F5F9"/>
          </a:solidFill>
          <a:ln/>
        </p:spPr>
        <p:txBody>
          <a:bodyPr/>
          <a:lstStyle/>
          <a:p>
            <a:endParaRPr lang="en-IN"/>
          </a:p>
        </p:txBody>
      </p:sp>
      <p:sp>
        <p:nvSpPr>
          <p:cNvPr id="14" name="Text 12"/>
          <p:cNvSpPr/>
          <p:nvPr/>
        </p:nvSpPr>
        <p:spPr>
          <a:xfrm>
            <a:off x="594360" y="2404872"/>
            <a:ext cx="41148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15" name="Text 13"/>
          <p:cNvSpPr/>
          <p:nvPr/>
        </p:nvSpPr>
        <p:spPr>
          <a:xfrm>
            <a:off x="1097280" y="2404872"/>
            <a:ext cx="2743200" cy="36576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Claude Desktop</a:t>
            </a:r>
            <a:endParaRPr lang="en-US" sz="1200" dirty="0"/>
          </a:p>
        </p:txBody>
      </p:sp>
      <p:sp>
        <p:nvSpPr>
          <p:cNvPr id="16" name="Text 14"/>
          <p:cNvSpPr/>
          <p:nvPr/>
        </p:nvSpPr>
        <p:spPr>
          <a:xfrm>
            <a:off x="3931920" y="2404872"/>
            <a:ext cx="4572000" cy="3657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Free download from claude.ai/download (free tier sufficient)</a:t>
            </a:r>
            <a:endParaRPr lang="en-US" sz="1100" dirty="0"/>
          </a:p>
        </p:txBody>
      </p:sp>
      <p:sp>
        <p:nvSpPr>
          <p:cNvPr id="17" name="Shape 15"/>
          <p:cNvSpPr/>
          <p:nvPr/>
        </p:nvSpPr>
        <p:spPr>
          <a:xfrm>
            <a:off x="457200" y="2926080"/>
            <a:ext cx="8229600" cy="502920"/>
          </a:xfrm>
          <a:prstGeom prst="rect">
            <a:avLst/>
          </a:prstGeom>
          <a:solidFill>
            <a:srgbClr val="F1F5F9"/>
          </a:solidFill>
          <a:ln/>
        </p:spPr>
        <p:txBody>
          <a:bodyPr/>
          <a:lstStyle/>
          <a:p>
            <a:endParaRPr lang="en-IN"/>
          </a:p>
        </p:txBody>
      </p:sp>
      <p:sp>
        <p:nvSpPr>
          <p:cNvPr id="18" name="Text 16"/>
          <p:cNvSpPr/>
          <p:nvPr/>
        </p:nvSpPr>
        <p:spPr>
          <a:xfrm>
            <a:off x="594360" y="2999232"/>
            <a:ext cx="41148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19" name="Text 17"/>
          <p:cNvSpPr/>
          <p:nvPr/>
        </p:nvSpPr>
        <p:spPr>
          <a:xfrm>
            <a:off x="1097280" y="2999232"/>
            <a:ext cx="2743200" cy="36576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Node.js v18+</a:t>
            </a:r>
            <a:endParaRPr lang="en-US" sz="1200" dirty="0"/>
          </a:p>
        </p:txBody>
      </p:sp>
      <p:sp>
        <p:nvSpPr>
          <p:cNvPr id="20" name="Text 18"/>
          <p:cNvSpPr/>
          <p:nvPr/>
        </p:nvSpPr>
        <p:spPr>
          <a:xfrm>
            <a:off x="3931920" y="2999232"/>
            <a:ext cx="4572000" cy="3657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Required by the Power BI Modeling MCP Server</a:t>
            </a:r>
            <a:endParaRPr lang="en-US" sz="1100" dirty="0"/>
          </a:p>
        </p:txBody>
      </p:sp>
      <p:sp>
        <p:nvSpPr>
          <p:cNvPr id="21" name="Shape 19"/>
          <p:cNvSpPr/>
          <p:nvPr/>
        </p:nvSpPr>
        <p:spPr>
          <a:xfrm>
            <a:off x="457200" y="3520440"/>
            <a:ext cx="8229600" cy="502920"/>
          </a:xfrm>
          <a:prstGeom prst="rect">
            <a:avLst/>
          </a:prstGeom>
          <a:solidFill>
            <a:srgbClr val="F1F5F9"/>
          </a:solidFill>
          <a:ln/>
        </p:spPr>
        <p:txBody>
          <a:bodyPr/>
          <a:lstStyle/>
          <a:p>
            <a:endParaRPr lang="en-IN"/>
          </a:p>
        </p:txBody>
      </p:sp>
      <p:sp>
        <p:nvSpPr>
          <p:cNvPr id="22" name="Text 20"/>
          <p:cNvSpPr/>
          <p:nvPr/>
        </p:nvSpPr>
        <p:spPr>
          <a:xfrm>
            <a:off x="594360" y="3593592"/>
            <a:ext cx="41148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23" name="Text 21"/>
          <p:cNvSpPr/>
          <p:nvPr/>
        </p:nvSpPr>
        <p:spPr>
          <a:xfrm>
            <a:off x="1097280" y="3593592"/>
            <a:ext cx="2743200" cy="36576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Contoso Insurance .pbix</a:t>
            </a:r>
            <a:endParaRPr lang="en-US" sz="1200" dirty="0"/>
          </a:p>
        </p:txBody>
      </p:sp>
      <p:sp>
        <p:nvSpPr>
          <p:cNvPr id="24" name="Text 22"/>
          <p:cNvSpPr/>
          <p:nvPr/>
        </p:nvSpPr>
        <p:spPr>
          <a:xfrm>
            <a:off x="3931920" y="3593592"/>
            <a:ext cx="4572000" cy="3657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Starter file provided by instructor (DirectQuery or imported data)</a:t>
            </a:r>
            <a:endParaRPr lang="en-US" sz="1100" dirty="0"/>
          </a:p>
        </p:txBody>
      </p:sp>
      <p:sp>
        <p:nvSpPr>
          <p:cNvPr id="25" name="Shape 23"/>
          <p:cNvSpPr/>
          <p:nvPr/>
        </p:nvSpPr>
        <p:spPr>
          <a:xfrm>
            <a:off x="457200" y="4114800"/>
            <a:ext cx="8229600" cy="502920"/>
          </a:xfrm>
          <a:prstGeom prst="rect">
            <a:avLst/>
          </a:prstGeom>
          <a:solidFill>
            <a:srgbClr val="F1F5F9"/>
          </a:solidFill>
          <a:ln/>
        </p:spPr>
        <p:txBody>
          <a:bodyPr/>
          <a:lstStyle/>
          <a:p>
            <a:endParaRPr lang="en-IN"/>
          </a:p>
        </p:txBody>
      </p:sp>
      <p:sp>
        <p:nvSpPr>
          <p:cNvPr id="26" name="Text 24"/>
          <p:cNvSpPr/>
          <p:nvPr/>
        </p:nvSpPr>
        <p:spPr>
          <a:xfrm>
            <a:off x="594360" y="4187952"/>
            <a:ext cx="41148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27" name="Text 25"/>
          <p:cNvSpPr/>
          <p:nvPr/>
        </p:nvSpPr>
        <p:spPr>
          <a:xfrm>
            <a:off x="1097280" y="4187952"/>
            <a:ext cx="2743200" cy="365760"/>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Power BI Pro/PPU License</a:t>
            </a:r>
            <a:endParaRPr lang="en-US" sz="1200" dirty="0"/>
          </a:p>
        </p:txBody>
      </p:sp>
      <p:sp>
        <p:nvSpPr>
          <p:cNvPr id="28" name="Text 26"/>
          <p:cNvSpPr/>
          <p:nvPr/>
        </p:nvSpPr>
        <p:spPr>
          <a:xfrm>
            <a:off x="3931920" y="4187952"/>
            <a:ext cx="4572000" cy="365760"/>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For publishing to Power BI Service (trial acceptable)</a:t>
            </a:r>
            <a:endParaRPr lang="en-US" sz="1100" dirty="0"/>
          </a:p>
        </p:txBody>
      </p:sp>
      <p:sp>
        <p:nvSpPr>
          <p:cNvPr id="29" name="Shape 27"/>
          <p:cNvSpPr/>
          <p:nvPr/>
        </p:nvSpPr>
        <p:spPr>
          <a:xfrm>
            <a:off x="0" y="4846320"/>
            <a:ext cx="9144000" cy="297180"/>
          </a:xfrm>
          <a:prstGeom prst="rect">
            <a:avLst/>
          </a:prstGeom>
          <a:solidFill>
            <a:srgbClr val="F1F5F9"/>
          </a:solidFill>
          <a:ln/>
        </p:spPr>
        <p:txBody>
          <a:bodyPr/>
          <a:lstStyle/>
          <a:p>
            <a:endParaRPr lang="en-IN"/>
          </a:p>
        </p:txBody>
      </p:sp>
      <p:sp>
        <p:nvSpPr>
          <p:cNvPr id="30" name="Text 2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10</a:t>
            </a:r>
            <a:endParaRPr lang="en-US" sz="800" dirty="0"/>
          </a:p>
        </p:txBody>
      </p:sp>
      <p:sp>
        <p:nvSpPr>
          <p:cNvPr id="31" name="Text 29"/>
          <p:cNvSpPr/>
          <p:nvPr/>
        </p:nvSpPr>
        <p:spPr>
          <a:xfrm>
            <a:off x="7955280" y="486460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4 / 30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TOPIC 1</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MCP as a</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Universal Protocol</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Same Pattern, Different Data Source</a:t>
            </a:r>
            <a:endParaRPr lang="en-US" sz="1500" dirty="0"/>
          </a:p>
        </p:txBody>
      </p:sp>
      <p:sp>
        <p:nvSpPr>
          <p:cNvPr id="6" name="Text 4"/>
          <p:cNvSpPr/>
          <p:nvPr/>
        </p:nvSpPr>
        <p:spPr>
          <a:xfrm>
            <a:off x="7955280" y="4754880"/>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5 / 30</a:t>
            </a:r>
            <a:endParaRPr lang="en-US" sz="9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The Universal MCP Pattern</a:t>
            </a:r>
            <a:endParaRPr lang="en-US" sz="3000" dirty="0"/>
          </a:p>
        </p:txBody>
      </p:sp>
      <p:sp>
        <p:nvSpPr>
          <p:cNvPr id="4" name="Shape 2"/>
          <p:cNvSpPr/>
          <p:nvPr/>
        </p:nvSpPr>
        <p:spPr>
          <a:xfrm>
            <a:off x="640080" y="914400"/>
            <a:ext cx="7863840" cy="1005840"/>
          </a:xfrm>
          <a:prstGeom prst="rect">
            <a:avLst/>
          </a:prstGeom>
          <a:solidFill>
            <a:srgbClr val="F1F5F9"/>
          </a:solidFill>
          <a:ln/>
        </p:spPr>
        <p:txBody>
          <a:bodyPr/>
          <a:lstStyle/>
          <a:p>
            <a:endParaRPr lang="en-IN"/>
          </a:p>
        </p:txBody>
      </p:sp>
      <p:sp>
        <p:nvSpPr>
          <p:cNvPr id="5" name="Shape 3"/>
          <p:cNvSpPr/>
          <p:nvPr/>
        </p:nvSpPr>
        <p:spPr>
          <a:xfrm>
            <a:off x="640080" y="914400"/>
            <a:ext cx="73152" cy="1005840"/>
          </a:xfrm>
          <a:prstGeom prst="rect">
            <a:avLst/>
          </a:prstGeom>
          <a:solidFill>
            <a:srgbClr val="0891B2"/>
          </a:solidFill>
          <a:ln/>
        </p:spPr>
        <p:txBody>
          <a:bodyPr/>
          <a:lstStyle/>
          <a:p>
            <a:endParaRPr lang="en-IN"/>
          </a:p>
        </p:txBody>
      </p:sp>
      <p:sp>
        <p:nvSpPr>
          <p:cNvPr id="6" name="Text 4"/>
          <p:cNvSpPr/>
          <p:nvPr/>
        </p:nvSpPr>
        <p:spPr>
          <a:xfrm>
            <a:off x="1005840" y="1005840"/>
            <a:ext cx="7223760" cy="822960"/>
          </a:xfrm>
          <a:prstGeom prst="rect">
            <a:avLst/>
          </a:prstGeom>
          <a:noFill/>
          <a:ln/>
        </p:spPr>
        <p:txBody>
          <a:bodyPr wrap="square" rtlCol="0" anchor="ctr"/>
          <a:lstStyle/>
          <a:p>
            <a:pPr marL="0" indent="0">
              <a:buNone/>
            </a:pPr>
            <a:r>
              <a:rPr lang="en-US" sz="1400" dirty="0">
                <a:solidFill>
                  <a:srgbClr val="1E293B"/>
                </a:solidFill>
                <a:latin typeface="Segoe UI" pitchFamily="34" charset="0"/>
                <a:ea typeface="Segoe UI" pitchFamily="34" charset="-122"/>
                <a:cs typeface="Segoe UI" pitchFamily="34" charset="-120"/>
              </a:rPr>
              <a:t>MCP (Model Context Protocol) is an open standard that allows AI models to connect to data sources. The pattern is identical regardless of the data source — only the underlying translation layer changes.</a:t>
            </a:r>
            <a:endParaRPr lang="en-US" sz="1400" dirty="0"/>
          </a:p>
        </p:txBody>
      </p:sp>
      <p:sp>
        <p:nvSpPr>
          <p:cNvPr id="7" name="Text 5"/>
          <p:cNvSpPr/>
          <p:nvPr/>
        </p:nvSpPr>
        <p:spPr>
          <a:xfrm>
            <a:off x="640080" y="2103120"/>
            <a:ext cx="7315200" cy="365760"/>
          </a:xfrm>
          <a:prstGeom prst="rect">
            <a:avLst/>
          </a:prstGeom>
          <a:noFill/>
          <a:ln/>
        </p:spPr>
        <p:txBody>
          <a:bodyPr wrap="square" rtlCol="0" anchor="ctr"/>
          <a:lstStyle/>
          <a:p>
            <a:pPr marL="0" indent="0">
              <a:buNone/>
            </a:pPr>
            <a:r>
              <a:rPr lang="en-US" sz="1400" b="1" dirty="0">
                <a:solidFill>
                  <a:srgbClr val="0891B2"/>
                </a:solidFill>
                <a:latin typeface="Segoe UI" pitchFamily="34" charset="0"/>
                <a:ea typeface="Segoe UI" pitchFamily="34" charset="-122"/>
                <a:cs typeface="Segoe UI" pitchFamily="34" charset="-120"/>
              </a:rPr>
              <a:t>The Universal MCP Loop</a:t>
            </a:r>
            <a:endParaRPr lang="en-US" sz="1400" dirty="0"/>
          </a:p>
        </p:txBody>
      </p:sp>
      <p:sp>
        <p:nvSpPr>
          <p:cNvPr id="8" name="Shape 6"/>
          <p:cNvSpPr/>
          <p:nvPr/>
        </p:nvSpPr>
        <p:spPr>
          <a:xfrm>
            <a:off x="457200" y="2514600"/>
            <a:ext cx="8229600" cy="457200"/>
          </a:xfrm>
          <a:prstGeom prst="rect">
            <a:avLst/>
          </a:prstGeom>
          <a:solidFill>
            <a:srgbClr val="F1F5F9"/>
          </a:solidFill>
          <a:ln/>
        </p:spPr>
        <p:txBody>
          <a:bodyPr/>
          <a:lstStyle/>
          <a:p>
            <a:endParaRPr lang="en-IN"/>
          </a:p>
        </p:txBody>
      </p:sp>
      <p:sp>
        <p:nvSpPr>
          <p:cNvPr id="9" name="Shape 7"/>
          <p:cNvSpPr/>
          <p:nvPr/>
        </p:nvSpPr>
        <p:spPr>
          <a:xfrm>
            <a:off x="457200" y="2514600"/>
            <a:ext cx="457200" cy="457200"/>
          </a:xfrm>
          <a:prstGeom prst="rect">
            <a:avLst/>
          </a:prstGeom>
          <a:solidFill>
            <a:srgbClr val="0891B2"/>
          </a:solidFill>
          <a:ln/>
        </p:spPr>
        <p:txBody>
          <a:bodyPr/>
          <a:lstStyle/>
          <a:p>
            <a:endParaRPr lang="en-IN"/>
          </a:p>
        </p:txBody>
      </p:sp>
      <p:sp>
        <p:nvSpPr>
          <p:cNvPr id="10" name="Text 8"/>
          <p:cNvSpPr/>
          <p:nvPr/>
        </p:nvSpPr>
        <p:spPr>
          <a:xfrm>
            <a:off x="457200" y="2587752"/>
            <a:ext cx="457200" cy="310896"/>
          </a:xfrm>
          <a:prstGeom prst="rect">
            <a:avLst/>
          </a:prstGeom>
          <a:noFill/>
          <a:ln/>
        </p:spPr>
        <p:txBody>
          <a:bodyPr wrap="square"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11" name="Text 9"/>
          <p:cNvSpPr/>
          <p:nvPr/>
        </p:nvSpPr>
        <p:spPr>
          <a:xfrm>
            <a:off x="1051560" y="2587752"/>
            <a:ext cx="7498080" cy="310896"/>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AI Client sends request ("list tables", "describe schema", "run query")</a:t>
            </a:r>
            <a:endParaRPr lang="en-US" sz="1200" dirty="0"/>
          </a:p>
        </p:txBody>
      </p:sp>
      <p:sp>
        <p:nvSpPr>
          <p:cNvPr id="12" name="Shape 10"/>
          <p:cNvSpPr/>
          <p:nvPr/>
        </p:nvSpPr>
        <p:spPr>
          <a:xfrm>
            <a:off x="457200" y="3044952"/>
            <a:ext cx="8229600" cy="457200"/>
          </a:xfrm>
          <a:prstGeom prst="rect">
            <a:avLst/>
          </a:prstGeom>
          <a:solidFill>
            <a:srgbClr val="F1F5F9"/>
          </a:solidFill>
          <a:ln/>
        </p:spPr>
        <p:txBody>
          <a:bodyPr/>
          <a:lstStyle/>
          <a:p>
            <a:endParaRPr lang="en-IN"/>
          </a:p>
        </p:txBody>
      </p:sp>
      <p:sp>
        <p:nvSpPr>
          <p:cNvPr id="13" name="Shape 11"/>
          <p:cNvSpPr/>
          <p:nvPr/>
        </p:nvSpPr>
        <p:spPr>
          <a:xfrm>
            <a:off x="457200" y="3044952"/>
            <a:ext cx="457200" cy="457200"/>
          </a:xfrm>
          <a:prstGeom prst="rect">
            <a:avLst/>
          </a:prstGeom>
          <a:solidFill>
            <a:srgbClr val="0891B2"/>
          </a:solidFill>
          <a:ln/>
        </p:spPr>
        <p:txBody>
          <a:bodyPr/>
          <a:lstStyle/>
          <a:p>
            <a:endParaRPr lang="en-IN"/>
          </a:p>
        </p:txBody>
      </p:sp>
      <p:sp>
        <p:nvSpPr>
          <p:cNvPr id="14" name="Text 12"/>
          <p:cNvSpPr/>
          <p:nvPr/>
        </p:nvSpPr>
        <p:spPr>
          <a:xfrm>
            <a:off x="457200" y="3118104"/>
            <a:ext cx="457200" cy="310896"/>
          </a:xfrm>
          <a:prstGeom prst="rect">
            <a:avLst/>
          </a:prstGeom>
          <a:noFill/>
          <a:ln/>
        </p:spPr>
        <p:txBody>
          <a:bodyPr wrap="square"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5" name="Text 13"/>
          <p:cNvSpPr/>
          <p:nvPr/>
        </p:nvSpPr>
        <p:spPr>
          <a:xfrm>
            <a:off x="1051560" y="3118104"/>
            <a:ext cx="7498080" cy="310896"/>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MCP Server translates to native protocol (XMLA/TMSL, Web API, SQL)</a:t>
            </a:r>
            <a:endParaRPr lang="en-US" sz="1200" dirty="0"/>
          </a:p>
        </p:txBody>
      </p:sp>
      <p:sp>
        <p:nvSpPr>
          <p:cNvPr id="16" name="Shape 14"/>
          <p:cNvSpPr/>
          <p:nvPr/>
        </p:nvSpPr>
        <p:spPr>
          <a:xfrm>
            <a:off x="457200" y="3575304"/>
            <a:ext cx="8229600" cy="457200"/>
          </a:xfrm>
          <a:prstGeom prst="rect">
            <a:avLst/>
          </a:prstGeom>
          <a:solidFill>
            <a:srgbClr val="F1F5F9"/>
          </a:solidFill>
          <a:ln/>
        </p:spPr>
        <p:txBody>
          <a:bodyPr/>
          <a:lstStyle/>
          <a:p>
            <a:endParaRPr lang="en-IN"/>
          </a:p>
        </p:txBody>
      </p:sp>
      <p:sp>
        <p:nvSpPr>
          <p:cNvPr id="17" name="Shape 15"/>
          <p:cNvSpPr/>
          <p:nvPr/>
        </p:nvSpPr>
        <p:spPr>
          <a:xfrm>
            <a:off x="457200" y="3575304"/>
            <a:ext cx="457200" cy="457200"/>
          </a:xfrm>
          <a:prstGeom prst="rect">
            <a:avLst/>
          </a:prstGeom>
          <a:solidFill>
            <a:srgbClr val="0891B2"/>
          </a:solidFill>
          <a:ln/>
        </p:spPr>
        <p:txBody>
          <a:bodyPr/>
          <a:lstStyle/>
          <a:p>
            <a:endParaRPr lang="en-IN"/>
          </a:p>
        </p:txBody>
      </p:sp>
      <p:sp>
        <p:nvSpPr>
          <p:cNvPr id="18" name="Text 16"/>
          <p:cNvSpPr/>
          <p:nvPr/>
        </p:nvSpPr>
        <p:spPr>
          <a:xfrm>
            <a:off x="457200" y="3648456"/>
            <a:ext cx="457200" cy="310896"/>
          </a:xfrm>
          <a:prstGeom prst="rect">
            <a:avLst/>
          </a:prstGeom>
          <a:noFill/>
          <a:ln/>
        </p:spPr>
        <p:txBody>
          <a:bodyPr wrap="square"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19" name="Text 17"/>
          <p:cNvSpPr/>
          <p:nvPr/>
        </p:nvSpPr>
        <p:spPr>
          <a:xfrm>
            <a:off x="1051560" y="3648456"/>
            <a:ext cx="7498080" cy="310896"/>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Data source executes and returns result</a:t>
            </a:r>
            <a:endParaRPr lang="en-US" sz="1200" dirty="0"/>
          </a:p>
        </p:txBody>
      </p:sp>
      <p:sp>
        <p:nvSpPr>
          <p:cNvPr id="20" name="Shape 18"/>
          <p:cNvSpPr/>
          <p:nvPr/>
        </p:nvSpPr>
        <p:spPr>
          <a:xfrm>
            <a:off x="457200" y="4105656"/>
            <a:ext cx="8229600" cy="457200"/>
          </a:xfrm>
          <a:prstGeom prst="rect">
            <a:avLst/>
          </a:prstGeom>
          <a:solidFill>
            <a:srgbClr val="F1F5F9"/>
          </a:solidFill>
          <a:ln/>
        </p:spPr>
        <p:txBody>
          <a:bodyPr/>
          <a:lstStyle/>
          <a:p>
            <a:endParaRPr lang="en-IN"/>
          </a:p>
        </p:txBody>
      </p:sp>
      <p:sp>
        <p:nvSpPr>
          <p:cNvPr id="21" name="Shape 19"/>
          <p:cNvSpPr/>
          <p:nvPr/>
        </p:nvSpPr>
        <p:spPr>
          <a:xfrm>
            <a:off x="457200" y="4105656"/>
            <a:ext cx="457200" cy="457200"/>
          </a:xfrm>
          <a:prstGeom prst="rect">
            <a:avLst/>
          </a:prstGeom>
          <a:solidFill>
            <a:srgbClr val="0891B2"/>
          </a:solidFill>
          <a:ln/>
        </p:spPr>
        <p:txBody>
          <a:bodyPr/>
          <a:lstStyle/>
          <a:p>
            <a:endParaRPr lang="en-IN"/>
          </a:p>
        </p:txBody>
      </p:sp>
      <p:sp>
        <p:nvSpPr>
          <p:cNvPr id="22" name="Text 20"/>
          <p:cNvSpPr/>
          <p:nvPr/>
        </p:nvSpPr>
        <p:spPr>
          <a:xfrm>
            <a:off x="457200" y="4178808"/>
            <a:ext cx="457200" cy="310896"/>
          </a:xfrm>
          <a:prstGeom prst="rect">
            <a:avLst/>
          </a:prstGeom>
          <a:noFill/>
          <a:ln/>
        </p:spPr>
        <p:txBody>
          <a:bodyPr wrap="square"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4</a:t>
            </a:r>
            <a:endParaRPr lang="en-US" sz="1300" dirty="0"/>
          </a:p>
        </p:txBody>
      </p:sp>
      <p:sp>
        <p:nvSpPr>
          <p:cNvPr id="23" name="Text 21"/>
          <p:cNvSpPr/>
          <p:nvPr/>
        </p:nvSpPr>
        <p:spPr>
          <a:xfrm>
            <a:off x="1051560" y="4178808"/>
            <a:ext cx="7498080" cy="310896"/>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AI reasons about data and proposes next action</a:t>
            </a:r>
            <a:endParaRPr lang="en-US" sz="1200" dirty="0"/>
          </a:p>
        </p:txBody>
      </p:sp>
      <p:sp>
        <p:nvSpPr>
          <p:cNvPr id="24" name="Shape 22"/>
          <p:cNvSpPr/>
          <p:nvPr/>
        </p:nvSpPr>
        <p:spPr>
          <a:xfrm>
            <a:off x="0" y="4846320"/>
            <a:ext cx="9144000" cy="297180"/>
          </a:xfrm>
          <a:prstGeom prst="rect">
            <a:avLst/>
          </a:prstGeom>
          <a:solidFill>
            <a:srgbClr val="F1F5F9"/>
          </a:solidFill>
          <a:ln/>
        </p:spPr>
        <p:txBody>
          <a:bodyPr/>
          <a:lstStyle/>
          <a:p>
            <a:endParaRPr lang="en-IN"/>
          </a:p>
        </p:txBody>
      </p:sp>
      <p:sp>
        <p:nvSpPr>
          <p:cNvPr id="25" name="Text 2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10</a:t>
            </a:r>
            <a:endParaRPr lang="en-US" sz="800" dirty="0"/>
          </a:p>
        </p:txBody>
      </p:sp>
      <p:sp>
        <p:nvSpPr>
          <p:cNvPr id="26" name="Text 24"/>
          <p:cNvSpPr/>
          <p:nvPr/>
        </p:nvSpPr>
        <p:spPr>
          <a:xfrm>
            <a:off x="7955280" y="4856915"/>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6 / 30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Dataverse MCP vs Power BI MCP</a:t>
            </a:r>
            <a:endParaRPr lang="en-US" sz="2800" dirty="0"/>
          </a:p>
        </p:txBody>
      </p:sp>
      <p:sp>
        <p:nvSpPr>
          <p:cNvPr id="4" name="Shape 2"/>
          <p:cNvSpPr/>
          <p:nvPr/>
        </p:nvSpPr>
        <p:spPr>
          <a:xfrm>
            <a:off x="457200" y="914400"/>
            <a:ext cx="4023360" cy="3474720"/>
          </a:xfrm>
          <a:prstGeom prst="rect">
            <a:avLst/>
          </a:prstGeom>
          <a:solidFill>
            <a:srgbClr val="F1F5F9"/>
          </a:solidFill>
          <a:ln/>
        </p:spPr>
        <p:txBody>
          <a:bodyPr/>
          <a:lstStyle/>
          <a:p>
            <a:endParaRPr lang="en-IN"/>
          </a:p>
        </p:txBody>
      </p:sp>
      <p:sp>
        <p:nvSpPr>
          <p:cNvPr id="5" name="Shape 3"/>
          <p:cNvSpPr/>
          <p:nvPr/>
        </p:nvSpPr>
        <p:spPr>
          <a:xfrm>
            <a:off x="457200" y="914400"/>
            <a:ext cx="4023360" cy="457200"/>
          </a:xfrm>
          <a:prstGeom prst="rect">
            <a:avLst/>
          </a:prstGeom>
          <a:solidFill>
            <a:srgbClr val="4F46E5"/>
          </a:solidFill>
          <a:ln/>
        </p:spPr>
        <p:txBody>
          <a:bodyPr/>
          <a:lstStyle/>
          <a:p>
            <a:endParaRPr lang="en-IN"/>
          </a:p>
        </p:txBody>
      </p:sp>
      <p:sp>
        <p:nvSpPr>
          <p:cNvPr id="6" name="Text 4"/>
          <p:cNvSpPr/>
          <p:nvPr/>
        </p:nvSpPr>
        <p:spPr>
          <a:xfrm>
            <a:off x="640080" y="960120"/>
            <a:ext cx="3657600" cy="365760"/>
          </a:xfrm>
          <a:prstGeom prst="rect">
            <a:avLst/>
          </a:prstGeom>
          <a:noFill/>
          <a:ln/>
        </p:spPr>
        <p:txBody>
          <a:bodyPr wrap="square"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 Dataverse MCP (Modules 04–09)</a:t>
            </a:r>
            <a:endParaRPr lang="en-US" sz="1100" dirty="0"/>
          </a:p>
        </p:txBody>
      </p:sp>
      <p:sp>
        <p:nvSpPr>
          <p:cNvPr id="7" name="Text 5"/>
          <p:cNvSpPr/>
          <p:nvPr/>
        </p:nvSpPr>
        <p:spPr>
          <a:xfrm>
            <a:off x="640080" y="1463040"/>
            <a:ext cx="3657600" cy="27432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Operations:</a:t>
            </a:r>
            <a:endParaRPr lang="en-US" sz="1100" dirty="0"/>
          </a:p>
        </p:txBody>
      </p:sp>
      <p:sp>
        <p:nvSpPr>
          <p:cNvPr id="8" name="Text 6"/>
          <p:cNvSpPr/>
          <p:nvPr/>
        </p:nvSpPr>
        <p:spPr>
          <a:xfrm>
            <a:off x="640080" y="1737360"/>
            <a:ext cx="3657600" cy="237744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  List tables</a:t>
            </a:r>
            <a:endParaRPr lang="en-US" sz="1050" dirty="0"/>
          </a:p>
          <a:p>
            <a:pPr marL="0" indent="0">
              <a:buNone/>
            </a:pPr>
            <a:r>
              <a:rPr lang="en-US" sz="1050" dirty="0">
                <a:solidFill>
                  <a:srgbClr val="475569"/>
                </a:solidFill>
                <a:latin typeface="Segoe UI" pitchFamily="34" charset="0"/>
                <a:ea typeface="Segoe UI" pitchFamily="34" charset="-122"/>
                <a:cs typeface="Segoe UI" pitchFamily="34" charset="-120"/>
              </a:rPr>
              <a:t>•  Describe table</a:t>
            </a:r>
            <a:endParaRPr lang="en-US" sz="1050" dirty="0"/>
          </a:p>
          <a:p>
            <a:pPr marL="0" indent="0">
              <a:buNone/>
            </a:pPr>
            <a:r>
              <a:rPr lang="en-US" sz="1050" dirty="0">
                <a:solidFill>
                  <a:srgbClr val="475569"/>
                </a:solidFill>
                <a:latin typeface="Segoe UI" pitchFamily="34" charset="0"/>
                <a:ea typeface="Segoe UI" pitchFamily="34" charset="-122"/>
                <a:cs typeface="Segoe UI" pitchFamily="34" charset="-120"/>
              </a:rPr>
              <a:t>•  Query records</a:t>
            </a:r>
            <a:endParaRPr lang="en-US" sz="1050" dirty="0"/>
          </a:p>
          <a:p>
            <a:pPr marL="0" indent="0">
              <a:buNone/>
            </a:pPr>
            <a:r>
              <a:rPr lang="en-US" sz="1050" dirty="0">
                <a:solidFill>
                  <a:srgbClr val="475569"/>
                </a:solidFill>
                <a:latin typeface="Segoe UI" pitchFamily="34" charset="0"/>
                <a:ea typeface="Segoe UI" pitchFamily="34" charset="-122"/>
                <a:cs typeface="Segoe UI" pitchFamily="34" charset="-120"/>
              </a:rPr>
              <a:t>•  Create/Update/Delete</a:t>
            </a:r>
            <a:endParaRPr lang="en-US" sz="1050" dirty="0"/>
          </a:p>
          <a:p>
            <a:pPr marL="0" indent="0">
              <a:buNone/>
            </a:pPr>
            <a:r>
              <a:rPr lang="en-US" sz="1050" dirty="0">
                <a:solidFill>
                  <a:srgbClr val="475569"/>
                </a:solidFill>
                <a:latin typeface="Segoe UI" pitchFamily="34" charset="0"/>
                <a:ea typeface="Segoe UI" pitchFamily="34" charset="-122"/>
                <a:cs typeface="Segoe UI" pitchFamily="34" charset="-120"/>
              </a:rPr>
              <a:t>•  Run action</a:t>
            </a:r>
            <a:endParaRPr lang="en-US" sz="1050" dirty="0"/>
          </a:p>
          <a:p>
            <a:pPr marL="0" indent="0">
              <a:buNone/>
            </a:pPr>
            <a:endParaRPr lang="en-US" sz="1050" dirty="0"/>
          </a:p>
          <a:p>
            <a:pPr marL="0" indent="0">
              <a:buNone/>
            </a:pPr>
            <a:r>
              <a:rPr lang="en-US" sz="1050" dirty="0">
                <a:solidFill>
                  <a:srgbClr val="475569"/>
                </a:solidFill>
                <a:latin typeface="Segoe UI" pitchFamily="34" charset="0"/>
                <a:ea typeface="Segoe UI" pitchFamily="34" charset="-122"/>
                <a:cs typeface="Segoe UI" pitchFamily="34" charset="-120"/>
              </a:rPr>
              <a:t>Protocol: Web API</a:t>
            </a:r>
            <a:endParaRPr lang="en-US" sz="1050" dirty="0"/>
          </a:p>
          <a:p>
            <a:pPr marL="0" indent="0">
              <a:buNone/>
            </a:pPr>
            <a:r>
              <a:rPr lang="en-US" sz="1050" dirty="0">
                <a:solidFill>
                  <a:srgbClr val="475569"/>
                </a:solidFill>
                <a:latin typeface="Segoe UI" pitchFamily="34" charset="0"/>
                <a:ea typeface="Segoe UI" pitchFamily="34" charset="-122"/>
                <a:cs typeface="Segoe UI" pitchFamily="34" charset="-120"/>
              </a:rPr>
              <a:t>Purpose: CRUD operations on business data</a:t>
            </a:r>
            <a:endParaRPr lang="en-US" sz="1050" dirty="0"/>
          </a:p>
        </p:txBody>
      </p:sp>
      <p:sp>
        <p:nvSpPr>
          <p:cNvPr id="9" name="Shape 7"/>
          <p:cNvSpPr/>
          <p:nvPr/>
        </p:nvSpPr>
        <p:spPr>
          <a:xfrm>
            <a:off x="4663440" y="914400"/>
            <a:ext cx="4023360" cy="3474720"/>
          </a:xfrm>
          <a:prstGeom prst="rect">
            <a:avLst/>
          </a:prstGeom>
          <a:solidFill>
            <a:srgbClr val="F1F5F9"/>
          </a:solidFill>
          <a:ln/>
        </p:spPr>
        <p:txBody>
          <a:bodyPr/>
          <a:lstStyle/>
          <a:p>
            <a:endParaRPr lang="en-IN"/>
          </a:p>
        </p:txBody>
      </p:sp>
      <p:sp>
        <p:nvSpPr>
          <p:cNvPr id="10" name="Shape 8"/>
          <p:cNvSpPr/>
          <p:nvPr/>
        </p:nvSpPr>
        <p:spPr>
          <a:xfrm>
            <a:off x="4663440" y="914400"/>
            <a:ext cx="4023360" cy="457200"/>
          </a:xfrm>
          <a:prstGeom prst="rect">
            <a:avLst/>
          </a:prstGeom>
          <a:solidFill>
            <a:srgbClr val="7C3AED"/>
          </a:solidFill>
          <a:ln/>
        </p:spPr>
        <p:txBody>
          <a:bodyPr/>
          <a:lstStyle/>
          <a:p>
            <a:endParaRPr lang="en-IN"/>
          </a:p>
        </p:txBody>
      </p:sp>
      <p:sp>
        <p:nvSpPr>
          <p:cNvPr id="11" name="Text 9"/>
          <p:cNvSpPr/>
          <p:nvPr/>
        </p:nvSpPr>
        <p:spPr>
          <a:xfrm>
            <a:off x="4846320" y="960120"/>
            <a:ext cx="3657600" cy="365760"/>
          </a:xfrm>
          <a:prstGeom prst="rect">
            <a:avLst/>
          </a:prstGeom>
          <a:noFill/>
          <a:ln/>
        </p:spPr>
        <p:txBody>
          <a:bodyPr wrap="square" rtlCol="0" anchor="ctr"/>
          <a:lstStyle/>
          <a:p>
            <a:pPr marL="0" indent="0">
              <a:buNone/>
            </a:pPr>
            <a:r>
              <a:rPr lang="en-US" sz="1100" b="1" dirty="0">
                <a:solidFill>
                  <a:srgbClr val="FFFFFF"/>
                </a:solidFill>
                <a:latin typeface="Segoe UI" pitchFamily="34" charset="0"/>
                <a:ea typeface="Segoe UI" pitchFamily="34" charset="-122"/>
                <a:cs typeface="Segoe UI" pitchFamily="34" charset="-120"/>
              </a:rPr>
              <a:t>📈 Power BI MCP (Module 10)</a:t>
            </a:r>
            <a:endParaRPr lang="en-US" sz="1100" dirty="0"/>
          </a:p>
        </p:txBody>
      </p:sp>
      <p:sp>
        <p:nvSpPr>
          <p:cNvPr id="12" name="Text 10"/>
          <p:cNvSpPr/>
          <p:nvPr/>
        </p:nvSpPr>
        <p:spPr>
          <a:xfrm>
            <a:off x="4846320" y="1463040"/>
            <a:ext cx="3657600" cy="27432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Operations:</a:t>
            </a:r>
            <a:endParaRPr lang="en-US" sz="1100" dirty="0"/>
          </a:p>
        </p:txBody>
      </p:sp>
      <p:sp>
        <p:nvSpPr>
          <p:cNvPr id="13" name="Text 11"/>
          <p:cNvSpPr/>
          <p:nvPr/>
        </p:nvSpPr>
        <p:spPr>
          <a:xfrm>
            <a:off x="4846320" y="1737360"/>
            <a:ext cx="3657600" cy="237744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  List tables / Describe schema</a:t>
            </a:r>
            <a:endParaRPr lang="en-US" sz="1050" dirty="0"/>
          </a:p>
          <a:p>
            <a:pPr marL="0" indent="0">
              <a:buNone/>
            </a:pPr>
            <a:r>
              <a:rPr lang="en-US" sz="1050" dirty="0">
                <a:solidFill>
                  <a:srgbClr val="475569"/>
                </a:solidFill>
                <a:latin typeface="Segoe UI" pitchFamily="34" charset="0"/>
                <a:ea typeface="Segoe UI" pitchFamily="34" charset="-122"/>
                <a:cs typeface="Segoe UI" pitchFamily="34" charset="-120"/>
              </a:rPr>
              <a:t>•  Preview data / Column statistics</a:t>
            </a:r>
            <a:endParaRPr lang="en-US" sz="1050" dirty="0"/>
          </a:p>
          <a:p>
            <a:pPr marL="0" indent="0">
              <a:buNone/>
            </a:pPr>
            <a:r>
              <a:rPr lang="en-US" sz="1050" dirty="0">
                <a:solidFill>
                  <a:srgbClr val="475569"/>
                </a:solidFill>
                <a:latin typeface="Segoe UI" pitchFamily="34" charset="0"/>
                <a:ea typeface="Segoe UI" pitchFamily="34" charset="-122"/>
                <a:cs typeface="Segoe UI" pitchFamily="34" charset="-120"/>
              </a:rPr>
              <a:t>•  Create measures &amp; columns</a:t>
            </a:r>
            <a:endParaRPr lang="en-US" sz="1050" dirty="0"/>
          </a:p>
          <a:p>
            <a:pPr marL="0" indent="0">
              <a:buNone/>
            </a:pPr>
            <a:r>
              <a:rPr lang="en-US" sz="1050" dirty="0">
                <a:solidFill>
                  <a:srgbClr val="475569"/>
                </a:solidFill>
                <a:latin typeface="Segoe UI" pitchFamily="34" charset="0"/>
                <a:ea typeface="Segoe UI" pitchFamily="34" charset="-122"/>
                <a:cs typeface="Segoe UI" pitchFamily="34" charset="-120"/>
              </a:rPr>
              <a:t>•  Define relationships</a:t>
            </a:r>
            <a:endParaRPr lang="en-US" sz="1050" dirty="0"/>
          </a:p>
          <a:p>
            <a:pPr marL="0" indent="0">
              <a:buNone/>
            </a:pPr>
            <a:r>
              <a:rPr lang="en-US" sz="1050" dirty="0">
                <a:solidFill>
                  <a:srgbClr val="475569"/>
                </a:solidFill>
                <a:latin typeface="Segoe UI" pitchFamily="34" charset="0"/>
                <a:ea typeface="Segoe UI" pitchFamily="34" charset="-122"/>
                <a:cs typeface="Segoe UI" pitchFamily="34" charset="-120"/>
              </a:rPr>
              <a:t>•  Run DAX queries</a:t>
            </a:r>
            <a:endParaRPr lang="en-US" sz="1050" dirty="0"/>
          </a:p>
          <a:p>
            <a:pPr marL="0" indent="0">
              <a:buNone/>
            </a:pPr>
            <a:endParaRPr lang="en-US" sz="1050" dirty="0"/>
          </a:p>
          <a:p>
            <a:pPr marL="0" indent="0">
              <a:buNone/>
            </a:pPr>
            <a:r>
              <a:rPr lang="en-US" sz="1050" dirty="0">
                <a:solidFill>
                  <a:srgbClr val="475569"/>
                </a:solidFill>
                <a:latin typeface="Segoe UI" pitchFamily="34" charset="0"/>
                <a:ea typeface="Segoe UI" pitchFamily="34" charset="-122"/>
                <a:cs typeface="Segoe UI" pitchFamily="34" charset="-120"/>
              </a:rPr>
              <a:t>Protocol: XMLA / TMSL</a:t>
            </a:r>
            <a:endParaRPr lang="en-US" sz="1050" dirty="0"/>
          </a:p>
          <a:p>
            <a:pPr marL="0" indent="0">
              <a:buNone/>
            </a:pPr>
            <a:r>
              <a:rPr lang="en-US" sz="1050" dirty="0">
                <a:solidFill>
                  <a:srgbClr val="475569"/>
                </a:solidFill>
                <a:latin typeface="Segoe UI" pitchFamily="34" charset="0"/>
                <a:ea typeface="Segoe UI" pitchFamily="34" charset="-122"/>
                <a:cs typeface="Segoe UI" pitchFamily="34" charset="-120"/>
              </a:rPr>
              <a:t>Purpose: Model development &amp; analysis</a:t>
            </a:r>
            <a:endParaRPr lang="en-US" sz="105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10</a:t>
            </a:r>
            <a:endParaRPr lang="en-US" sz="800" dirty="0"/>
          </a:p>
        </p:txBody>
      </p:sp>
      <p:sp>
        <p:nvSpPr>
          <p:cNvPr id="16" name="Text 14"/>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7 / 30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TOPIC 2</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Power BI MCP Server</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Architecture</a:t>
            </a:r>
            <a:endParaRPr lang="en-US" sz="3800" dirty="0"/>
          </a:p>
        </p:txBody>
      </p:sp>
      <p:sp>
        <p:nvSpPr>
          <p:cNvPr id="5" name="Text 3"/>
          <p:cNvSpPr/>
          <p:nvPr/>
        </p:nvSpPr>
        <p:spPr>
          <a:xfrm>
            <a:off x="731520" y="320040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How Claude Desktop Connects to Power BI Desktop</a:t>
            </a:r>
            <a:endParaRPr lang="en-US" sz="1500" dirty="0"/>
          </a:p>
        </p:txBody>
      </p:sp>
      <p:sp>
        <p:nvSpPr>
          <p:cNvPr id="6" name="Text 4"/>
          <p:cNvSpPr/>
          <p:nvPr/>
        </p:nvSpPr>
        <p:spPr>
          <a:xfrm>
            <a:off x="7955280" y="4754880"/>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8 / 30</a:t>
            </a:r>
            <a:endParaRPr lang="en-US" sz="900"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Power BI MCP Server Architecture</a:t>
            </a:r>
            <a:endParaRPr lang="en-US" sz="2800" dirty="0"/>
          </a:p>
        </p:txBody>
      </p:sp>
      <p:sp>
        <p:nvSpPr>
          <p:cNvPr id="4" name="Shape 2"/>
          <p:cNvSpPr/>
          <p:nvPr/>
        </p:nvSpPr>
        <p:spPr>
          <a:xfrm>
            <a:off x="457200" y="1005840"/>
            <a:ext cx="1828800" cy="1280160"/>
          </a:xfrm>
          <a:prstGeom prst="rect">
            <a:avLst/>
          </a:prstGeom>
          <a:solidFill>
            <a:srgbClr val="EDE9FE"/>
          </a:solidFill>
          <a:ln/>
        </p:spPr>
        <p:txBody>
          <a:bodyPr/>
          <a:lstStyle/>
          <a:p>
            <a:endParaRPr lang="en-IN"/>
          </a:p>
        </p:txBody>
      </p:sp>
      <p:sp>
        <p:nvSpPr>
          <p:cNvPr id="5" name="Text 3"/>
          <p:cNvSpPr/>
          <p:nvPr/>
        </p:nvSpPr>
        <p:spPr>
          <a:xfrm>
            <a:off x="457200" y="1097280"/>
            <a:ext cx="1828800" cy="4572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6" name="Text 4"/>
          <p:cNvSpPr/>
          <p:nvPr/>
        </p:nvSpPr>
        <p:spPr>
          <a:xfrm>
            <a:off x="457200" y="1554480"/>
            <a:ext cx="1828800" cy="640080"/>
          </a:xfrm>
          <a:prstGeom prst="rect">
            <a:avLst/>
          </a:prstGeom>
          <a:noFill/>
          <a:ln/>
        </p:spPr>
        <p:txBody>
          <a:bodyPr wrap="square" rtlCol="0" anchor="ctr"/>
          <a:lstStyle/>
          <a:p>
            <a:pPr marL="0" indent="0" algn="ctr">
              <a:buNone/>
            </a:pPr>
            <a:r>
              <a:rPr lang="en-US" sz="1200" b="1" dirty="0">
                <a:solidFill>
                  <a:srgbClr val="7C3AED"/>
                </a:solidFill>
                <a:latin typeface="Segoe UI" pitchFamily="34" charset="0"/>
                <a:ea typeface="Segoe UI" pitchFamily="34" charset="-122"/>
                <a:cs typeface="Segoe UI" pitchFamily="34" charset="-120"/>
              </a:rPr>
              <a:t>Claude</a:t>
            </a:r>
            <a:endParaRPr lang="en-US" sz="1200" dirty="0"/>
          </a:p>
          <a:p>
            <a:pPr marL="0" indent="0" algn="ctr">
              <a:buNone/>
            </a:pPr>
            <a:r>
              <a:rPr lang="en-US" sz="1200" b="1" dirty="0">
                <a:solidFill>
                  <a:srgbClr val="7C3AED"/>
                </a:solidFill>
                <a:latin typeface="Segoe UI" pitchFamily="34" charset="0"/>
                <a:ea typeface="Segoe UI" pitchFamily="34" charset="-122"/>
                <a:cs typeface="Segoe UI" pitchFamily="34" charset="-120"/>
              </a:rPr>
              <a:t>Desktop</a:t>
            </a:r>
            <a:endParaRPr lang="en-US" sz="1200" dirty="0"/>
          </a:p>
        </p:txBody>
      </p:sp>
      <p:sp>
        <p:nvSpPr>
          <p:cNvPr id="7" name="Text 5"/>
          <p:cNvSpPr/>
          <p:nvPr/>
        </p:nvSpPr>
        <p:spPr>
          <a:xfrm>
            <a:off x="2377440" y="1417320"/>
            <a:ext cx="548640" cy="457200"/>
          </a:xfrm>
          <a:prstGeom prst="rect">
            <a:avLst/>
          </a:prstGeom>
          <a:noFill/>
          <a:ln/>
        </p:spPr>
        <p:txBody>
          <a:bodyPr wrap="square" rtlCol="0" anchor="ctr"/>
          <a:lstStyle/>
          <a:p>
            <a:pPr marL="0" indent="0">
              <a:buNone/>
            </a:pPr>
            <a:r>
              <a:rPr lang="en-US" sz="2800" dirty="0">
                <a:solidFill>
                  <a:srgbClr val="0891B2"/>
                </a:solidFill>
                <a:latin typeface="Segoe UI" pitchFamily="34" charset="0"/>
                <a:ea typeface="Segoe UI" pitchFamily="34" charset="-122"/>
                <a:cs typeface="Segoe UI" pitchFamily="34" charset="-120"/>
              </a:rPr>
              <a:t>→</a:t>
            </a:r>
            <a:endParaRPr lang="en-US" sz="2800" dirty="0"/>
          </a:p>
        </p:txBody>
      </p:sp>
      <p:sp>
        <p:nvSpPr>
          <p:cNvPr id="8" name="Text 6"/>
          <p:cNvSpPr/>
          <p:nvPr/>
        </p:nvSpPr>
        <p:spPr>
          <a:xfrm>
            <a:off x="2286000" y="1828800"/>
            <a:ext cx="731520" cy="274320"/>
          </a:xfrm>
          <a:prstGeom prst="rect">
            <a:avLst/>
          </a:prstGeom>
          <a:noFill/>
          <a:ln/>
        </p:spPr>
        <p:txBody>
          <a:bodyPr wrap="square" rtlCol="0" anchor="ctr"/>
          <a:lstStyle/>
          <a:p>
            <a:pPr marL="0" indent="0" algn="ctr">
              <a:buNone/>
            </a:pPr>
            <a:r>
              <a:rPr lang="en-US" sz="900" dirty="0">
                <a:solidFill>
                  <a:srgbClr val="64748B"/>
                </a:solidFill>
                <a:latin typeface="Segoe UI" pitchFamily="34" charset="0"/>
                <a:ea typeface="Segoe UI" pitchFamily="34" charset="-122"/>
                <a:cs typeface="Segoe UI" pitchFamily="34" charset="-120"/>
              </a:rPr>
              <a:t>MCP</a:t>
            </a:r>
            <a:endParaRPr lang="en-US" sz="900" dirty="0"/>
          </a:p>
        </p:txBody>
      </p:sp>
      <p:sp>
        <p:nvSpPr>
          <p:cNvPr id="9" name="Shape 7"/>
          <p:cNvSpPr/>
          <p:nvPr/>
        </p:nvSpPr>
        <p:spPr>
          <a:xfrm>
            <a:off x="3017520" y="1005840"/>
            <a:ext cx="2194560" cy="1280160"/>
          </a:xfrm>
          <a:prstGeom prst="rect">
            <a:avLst/>
          </a:prstGeom>
          <a:solidFill>
            <a:srgbClr val="F1F5F9"/>
          </a:solidFill>
          <a:ln/>
        </p:spPr>
        <p:txBody>
          <a:bodyPr/>
          <a:lstStyle/>
          <a:p>
            <a:endParaRPr lang="en-IN"/>
          </a:p>
        </p:txBody>
      </p:sp>
      <p:sp>
        <p:nvSpPr>
          <p:cNvPr id="10" name="Text 8"/>
          <p:cNvSpPr/>
          <p:nvPr/>
        </p:nvSpPr>
        <p:spPr>
          <a:xfrm>
            <a:off x="3017520" y="1097280"/>
            <a:ext cx="2194560" cy="4572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1" name="Text 9"/>
          <p:cNvSpPr/>
          <p:nvPr/>
        </p:nvSpPr>
        <p:spPr>
          <a:xfrm>
            <a:off x="3017520" y="1554480"/>
            <a:ext cx="2194560" cy="640080"/>
          </a:xfrm>
          <a:prstGeom prst="rect">
            <a:avLst/>
          </a:prstGeom>
          <a:noFill/>
          <a:ln/>
        </p:spPr>
        <p:txBody>
          <a:bodyPr wrap="square" rtlCol="0" anchor="ctr"/>
          <a:lstStyle/>
          <a:p>
            <a:pPr marL="0" indent="0" algn="ctr">
              <a:buNone/>
            </a:pPr>
            <a:r>
              <a:rPr lang="en-US" sz="1100" b="1" dirty="0">
                <a:solidFill>
                  <a:srgbClr val="0891B2"/>
                </a:solidFill>
                <a:latin typeface="Segoe UI" pitchFamily="34" charset="0"/>
                <a:ea typeface="Segoe UI" pitchFamily="34" charset="-122"/>
                <a:cs typeface="Segoe UI" pitchFamily="34" charset="-120"/>
              </a:rPr>
              <a:t>MCP Power BI</a:t>
            </a:r>
            <a:endParaRPr lang="en-US" sz="1100" dirty="0"/>
          </a:p>
          <a:p>
            <a:pPr marL="0" indent="0" algn="ctr">
              <a:buNone/>
            </a:pPr>
            <a:r>
              <a:rPr lang="en-US" sz="1100" b="1" dirty="0">
                <a:solidFill>
                  <a:srgbClr val="0891B2"/>
                </a:solidFill>
                <a:latin typeface="Segoe UI" pitchFamily="34" charset="0"/>
                <a:ea typeface="Segoe UI" pitchFamily="34" charset="-122"/>
                <a:cs typeface="Segoe UI" pitchFamily="34" charset="-120"/>
              </a:rPr>
              <a:t>Server (Node.js)</a:t>
            </a:r>
            <a:endParaRPr lang="en-US" sz="1100" dirty="0"/>
          </a:p>
        </p:txBody>
      </p:sp>
      <p:sp>
        <p:nvSpPr>
          <p:cNvPr id="12" name="Text 10"/>
          <p:cNvSpPr/>
          <p:nvPr/>
        </p:nvSpPr>
        <p:spPr>
          <a:xfrm>
            <a:off x="5349240" y="1417320"/>
            <a:ext cx="548640" cy="457200"/>
          </a:xfrm>
          <a:prstGeom prst="rect">
            <a:avLst/>
          </a:prstGeom>
          <a:noFill/>
          <a:ln/>
        </p:spPr>
        <p:txBody>
          <a:bodyPr wrap="square" rtlCol="0" anchor="ctr"/>
          <a:lstStyle/>
          <a:p>
            <a:pPr marL="0" indent="0">
              <a:buNone/>
            </a:pPr>
            <a:r>
              <a:rPr lang="en-US" sz="2800" dirty="0">
                <a:solidFill>
                  <a:srgbClr val="0891B2"/>
                </a:solidFill>
                <a:latin typeface="Segoe UI" pitchFamily="34" charset="0"/>
                <a:ea typeface="Segoe UI" pitchFamily="34" charset="-122"/>
                <a:cs typeface="Segoe UI" pitchFamily="34" charset="-120"/>
              </a:rPr>
              <a:t>→</a:t>
            </a:r>
            <a:endParaRPr lang="en-US" sz="2800" dirty="0"/>
          </a:p>
        </p:txBody>
      </p:sp>
      <p:sp>
        <p:nvSpPr>
          <p:cNvPr id="13" name="Text 11"/>
          <p:cNvSpPr/>
          <p:nvPr/>
        </p:nvSpPr>
        <p:spPr>
          <a:xfrm>
            <a:off x="5212080" y="1828800"/>
            <a:ext cx="822960" cy="274320"/>
          </a:xfrm>
          <a:prstGeom prst="rect">
            <a:avLst/>
          </a:prstGeom>
          <a:noFill/>
          <a:ln/>
        </p:spPr>
        <p:txBody>
          <a:bodyPr wrap="square" rtlCol="0" anchor="ctr"/>
          <a:lstStyle/>
          <a:p>
            <a:pPr marL="0" indent="0" algn="ctr">
              <a:buNone/>
            </a:pPr>
            <a:r>
              <a:rPr lang="en-US" sz="900" dirty="0">
                <a:solidFill>
                  <a:srgbClr val="64748B"/>
                </a:solidFill>
                <a:latin typeface="Segoe UI" pitchFamily="34" charset="0"/>
                <a:ea typeface="Segoe UI" pitchFamily="34" charset="-122"/>
                <a:cs typeface="Segoe UI" pitchFamily="34" charset="-120"/>
              </a:rPr>
              <a:t>XMLA</a:t>
            </a:r>
            <a:endParaRPr lang="en-US" sz="900" dirty="0"/>
          </a:p>
        </p:txBody>
      </p:sp>
      <p:sp>
        <p:nvSpPr>
          <p:cNvPr id="14" name="Shape 12"/>
          <p:cNvSpPr/>
          <p:nvPr/>
        </p:nvSpPr>
        <p:spPr>
          <a:xfrm>
            <a:off x="6035040" y="1005840"/>
            <a:ext cx="2651760" cy="1280160"/>
          </a:xfrm>
          <a:prstGeom prst="rect">
            <a:avLst/>
          </a:prstGeom>
          <a:solidFill>
            <a:srgbClr val="FEF3C7"/>
          </a:solidFill>
          <a:ln/>
        </p:spPr>
        <p:txBody>
          <a:bodyPr/>
          <a:lstStyle/>
          <a:p>
            <a:endParaRPr lang="en-IN"/>
          </a:p>
        </p:txBody>
      </p:sp>
      <p:sp>
        <p:nvSpPr>
          <p:cNvPr id="15" name="Text 13"/>
          <p:cNvSpPr/>
          <p:nvPr/>
        </p:nvSpPr>
        <p:spPr>
          <a:xfrm>
            <a:off x="6035040" y="1097280"/>
            <a:ext cx="2651760" cy="4572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6" name="Text 14"/>
          <p:cNvSpPr/>
          <p:nvPr/>
        </p:nvSpPr>
        <p:spPr>
          <a:xfrm>
            <a:off x="6035040" y="1554480"/>
            <a:ext cx="2651760" cy="640080"/>
          </a:xfrm>
          <a:prstGeom prst="rect">
            <a:avLst/>
          </a:prstGeom>
          <a:noFill/>
          <a:ln/>
        </p:spPr>
        <p:txBody>
          <a:bodyPr wrap="square" rtlCol="0" anchor="ctr"/>
          <a:lstStyle/>
          <a:p>
            <a:pPr marL="0" indent="0" algn="ctr">
              <a:buNone/>
            </a:pPr>
            <a:r>
              <a:rPr lang="en-US" sz="1100" b="1" dirty="0">
                <a:solidFill>
                  <a:srgbClr val="F59E0B"/>
                </a:solidFill>
                <a:latin typeface="Segoe UI" pitchFamily="34" charset="0"/>
                <a:ea typeface="Segoe UI" pitchFamily="34" charset="-122"/>
                <a:cs typeface="Segoe UI" pitchFamily="34" charset="-120"/>
              </a:rPr>
              <a:t>Power BI Desktop</a:t>
            </a:r>
            <a:endParaRPr lang="en-US" sz="1100" dirty="0"/>
          </a:p>
          <a:p>
            <a:pPr marL="0" indent="0" algn="ctr">
              <a:buNone/>
            </a:pPr>
            <a:r>
              <a:rPr lang="en-US" sz="1100" b="1" dirty="0">
                <a:solidFill>
                  <a:srgbClr val="F59E0B"/>
                </a:solidFill>
                <a:latin typeface="Segoe UI" pitchFamily="34" charset="0"/>
                <a:ea typeface="Segoe UI" pitchFamily="34" charset="-122"/>
                <a:cs typeface="Segoe UI" pitchFamily="34" charset="-120"/>
              </a:rPr>
              <a:t>(Analysis Services)</a:t>
            </a:r>
            <a:endParaRPr lang="en-US" sz="1100" dirty="0"/>
          </a:p>
        </p:txBody>
      </p:sp>
      <p:sp>
        <p:nvSpPr>
          <p:cNvPr id="17" name="Text 15"/>
          <p:cNvSpPr/>
          <p:nvPr/>
        </p:nvSpPr>
        <p:spPr>
          <a:xfrm>
            <a:off x="640080" y="2560320"/>
            <a:ext cx="7315200" cy="320040"/>
          </a:xfrm>
          <a:prstGeom prst="rect">
            <a:avLst/>
          </a:prstGeom>
          <a:noFill/>
          <a:ln/>
        </p:spPr>
        <p:txBody>
          <a:bodyPr wrap="square" rtlCol="0" anchor="ctr"/>
          <a:lstStyle/>
          <a:p>
            <a:pPr marL="0" indent="0">
              <a:buNone/>
            </a:pPr>
            <a:r>
              <a:rPr lang="en-US" sz="1300" b="1" dirty="0">
                <a:solidFill>
                  <a:srgbClr val="1E293B"/>
                </a:solidFill>
                <a:latin typeface="Segoe UI" pitchFamily="34" charset="0"/>
                <a:ea typeface="Segoe UI" pitchFamily="34" charset="-122"/>
                <a:cs typeface="Segoe UI" pitchFamily="34" charset="-120"/>
              </a:rPr>
              <a:t>Key Architecture Points:</a:t>
            </a:r>
            <a:endParaRPr lang="en-US" sz="1300" dirty="0"/>
          </a:p>
        </p:txBody>
      </p:sp>
      <p:sp>
        <p:nvSpPr>
          <p:cNvPr id="18" name="Text 16"/>
          <p:cNvSpPr/>
          <p:nvPr/>
        </p:nvSpPr>
        <p:spPr>
          <a:xfrm>
            <a:off x="640080" y="2926080"/>
            <a:ext cx="274320" cy="365760"/>
          </a:xfrm>
          <a:prstGeom prst="rect">
            <a:avLst/>
          </a:prstGeom>
          <a:noFill/>
          <a:ln/>
        </p:spPr>
        <p:txBody>
          <a:bodyPr wrap="square" rtlCol="0" anchor="ctr"/>
          <a:lstStyle/>
          <a:p>
            <a:pPr marL="0" indent="0">
              <a:buNone/>
            </a:pPr>
            <a:r>
              <a:rPr lang="en-US" sz="1200" dirty="0">
                <a:solidFill>
                  <a:srgbClr val="0891B2"/>
                </a:solidFill>
                <a:latin typeface="Segoe UI" pitchFamily="34" charset="0"/>
                <a:ea typeface="Segoe UI" pitchFamily="34" charset="-122"/>
                <a:cs typeface="Segoe UI" pitchFamily="34" charset="-120"/>
              </a:rPr>
              <a:t>•</a:t>
            </a:r>
            <a:endParaRPr lang="en-US" sz="1200" dirty="0"/>
          </a:p>
        </p:txBody>
      </p:sp>
      <p:sp>
        <p:nvSpPr>
          <p:cNvPr id="19" name="Text 17"/>
          <p:cNvSpPr/>
          <p:nvPr/>
        </p:nvSpPr>
        <p:spPr>
          <a:xfrm>
            <a:off x="914400" y="2926080"/>
            <a:ext cx="7589520" cy="36576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Power BI Desktop runs a local Analysis Services instance on a dynamic port</a:t>
            </a:r>
            <a:endParaRPr lang="en-US" sz="1200" dirty="0"/>
          </a:p>
        </p:txBody>
      </p:sp>
      <p:sp>
        <p:nvSpPr>
          <p:cNvPr id="20" name="Text 18"/>
          <p:cNvSpPr/>
          <p:nvPr/>
        </p:nvSpPr>
        <p:spPr>
          <a:xfrm>
            <a:off x="640080" y="3383280"/>
            <a:ext cx="274320" cy="365760"/>
          </a:xfrm>
          <a:prstGeom prst="rect">
            <a:avLst/>
          </a:prstGeom>
          <a:noFill/>
          <a:ln/>
        </p:spPr>
        <p:txBody>
          <a:bodyPr wrap="square" rtlCol="0" anchor="ctr"/>
          <a:lstStyle/>
          <a:p>
            <a:pPr marL="0" indent="0">
              <a:buNone/>
            </a:pPr>
            <a:r>
              <a:rPr lang="en-US" sz="1200" dirty="0">
                <a:solidFill>
                  <a:srgbClr val="0891B2"/>
                </a:solidFill>
                <a:latin typeface="Segoe UI" pitchFamily="34" charset="0"/>
                <a:ea typeface="Segoe UI" pitchFamily="34" charset="-122"/>
                <a:cs typeface="Segoe UI" pitchFamily="34" charset="-120"/>
              </a:rPr>
              <a:t>•</a:t>
            </a:r>
            <a:endParaRPr lang="en-US" sz="1200" dirty="0"/>
          </a:p>
        </p:txBody>
      </p:sp>
      <p:sp>
        <p:nvSpPr>
          <p:cNvPr id="21" name="Text 19"/>
          <p:cNvSpPr/>
          <p:nvPr/>
        </p:nvSpPr>
        <p:spPr>
          <a:xfrm>
            <a:off x="914400" y="3383280"/>
            <a:ext cx="7589520" cy="36576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MCP Server discovers this port automatically and connects via XMLA</a:t>
            </a:r>
            <a:endParaRPr lang="en-US" sz="1200" dirty="0"/>
          </a:p>
        </p:txBody>
      </p:sp>
      <p:sp>
        <p:nvSpPr>
          <p:cNvPr id="22" name="Text 20"/>
          <p:cNvSpPr/>
          <p:nvPr/>
        </p:nvSpPr>
        <p:spPr>
          <a:xfrm>
            <a:off x="640080" y="3840480"/>
            <a:ext cx="274320" cy="365760"/>
          </a:xfrm>
          <a:prstGeom prst="rect">
            <a:avLst/>
          </a:prstGeom>
          <a:noFill/>
          <a:ln/>
        </p:spPr>
        <p:txBody>
          <a:bodyPr wrap="square" rtlCol="0" anchor="ctr"/>
          <a:lstStyle/>
          <a:p>
            <a:pPr marL="0" indent="0">
              <a:buNone/>
            </a:pPr>
            <a:r>
              <a:rPr lang="en-US" sz="1200" dirty="0">
                <a:solidFill>
                  <a:srgbClr val="0891B2"/>
                </a:solidFill>
                <a:latin typeface="Segoe UI" pitchFamily="34" charset="0"/>
                <a:ea typeface="Segoe UI" pitchFamily="34" charset="-122"/>
                <a:cs typeface="Segoe UI" pitchFamily="34" charset="-120"/>
              </a:rPr>
              <a:t>•</a:t>
            </a:r>
            <a:endParaRPr lang="en-US" sz="1200" dirty="0"/>
          </a:p>
        </p:txBody>
      </p:sp>
      <p:sp>
        <p:nvSpPr>
          <p:cNvPr id="23" name="Text 21"/>
          <p:cNvSpPr/>
          <p:nvPr/>
        </p:nvSpPr>
        <p:spPr>
          <a:xfrm>
            <a:off x="914400" y="3840480"/>
            <a:ext cx="7589520" cy="36576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Claude Desktop communicates with the MCP Server using the MCP protocol</a:t>
            </a:r>
            <a:endParaRPr lang="en-US" sz="1200" dirty="0"/>
          </a:p>
        </p:txBody>
      </p:sp>
      <p:sp>
        <p:nvSpPr>
          <p:cNvPr id="24" name="Text 22"/>
          <p:cNvSpPr/>
          <p:nvPr/>
        </p:nvSpPr>
        <p:spPr>
          <a:xfrm>
            <a:off x="640080" y="4297680"/>
            <a:ext cx="274320" cy="365760"/>
          </a:xfrm>
          <a:prstGeom prst="rect">
            <a:avLst/>
          </a:prstGeom>
          <a:noFill/>
          <a:ln/>
        </p:spPr>
        <p:txBody>
          <a:bodyPr wrap="square" rtlCol="0" anchor="ctr"/>
          <a:lstStyle/>
          <a:p>
            <a:pPr marL="0" indent="0">
              <a:buNone/>
            </a:pPr>
            <a:r>
              <a:rPr lang="en-US" sz="1200" dirty="0">
                <a:solidFill>
                  <a:srgbClr val="0891B2"/>
                </a:solidFill>
                <a:latin typeface="Segoe UI" pitchFamily="34" charset="0"/>
                <a:ea typeface="Segoe UI" pitchFamily="34" charset="-122"/>
                <a:cs typeface="Segoe UI" pitchFamily="34" charset="-120"/>
              </a:rPr>
              <a:t>•</a:t>
            </a:r>
            <a:endParaRPr lang="en-US" sz="1200" dirty="0"/>
          </a:p>
        </p:txBody>
      </p:sp>
      <p:sp>
        <p:nvSpPr>
          <p:cNvPr id="25" name="Text 23"/>
          <p:cNvSpPr/>
          <p:nvPr/>
        </p:nvSpPr>
        <p:spPr>
          <a:xfrm>
            <a:off x="914400" y="4297680"/>
            <a:ext cx="7589520" cy="365760"/>
          </a:xfrm>
          <a:prstGeom prst="rect">
            <a:avLst/>
          </a:prstGeom>
          <a:noFill/>
          <a:ln/>
        </p:spPr>
        <p:txBody>
          <a:bodyPr wrap="square" rtlCol="0" anchor="ctr"/>
          <a:lstStyle/>
          <a:p>
            <a:pPr marL="0" indent="0">
              <a:buNone/>
            </a:pPr>
            <a:r>
              <a:rPr lang="en-US" sz="1200" dirty="0">
                <a:solidFill>
                  <a:srgbClr val="1E293B"/>
                </a:solidFill>
                <a:latin typeface="Segoe UI" pitchFamily="34" charset="0"/>
                <a:ea typeface="Segoe UI" pitchFamily="34" charset="-122"/>
                <a:cs typeface="Segoe UI" pitchFamily="34" charset="-120"/>
              </a:rPr>
              <a:t>All processing happens locally — no data leaves your machine</a:t>
            </a:r>
            <a:endParaRPr lang="en-US" sz="1200" dirty="0"/>
          </a:p>
        </p:txBody>
      </p:sp>
      <p:sp>
        <p:nvSpPr>
          <p:cNvPr id="26" name="Shape 24"/>
          <p:cNvSpPr/>
          <p:nvPr/>
        </p:nvSpPr>
        <p:spPr>
          <a:xfrm>
            <a:off x="0" y="4846320"/>
            <a:ext cx="9144000" cy="297180"/>
          </a:xfrm>
          <a:prstGeom prst="rect">
            <a:avLst/>
          </a:prstGeom>
          <a:solidFill>
            <a:srgbClr val="F1F5F9"/>
          </a:solidFill>
          <a:ln/>
        </p:spPr>
        <p:txBody>
          <a:bodyPr/>
          <a:lstStyle/>
          <a:p>
            <a:endParaRPr lang="en-IN"/>
          </a:p>
        </p:txBody>
      </p:sp>
      <p:sp>
        <p:nvSpPr>
          <p:cNvPr id="27" name="Text 25"/>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10</a:t>
            </a:r>
            <a:endParaRPr lang="en-US" sz="800" dirty="0"/>
          </a:p>
        </p:txBody>
      </p:sp>
      <p:sp>
        <p:nvSpPr>
          <p:cNvPr id="28" name="Text 26"/>
          <p:cNvSpPr/>
          <p:nvPr/>
        </p:nvSpPr>
        <p:spPr>
          <a:xfrm>
            <a:off x="7955280" y="485546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9 / 30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Available MCP Operations</a:t>
            </a:r>
            <a:endParaRPr lang="en-US" sz="2800" dirty="0"/>
          </a:p>
        </p:txBody>
      </p:sp>
      <p:sp>
        <p:nvSpPr>
          <p:cNvPr id="4" name="Text 2"/>
          <p:cNvSpPr/>
          <p:nvPr/>
        </p:nvSpPr>
        <p:spPr>
          <a:xfrm>
            <a:off x="640080" y="777240"/>
            <a:ext cx="7863840" cy="27432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The Power BI Modeling MCP Server exposes these operations:</a:t>
            </a:r>
            <a:endParaRPr lang="en-US" sz="1200" dirty="0"/>
          </a:p>
        </p:txBody>
      </p:sp>
      <p:sp>
        <p:nvSpPr>
          <p:cNvPr id="6" name="Text 4"/>
          <p:cNvSpPr/>
          <p:nvPr/>
        </p:nvSpPr>
        <p:spPr>
          <a:xfrm>
            <a:off x="640080" y="1170432"/>
            <a:ext cx="2103120" cy="310896"/>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Schema Discovery</a:t>
            </a:r>
            <a:endParaRPr lang="en-US" sz="1100" dirty="0"/>
          </a:p>
        </p:txBody>
      </p:sp>
      <p:sp>
        <p:nvSpPr>
          <p:cNvPr id="7" name="Text 5"/>
          <p:cNvSpPr/>
          <p:nvPr/>
        </p:nvSpPr>
        <p:spPr>
          <a:xfrm>
            <a:off x="2834640" y="1170432"/>
            <a:ext cx="5669280" cy="310896"/>
          </a:xfrm>
          <a:prstGeom prst="rect">
            <a:avLst/>
          </a:prstGeom>
          <a:noFill/>
          <a:ln/>
        </p:spPr>
        <p:txBody>
          <a:bodyPr wrap="square" rtlCol="0" anchor="ctr"/>
          <a:lstStyle/>
          <a:p>
            <a:pPr marL="0" indent="0">
              <a:buNone/>
            </a:pPr>
            <a:r>
              <a:rPr lang="en-US" sz="1050" dirty="0">
                <a:solidFill>
                  <a:srgbClr val="1E293B"/>
                </a:solidFill>
                <a:latin typeface="Consolas" pitchFamily="34" charset="0"/>
                <a:ea typeface="Consolas" pitchFamily="34" charset="-122"/>
                <a:cs typeface="Consolas" pitchFamily="34" charset="-120"/>
              </a:rPr>
              <a:t>list_tables, describe_table, get_model_info</a:t>
            </a:r>
            <a:endParaRPr lang="en-US" sz="1050" dirty="0"/>
          </a:p>
        </p:txBody>
      </p:sp>
      <p:sp>
        <p:nvSpPr>
          <p:cNvPr id="8" name="Shape 6"/>
          <p:cNvSpPr/>
          <p:nvPr/>
        </p:nvSpPr>
        <p:spPr>
          <a:xfrm>
            <a:off x="457200" y="1627632"/>
            <a:ext cx="8229600" cy="457200"/>
          </a:xfrm>
          <a:prstGeom prst="rect">
            <a:avLst/>
          </a:prstGeom>
          <a:solidFill>
            <a:srgbClr val="F1F5F9"/>
          </a:solidFill>
          <a:ln/>
        </p:spPr>
        <p:txBody>
          <a:bodyPr/>
          <a:lstStyle/>
          <a:p>
            <a:endParaRPr lang="en-IN"/>
          </a:p>
        </p:txBody>
      </p:sp>
      <p:sp>
        <p:nvSpPr>
          <p:cNvPr id="9" name="Text 7"/>
          <p:cNvSpPr/>
          <p:nvPr/>
        </p:nvSpPr>
        <p:spPr>
          <a:xfrm>
            <a:off x="640080" y="1700784"/>
            <a:ext cx="2103120" cy="310896"/>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Data Inspection</a:t>
            </a:r>
            <a:endParaRPr lang="en-US" sz="1100" dirty="0"/>
          </a:p>
        </p:txBody>
      </p:sp>
      <p:sp>
        <p:nvSpPr>
          <p:cNvPr id="10" name="Text 8"/>
          <p:cNvSpPr/>
          <p:nvPr/>
        </p:nvSpPr>
        <p:spPr>
          <a:xfrm>
            <a:off x="2834640" y="1700784"/>
            <a:ext cx="5669280" cy="310896"/>
          </a:xfrm>
          <a:prstGeom prst="rect">
            <a:avLst/>
          </a:prstGeom>
          <a:noFill/>
          <a:ln/>
        </p:spPr>
        <p:txBody>
          <a:bodyPr wrap="square" rtlCol="0" anchor="ctr"/>
          <a:lstStyle/>
          <a:p>
            <a:pPr marL="0" indent="0">
              <a:buNone/>
            </a:pPr>
            <a:r>
              <a:rPr lang="en-US" sz="1050" dirty="0">
                <a:solidFill>
                  <a:srgbClr val="1E293B"/>
                </a:solidFill>
                <a:latin typeface="Consolas" pitchFamily="34" charset="0"/>
                <a:ea typeface="Consolas" pitchFamily="34" charset="-122"/>
                <a:cs typeface="Consolas" pitchFamily="34" charset="-120"/>
              </a:rPr>
              <a:t>preview_data, get_column_statistics, get_relationships</a:t>
            </a:r>
            <a:endParaRPr lang="en-US" sz="1050" dirty="0"/>
          </a:p>
        </p:txBody>
      </p:sp>
      <p:sp>
        <p:nvSpPr>
          <p:cNvPr id="12" name="Text 10"/>
          <p:cNvSpPr/>
          <p:nvPr/>
        </p:nvSpPr>
        <p:spPr>
          <a:xfrm>
            <a:off x="640080" y="2231136"/>
            <a:ext cx="2103120" cy="310896"/>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DAX Queries</a:t>
            </a:r>
            <a:endParaRPr lang="en-US" sz="1100" dirty="0"/>
          </a:p>
        </p:txBody>
      </p:sp>
      <p:sp>
        <p:nvSpPr>
          <p:cNvPr id="13" name="Text 11"/>
          <p:cNvSpPr/>
          <p:nvPr/>
        </p:nvSpPr>
        <p:spPr>
          <a:xfrm>
            <a:off x="2834640" y="2231136"/>
            <a:ext cx="5669280" cy="310896"/>
          </a:xfrm>
          <a:prstGeom prst="rect">
            <a:avLst/>
          </a:prstGeom>
          <a:noFill/>
          <a:ln/>
        </p:spPr>
        <p:txBody>
          <a:bodyPr wrap="square" rtlCol="0" anchor="ctr"/>
          <a:lstStyle/>
          <a:p>
            <a:pPr marL="0" indent="0">
              <a:buNone/>
            </a:pPr>
            <a:r>
              <a:rPr lang="en-US" sz="1050" dirty="0">
                <a:solidFill>
                  <a:srgbClr val="1E293B"/>
                </a:solidFill>
                <a:latin typeface="Consolas" pitchFamily="34" charset="0"/>
                <a:ea typeface="Consolas" pitchFamily="34" charset="-122"/>
                <a:cs typeface="Consolas" pitchFamily="34" charset="-120"/>
              </a:rPr>
              <a:t>run_dax_query, evaluate_measure, analyze_query_performance</a:t>
            </a:r>
            <a:endParaRPr lang="en-US" sz="1050" dirty="0"/>
          </a:p>
        </p:txBody>
      </p:sp>
      <p:sp>
        <p:nvSpPr>
          <p:cNvPr id="14" name="Shape 12"/>
          <p:cNvSpPr/>
          <p:nvPr/>
        </p:nvSpPr>
        <p:spPr>
          <a:xfrm>
            <a:off x="457200" y="2688336"/>
            <a:ext cx="8229600" cy="457200"/>
          </a:xfrm>
          <a:prstGeom prst="rect">
            <a:avLst/>
          </a:prstGeom>
          <a:solidFill>
            <a:srgbClr val="F1F5F9"/>
          </a:solidFill>
          <a:ln/>
        </p:spPr>
        <p:txBody>
          <a:bodyPr/>
          <a:lstStyle/>
          <a:p>
            <a:endParaRPr lang="en-IN"/>
          </a:p>
        </p:txBody>
      </p:sp>
      <p:sp>
        <p:nvSpPr>
          <p:cNvPr id="15" name="Text 13"/>
          <p:cNvSpPr/>
          <p:nvPr/>
        </p:nvSpPr>
        <p:spPr>
          <a:xfrm>
            <a:off x="640080" y="2761488"/>
            <a:ext cx="2103120" cy="310896"/>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Model Modification</a:t>
            </a:r>
            <a:endParaRPr lang="en-US" sz="1100" dirty="0"/>
          </a:p>
        </p:txBody>
      </p:sp>
      <p:sp>
        <p:nvSpPr>
          <p:cNvPr id="16" name="Text 14"/>
          <p:cNvSpPr/>
          <p:nvPr/>
        </p:nvSpPr>
        <p:spPr>
          <a:xfrm>
            <a:off x="2834640" y="2761488"/>
            <a:ext cx="5669280" cy="310896"/>
          </a:xfrm>
          <a:prstGeom prst="rect">
            <a:avLst/>
          </a:prstGeom>
          <a:noFill/>
          <a:ln/>
        </p:spPr>
        <p:txBody>
          <a:bodyPr wrap="square" rtlCol="0" anchor="ctr"/>
          <a:lstStyle/>
          <a:p>
            <a:pPr marL="0" indent="0">
              <a:buNone/>
            </a:pPr>
            <a:r>
              <a:rPr lang="en-US" sz="1050" dirty="0">
                <a:solidFill>
                  <a:srgbClr val="1E293B"/>
                </a:solidFill>
                <a:latin typeface="Consolas" pitchFamily="34" charset="0"/>
                <a:ea typeface="Consolas" pitchFamily="34" charset="-122"/>
                <a:cs typeface="Consolas" pitchFamily="34" charset="-120"/>
              </a:rPr>
              <a:t>create_measure, create_calculated_column, create_hierarchy</a:t>
            </a:r>
            <a:endParaRPr lang="en-US" sz="1050" dirty="0"/>
          </a:p>
        </p:txBody>
      </p:sp>
      <p:sp>
        <p:nvSpPr>
          <p:cNvPr id="18" name="Text 16"/>
          <p:cNvSpPr/>
          <p:nvPr/>
        </p:nvSpPr>
        <p:spPr>
          <a:xfrm>
            <a:off x="640080" y="3291840"/>
            <a:ext cx="2103120" cy="310896"/>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Relationships</a:t>
            </a:r>
            <a:endParaRPr lang="en-US" sz="1100" dirty="0"/>
          </a:p>
        </p:txBody>
      </p:sp>
      <p:sp>
        <p:nvSpPr>
          <p:cNvPr id="19" name="Text 17"/>
          <p:cNvSpPr/>
          <p:nvPr/>
        </p:nvSpPr>
        <p:spPr>
          <a:xfrm>
            <a:off x="2834640" y="3291840"/>
            <a:ext cx="5669280" cy="310896"/>
          </a:xfrm>
          <a:prstGeom prst="rect">
            <a:avLst/>
          </a:prstGeom>
          <a:noFill/>
          <a:ln/>
        </p:spPr>
        <p:txBody>
          <a:bodyPr wrap="square" rtlCol="0" anchor="ctr"/>
          <a:lstStyle/>
          <a:p>
            <a:pPr marL="0" indent="0">
              <a:buNone/>
            </a:pPr>
            <a:r>
              <a:rPr lang="en-US" sz="1050" dirty="0">
                <a:solidFill>
                  <a:srgbClr val="1E293B"/>
                </a:solidFill>
                <a:latin typeface="Consolas" pitchFamily="34" charset="0"/>
                <a:ea typeface="Consolas" pitchFamily="34" charset="-122"/>
                <a:cs typeface="Consolas" pitchFamily="34" charset="-120"/>
              </a:rPr>
              <a:t>add_relationship, modify_relationship, delete_relationship</a:t>
            </a:r>
            <a:endParaRPr lang="en-US" sz="1050" dirty="0"/>
          </a:p>
        </p:txBody>
      </p:sp>
      <p:sp>
        <p:nvSpPr>
          <p:cNvPr id="21" name="Text 19"/>
          <p:cNvSpPr/>
          <p:nvPr/>
        </p:nvSpPr>
        <p:spPr>
          <a:xfrm>
            <a:off x="640080" y="3822192"/>
            <a:ext cx="2103120" cy="310896"/>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Formatting</a:t>
            </a:r>
            <a:endParaRPr lang="en-US" sz="1100" dirty="0"/>
          </a:p>
        </p:txBody>
      </p:sp>
      <p:sp>
        <p:nvSpPr>
          <p:cNvPr id="22" name="Text 20"/>
          <p:cNvSpPr/>
          <p:nvPr/>
        </p:nvSpPr>
        <p:spPr>
          <a:xfrm>
            <a:off x="2834640" y="3822192"/>
            <a:ext cx="5669280" cy="310896"/>
          </a:xfrm>
          <a:prstGeom prst="rect">
            <a:avLst/>
          </a:prstGeom>
          <a:noFill/>
          <a:ln/>
        </p:spPr>
        <p:txBody>
          <a:bodyPr wrap="square" rtlCol="0" anchor="ctr"/>
          <a:lstStyle/>
          <a:p>
            <a:pPr marL="0" indent="0">
              <a:buNone/>
            </a:pPr>
            <a:r>
              <a:rPr lang="en-US" sz="1050" dirty="0">
                <a:solidFill>
                  <a:srgbClr val="1E293B"/>
                </a:solidFill>
                <a:latin typeface="Consolas" pitchFamily="34" charset="0"/>
                <a:ea typeface="Consolas" pitchFamily="34" charset="-122"/>
                <a:cs typeface="Consolas" pitchFamily="34" charset="-120"/>
              </a:rPr>
              <a:t>set_format_string, set_column_display_folder, set_description</a:t>
            </a:r>
            <a:endParaRPr lang="en-US" sz="1050" dirty="0"/>
          </a:p>
        </p:txBody>
      </p:sp>
      <p:sp>
        <p:nvSpPr>
          <p:cNvPr id="23" name="Shape 21"/>
          <p:cNvSpPr/>
          <p:nvPr/>
        </p:nvSpPr>
        <p:spPr>
          <a:xfrm>
            <a:off x="457200" y="4279392"/>
            <a:ext cx="8229600" cy="457200"/>
          </a:xfrm>
          <a:prstGeom prst="rect">
            <a:avLst/>
          </a:prstGeom>
          <a:solidFill>
            <a:srgbClr val="F1F5F9"/>
          </a:solidFill>
          <a:ln/>
        </p:spPr>
        <p:txBody>
          <a:bodyPr/>
          <a:lstStyle/>
          <a:p>
            <a:endParaRPr lang="en-IN"/>
          </a:p>
        </p:txBody>
      </p:sp>
      <p:sp>
        <p:nvSpPr>
          <p:cNvPr id="24" name="Text 22"/>
          <p:cNvSpPr/>
          <p:nvPr/>
        </p:nvSpPr>
        <p:spPr>
          <a:xfrm>
            <a:off x="640080" y="4352544"/>
            <a:ext cx="2103120" cy="310896"/>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Storage Analysis</a:t>
            </a:r>
            <a:endParaRPr lang="en-US" sz="1100" dirty="0"/>
          </a:p>
        </p:txBody>
      </p:sp>
      <p:sp>
        <p:nvSpPr>
          <p:cNvPr id="25" name="Text 23"/>
          <p:cNvSpPr/>
          <p:nvPr/>
        </p:nvSpPr>
        <p:spPr>
          <a:xfrm>
            <a:off x="2834640" y="4352544"/>
            <a:ext cx="5669280" cy="310896"/>
          </a:xfrm>
          <a:prstGeom prst="rect">
            <a:avLst/>
          </a:prstGeom>
          <a:noFill/>
          <a:ln/>
        </p:spPr>
        <p:txBody>
          <a:bodyPr wrap="square" rtlCol="0" anchor="ctr"/>
          <a:lstStyle/>
          <a:p>
            <a:pPr marL="0" indent="0">
              <a:buNone/>
            </a:pPr>
            <a:r>
              <a:rPr lang="en-US" sz="1050" dirty="0">
                <a:solidFill>
                  <a:srgbClr val="1E293B"/>
                </a:solidFill>
                <a:latin typeface="Consolas" pitchFamily="34" charset="0"/>
                <a:ea typeface="Consolas" pitchFamily="34" charset="-122"/>
                <a:cs typeface="Consolas" pitchFamily="34" charset="-120"/>
              </a:rPr>
              <a:t>get_vertipaq_stats, analyze_table_size, get_cardinality</a:t>
            </a:r>
            <a:endParaRPr lang="en-US" sz="1050" dirty="0"/>
          </a:p>
        </p:txBody>
      </p:sp>
      <p:sp>
        <p:nvSpPr>
          <p:cNvPr id="26" name="Shape 24"/>
          <p:cNvSpPr/>
          <p:nvPr/>
        </p:nvSpPr>
        <p:spPr>
          <a:xfrm>
            <a:off x="0" y="4846320"/>
            <a:ext cx="9144000" cy="297180"/>
          </a:xfrm>
          <a:prstGeom prst="rect">
            <a:avLst/>
          </a:prstGeom>
          <a:solidFill>
            <a:srgbClr val="F1F5F9"/>
          </a:solidFill>
          <a:ln/>
        </p:spPr>
        <p:txBody>
          <a:bodyPr/>
          <a:lstStyle/>
          <a:p>
            <a:endParaRPr lang="en-IN"/>
          </a:p>
        </p:txBody>
      </p:sp>
      <p:sp>
        <p:nvSpPr>
          <p:cNvPr id="27" name="Text 25"/>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10</a:t>
            </a:r>
            <a:endParaRPr lang="en-US" sz="800" dirty="0"/>
          </a:p>
        </p:txBody>
      </p:sp>
      <p:sp>
        <p:nvSpPr>
          <p:cNvPr id="28" name="Text 26"/>
          <p:cNvSpPr/>
          <p:nvPr/>
        </p:nvSpPr>
        <p:spPr>
          <a:xfrm>
            <a:off x="7955280" y="485546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10 / 30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TOPIC 3</a:t>
            </a:r>
            <a:endParaRPr lang="en-US" sz="1300" dirty="0"/>
          </a:p>
        </p:txBody>
      </p:sp>
      <p:sp>
        <p:nvSpPr>
          <p:cNvPr id="4" name="Text 2"/>
          <p:cNvSpPr/>
          <p:nvPr/>
        </p:nvSpPr>
        <p:spPr>
          <a:xfrm>
            <a:off x="731520" y="1828800"/>
            <a:ext cx="6400800" cy="9144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Three Setup Paths</a:t>
            </a:r>
            <a:endParaRPr lang="en-US" sz="3800" dirty="0"/>
          </a:p>
        </p:txBody>
      </p:sp>
      <p:sp>
        <p:nvSpPr>
          <p:cNvPr id="5" name="Text 3"/>
          <p:cNvSpPr/>
          <p:nvPr/>
        </p:nvSpPr>
        <p:spPr>
          <a:xfrm>
            <a:off x="731520" y="2926080"/>
            <a:ext cx="54864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Choosing the Right Approach for Your Environment</a:t>
            </a:r>
            <a:endParaRPr lang="en-US" sz="1500" dirty="0"/>
          </a:p>
        </p:txBody>
      </p:sp>
      <p:sp>
        <p:nvSpPr>
          <p:cNvPr id="6" name="Text 4"/>
          <p:cNvSpPr/>
          <p:nvPr/>
        </p:nvSpPr>
        <p:spPr>
          <a:xfrm>
            <a:off x="7955280" y="4754880"/>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11 / 30</a:t>
            </a:r>
            <a:endParaRPr lang="en-US" sz="900"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Three Setup Paths</a:t>
            </a:r>
            <a:endParaRPr lang="en-US" sz="2800" dirty="0"/>
          </a:p>
        </p:txBody>
      </p:sp>
      <p:sp>
        <p:nvSpPr>
          <p:cNvPr id="4" name="Shape 2"/>
          <p:cNvSpPr/>
          <p:nvPr/>
        </p:nvSpPr>
        <p:spPr>
          <a:xfrm>
            <a:off x="457200" y="868680"/>
            <a:ext cx="2651760" cy="3749040"/>
          </a:xfrm>
          <a:prstGeom prst="rect">
            <a:avLst/>
          </a:prstGeom>
          <a:solidFill>
            <a:srgbClr val="F1F5F9"/>
          </a:solidFill>
          <a:ln/>
        </p:spPr>
        <p:txBody>
          <a:bodyPr/>
          <a:lstStyle/>
          <a:p>
            <a:endParaRPr lang="en-IN"/>
          </a:p>
        </p:txBody>
      </p:sp>
      <p:sp>
        <p:nvSpPr>
          <p:cNvPr id="5" name="Shape 3"/>
          <p:cNvSpPr/>
          <p:nvPr/>
        </p:nvSpPr>
        <p:spPr>
          <a:xfrm>
            <a:off x="457200" y="868680"/>
            <a:ext cx="2651760" cy="502920"/>
          </a:xfrm>
          <a:prstGeom prst="rect">
            <a:avLst/>
          </a:prstGeom>
          <a:solidFill>
            <a:srgbClr val="7C3AED"/>
          </a:solidFill>
          <a:ln/>
        </p:spPr>
        <p:txBody>
          <a:bodyPr/>
          <a:lstStyle/>
          <a:p>
            <a:endParaRPr lang="en-IN"/>
          </a:p>
        </p:txBody>
      </p:sp>
      <p:sp>
        <p:nvSpPr>
          <p:cNvPr id="6" name="Text 4"/>
          <p:cNvSpPr/>
          <p:nvPr/>
        </p:nvSpPr>
        <p:spPr>
          <a:xfrm>
            <a:off x="548640" y="914400"/>
            <a:ext cx="2468880" cy="411480"/>
          </a:xfrm>
          <a:prstGeom prst="rect">
            <a:avLst/>
          </a:prstGeom>
          <a:noFill/>
          <a:ln/>
        </p:spPr>
        <p:txBody>
          <a:bodyPr wrap="square" rtlCol="0" anchor="ctr"/>
          <a:lstStyle/>
          <a:p>
            <a:pPr marL="0" indent="0">
              <a:buNone/>
            </a:pPr>
            <a:r>
              <a:rPr lang="en-US" sz="1000" b="1" dirty="0">
                <a:solidFill>
                  <a:srgbClr val="FFFFFF"/>
                </a:solidFill>
                <a:latin typeface="Segoe UI" pitchFamily="34" charset="0"/>
                <a:ea typeface="Segoe UI" pitchFamily="34" charset="-122"/>
                <a:cs typeface="Segoe UI" pitchFamily="34" charset="-120"/>
              </a:rPr>
              <a:t>Path A: Claude Desktop</a:t>
            </a:r>
            <a:endParaRPr lang="en-US" sz="1000" dirty="0"/>
          </a:p>
        </p:txBody>
      </p:sp>
      <p:sp>
        <p:nvSpPr>
          <p:cNvPr id="7" name="Text 5"/>
          <p:cNvSpPr/>
          <p:nvPr/>
        </p:nvSpPr>
        <p:spPr>
          <a:xfrm>
            <a:off x="548640" y="1463040"/>
            <a:ext cx="2468880" cy="3017520"/>
          </a:xfrm>
          <a:prstGeom prst="rect">
            <a:avLst/>
          </a:prstGeom>
          <a:noFill/>
          <a:ln/>
        </p:spPr>
        <p:txBody>
          <a:bodyPr wrap="square" rtlCol="0" anchor="ctr"/>
          <a:lstStyle/>
          <a:p>
            <a:pPr marL="0" indent="0">
              <a:buNone/>
            </a:pPr>
            <a:r>
              <a:rPr lang="en-US" sz="950" dirty="0">
                <a:solidFill>
                  <a:srgbClr val="1E293B"/>
                </a:solidFill>
                <a:latin typeface="Segoe UI" pitchFamily="34" charset="0"/>
                <a:ea typeface="Segoe UI" pitchFamily="34" charset="-122"/>
                <a:cs typeface="Segoe UI" pitchFamily="34" charset="-120"/>
              </a:rPr>
              <a:t>✓ Conversational UI</a:t>
            </a: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 Free tier sufficient</a:t>
            </a: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 Best for learning</a:t>
            </a: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 No coding required</a:t>
            </a:r>
            <a:endParaRPr lang="en-US" sz="950" dirty="0"/>
          </a:p>
          <a:p>
            <a:pPr marL="0" indent="0">
              <a:buNone/>
            </a:pP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 Requires Windows</a:t>
            </a: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 Local only</a:t>
            </a:r>
            <a:endParaRPr lang="en-US" sz="950" dirty="0"/>
          </a:p>
          <a:p>
            <a:pPr marL="0" indent="0">
              <a:buNone/>
            </a:pP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Best For:</a:t>
            </a: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Business analysts,</a:t>
            </a: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learning MCP patterns</a:t>
            </a:r>
            <a:endParaRPr lang="en-US" sz="950" dirty="0"/>
          </a:p>
        </p:txBody>
      </p:sp>
      <p:sp>
        <p:nvSpPr>
          <p:cNvPr id="8" name="Shape 6"/>
          <p:cNvSpPr/>
          <p:nvPr/>
        </p:nvSpPr>
        <p:spPr>
          <a:xfrm>
            <a:off x="3246120" y="868680"/>
            <a:ext cx="2651760" cy="3749040"/>
          </a:xfrm>
          <a:prstGeom prst="rect">
            <a:avLst/>
          </a:prstGeom>
          <a:solidFill>
            <a:srgbClr val="F1F5F9"/>
          </a:solidFill>
          <a:ln/>
        </p:spPr>
        <p:txBody>
          <a:bodyPr/>
          <a:lstStyle/>
          <a:p>
            <a:endParaRPr lang="en-IN"/>
          </a:p>
        </p:txBody>
      </p:sp>
      <p:sp>
        <p:nvSpPr>
          <p:cNvPr id="9" name="Shape 7"/>
          <p:cNvSpPr/>
          <p:nvPr/>
        </p:nvSpPr>
        <p:spPr>
          <a:xfrm>
            <a:off x="3246120" y="868680"/>
            <a:ext cx="2651760" cy="502920"/>
          </a:xfrm>
          <a:prstGeom prst="rect">
            <a:avLst/>
          </a:prstGeom>
          <a:solidFill>
            <a:srgbClr val="4F46E5"/>
          </a:solidFill>
          <a:ln/>
        </p:spPr>
        <p:txBody>
          <a:bodyPr/>
          <a:lstStyle/>
          <a:p>
            <a:endParaRPr lang="en-IN"/>
          </a:p>
        </p:txBody>
      </p:sp>
      <p:sp>
        <p:nvSpPr>
          <p:cNvPr id="10" name="Text 8"/>
          <p:cNvSpPr/>
          <p:nvPr/>
        </p:nvSpPr>
        <p:spPr>
          <a:xfrm>
            <a:off x="3337560" y="914400"/>
            <a:ext cx="2468880" cy="411480"/>
          </a:xfrm>
          <a:prstGeom prst="rect">
            <a:avLst/>
          </a:prstGeom>
          <a:noFill/>
          <a:ln/>
        </p:spPr>
        <p:txBody>
          <a:bodyPr wrap="square" rtlCol="0" anchor="ctr"/>
          <a:lstStyle/>
          <a:p>
            <a:pPr marL="0" indent="0">
              <a:buNone/>
            </a:pPr>
            <a:r>
              <a:rPr lang="en-US" sz="1000" b="1" dirty="0">
                <a:solidFill>
                  <a:srgbClr val="FFFFFF"/>
                </a:solidFill>
                <a:latin typeface="Segoe UI" pitchFamily="34" charset="0"/>
                <a:ea typeface="Segoe UI" pitchFamily="34" charset="-122"/>
                <a:cs typeface="Segoe UI" pitchFamily="34" charset="-120"/>
              </a:rPr>
              <a:t>Path B: VS Code + Copilot</a:t>
            </a:r>
            <a:endParaRPr lang="en-US" sz="1000" dirty="0"/>
          </a:p>
        </p:txBody>
      </p:sp>
      <p:sp>
        <p:nvSpPr>
          <p:cNvPr id="11" name="Text 9"/>
          <p:cNvSpPr/>
          <p:nvPr/>
        </p:nvSpPr>
        <p:spPr>
          <a:xfrm>
            <a:off x="3337560" y="1463040"/>
            <a:ext cx="2468880" cy="3017520"/>
          </a:xfrm>
          <a:prstGeom prst="rect">
            <a:avLst/>
          </a:prstGeom>
          <a:noFill/>
          <a:ln/>
        </p:spPr>
        <p:txBody>
          <a:bodyPr wrap="square" rtlCol="0" anchor="ctr"/>
          <a:lstStyle/>
          <a:p>
            <a:pPr marL="0" indent="0">
              <a:buNone/>
            </a:pPr>
            <a:r>
              <a:rPr lang="en-US" sz="950" dirty="0">
                <a:solidFill>
                  <a:srgbClr val="1E293B"/>
                </a:solidFill>
                <a:latin typeface="Segoe UI" pitchFamily="34" charset="0"/>
                <a:ea typeface="Segoe UI" pitchFamily="34" charset="-122"/>
                <a:cs typeface="Segoe UI" pitchFamily="34" charset="-120"/>
              </a:rPr>
              <a:t>✓ IDE integration</a:t>
            </a: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 Code-first workflow</a:t>
            </a: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 Version control</a:t>
            </a: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 Auditable</a:t>
            </a:r>
            <a:endParaRPr lang="en-US" sz="950" dirty="0"/>
          </a:p>
          <a:p>
            <a:pPr marL="0" indent="0">
              <a:buNone/>
            </a:pP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 Requires Copilot sub</a:t>
            </a: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 More setup steps</a:t>
            </a:r>
            <a:endParaRPr lang="en-US" sz="950" dirty="0"/>
          </a:p>
          <a:p>
            <a:pPr marL="0" indent="0">
              <a:buNone/>
            </a:pP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Best For:</a:t>
            </a: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Developers, teams</a:t>
            </a: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with audit needs</a:t>
            </a:r>
            <a:endParaRPr lang="en-US" sz="950" dirty="0"/>
          </a:p>
        </p:txBody>
      </p:sp>
      <p:sp>
        <p:nvSpPr>
          <p:cNvPr id="12" name="Shape 10"/>
          <p:cNvSpPr/>
          <p:nvPr/>
        </p:nvSpPr>
        <p:spPr>
          <a:xfrm>
            <a:off x="6035040" y="868680"/>
            <a:ext cx="2651760" cy="3749040"/>
          </a:xfrm>
          <a:prstGeom prst="rect">
            <a:avLst/>
          </a:prstGeom>
          <a:solidFill>
            <a:srgbClr val="F1F5F9"/>
          </a:solidFill>
          <a:ln/>
        </p:spPr>
        <p:txBody>
          <a:bodyPr/>
          <a:lstStyle/>
          <a:p>
            <a:endParaRPr lang="en-IN"/>
          </a:p>
        </p:txBody>
      </p:sp>
      <p:sp>
        <p:nvSpPr>
          <p:cNvPr id="13" name="Shape 11"/>
          <p:cNvSpPr/>
          <p:nvPr/>
        </p:nvSpPr>
        <p:spPr>
          <a:xfrm>
            <a:off x="6035040" y="868680"/>
            <a:ext cx="2651760" cy="502920"/>
          </a:xfrm>
          <a:prstGeom prst="rect">
            <a:avLst/>
          </a:prstGeom>
          <a:solidFill>
            <a:srgbClr val="0891B2"/>
          </a:solidFill>
          <a:ln/>
        </p:spPr>
        <p:txBody>
          <a:bodyPr/>
          <a:lstStyle/>
          <a:p>
            <a:endParaRPr lang="en-IN"/>
          </a:p>
        </p:txBody>
      </p:sp>
      <p:sp>
        <p:nvSpPr>
          <p:cNvPr id="14" name="Text 12"/>
          <p:cNvSpPr/>
          <p:nvPr/>
        </p:nvSpPr>
        <p:spPr>
          <a:xfrm>
            <a:off x="6126480" y="914400"/>
            <a:ext cx="2468880" cy="411480"/>
          </a:xfrm>
          <a:prstGeom prst="rect">
            <a:avLst/>
          </a:prstGeom>
          <a:noFill/>
          <a:ln/>
        </p:spPr>
        <p:txBody>
          <a:bodyPr wrap="square" rtlCol="0" anchor="ctr"/>
          <a:lstStyle/>
          <a:p>
            <a:pPr marL="0" indent="0">
              <a:buNone/>
            </a:pPr>
            <a:r>
              <a:rPr lang="en-US" sz="1000" b="1" dirty="0">
                <a:solidFill>
                  <a:srgbClr val="FFFFFF"/>
                </a:solidFill>
                <a:latin typeface="Segoe UI" pitchFamily="34" charset="0"/>
                <a:ea typeface="Segoe UI" pitchFamily="34" charset="-122"/>
                <a:cs typeface="Segoe UI" pitchFamily="34" charset="-120"/>
              </a:rPr>
              <a:t>Path C: Remote MCP</a:t>
            </a:r>
            <a:endParaRPr lang="en-US" sz="1000" dirty="0"/>
          </a:p>
        </p:txBody>
      </p:sp>
      <p:sp>
        <p:nvSpPr>
          <p:cNvPr id="15" name="Text 13"/>
          <p:cNvSpPr/>
          <p:nvPr/>
        </p:nvSpPr>
        <p:spPr>
          <a:xfrm>
            <a:off x="6126480" y="1463040"/>
            <a:ext cx="2468880" cy="3017520"/>
          </a:xfrm>
          <a:prstGeom prst="rect">
            <a:avLst/>
          </a:prstGeom>
          <a:noFill/>
          <a:ln/>
        </p:spPr>
        <p:txBody>
          <a:bodyPr wrap="square" rtlCol="0" anchor="ctr"/>
          <a:lstStyle/>
          <a:p>
            <a:pPr marL="0" indent="0">
              <a:buNone/>
            </a:pPr>
            <a:r>
              <a:rPr lang="en-US" sz="950" dirty="0">
                <a:solidFill>
                  <a:srgbClr val="1E293B"/>
                </a:solidFill>
                <a:latin typeface="Segoe UI" pitchFamily="34" charset="0"/>
                <a:ea typeface="Segoe UI" pitchFamily="34" charset="-122"/>
                <a:cs typeface="Segoe UI" pitchFamily="34" charset="-120"/>
              </a:rPr>
              <a:t>✓ Cloud-based</a:t>
            </a: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 Team sharing</a:t>
            </a: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 Production models</a:t>
            </a: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 Centralized access</a:t>
            </a:r>
            <a:endParaRPr lang="en-US" sz="950" dirty="0"/>
          </a:p>
          <a:p>
            <a:pPr marL="0" indent="0">
              <a:buNone/>
            </a:pP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 Preview status</a:t>
            </a: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 Network config</a:t>
            </a:r>
            <a:endParaRPr lang="en-US" sz="950" dirty="0"/>
          </a:p>
          <a:p>
            <a:pPr marL="0" indent="0">
              <a:buNone/>
            </a:pP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Best For:</a:t>
            </a: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Production, team</a:t>
            </a:r>
            <a:endParaRPr lang="en-US" sz="950" dirty="0"/>
          </a:p>
          <a:p>
            <a:pPr marL="0" indent="0">
              <a:buNone/>
            </a:pPr>
            <a:r>
              <a:rPr lang="en-US" sz="950" dirty="0">
                <a:solidFill>
                  <a:srgbClr val="1E293B"/>
                </a:solidFill>
                <a:latin typeface="Segoe UI" pitchFamily="34" charset="0"/>
                <a:ea typeface="Segoe UI" pitchFamily="34" charset="-122"/>
                <a:cs typeface="Segoe UI" pitchFamily="34" charset="-120"/>
              </a:rPr>
              <a:t>environments</a:t>
            </a:r>
            <a:endParaRPr lang="en-US" sz="950" dirty="0"/>
          </a:p>
        </p:txBody>
      </p:sp>
      <p:sp>
        <p:nvSpPr>
          <p:cNvPr id="16" name="Shape 14"/>
          <p:cNvSpPr/>
          <p:nvPr/>
        </p:nvSpPr>
        <p:spPr>
          <a:xfrm>
            <a:off x="0" y="4846320"/>
            <a:ext cx="9144000" cy="297180"/>
          </a:xfrm>
          <a:prstGeom prst="rect">
            <a:avLst/>
          </a:prstGeom>
          <a:solidFill>
            <a:srgbClr val="F1F5F9"/>
          </a:solidFill>
          <a:ln/>
        </p:spPr>
        <p:txBody>
          <a:bodyPr/>
          <a:lstStyle/>
          <a:p>
            <a:endParaRPr lang="en-IN"/>
          </a:p>
        </p:txBody>
      </p:sp>
      <p:sp>
        <p:nvSpPr>
          <p:cNvPr id="17" name="Text 15"/>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10</a:t>
            </a:r>
            <a:endParaRPr lang="en-US" sz="800" dirty="0"/>
          </a:p>
        </p:txBody>
      </p:sp>
      <p:sp>
        <p:nvSpPr>
          <p:cNvPr id="18" name="Text 16"/>
          <p:cNvSpPr/>
          <p:nvPr/>
        </p:nvSpPr>
        <p:spPr>
          <a:xfrm>
            <a:off x="7955280" y="485546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12 / 30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Path A: Claude Desktop Setup</a:t>
            </a:r>
            <a:endParaRPr lang="en-US" sz="2800" dirty="0"/>
          </a:p>
        </p:txBody>
      </p:sp>
      <p:sp>
        <p:nvSpPr>
          <p:cNvPr id="4" name="Text 2"/>
          <p:cNvSpPr/>
          <p:nvPr/>
        </p:nvSpPr>
        <p:spPr>
          <a:xfrm>
            <a:off x="640080" y="777240"/>
            <a:ext cx="786384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This is the primary lab path — conversational, free, and intuitive</a:t>
            </a:r>
            <a:endParaRPr lang="en-US" sz="1200" dirty="0"/>
          </a:p>
        </p:txBody>
      </p:sp>
      <p:sp>
        <p:nvSpPr>
          <p:cNvPr id="5" name="Shape 3"/>
          <p:cNvSpPr/>
          <p:nvPr/>
        </p:nvSpPr>
        <p:spPr>
          <a:xfrm>
            <a:off x="457200" y="1143000"/>
            <a:ext cx="8229600" cy="502920"/>
          </a:xfrm>
          <a:prstGeom prst="rect">
            <a:avLst/>
          </a:prstGeom>
          <a:solidFill>
            <a:srgbClr val="F1F5F9"/>
          </a:solidFill>
          <a:ln/>
        </p:spPr>
        <p:txBody>
          <a:bodyPr/>
          <a:lstStyle/>
          <a:p>
            <a:endParaRPr lang="en-IN"/>
          </a:p>
        </p:txBody>
      </p:sp>
      <p:sp>
        <p:nvSpPr>
          <p:cNvPr id="6" name="Shape 4"/>
          <p:cNvSpPr/>
          <p:nvPr/>
        </p:nvSpPr>
        <p:spPr>
          <a:xfrm>
            <a:off x="457200" y="1143000"/>
            <a:ext cx="457200" cy="502920"/>
          </a:xfrm>
          <a:prstGeom prst="rect">
            <a:avLst/>
          </a:prstGeom>
          <a:solidFill>
            <a:srgbClr val="7C3AED"/>
          </a:solidFill>
          <a:ln/>
        </p:spPr>
        <p:txBody>
          <a:bodyPr/>
          <a:lstStyle/>
          <a:p>
            <a:endParaRPr lang="en-IN"/>
          </a:p>
        </p:txBody>
      </p:sp>
      <p:sp>
        <p:nvSpPr>
          <p:cNvPr id="7" name="Text 5"/>
          <p:cNvSpPr/>
          <p:nvPr/>
        </p:nvSpPr>
        <p:spPr>
          <a:xfrm>
            <a:off x="457200" y="1234440"/>
            <a:ext cx="457200" cy="320040"/>
          </a:xfrm>
          <a:prstGeom prst="rect">
            <a:avLst/>
          </a:prstGeom>
          <a:noFill/>
          <a:ln/>
        </p:spPr>
        <p:txBody>
          <a:bodyPr wrap="square"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8" name="Text 6"/>
          <p:cNvSpPr/>
          <p:nvPr/>
        </p:nvSpPr>
        <p:spPr>
          <a:xfrm>
            <a:off x="1051560" y="1234440"/>
            <a:ext cx="2286000" cy="32004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Install Prerequisites</a:t>
            </a:r>
            <a:endParaRPr lang="en-US" sz="1100" dirty="0"/>
          </a:p>
        </p:txBody>
      </p:sp>
      <p:sp>
        <p:nvSpPr>
          <p:cNvPr id="9" name="Text 7"/>
          <p:cNvSpPr/>
          <p:nvPr/>
        </p:nvSpPr>
        <p:spPr>
          <a:xfrm>
            <a:off x="3474720" y="1234440"/>
            <a:ext cx="5029200" cy="32004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Node.js v18+, Power BI Desktop, Claude Desktop</a:t>
            </a:r>
            <a:endParaRPr lang="en-US" sz="1050" dirty="0"/>
          </a:p>
        </p:txBody>
      </p:sp>
      <p:sp>
        <p:nvSpPr>
          <p:cNvPr id="10" name="Shape 8"/>
          <p:cNvSpPr/>
          <p:nvPr/>
        </p:nvSpPr>
        <p:spPr>
          <a:xfrm>
            <a:off x="457200" y="1737360"/>
            <a:ext cx="8229600" cy="502920"/>
          </a:xfrm>
          <a:prstGeom prst="rect">
            <a:avLst/>
          </a:prstGeom>
          <a:solidFill>
            <a:srgbClr val="F1F5F9"/>
          </a:solidFill>
          <a:ln/>
        </p:spPr>
        <p:txBody>
          <a:bodyPr/>
          <a:lstStyle/>
          <a:p>
            <a:endParaRPr lang="en-IN"/>
          </a:p>
        </p:txBody>
      </p:sp>
      <p:sp>
        <p:nvSpPr>
          <p:cNvPr id="11" name="Shape 9"/>
          <p:cNvSpPr/>
          <p:nvPr/>
        </p:nvSpPr>
        <p:spPr>
          <a:xfrm>
            <a:off x="457200" y="1737360"/>
            <a:ext cx="457200" cy="502920"/>
          </a:xfrm>
          <a:prstGeom prst="rect">
            <a:avLst/>
          </a:prstGeom>
          <a:solidFill>
            <a:srgbClr val="7C3AED"/>
          </a:solidFill>
          <a:ln/>
        </p:spPr>
        <p:txBody>
          <a:bodyPr/>
          <a:lstStyle/>
          <a:p>
            <a:endParaRPr lang="en-IN"/>
          </a:p>
        </p:txBody>
      </p:sp>
      <p:sp>
        <p:nvSpPr>
          <p:cNvPr id="12" name="Text 10"/>
          <p:cNvSpPr/>
          <p:nvPr/>
        </p:nvSpPr>
        <p:spPr>
          <a:xfrm>
            <a:off x="457200" y="1828800"/>
            <a:ext cx="457200" cy="320040"/>
          </a:xfrm>
          <a:prstGeom prst="rect">
            <a:avLst/>
          </a:prstGeom>
          <a:noFill/>
          <a:ln/>
        </p:spPr>
        <p:txBody>
          <a:bodyPr wrap="square"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3" name="Text 11"/>
          <p:cNvSpPr/>
          <p:nvPr/>
        </p:nvSpPr>
        <p:spPr>
          <a:xfrm>
            <a:off x="1051560" y="1828800"/>
            <a:ext cx="2286000" cy="32004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Install MCP Server</a:t>
            </a:r>
            <a:endParaRPr lang="en-US" sz="1100" dirty="0"/>
          </a:p>
        </p:txBody>
      </p:sp>
      <p:sp>
        <p:nvSpPr>
          <p:cNvPr id="14" name="Text 12"/>
          <p:cNvSpPr/>
          <p:nvPr/>
        </p:nvSpPr>
        <p:spPr>
          <a:xfrm>
            <a:off x="3474720" y="1828800"/>
            <a:ext cx="5029200" cy="32004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npm install -g @anthropic/mcp-powerbi</a:t>
            </a:r>
            <a:endParaRPr lang="en-US" sz="1050" dirty="0"/>
          </a:p>
        </p:txBody>
      </p:sp>
      <p:sp>
        <p:nvSpPr>
          <p:cNvPr id="15" name="Shape 13"/>
          <p:cNvSpPr/>
          <p:nvPr/>
        </p:nvSpPr>
        <p:spPr>
          <a:xfrm>
            <a:off x="457200" y="2331720"/>
            <a:ext cx="8229600" cy="502920"/>
          </a:xfrm>
          <a:prstGeom prst="rect">
            <a:avLst/>
          </a:prstGeom>
          <a:solidFill>
            <a:srgbClr val="F1F5F9"/>
          </a:solidFill>
          <a:ln/>
        </p:spPr>
        <p:txBody>
          <a:bodyPr/>
          <a:lstStyle/>
          <a:p>
            <a:endParaRPr lang="en-IN"/>
          </a:p>
        </p:txBody>
      </p:sp>
      <p:sp>
        <p:nvSpPr>
          <p:cNvPr id="16" name="Shape 14"/>
          <p:cNvSpPr/>
          <p:nvPr/>
        </p:nvSpPr>
        <p:spPr>
          <a:xfrm>
            <a:off x="457200" y="2331720"/>
            <a:ext cx="457200" cy="502920"/>
          </a:xfrm>
          <a:prstGeom prst="rect">
            <a:avLst/>
          </a:prstGeom>
          <a:solidFill>
            <a:srgbClr val="7C3AED"/>
          </a:solidFill>
          <a:ln/>
        </p:spPr>
        <p:txBody>
          <a:bodyPr/>
          <a:lstStyle/>
          <a:p>
            <a:endParaRPr lang="en-IN"/>
          </a:p>
        </p:txBody>
      </p:sp>
      <p:sp>
        <p:nvSpPr>
          <p:cNvPr id="17" name="Text 15"/>
          <p:cNvSpPr/>
          <p:nvPr/>
        </p:nvSpPr>
        <p:spPr>
          <a:xfrm>
            <a:off x="457200" y="2423160"/>
            <a:ext cx="457200" cy="320040"/>
          </a:xfrm>
          <a:prstGeom prst="rect">
            <a:avLst/>
          </a:prstGeom>
          <a:noFill/>
          <a:ln/>
        </p:spPr>
        <p:txBody>
          <a:bodyPr wrap="square"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18" name="Text 16"/>
          <p:cNvSpPr/>
          <p:nvPr/>
        </p:nvSpPr>
        <p:spPr>
          <a:xfrm>
            <a:off x="1051560" y="2423160"/>
            <a:ext cx="2286000" cy="32004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Configure Claude Desktop</a:t>
            </a:r>
            <a:endParaRPr lang="en-US" sz="1100" dirty="0"/>
          </a:p>
        </p:txBody>
      </p:sp>
      <p:sp>
        <p:nvSpPr>
          <p:cNvPr id="19" name="Text 17"/>
          <p:cNvSpPr/>
          <p:nvPr/>
        </p:nvSpPr>
        <p:spPr>
          <a:xfrm>
            <a:off x="3474720" y="2423160"/>
            <a:ext cx="5029200" cy="32004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Edit claude_desktop_config.json with MCP server path</a:t>
            </a:r>
            <a:endParaRPr lang="en-US" sz="1050" dirty="0"/>
          </a:p>
        </p:txBody>
      </p:sp>
      <p:sp>
        <p:nvSpPr>
          <p:cNvPr id="20" name="Shape 18"/>
          <p:cNvSpPr/>
          <p:nvPr/>
        </p:nvSpPr>
        <p:spPr>
          <a:xfrm>
            <a:off x="457200" y="2926080"/>
            <a:ext cx="8229600" cy="502920"/>
          </a:xfrm>
          <a:prstGeom prst="rect">
            <a:avLst/>
          </a:prstGeom>
          <a:solidFill>
            <a:srgbClr val="F1F5F9"/>
          </a:solidFill>
          <a:ln/>
        </p:spPr>
        <p:txBody>
          <a:bodyPr/>
          <a:lstStyle/>
          <a:p>
            <a:endParaRPr lang="en-IN"/>
          </a:p>
        </p:txBody>
      </p:sp>
      <p:sp>
        <p:nvSpPr>
          <p:cNvPr id="21" name="Shape 19"/>
          <p:cNvSpPr/>
          <p:nvPr/>
        </p:nvSpPr>
        <p:spPr>
          <a:xfrm>
            <a:off x="457200" y="2926080"/>
            <a:ext cx="457200" cy="502920"/>
          </a:xfrm>
          <a:prstGeom prst="rect">
            <a:avLst/>
          </a:prstGeom>
          <a:solidFill>
            <a:srgbClr val="7C3AED"/>
          </a:solidFill>
          <a:ln/>
        </p:spPr>
        <p:txBody>
          <a:bodyPr/>
          <a:lstStyle/>
          <a:p>
            <a:endParaRPr lang="en-IN"/>
          </a:p>
        </p:txBody>
      </p:sp>
      <p:sp>
        <p:nvSpPr>
          <p:cNvPr id="22" name="Text 20"/>
          <p:cNvSpPr/>
          <p:nvPr/>
        </p:nvSpPr>
        <p:spPr>
          <a:xfrm>
            <a:off x="457200" y="3017520"/>
            <a:ext cx="457200" cy="320040"/>
          </a:xfrm>
          <a:prstGeom prst="rect">
            <a:avLst/>
          </a:prstGeom>
          <a:noFill/>
          <a:ln/>
        </p:spPr>
        <p:txBody>
          <a:bodyPr wrap="square"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4</a:t>
            </a:r>
            <a:endParaRPr lang="en-US" sz="1300" dirty="0"/>
          </a:p>
        </p:txBody>
      </p:sp>
      <p:sp>
        <p:nvSpPr>
          <p:cNvPr id="23" name="Text 21"/>
          <p:cNvSpPr/>
          <p:nvPr/>
        </p:nvSpPr>
        <p:spPr>
          <a:xfrm>
            <a:off x="1051560" y="3017520"/>
            <a:ext cx="2286000" cy="32004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Open Power BI Model</a:t>
            </a:r>
            <a:endParaRPr lang="en-US" sz="1100" dirty="0"/>
          </a:p>
        </p:txBody>
      </p:sp>
      <p:sp>
        <p:nvSpPr>
          <p:cNvPr id="24" name="Text 22"/>
          <p:cNvSpPr/>
          <p:nvPr/>
        </p:nvSpPr>
        <p:spPr>
          <a:xfrm>
            <a:off x="3474720" y="3017520"/>
            <a:ext cx="5029200" cy="32004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Open .pbix file in Power BI Desktop (must be running)</a:t>
            </a:r>
            <a:endParaRPr lang="en-US" sz="1050" dirty="0"/>
          </a:p>
        </p:txBody>
      </p:sp>
      <p:sp>
        <p:nvSpPr>
          <p:cNvPr id="25" name="Shape 23"/>
          <p:cNvSpPr/>
          <p:nvPr/>
        </p:nvSpPr>
        <p:spPr>
          <a:xfrm>
            <a:off x="457200" y="3520440"/>
            <a:ext cx="8229600" cy="502920"/>
          </a:xfrm>
          <a:prstGeom prst="rect">
            <a:avLst/>
          </a:prstGeom>
          <a:solidFill>
            <a:srgbClr val="F1F5F9"/>
          </a:solidFill>
          <a:ln/>
        </p:spPr>
        <p:txBody>
          <a:bodyPr/>
          <a:lstStyle/>
          <a:p>
            <a:endParaRPr lang="en-IN"/>
          </a:p>
        </p:txBody>
      </p:sp>
      <p:sp>
        <p:nvSpPr>
          <p:cNvPr id="26" name="Shape 24"/>
          <p:cNvSpPr/>
          <p:nvPr/>
        </p:nvSpPr>
        <p:spPr>
          <a:xfrm>
            <a:off x="457200" y="3520440"/>
            <a:ext cx="457200" cy="502920"/>
          </a:xfrm>
          <a:prstGeom prst="rect">
            <a:avLst/>
          </a:prstGeom>
          <a:solidFill>
            <a:srgbClr val="7C3AED"/>
          </a:solidFill>
          <a:ln/>
        </p:spPr>
        <p:txBody>
          <a:bodyPr/>
          <a:lstStyle/>
          <a:p>
            <a:endParaRPr lang="en-IN"/>
          </a:p>
        </p:txBody>
      </p:sp>
      <p:sp>
        <p:nvSpPr>
          <p:cNvPr id="27" name="Text 25"/>
          <p:cNvSpPr/>
          <p:nvPr/>
        </p:nvSpPr>
        <p:spPr>
          <a:xfrm>
            <a:off x="457200" y="3611880"/>
            <a:ext cx="457200" cy="320040"/>
          </a:xfrm>
          <a:prstGeom prst="rect">
            <a:avLst/>
          </a:prstGeom>
          <a:noFill/>
          <a:ln/>
        </p:spPr>
        <p:txBody>
          <a:bodyPr wrap="square"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5</a:t>
            </a:r>
            <a:endParaRPr lang="en-US" sz="1300" dirty="0"/>
          </a:p>
        </p:txBody>
      </p:sp>
      <p:sp>
        <p:nvSpPr>
          <p:cNvPr id="28" name="Text 26"/>
          <p:cNvSpPr/>
          <p:nvPr/>
        </p:nvSpPr>
        <p:spPr>
          <a:xfrm>
            <a:off x="1051560" y="3611880"/>
            <a:ext cx="2286000" cy="32004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Connect Claude</a:t>
            </a:r>
            <a:endParaRPr lang="en-US" sz="1100" dirty="0"/>
          </a:p>
        </p:txBody>
      </p:sp>
      <p:sp>
        <p:nvSpPr>
          <p:cNvPr id="29" name="Text 27"/>
          <p:cNvSpPr/>
          <p:nvPr/>
        </p:nvSpPr>
        <p:spPr>
          <a:xfrm>
            <a:off x="3474720" y="3611880"/>
            <a:ext cx="5029200" cy="32004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Start Claude Desktop, verify MCP connection icon</a:t>
            </a:r>
            <a:endParaRPr lang="en-US" sz="1050" dirty="0"/>
          </a:p>
        </p:txBody>
      </p:sp>
      <p:sp>
        <p:nvSpPr>
          <p:cNvPr id="30" name="Shape 28"/>
          <p:cNvSpPr/>
          <p:nvPr/>
        </p:nvSpPr>
        <p:spPr>
          <a:xfrm>
            <a:off x="457200" y="4114800"/>
            <a:ext cx="8229600" cy="502920"/>
          </a:xfrm>
          <a:prstGeom prst="rect">
            <a:avLst/>
          </a:prstGeom>
          <a:solidFill>
            <a:srgbClr val="F1F5F9"/>
          </a:solidFill>
          <a:ln/>
        </p:spPr>
        <p:txBody>
          <a:bodyPr/>
          <a:lstStyle/>
          <a:p>
            <a:endParaRPr lang="en-IN"/>
          </a:p>
        </p:txBody>
      </p:sp>
      <p:sp>
        <p:nvSpPr>
          <p:cNvPr id="31" name="Shape 29"/>
          <p:cNvSpPr/>
          <p:nvPr/>
        </p:nvSpPr>
        <p:spPr>
          <a:xfrm>
            <a:off x="457200" y="4114800"/>
            <a:ext cx="457200" cy="502920"/>
          </a:xfrm>
          <a:prstGeom prst="rect">
            <a:avLst/>
          </a:prstGeom>
          <a:solidFill>
            <a:srgbClr val="7C3AED"/>
          </a:solidFill>
          <a:ln/>
        </p:spPr>
        <p:txBody>
          <a:bodyPr/>
          <a:lstStyle/>
          <a:p>
            <a:endParaRPr lang="en-IN"/>
          </a:p>
        </p:txBody>
      </p:sp>
      <p:sp>
        <p:nvSpPr>
          <p:cNvPr id="32" name="Text 30"/>
          <p:cNvSpPr/>
          <p:nvPr/>
        </p:nvSpPr>
        <p:spPr>
          <a:xfrm>
            <a:off x="457200" y="4206240"/>
            <a:ext cx="457200" cy="320040"/>
          </a:xfrm>
          <a:prstGeom prst="rect">
            <a:avLst/>
          </a:prstGeom>
          <a:noFill/>
          <a:ln/>
        </p:spPr>
        <p:txBody>
          <a:bodyPr wrap="square"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6</a:t>
            </a:r>
            <a:endParaRPr lang="en-US" sz="1300" dirty="0"/>
          </a:p>
        </p:txBody>
      </p:sp>
      <p:sp>
        <p:nvSpPr>
          <p:cNvPr id="33" name="Text 31"/>
          <p:cNvSpPr/>
          <p:nvPr/>
        </p:nvSpPr>
        <p:spPr>
          <a:xfrm>
            <a:off x="1051560" y="4206240"/>
            <a:ext cx="2286000" cy="32004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Start Conversing</a:t>
            </a:r>
            <a:endParaRPr lang="en-US" sz="1100" dirty="0"/>
          </a:p>
        </p:txBody>
      </p:sp>
      <p:sp>
        <p:nvSpPr>
          <p:cNvPr id="34" name="Text 32"/>
          <p:cNvSpPr/>
          <p:nvPr/>
        </p:nvSpPr>
        <p:spPr>
          <a:xfrm>
            <a:off x="3474720" y="4206240"/>
            <a:ext cx="5029200" cy="32004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"List all tables in my model" — you're ready!</a:t>
            </a:r>
            <a:endParaRPr lang="en-US" sz="1050" dirty="0"/>
          </a:p>
        </p:txBody>
      </p:sp>
      <p:sp>
        <p:nvSpPr>
          <p:cNvPr id="35" name="Shape 33"/>
          <p:cNvSpPr/>
          <p:nvPr/>
        </p:nvSpPr>
        <p:spPr>
          <a:xfrm>
            <a:off x="0" y="4846320"/>
            <a:ext cx="9144000" cy="297180"/>
          </a:xfrm>
          <a:prstGeom prst="rect">
            <a:avLst/>
          </a:prstGeom>
          <a:solidFill>
            <a:srgbClr val="F1F5F9"/>
          </a:solidFill>
          <a:ln/>
        </p:spPr>
        <p:txBody>
          <a:bodyPr/>
          <a:lstStyle/>
          <a:p>
            <a:endParaRPr lang="en-IN"/>
          </a:p>
        </p:txBody>
      </p:sp>
      <p:sp>
        <p:nvSpPr>
          <p:cNvPr id="36" name="Text 34"/>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10</a:t>
            </a:r>
            <a:endParaRPr lang="en-US" sz="800" dirty="0"/>
          </a:p>
        </p:txBody>
      </p:sp>
      <p:sp>
        <p:nvSpPr>
          <p:cNvPr id="37" name="Text 35"/>
          <p:cNvSpPr/>
          <p:nvPr/>
        </p:nvSpPr>
        <p:spPr>
          <a:xfrm>
            <a:off x="7955280" y="486460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13 / 30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TOPIC 4</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The Contoso Insurance</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Analytics Model</a:t>
            </a:r>
            <a:endParaRPr lang="en-US" sz="3800" dirty="0"/>
          </a:p>
        </p:txBody>
      </p:sp>
      <p:sp>
        <p:nvSpPr>
          <p:cNvPr id="5" name="Text 3"/>
          <p:cNvSpPr/>
          <p:nvPr/>
        </p:nvSpPr>
        <p:spPr>
          <a:xfrm>
            <a:off x="731520" y="3200400"/>
            <a:ext cx="64008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Building a BFSI Semantic Model with Claude Desktop</a:t>
            </a:r>
            <a:endParaRPr lang="en-US" sz="1500" dirty="0"/>
          </a:p>
        </p:txBody>
      </p:sp>
      <p:sp>
        <p:nvSpPr>
          <p:cNvPr id="6" name="Text 4"/>
          <p:cNvSpPr/>
          <p:nvPr/>
        </p:nvSpPr>
        <p:spPr>
          <a:xfrm>
            <a:off x="7955280" y="4754880"/>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14 / 30</a:t>
            </a:r>
            <a:endParaRPr lang="en-US" sz="900"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600" b="1" dirty="0">
                <a:solidFill>
                  <a:srgbClr val="1E293B"/>
                </a:solidFill>
                <a:latin typeface="Segoe UI" pitchFamily="34" charset="0"/>
                <a:ea typeface="Segoe UI" pitchFamily="34" charset="-122"/>
                <a:cs typeface="Segoe UI" pitchFamily="34" charset="-120"/>
              </a:rPr>
              <a:t>Contoso Insurance Analytics — Model Structure</a:t>
            </a:r>
            <a:endParaRPr lang="en-US" sz="2600" dirty="0"/>
          </a:p>
        </p:txBody>
      </p:sp>
      <p:sp>
        <p:nvSpPr>
          <p:cNvPr id="4" name="Text 2"/>
          <p:cNvSpPr/>
          <p:nvPr/>
        </p:nvSpPr>
        <p:spPr>
          <a:xfrm>
            <a:off x="640080" y="914400"/>
            <a:ext cx="7315200" cy="320040"/>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Core Tables (from Dataverse):</a:t>
            </a:r>
            <a:endParaRPr lang="en-US" sz="1200" dirty="0"/>
          </a:p>
        </p:txBody>
      </p:sp>
      <p:sp>
        <p:nvSpPr>
          <p:cNvPr id="5" name="Shape 3"/>
          <p:cNvSpPr/>
          <p:nvPr/>
        </p:nvSpPr>
        <p:spPr>
          <a:xfrm>
            <a:off x="457200" y="1280160"/>
            <a:ext cx="8229600" cy="438912"/>
          </a:xfrm>
          <a:prstGeom prst="rect">
            <a:avLst/>
          </a:prstGeom>
          <a:solidFill>
            <a:srgbClr val="F1F5F9"/>
          </a:solidFill>
          <a:ln/>
        </p:spPr>
        <p:txBody>
          <a:bodyPr/>
          <a:lstStyle/>
          <a:p>
            <a:endParaRPr lang="en-IN"/>
          </a:p>
        </p:txBody>
      </p:sp>
      <p:sp>
        <p:nvSpPr>
          <p:cNvPr id="6" name="Text 4"/>
          <p:cNvSpPr/>
          <p:nvPr/>
        </p:nvSpPr>
        <p:spPr>
          <a:xfrm>
            <a:off x="594360" y="1335024"/>
            <a:ext cx="365760" cy="329184"/>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7" name="Text 5"/>
          <p:cNvSpPr/>
          <p:nvPr/>
        </p:nvSpPr>
        <p:spPr>
          <a:xfrm>
            <a:off x="1051560" y="1353312"/>
            <a:ext cx="1645920" cy="292608"/>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Customer</a:t>
            </a:r>
            <a:endParaRPr lang="en-US" sz="1200" dirty="0"/>
          </a:p>
        </p:txBody>
      </p:sp>
      <p:sp>
        <p:nvSpPr>
          <p:cNvPr id="8" name="Text 6"/>
          <p:cNvSpPr/>
          <p:nvPr/>
        </p:nvSpPr>
        <p:spPr>
          <a:xfrm>
            <a:off x="2834640" y="1353312"/>
            <a:ext cx="5669280" cy="292608"/>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Customer demographics, risk profiles, segments</a:t>
            </a:r>
            <a:endParaRPr lang="en-US" sz="1100" dirty="0"/>
          </a:p>
        </p:txBody>
      </p:sp>
      <p:sp>
        <p:nvSpPr>
          <p:cNvPr id="9" name="Shape 7"/>
          <p:cNvSpPr/>
          <p:nvPr/>
        </p:nvSpPr>
        <p:spPr>
          <a:xfrm>
            <a:off x="457200" y="1783080"/>
            <a:ext cx="8229600" cy="438912"/>
          </a:xfrm>
          <a:prstGeom prst="rect">
            <a:avLst/>
          </a:prstGeom>
          <a:solidFill>
            <a:srgbClr val="F1F5F9"/>
          </a:solidFill>
          <a:ln/>
        </p:spPr>
        <p:txBody>
          <a:bodyPr/>
          <a:lstStyle/>
          <a:p>
            <a:endParaRPr lang="en-IN"/>
          </a:p>
        </p:txBody>
      </p:sp>
      <p:sp>
        <p:nvSpPr>
          <p:cNvPr id="10" name="Text 8"/>
          <p:cNvSpPr/>
          <p:nvPr/>
        </p:nvSpPr>
        <p:spPr>
          <a:xfrm>
            <a:off x="594360" y="1837944"/>
            <a:ext cx="365760" cy="329184"/>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11" name="Text 9"/>
          <p:cNvSpPr/>
          <p:nvPr/>
        </p:nvSpPr>
        <p:spPr>
          <a:xfrm>
            <a:off x="1051560" y="1856232"/>
            <a:ext cx="1645920" cy="292608"/>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Policy</a:t>
            </a:r>
            <a:endParaRPr lang="en-US" sz="1200" dirty="0"/>
          </a:p>
        </p:txBody>
      </p:sp>
      <p:sp>
        <p:nvSpPr>
          <p:cNvPr id="12" name="Text 10"/>
          <p:cNvSpPr/>
          <p:nvPr/>
        </p:nvSpPr>
        <p:spPr>
          <a:xfrm>
            <a:off x="2834640" y="1856232"/>
            <a:ext cx="5669280" cy="292608"/>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Policy details, premiums, coverage, status</a:t>
            </a:r>
            <a:endParaRPr lang="en-US" sz="1100" dirty="0"/>
          </a:p>
        </p:txBody>
      </p:sp>
      <p:sp>
        <p:nvSpPr>
          <p:cNvPr id="13" name="Shape 11"/>
          <p:cNvSpPr/>
          <p:nvPr/>
        </p:nvSpPr>
        <p:spPr>
          <a:xfrm>
            <a:off x="457200" y="2286000"/>
            <a:ext cx="8229600" cy="438912"/>
          </a:xfrm>
          <a:prstGeom prst="rect">
            <a:avLst/>
          </a:prstGeom>
          <a:solidFill>
            <a:srgbClr val="F1F5F9"/>
          </a:solidFill>
          <a:ln/>
        </p:spPr>
        <p:txBody>
          <a:bodyPr/>
          <a:lstStyle/>
          <a:p>
            <a:endParaRPr lang="en-IN"/>
          </a:p>
        </p:txBody>
      </p:sp>
      <p:sp>
        <p:nvSpPr>
          <p:cNvPr id="14" name="Text 12"/>
          <p:cNvSpPr/>
          <p:nvPr/>
        </p:nvSpPr>
        <p:spPr>
          <a:xfrm>
            <a:off x="594360" y="2340864"/>
            <a:ext cx="365760" cy="329184"/>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15" name="Text 13"/>
          <p:cNvSpPr/>
          <p:nvPr/>
        </p:nvSpPr>
        <p:spPr>
          <a:xfrm>
            <a:off x="1051560" y="2359152"/>
            <a:ext cx="1645920" cy="292608"/>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Claim</a:t>
            </a:r>
            <a:endParaRPr lang="en-US" sz="1200" dirty="0"/>
          </a:p>
        </p:txBody>
      </p:sp>
      <p:sp>
        <p:nvSpPr>
          <p:cNvPr id="16" name="Text 14"/>
          <p:cNvSpPr/>
          <p:nvPr/>
        </p:nvSpPr>
        <p:spPr>
          <a:xfrm>
            <a:off x="2834640" y="2359152"/>
            <a:ext cx="5669280" cy="292608"/>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Claims filed, amounts, outcomes, dates</a:t>
            </a:r>
            <a:endParaRPr lang="en-US" sz="1100" dirty="0"/>
          </a:p>
        </p:txBody>
      </p:sp>
      <p:sp>
        <p:nvSpPr>
          <p:cNvPr id="17" name="Shape 15"/>
          <p:cNvSpPr/>
          <p:nvPr/>
        </p:nvSpPr>
        <p:spPr>
          <a:xfrm>
            <a:off x="457200" y="2788920"/>
            <a:ext cx="8229600" cy="438912"/>
          </a:xfrm>
          <a:prstGeom prst="rect">
            <a:avLst/>
          </a:prstGeom>
          <a:solidFill>
            <a:srgbClr val="F1F5F9"/>
          </a:solidFill>
          <a:ln/>
        </p:spPr>
        <p:txBody>
          <a:bodyPr/>
          <a:lstStyle/>
          <a:p>
            <a:endParaRPr lang="en-IN"/>
          </a:p>
        </p:txBody>
      </p:sp>
      <p:sp>
        <p:nvSpPr>
          <p:cNvPr id="18" name="Text 16"/>
          <p:cNvSpPr/>
          <p:nvPr/>
        </p:nvSpPr>
        <p:spPr>
          <a:xfrm>
            <a:off x="594360" y="2843784"/>
            <a:ext cx="365760" cy="329184"/>
          </a:xfrm>
          <a:prstGeom prst="rect">
            <a:avLst/>
          </a:prstGeom>
          <a:noFill/>
          <a:ln/>
        </p:spPr>
        <p:txBody>
          <a:bodyPr wrap="square" rtlCol="0" anchor="ctr"/>
          <a:lstStyle/>
          <a:p>
            <a:pPr marL="0" indent="0">
              <a:buNone/>
            </a:pPr>
            <a:r>
              <a:rPr lang="en-US" sz="1400" dirty="0">
                <a:solidFill>
                  <a:srgbClr val="000000"/>
                </a:solidFill>
              </a:rPr>
              <a:t>📊</a:t>
            </a:r>
            <a:endParaRPr lang="en-US" sz="1400" dirty="0"/>
          </a:p>
        </p:txBody>
      </p:sp>
      <p:sp>
        <p:nvSpPr>
          <p:cNvPr id="19" name="Text 17"/>
          <p:cNvSpPr/>
          <p:nvPr/>
        </p:nvSpPr>
        <p:spPr>
          <a:xfrm>
            <a:off x="1051560" y="2862072"/>
            <a:ext cx="1645920" cy="292608"/>
          </a:xfrm>
          <a:prstGeom prst="rect">
            <a:avLst/>
          </a:prstGeom>
          <a:noFill/>
          <a:ln/>
        </p:spPr>
        <p:txBody>
          <a:bodyPr wrap="square" rtlCol="0" anchor="ctr"/>
          <a:lstStyle/>
          <a:p>
            <a:pPr marL="0" indent="0">
              <a:buNone/>
            </a:pPr>
            <a:r>
              <a:rPr lang="en-US" sz="1200" b="1" dirty="0">
                <a:solidFill>
                  <a:srgbClr val="1E293B"/>
                </a:solidFill>
                <a:latin typeface="Segoe UI" pitchFamily="34" charset="0"/>
                <a:ea typeface="Segoe UI" pitchFamily="34" charset="-122"/>
                <a:cs typeface="Segoe UI" pitchFamily="34" charset="-120"/>
              </a:rPr>
              <a:t>Transaction</a:t>
            </a:r>
            <a:endParaRPr lang="en-US" sz="1200" dirty="0"/>
          </a:p>
        </p:txBody>
      </p:sp>
      <p:sp>
        <p:nvSpPr>
          <p:cNvPr id="20" name="Text 18"/>
          <p:cNvSpPr/>
          <p:nvPr/>
        </p:nvSpPr>
        <p:spPr>
          <a:xfrm>
            <a:off x="2834640" y="2862072"/>
            <a:ext cx="5669280" cy="292608"/>
          </a:xfrm>
          <a:prstGeom prst="rect">
            <a:avLst/>
          </a:prstGeom>
          <a:noFill/>
          <a:ln/>
        </p:spPr>
        <p:txBody>
          <a:bodyPr wrap="square" rtlCol="0" anchor="ctr"/>
          <a:lstStyle/>
          <a:p>
            <a:pPr marL="0" indent="0">
              <a:buNone/>
            </a:pPr>
            <a:r>
              <a:rPr lang="en-US" sz="1100" dirty="0">
                <a:solidFill>
                  <a:srgbClr val="475569"/>
                </a:solidFill>
                <a:latin typeface="Segoe UI" pitchFamily="34" charset="0"/>
                <a:ea typeface="Segoe UI" pitchFamily="34" charset="-122"/>
                <a:cs typeface="Segoe UI" pitchFamily="34" charset="-120"/>
              </a:rPr>
              <a:t>Financial transactions, payments, refunds</a:t>
            </a:r>
            <a:endParaRPr lang="en-US" sz="1100" dirty="0"/>
          </a:p>
        </p:txBody>
      </p:sp>
      <p:sp>
        <p:nvSpPr>
          <p:cNvPr id="21" name="Text 19"/>
          <p:cNvSpPr/>
          <p:nvPr/>
        </p:nvSpPr>
        <p:spPr>
          <a:xfrm>
            <a:off x="640080" y="3383280"/>
            <a:ext cx="7315200" cy="320040"/>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Relationships:</a:t>
            </a:r>
            <a:endParaRPr lang="en-US" sz="1200" dirty="0"/>
          </a:p>
        </p:txBody>
      </p:sp>
      <p:sp>
        <p:nvSpPr>
          <p:cNvPr id="22" name="Shape 20"/>
          <p:cNvSpPr/>
          <p:nvPr/>
        </p:nvSpPr>
        <p:spPr>
          <a:xfrm>
            <a:off x="457200" y="3749040"/>
            <a:ext cx="8229600" cy="914400"/>
          </a:xfrm>
          <a:prstGeom prst="rect">
            <a:avLst/>
          </a:prstGeom>
          <a:solidFill>
            <a:srgbClr val="F1F5F9"/>
          </a:solidFill>
          <a:ln/>
        </p:spPr>
        <p:txBody>
          <a:bodyPr/>
          <a:lstStyle/>
          <a:p>
            <a:endParaRPr lang="en-IN"/>
          </a:p>
        </p:txBody>
      </p:sp>
      <p:sp>
        <p:nvSpPr>
          <p:cNvPr id="23" name="Text 21"/>
          <p:cNvSpPr/>
          <p:nvPr/>
        </p:nvSpPr>
        <p:spPr>
          <a:xfrm>
            <a:off x="640080" y="3840480"/>
            <a:ext cx="7863840" cy="731520"/>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Customer (1) → (*) Policy → (*) Claim → (*) Transaction</a:t>
            </a:r>
            <a:endParaRPr lang="en-US" sz="1100" dirty="0"/>
          </a:p>
          <a:p>
            <a:pPr marL="0" indent="0">
              <a:buNone/>
            </a:pP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Classic star schema with Customer as the primary dimension</a:t>
            </a:r>
            <a:endParaRPr lang="en-US" sz="1100" dirty="0"/>
          </a:p>
        </p:txBody>
      </p:sp>
      <p:sp>
        <p:nvSpPr>
          <p:cNvPr id="24" name="Shape 22"/>
          <p:cNvSpPr/>
          <p:nvPr/>
        </p:nvSpPr>
        <p:spPr>
          <a:xfrm>
            <a:off x="0" y="4846320"/>
            <a:ext cx="9144000" cy="297180"/>
          </a:xfrm>
          <a:prstGeom prst="rect">
            <a:avLst/>
          </a:prstGeom>
          <a:solidFill>
            <a:srgbClr val="F1F5F9"/>
          </a:solidFill>
          <a:ln/>
        </p:spPr>
        <p:txBody>
          <a:bodyPr/>
          <a:lstStyle/>
          <a:p>
            <a:endParaRPr lang="en-IN"/>
          </a:p>
        </p:txBody>
      </p:sp>
      <p:sp>
        <p:nvSpPr>
          <p:cNvPr id="25" name="Text 2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10</a:t>
            </a:r>
            <a:endParaRPr lang="en-US" sz="800" dirty="0"/>
          </a:p>
        </p:txBody>
      </p:sp>
      <p:sp>
        <p:nvSpPr>
          <p:cNvPr id="26" name="Text 24"/>
          <p:cNvSpPr/>
          <p:nvPr/>
        </p:nvSpPr>
        <p:spPr>
          <a:xfrm>
            <a:off x="7955280" y="482346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15 / 30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Key BFSI Measures to Build</a:t>
            </a:r>
            <a:endParaRPr lang="en-US" sz="2800" dirty="0"/>
          </a:p>
        </p:txBody>
      </p:sp>
      <p:sp>
        <p:nvSpPr>
          <p:cNvPr id="4" name="Text 2"/>
          <p:cNvSpPr/>
          <p:nvPr/>
        </p:nvSpPr>
        <p:spPr>
          <a:xfrm>
            <a:off x="640080" y="777240"/>
            <a:ext cx="786384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These measures will be created conversationally using Claude Desktop:</a:t>
            </a:r>
            <a:endParaRPr lang="en-US" sz="1200" dirty="0"/>
          </a:p>
        </p:txBody>
      </p:sp>
      <p:sp>
        <p:nvSpPr>
          <p:cNvPr id="5" name="Shape 3"/>
          <p:cNvSpPr/>
          <p:nvPr/>
        </p:nvSpPr>
        <p:spPr>
          <a:xfrm>
            <a:off x="457200" y="1143000"/>
            <a:ext cx="8229600" cy="530352"/>
          </a:xfrm>
          <a:prstGeom prst="rect">
            <a:avLst/>
          </a:prstGeom>
          <a:solidFill>
            <a:srgbClr val="F1F5F9"/>
          </a:solidFill>
          <a:ln/>
        </p:spPr>
        <p:txBody>
          <a:bodyPr/>
          <a:lstStyle/>
          <a:p>
            <a:endParaRPr lang="en-IN"/>
          </a:p>
        </p:txBody>
      </p:sp>
      <p:sp>
        <p:nvSpPr>
          <p:cNvPr id="6" name="Text 4"/>
          <p:cNvSpPr/>
          <p:nvPr/>
        </p:nvSpPr>
        <p:spPr>
          <a:xfrm>
            <a:off x="640080" y="1216152"/>
            <a:ext cx="2286000" cy="384048"/>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Claims Loss Ratio</a:t>
            </a:r>
            <a:endParaRPr lang="en-US" sz="1100" dirty="0"/>
          </a:p>
        </p:txBody>
      </p:sp>
      <p:sp>
        <p:nvSpPr>
          <p:cNvPr id="7" name="Text 5"/>
          <p:cNvSpPr/>
          <p:nvPr/>
        </p:nvSpPr>
        <p:spPr>
          <a:xfrm>
            <a:off x="3017520" y="1216152"/>
            <a:ext cx="3200400" cy="384048"/>
          </a:xfrm>
          <a:prstGeom prst="rect">
            <a:avLst/>
          </a:prstGeom>
          <a:noFill/>
          <a:ln/>
        </p:spPr>
        <p:txBody>
          <a:bodyPr wrap="square" rtlCol="0" anchor="ctr"/>
          <a:lstStyle/>
          <a:p>
            <a:pPr marL="0" indent="0">
              <a:buNone/>
            </a:pPr>
            <a:r>
              <a:rPr lang="en-US" sz="950" dirty="0">
                <a:solidFill>
                  <a:srgbClr val="1E293B"/>
                </a:solidFill>
                <a:latin typeface="Consolas" pitchFamily="34" charset="0"/>
                <a:ea typeface="Consolas" pitchFamily="34" charset="-122"/>
                <a:cs typeface="Consolas" pitchFamily="34" charset="-120"/>
              </a:rPr>
              <a:t>Total Claims Paid ÷ Total Premiums Collected</a:t>
            </a:r>
            <a:endParaRPr lang="en-US" sz="950" dirty="0"/>
          </a:p>
        </p:txBody>
      </p:sp>
      <p:sp>
        <p:nvSpPr>
          <p:cNvPr id="8" name="Text 6"/>
          <p:cNvSpPr/>
          <p:nvPr/>
        </p:nvSpPr>
        <p:spPr>
          <a:xfrm>
            <a:off x="6400800" y="1216152"/>
            <a:ext cx="2103120" cy="384048"/>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Core profitability metric</a:t>
            </a:r>
            <a:endParaRPr lang="en-US" sz="950" dirty="0"/>
          </a:p>
        </p:txBody>
      </p:sp>
      <p:sp>
        <p:nvSpPr>
          <p:cNvPr id="9" name="Shape 7"/>
          <p:cNvSpPr/>
          <p:nvPr/>
        </p:nvSpPr>
        <p:spPr>
          <a:xfrm>
            <a:off x="457200" y="1737360"/>
            <a:ext cx="8229600" cy="530352"/>
          </a:xfrm>
          <a:prstGeom prst="rect">
            <a:avLst/>
          </a:prstGeom>
          <a:solidFill>
            <a:srgbClr val="F1F5F9"/>
          </a:solidFill>
          <a:ln/>
        </p:spPr>
        <p:txBody>
          <a:bodyPr/>
          <a:lstStyle/>
          <a:p>
            <a:endParaRPr lang="en-IN"/>
          </a:p>
        </p:txBody>
      </p:sp>
      <p:sp>
        <p:nvSpPr>
          <p:cNvPr id="10" name="Text 8"/>
          <p:cNvSpPr/>
          <p:nvPr/>
        </p:nvSpPr>
        <p:spPr>
          <a:xfrm>
            <a:off x="640080" y="1810512"/>
            <a:ext cx="2286000" cy="384048"/>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Policy Renewal Rate</a:t>
            </a:r>
            <a:endParaRPr lang="en-US" sz="1100" dirty="0"/>
          </a:p>
        </p:txBody>
      </p:sp>
      <p:sp>
        <p:nvSpPr>
          <p:cNvPr id="11" name="Text 9"/>
          <p:cNvSpPr/>
          <p:nvPr/>
        </p:nvSpPr>
        <p:spPr>
          <a:xfrm>
            <a:off x="3017520" y="1810512"/>
            <a:ext cx="3200400" cy="384048"/>
          </a:xfrm>
          <a:prstGeom prst="rect">
            <a:avLst/>
          </a:prstGeom>
          <a:noFill/>
          <a:ln/>
        </p:spPr>
        <p:txBody>
          <a:bodyPr wrap="square" rtlCol="0" anchor="ctr"/>
          <a:lstStyle/>
          <a:p>
            <a:pPr marL="0" indent="0">
              <a:buNone/>
            </a:pPr>
            <a:r>
              <a:rPr lang="en-US" sz="950" dirty="0">
                <a:solidFill>
                  <a:srgbClr val="1E293B"/>
                </a:solidFill>
                <a:latin typeface="Consolas" pitchFamily="34" charset="0"/>
                <a:ea typeface="Consolas" pitchFamily="34" charset="-122"/>
                <a:cs typeface="Consolas" pitchFamily="34" charset="-120"/>
              </a:rPr>
              <a:t>Renewed Policies ÷ Expiring Policies</a:t>
            </a:r>
            <a:endParaRPr lang="en-US" sz="950" dirty="0"/>
          </a:p>
        </p:txBody>
      </p:sp>
      <p:sp>
        <p:nvSpPr>
          <p:cNvPr id="12" name="Text 10"/>
          <p:cNvSpPr/>
          <p:nvPr/>
        </p:nvSpPr>
        <p:spPr>
          <a:xfrm>
            <a:off x="6400800" y="1810512"/>
            <a:ext cx="2103120" cy="384048"/>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Customer retention KPI</a:t>
            </a:r>
            <a:endParaRPr lang="en-US" sz="950" dirty="0"/>
          </a:p>
        </p:txBody>
      </p:sp>
      <p:sp>
        <p:nvSpPr>
          <p:cNvPr id="13" name="Shape 11"/>
          <p:cNvSpPr/>
          <p:nvPr/>
        </p:nvSpPr>
        <p:spPr>
          <a:xfrm>
            <a:off x="457200" y="2331720"/>
            <a:ext cx="8229600" cy="530352"/>
          </a:xfrm>
          <a:prstGeom prst="rect">
            <a:avLst/>
          </a:prstGeom>
          <a:solidFill>
            <a:srgbClr val="F1F5F9"/>
          </a:solidFill>
          <a:ln/>
        </p:spPr>
        <p:txBody>
          <a:bodyPr/>
          <a:lstStyle/>
          <a:p>
            <a:endParaRPr lang="en-IN"/>
          </a:p>
        </p:txBody>
      </p:sp>
      <p:sp>
        <p:nvSpPr>
          <p:cNvPr id="14" name="Text 12"/>
          <p:cNvSpPr/>
          <p:nvPr/>
        </p:nvSpPr>
        <p:spPr>
          <a:xfrm>
            <a:off x="640080" y="2404872"/>
            <a:ext cx="2286000" cy="384048"/>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High Risk Customer Count</a:t>
            </a:r>
            <a:endParaRPr lang="en-US" sz="1100" dirty="0"/>
          </a:p>
        </p:txBody>
      </p:sp>
      <p:sp>
        <p:nvSpPr>
          <p:cNvPr id="15" name="Text 13"/>
          <p:cNvSpPr/>
          <p:nvPr/>
        </p:nvSpPr>
        <p:spPr>
          <a:xfrm>
            <a:off x="3017520" y="2404872"/>
            <a:ext cx="3200400" cy="384048"/>
          </a:xfrm>
          <a:prstGeom prst="rect">
            <a:avLst/>
          </a:prstGeom>
          <a:noFill/>
          <a:ln/>
        </p:spPr>
        <p:txBody>
          <a:bodyPr wrap="square" rtlCol="0" anchor="ctr"/>
          <a:lstStyle/>
          <a:p>
            <a:pPr marL="0" indent="0">
              <a:buNone/>
            </a:pPr>
            <a:r>
              <a:rPr lang="en-US" sz="950" dirty="0">
                <a:solidFill>
                  <a:srgbClr val="1E293B"/>
                </a:solidFill>
                <a:latin typeface="Consolas" pitchFamily="34" charset="0"/>
                <a:ea typeface="Consolas" pitchFamily="34" charset="-122"/>
                <a:cs typeface="Consolas" pitchFamily="34" charset="-120"/>
              </a:rPr>
              <a:t>COUNTROWS(FILTER(Customer, RiskScore &gt; 7))</a:t>
            </a:r>
            <a:endParaRPr lang="en-US" sz="950" dirty="0"/>
          </a:p>
        </p:txBody>
      </p:sp>
      <p:sp>
        <p:nvSpPr>
          <p:cNvPr id="16" name="Text 14"/>
          <p:cNvSpPr/>
          <p:nvPr/>
        </p:nvSpPr>
        <p:spPr>
          <a:xfrm>
            <a:off x="6400800" y="2404872"/>
            <a:ext cx="2103120" cy="384048"/>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Risk exposure monitoring</a:t>
            </a:r>
            <a:endParaRPr lang="en-US" sz="950" dirty="0"/>
          </a:p>
        </p:txBody>
      </p:sp>
      <p:sp>
        <p:nvSpPr>
          <p:cNvPr id="17" name="Shape 15"/>
          <p:cNvSpPr/>
          <p:nvPr/>
        </p:nvSpPr>
        <p:spPr>
          <a:xfrm>
            <a:off x="457200" y="2926080"/>
            <a:ext cx="8229600" cy="530352"/>
          </a:xfrm>
          <a:prstGeom prst="rect">
            <a:avLst/>
          </a:prstGeom>
          <a:solidFill>
            <a:srgbClr val="F1F5F9"/>
          </a:solidFill>
          <a:ln/>
        </p:spPr>
        <p:txBody>
          <a:bodyPr/>
          <a:lstStyle/>
          <a:p>
            <a:endParaRPr lang="en-IN"/>
          </a:p>
        </p:txBody>
      </p:sp>
      <p:sp>
        <p:nvSpPr>
          <p:cNvPr id="18" name="Text 16"/>
          <p:cNvSpPr/>
          <p:nvPr/>
        </p:nvSpPr>
        <p:spPr>
          <a:xfrm>
            <a:off x="640080" y="2999232"/>
            <a:ext cx="2286000" cy="384048"/>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Average Claim Amount</a:t>
            </a:r>
            <a:endParaRPr lang="en-US" sz="1100" dirty="0"/>
          </a:p>
        </p:txBody>
      </p:sp>
      <p:sp>
        <p:nvSpPr>
          <p:cNvPr id="19" name="Text 17"/>
          <p:cNvSpPr/>
          <p:nvPr/>
        </p:nvSpPr>
        <p:spPr>
          <a:xfrm>
            <a:off x="3017520" y="2999232"/>
            <a:ext cx="3200400" cy="384048"/>
          </a:xfrm>
          <a:prstGeom prst="rect">
            <a:avLst/>
          </a:prstGeom>
          <a:noFill/>
          <a:ln/>
        </p:spPr>
        <p:txBody>
          <a:bodyPr wrap="square" rtlCol="0" anchor="ctr"/>
          <a:lstStyle/>
          <a:p>
            <a:pPr marL="0" indent="0">
              <a:buNone/>
            </a:pPr>
            <a:r>
              <a:rPr lang="en-US" sz="950" dirty="0">
                <a:solidFill>
                  <a:srgbClr val="1E293B"/>
                </a:solidFill>
                <a:latin typeface="Consolas" pitchFamily="34" charset="0"/>
                <a:ea typeface="Consolas" pitchFamily="34" charset="-122"/>
                <a:cs typeface="Consolas" pitchFamily="34" charset="-120"/>
              </a:rPr>
              <a:t>AVERAGE(Claim[Amount])</a:t>
            </a:r>
            <a:endParaRPr lang="en-US" sz="950" dirty="0"/>
          </a:p>
        </p:txBody>
      </p:sp>
      <p:sp>
        <p:nvSpPr>
          <p:cNvPr id="20" name="Text 18"/>
          <p:cNvSpPr/>
          <p:nvPr/>
        </p:nvSpPr>
        <p:spPr>
          <a:xfrm>
            <a:off x="6400800" y="2999232"/>
            <a:ext cx="2103120" cy="384048"/>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Claims analysis baseline</a:t>
            </a:r>
            <a:endParaRPr lang="en-US" sz="950" dirty="0"/>
          </a:p>
        </p:txBody>
      </p:sp>
      <p:sp>
        <p:nvSpPr>
          <p:cNvPr id="21" name="Shape 19"/>
          <p:cNvSpPr/>
          <p:nvPr/>
        </p:nvSpPr>
        <p:spPr>
          <a:xfrm>
            <a:off x="457200" y="3520440"/>
            <a:ext cx="8229600" cy="530352"/>
          </a:xfrm>
          <a:prstGeom prst="rect">
            <a:avLst/>
          </a:prstGeom>
          <a:solidFill>
            <a:srgbClr val="F1F5F9"/>
          </a:solidFill>
          <a:ln/>
        </p:spPr>
        <p:txBody>
          <a:bodyPr/>
          <a:lstStyle/>
          <a:p>
            <a:endParaRPr lang="en-IN"/>
          </a:p>
        </p:txBody>
      </p:sp>
      <p:sp>
        <p:nvSpPr>
          <p:cNvPr id="22" name="Text 20"/>
          <p:cNvSpPr/>
          <p:nvPr/>
        </p:nvSpPr>
        <p:spPr>
          <a:xfrm>
            <a:off x="640080" y="3593592"/>
            <a:ext cx="2286000" cy="384048"/>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Transaction Volume MTD</a:t>
            </a:r>
            <a:endParaRPr lang="en-US" sz="1100" dirty="0"/>
          </a:p>
        </p:txBody>
      </p:sp>
      <p:sp>
        <p:nvSpPr>
          <p:cNvPr id="23" name="Text 21"/>
          <p:cNvSpPr/>
          <p:nvPr/>
        </p:nvSpPr>
        <p:spPr>
          <a:xfrm>
            <a:off x="3017520" y="3593592"/>
            <a:ext cx="3200400" cy="384048"/>
          </a:xfrm>
          <a:prstGeom prst="rect">
            <a:avLst/>
          </a:prstGeom>
          <a:noFill/>
          <a:ln/>
        </p:spPr>
        <p:txBody>
          <a:bodyPr wrap="square" rtlCol="0" anchor="ctr"/>
          <a:lstStyle/>
          <a:p>
            <a:pPr marL="0" indent="0">
              <a:buNone/>
            </a:pPr>
            <a:r>
              <a:rPr lang="en-US" sz="950" dirty="0">
                <a:solidFill>
                  <a:srgbClr val="1E293B"/>
                </a:solidFill>
                <a:latin typeface="Consolas" pitchFamily="34" charset="0"/>
                <a:ea typeface="Consolas" pitchFamily="34" charset="-122"/>
                <a:cs typeface="Consolas" pitchFamily="34" charset="-120"/>
              </a:rPr>
              <a:t>Month-to-date transaction count</a:t>
            </a:r>
            <a:endParaRPr lang="en-US" sz="950" dirty="0"/>
          </a:p>
        </p:txBody>
      </p:sp>
      <p:sp>
        <p:nvSpPr>
          <p:cNvPr id="24" name="Text 22"/>
          <p:cNvSpPr/>
          <p:nvPr/>
        </p:nvSpPr>
        <p:spPr>
          <a:xfrm>
            <a:off x="6400800" y="3593592"/>
            <a:ext cx="2103120" cy="384048"/>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Operational monitoring</a:t>
            </a:r>
            <a:endParaRPr lang="en-US" sz="950" dirty="0"/>
          </a:p>
        </p:txBody>
      </p:sp>
      <p:sp>
        <p:nvSpPr>
          <p:cNvPr id="25" name="Shape 23"/>
          <p:cNvSpPr/>
          <p:nvPr/>
        </p:nvSpPr>
        <p:spPr>
          <a:xfrm>
            <a:off x="457200" y="4114800"/>
            <a:ext cx="8229600" cy="530352"/>
          </a:xfrm>
          <a:prstGeom prst="rect">
            <a:avLst/>
          </a:prstGeom>
          <a:solidFill>
            <a:srgbClr val="F1F5F9"/>
          </a:solidFill>
          <a:ln/>
        </p:spPr>
        <p:txBody>
          <a:bodyPr/>
          <a:lstStyle/>
          <a:p>
            <a:endParaRPr lang="en-IN"/>
          </a:p>
        </p:txBody>
      </p:sp>
      <p:sp>
        <p:nvSpPr>
          <p:cNvPr id="26" name="Text 24"/>
          <p:cNvSpPr/>
          <p:nvPr/>
        </p:nvSpPr>
        <p:spPr>
          <a:xfrm>
            <a:off x="640080" y="4187952"/>
            <a:ext cx="2286000" cy="384048"/>
          </a:xfrm>
          <a:prstGeom prst="rect">
            <a:avLst/>
          </a:prstGeom>
          <a:noFill/>
          <a:ln/>
        </p:spPr>
        <p:txBody>
          <a:bodyPr wrap="square" rtlCol="0" anchor="ctr"/>
          <a:lstStyle/>
          <a:p>
            <a:pPr marL="0" indent="0">
              <a:buNone/>
            </a:pPr>
            <a:r>
              <a:rPr lang="en-US" sz="1100" b="1" dirty="0">
                <a:solidFill>
                  <a:srgbClr val="0891B2"/>
                </a:solidFill>
                <a:latin typeface="Segoe UI" pitchFamily="34" charset="0"/>
                <a:ea typeface="Segoe UI" pitchFamily="34" charset="-122"/>
                <a:cs typeface="Segoe UI" pitchFamily="34" charset="-120"/>
              </a:rPr>
              <a:t>Customer Lifetime Value</a:t>
            </a:r>
            <a:endParaRPr lang="en-US" sz="1100" dirty="0"/>
          </a:p>
        </p:txBody>
      </p:sp>
      <p:sp>
        <p:nvSpPr>
          <p:cNvPr id="27" name="Text 25"/>
          <p:cNvSpPr/>
          <p:nvPr/>
        </p:nvSpPr>
        <p:spPr>
          <a:xfrm>
            <a:off x="3017520" y="4187952"/>
            <a:ext cx="3200400" cy="384048"/>
          </a:xfrm>
          <a:prstGeom prst="rect">
            <a:avLst/>
          </a:prstGeom>
          <a:noFill/>
          <a:ln/>
        </p:spPr>
        <p:txBody>
          <a:bodyPr wrap="square" rtlCol="0" anchor="ctr"/>
          <a:lstStyle/>
          <a:p>
            <a:pPr marL="0" indent="0">
              <a:buNone/>
            </a:pPr>
            <a:r>
              <a:rPr lang="en-US" sz="950" dirty="0">
                <a:solidFill>
                  <a:srgbClr val="1E293B"/>
                </a:solidFill>
                <a:latin typeface="Consolas" pitchFamily="34" charset="0"/>
                <a:ea typeface="Consolas" pitchFamily="34" charset="-122"/>
                <a:cs typeface="Consolas" pitchFamily="34" charset="-120"/>
              </a:rPr>
              <a:t>Total premiums − Total claims by customer</a:t>
            </a:r>
            <a:endParaRPr lang="en-US" sz="950" dirty="0"/>
          </a:p>
        </p:txBody>
      </p:sp>
      <p:sp>
        <p:nvSpPr>
          <p:cNvPr id="28" name="Text 26"/>
          <p:cNvSpPr/>
          <p:nvPr/>
        </p:nvSpPr>
        <p:spPr>
          <a:xfrm>
            <a:off x="6400800" y="4187952"/>
            <a:ext cx="2103120" cy="384048"/>
          </a:xfrm>
          <a:prstGeom prst="rect">
            <a:avLst/>
          </a:prstGeom>
          <a:noFill/>
          <a:ln/>
        </p:spPr>
        <p:txBody>
          <a:bodyPr wrap="square" rtlCol="0" anchor="ctr"/>
          <a:lstStyle/>
          <a:p>
            <a:pPr marL="0" indent="0">
              <a:buNone/>
            </a:pPr>
            <a:r>
              <a:rPr lang="en-US" sz="950" dirty="0">
                <a:solidFill>
                  <a:srgbClr val="475569"/>
                </a:solidFill>
                <a:latin typeface="Segoe UI" pitchFamily="34" charset="0"/>
                <a:ea typeface="Segoe UI" pitchFamily="34" charset="-122"/>
                <a:cs typeface="Segoe UI" pitchFamily="34" charset="-120"/>
              </a:rPr>
              <a:t>Customer profitability</a:t>
            </a:r>
            <a:endParaRPr lang="en-US" sz="950" dirty="0"/>
          </a:p>
        </p:txBody>
      </p:sp>
      <p:sp>
        <p:nvSpPr>
          <p:cNvPr id="29" name="Shape 27"/>
          <p:cNvSpPr/>
          <p:nvPr/>
        </p:nvSpPr>
        <p:spPr>
          <a:xfrm>
            <a:off x="0" y="4846320"/>
            <a:ext cx="9144000" cy="297180"/>
          </a:xfrm>
          <a:prstGeom prst="rect">
            <a:avLst/>
          </a:prstGeom>
          <a:solidFill>
            <a:srgbClr val="F1F5F9"/>
          </a:solidFill>
          <a:ln/>
        </p:spPr>
        <p:txBody>
          <a:bodyPr/>
          <a:lstStyle/>
          <a:p>
            <a:endParaRPr lang="en-IN"/>
          </a:p>
        </p:txBody>
      </p:sp>
      <p:sp>
        <p:nvSpPr>
          <p:cNvPr id="30" name="Text 28"/>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10</a:t>
            </a:r>
            <a:endParaRPr lang="en-US" sz="800" dirty="0"/>
          </a:p>
        </p:txBody>
      </p:sp>
      <p:sp>
        <p:nvSpPr>
          <p:cNvPr id="31" name="Text 29"/>
          <p:cNvSpPr/>
          <p:nvPr/>
        </p:nvSpPr>
        <p:spPr>
          <a:xfrm>
            <a:off x="7955280" y="482346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16 / 30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891B2"/>
          </a:solidFill>
          <a:ln/>
        </p:spPr>
        <p:txBody>
          <a:bodyPr/>
          <a:lstStyle/>
          <a:p>
            <a:endParaRPr lang="en-IN"/>
          </a:p>
        </p:txBody>
      </p:sp>
      <p:sp>
        <p:nvSpPr>
          <p:cNvPr id="3" name="Text 1"/>
          <p:cNvSpPr/>
          <p:nvPr/>
        </p:nvSpPr>
        <p:spPr>
          <a:xfrm>
            <a:off x="731520" y="1371600"/>
            <a:ext cx="3657600" cy="365760"/>
          </a:xfrm>
          <a:prstGeom prst="rect">
            <a:avLst/>
          </a:prstGeom>
          <a:noFill/>
          <a:ln/>
        </p:spPr>
        <p:txBody>
          <a:bodyPr wrap="square" rtlCol="0" anchor="ctr"/>
          <a:lstStyle/>
          <a:p>
            <a:pPr marL="0" indent="0">
              <a:buNone/>
            </a:pPr>
            <a:r>
              <a:rPr lang="en-US" sz="1300" b="1" dirty="0">
                <a:solidFill>
                  <a:srgbClr val="0891B2"/>
                </a:solidFill>
                <a:latin typeface="Segoe UI" pitchFamily="34" charset="0"/>
                <a:ea typeface="Segoe UI" pitchFamily="34" charset="-122"/>
                <a:cs typeface="Segoe UI" pitchFamily="34" charset="-120"/>
              </a:rPr>
              <a:t>TOPIC 5</a:t>
            </a:r>
            <a:endParaRPr lang="en-US" sz="1300" dirty="0"/>
          </a:p>
        </p:txBody>
      </p:sp>
      <p:sp>
        <p:nvSpPr>
          <p:cNvPr id="4" name="Text 2"/>
          <p:cNvSpPr/>
          <p:nvPr/>
        </p:nvSpPr>
        <p:spPr>
          <a:xfrm>
            <a:off x="731520" y="1828800"/>
            <a:ext cx="6400800" cy="1371600"/>
          </a:xfrm>
          <a:prstGeom prst="rect">
            <a:avLst/>
          </a:prstGeom>
          <a:noFill/>
          <a:ln/>
        </p:spPr>
        <p:txBody>
          <a:bodyPr wrap="square" rtlCol="0" anchor="ctr"/>
          <a:lstStyle/>
          <a:p>
            <a:pPr marL="0" indent="0">
              <a:buNone/>
            </a:pPr>
            <a:r>
              <a:rPr lang="en-US" sz="3800" b="1" dirty="0">
                <a:solidFill>
                  <a:srgbClr val="FFFFFF"/>
                </a:solidFill>
                <a:latin typeface="Segoe UI" pitchFamily="34" charset="0"/>
                <a:ea typeface="Segoe UI" pitchFamily="34" charset="-122"/>
                <a:cs typeface="Segoe UI" pitchFamily="34" charset="-120"/>
              </a:rPr>
              <a:t>Security</a:t>
            </a:r>
            <a:endParaRPr lang="en-US" sz="3800" dirty="0"/>
          </a:p>
          <a:p>
            <a:pPr marL="0" indent="0">
              <a:buNone/>
            </a:pPr>
            <a:r>
              <a:rPr lang="en-US" sz="3800" b="1" dirty="0">
                <a:solidFill>
                  <a:srgbClr val="FFFFFF"/>
                </a:solidFill>
                <a:latin typeface="Segoe UI" pitchFamily="34" charset="0"/>
                <a:ea typeface="Segoe UI" pitchFamily="34" charset="-122"/>
                <a:cs typeface="Segoe UI" pitchFamily="34" charset="-120"/>
              </a:rPr>
              <a:t>Considerations</a:t>
            </a:r>
            <a:endParaRPr lang="en-US" sz="3800" dirty="0"/>
          </a:p>
        </p:txBody>
      </p:sp>
      <p:sp>
        <p:nvSpPr>
          <p:cNvPr id="5" name="Text 3"/>
          <p:cNvSpPr/>
          <p:nvPr/>
        </p:nvSpPr>
        <p:spPr>
          <a:xfrm>
            <a:off x="731520" y="3200400"/>
            <a:ext cx="6400800" cy="457200"/>
          </a:xfrm>
          <a:prstGeom prst="rect">
            <a:avLst/>
          </a:prstGeom>
          <a:noFill/>
          <a:ln/>
        </p:spPr>
        <p:txBody>
          <a:bodyPr wrap="square" rtlCol="0" anchor="ctr"/>
          <a:lstStyle/>
          <a:p>
            <a:pPr marL="0" indent="0">
              <a:buNone/>
            </a:pPr>
            <a:r>
              <a:rPr lang="en-US" sz="1500" dirty="0">
                <a:solidFill>
                  <a:srgbClr val="94A3B8"/>
                </a:solidFill>
                <a:latin typeface="Segoe UI" pitchFamily="34" charset="0"/>
                <a:ea typeface="Segoe UI" pitchFamily="34" charset="-122"/>
                <a:cs typeface="Segoe UI" pitchFamily="34" charset="-120"/>
              </a:rPr>
              <a:t>AI-Connected Data Models in BFSI Environments</a:t>
            </a:r>
            <a:endParaRPr lang="en-US" sz="1500" dirty="0"/>
          </a:p>
        </p:txBody>
      </p:sp>
      <p:sp>
        <p:nvSpPr>
          <p:cNvPr id="6" name="Text 4"/>
          <p:cNvSpPr/>
          <p:nvPr/>
        </p:nvSpPr>
        <p:spPr>
          <a:xfrm>
            <a:off x="7955280" y="4754880"/>
            <a:ext cx="914400" cy="274320"/>
          </a:xfrm>
          <a:prstGeom prst="rect">
            <a:avLst/>
          </a:prstGeom>
          <a:noFill/>
          <a:ln/>
        </p:spPr>
        <p:txBody>
          <a:bodyPr wrap="square" rtlCol="0" anchor="ctr"/>
          <a:lstStyle/>
          <a:p>
            <a:pPr marL="0" indent="0" algn="r">
              <a:buNone/>
            </a:pPr>
            <a:r>
              <a:rPr lang="en-US" sz="900" dirty="0">
                <a:solidFill>
                  <a:schemeClr val="bg1"/>
                </a:solidFill>
                <a:latin typeface="Segoe UI" pitchFamily="34" charset="0"/>
                <a:ea typeface="Segoe UI" pitchFamily="34" charset="-122"/>
                <a:cs typeface="Segoe UI" pitchFamily="34" charset="-120"/>
              </a:rPr>
              <a:t>17 / 30</a:t>
            </a:r>
            <a:endParaRPr lang="en-US" sz="900"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800" b="1" dirty="0">
                <a:solidFill>
                  <a:srgbClr val="1E293B"/>
                </a:solidFill>
                <a:latin typeface="Segoe UI" pitchFamily="34" charset="0"/>
                <a:ea typeface="Segoe UI" pitchFamily="34" charset="-122"/>
                <a:cs typeface="Segoe UI" pitchFamily="34" charset="-120"/>
              </a:rPr>
              <a:t>Security Guidelines for BFSI</a:t>
            </a:r>
            <a:endParaRPr lang="en-US" sz="2800" dirty="0"/>
          </a:p>
        </p:txBody>
      </p:sp>
      <p:sp>
        <p:nvSpPr>
          <p:cNvPr id="4" name="Shape 2"/>
          <p:cNvSpPr/>
          <p:nvPr/>
        </p:nvSpPr>
        <p:spPr>
          <a:xfrm>
            <a:off x="457200" y="868680"/>
            <a:ext cx="8229600" cy="594360"/>
          </a:xfrm>
          <a:prstGeom prst="rect">
            <a:avLst/>
          </a:prstGeom>
          <a:solidFill>
            <a:srgbClr val="F1F5F9"/>
          </a:solidFill>
          <a:ln/>
        </p:spPr>
        <p:txBody>
          <a:bodyPr/>
          <a:lstStyle/>
          <a:p>
            <a:endParaRPr lang="en-IN"/>
          </a:p>
        </p:txBody>
      </p:sp>
      <p:sp>
        <p:nvSpPr>
          <p:cNvPr id="5" name="Text 3"/>
          <p:cNvSpPr/>
          <p:nvPr/>
        </p:nvSpPr>
        <p:spPr>
          <a:xfrm>
            <a:off x="594360" y="978408"/>
            <a:ext cx="41148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6" name="Text 4"/>
          <p:cNvSpPr/>
          <p:nvPr/>
        </p:nvSpPr>
        <p:spPr>
          <a:xfrm>
            <a:off x="1097280" y="960120"/>
            <a:ext cx="2560320" cy="41148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Local Processing Only</a:t>
            </a:r>
            <a:endParaRPr lang="en-US" sz="1100" dirty="0"/>
          </a:p>
        </p:txBody>
      </p:sp>
      <p:sp>
        <p:nvSpPr>
          <p:cNvPr id="7" name="Text 5"/>
          <p:cNvSpPr/>
          <p:nvPr/>
        </p:nvSpPr>
        <p:spPr>
          <a:xfrm>
            <a:off x="3749040" y="960120"/>
            <a:ext cx="4754880" cy="41148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With Claude Desktop, all data stays on your machine — nothing sent to cloud</a:t>
            </a:r>
            <a:endParaRPr lang="en-US" sz="1050" dirty="0"/>
          </a:p>
        </p:txBody>
      </p:sp>
      <p:sp>
        <p:nvSpPr>
          <p:cNvPr id="8" name="Shape 6"/>
          <p:cNvSpPr/>
          <p:nvPr/>
        </p:nvSpPr>
        <p:spPr>
          <a:xfrm>
            <a:off x="457200" y="1527048"/>
            <a:ext cx="8229600" cy="594360"/>
          </a:xfrm>
          <a:prstGeom prst="rect">
            <a:avLst/>
          </a:prstGeom>
          <a:solidFill>
            <a:srgbClr val="F1F5F9"/>
          </a:solidFill>
          <a:ln/>
        </p:spPr>
        <p:txBody>
          <a:bodyPr/>
          <a:lstStyle/>
          <a:p>
            <a:endParaRPr lang="en-IN"/>
          </a:p>
        </p:txBody>
      </p:sp>
      <p:sp>
        <p:nvSpPr>
          <p:cNvPr id="9" name="Text 7"/>
          <p:cNvSpPr/>
          <p:nvPr/>
        </p:nvSpPr>
        <p:spPr>
          <a:xfrm>
            <a:off x="594360" y="1636776"/>
            <a:ext cx="41148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10" name="Text 8"/>
          <p:cNvSpPr/>
          <p:nvPr/>
        </p:nvSpPr>
        <p:spPr>
          <a:xfrm>
            <a:off x="1097280" y="1618488"/>
            <a:ext cx="2560320" cy="41148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Use Non-Production Data</a:t>
            </a:r>
            <a:endParaRPr lang="en-US" sz="1100" dirty="0"/>
          </a:p>
        </p:txBody>
      </p:sp>
      <p:sp>
        <p:nvSpPr>
          <p:cNvPr id="11" name="Text 9"/>
          <p:cNvSpPr/>
          <p:nvPr/>
        </p:nvSpPr>
        <p:spPr>
          <a:xfrm>
            <a:off x="3749040" y="1618488"/>
            <a:ext cx="4754880" cy="41148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For learning and development, use sample/synthetic data, not customer PII</a:t>
            </a:r>
            <a:endParaRPr lang="en-US" sz="1050" dirty="0"/>
          </a:p>
        </p:txBody>
      </p:sp>
      <p:sp>
        <p:nvSpPr>
          <p:cNvPr id="12" name="Shape 10"/>
          <p:cNvSpPr/>
          <p:nvPr/>
        </p:nvSpPr>
        <p:spPr>
          <a:xfrm>
            <a:off x="457200" y="2185416"/>
            <a:ext cx="8229600" cy="594360"/>
          </a:xfrm>
          <a:prstGeom prst="rect">
            <a:avLst/>
          </a:prstGeom>
          <a:solidFill>
            <a:srgbClr val="F1F5F9"/>
          </a:solidFill>
          <a:ln/>
        </p:spPr>
        <p:txBody>
          <a:bodyPr/>
          <a:lstStyle/>
          <a:p>
            <a:endParaRPr lang="en-IN"/>
          </a:p>
        </p:txBody>
      </p:sp>
      <p:sp>
        <p:nvSpPr>
          <p:cNvPr id="13" name="Text 11"/>
          <p:cNvSpPr/>
          <p:nvPr/>
        </p:nvSpPr>
        <p:spPr>
          <a:xfrm>
            <a:off x="594360" y="2295144"/>
            <a:ext cx="41148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14" name="Text 12"/>
          <p:cNvSpPr/>
          <p:nvPr/>
        </p:nvSpPr>
        <p:spPr>
          <a:xfrm>
            <a:off x="1097280" y="2276856"/>
            <a:ext cx="2560320" cy="41148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Audit Trail Preference</a:t>
            </a:r>
            <a:endParaRPr lang="en-US" sz="1100" dirty="0"/>
          </a:p>
        </p:txBody>
      </p:sp>
      <p:sp>
        <p:nvSpPr>
          <p:cNvPr id="15" name="Text 13"/>
          <p:cNvSpPr/>
          <p:nvPr/>
        </p:nvSpPr>
        <p:spPr>
          <a:xfrm>
            <a:off x="3749040" y="2276856"/>
            <a:ext cx="4754880" cy="41148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For production work, VS Code path provides better audit trails than Claude Desktop</a:t>
            </a:r>
            <a:endParaRPr lang="en-US" sz="1050" dirty="0"/>
          </a:p>
        </p:txBody>
      </p:sp>
      <p:sp>
        <p:nvSpPr>
          <p:cNvPr id="16" name="Shape 14"/>
          <p:cNvSpPr/>
          <p:nvPr/>
        </p:nvSpPr>
        <p:spPr>
          <a:xfrm>
            <a:off x="457200" y="2843784"/>
            <a:ext cx="8229600" cy="594360"/>
          </a:xfrm>
          <a:prstGeom prst="rect">
            <a:avLst/>
          </a:prstGeom>
          <a:solidFill>
            <a:srgbClr val="F1F5F9"/>
          </a:solidFill>
          <a:ln/>
        </p:spPr>
        <p:txBody>
          <a:bodyPr/>
          <a:lstStyle/>
          <a:p>
            <a:endParaRPr lang="en-IN"/>
          </a:p>
        </p:txBody>
      </p:sp>
      <p:sp>
        <p:nvSpPr>
          <p:cNvPr id="17" name="Text 15"/>
          <p:cNvSpPr/>
          <p:nvPr/>
        </p:nvSpPr>
        <p:spPr>
          <a:xfrm>
            <a:off x="594360" y="2953512"/>
            <a:ext cx="41148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18" name="Text 16"/>
          <p:cNvSpPr/>
          <p:nvPr/>
        </p:nvSpPr>
        <p:spPr>
          <a:xfrm>
            <a:off x="1097280" y="2935224"/>
            <a:ext cx="2560320" cy="41148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Enterprise Deployment</a:t>
            </a:r>
            <a:endParaRPr lang="en-US" sz="1100" dirty="0"/>
          </a:p>
        </p:txBody>
      </p:sp>
      <p:sp>
        <p:nvSpPr>
          <p:cNvPr id="19" name="Text 17"/>
          <p:cNvSpPr/>
          <p:nvPr/>
        </p:nvSpPr>
        <p:spPr>
          <a:xfrm>
            <a:off x="3749040" y="2935224"/>
            <a:ext cx="4754880" cy="41148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Remote MCP Server (Path C) integrates with enterprise identity and access controls</a:t>
            </a:r>
            <a:endParaRPr lang="en-US" sz="1050" dirty="0"/>
          </a:p>
        </p:txBody>
      </p:sp>
      <p:sp>
        <p:nvSpPr>
          <p:cNvPr id="20" name="Shape 18"/>
          <p:cNvSpPr/>
          <p:nvPr/>
        </p:nvSpPr>
        <p:spPr>
          <a:xfrm>
            <a:off x="457200" y="3502152"/>
            <a:ext cx="8229600" cy="594360"/>
          </a:xfrm>
          <a:prstGeom prst="rect">
            <a:avLst/>
          </a:prstGeom>
          <a:solidFill>
            <a:srgbClr val="F1F5F9"/>
          </a:solidFill>
          <a:ln/>
        </p:spPr>
        <p:txBody>
          <a:bodyPr/>
          <a:lstStyle/>
          <a:p>
            <a:endParaRPr lang="en-IN"/>
          </a:p>
        </p:txBody>
      </p:sp>
      <p:sp>
        <p:nvSpPr>
          <p:cNvPr id="21" name="Text 19"/>
          <p:cNvSpPr/>
          <p:nvPr/>
        </p:nvSpPr>
        <p:spPr>
          <a:xfrm>
            <a:off x="594360" y="3611880"/>
            <a:ext cx="41148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22" name="Text 20"/>
          <p:cNvSpPr/>
          <p:nvPr/>
        </p:nvSpPr>
        <p:spPr>
          <a:xfrm>
            <a:off x="1097280" y="3593592"/>
            <a:ext cx="2560320" cy="41148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Review AI-Generated DAX</a:t>
            </a:r>
            <a:endParaRPr lang="en-US" sz="1100" dirty="0"/>
          </a:p>
        </p:txBody>
      </p:sp>
      <p:sp>
        <p:nvSpPr>
          <p:cNvPr id="23" name="Text 21"/>
          <p:cNvSpPr/>
          <p:nvPr/>
        </p:nvSpPr>
        <p:spPr>
          <a:xfrm>
            <a:off x="3749040" y="3593592"/>
            <a:ext cx="4754880" cy="41148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Always review and test AI-generated measures before deploying to production</a:t>
            </a:r>
            <a:endParaRPr lang="en-US" sz="1050" dirty="0"/>
          </a:p>
        </p:txBody>
      </p:sp>
      <p:sp>
        <p:nvSpPr>
          <p:cNvPr id="24" name="Shape 22"/>
          <p:cNvSpPr/>
          <p:nvPr/>
        </p:nvSpPr>
        <p:spPr>
          <a:xfrm>
            <a:off x="457200" y="4160520"/>
            <a:ext cx="8229600" cy="594360"/>
          </a:xfrm>
          <a:prstGeom prst="rect">
            <a:avLst/>
          </a:prstGeom>
          <a:solidFill>
            <a:srgbClr val="F1F5F9"/>
          </a:solidFill>
          <a:ln/>
        </p:spPr>
        <p:txBody>
          <a:bodyPr/>
          <a:lstStyle/>
          <a:p>
            <a:endParaRPr lang="en-IN"/>
          </a:p>
        </p:txBody>
      </p:sp>
      <p:sp>
        <p:nvSpPr>
          <p:cNvPr id="25" name="Text 23"/>
          <p:cNvSpPr/>
          <p:nvPr/>
        </p:nvSpPr>
        <p:spPr>
          <a:xfrm>
            <a:off x="594360" y="4270248"/>
            <a:ext cx="411480" cy="365760"/>
          </a:xfrm>
          <a:prstGeom prst="rect">
            <a:avLst/>
          </a:prstGeom>
          <a:noFill/>
          <a:ln/>
        </p:spPr>
        <p:txBody>
          <a:bodyPr wrap="square" rtlCol="0" anchor="ctr"/>
          <a:lstStyle/>
          <a:p>
            <a:pPr marL="0" indent="0">
              <a:buNone/>
            </a:pPr>
            <a:r>
              <a:rPr lang="en-US" sz="1600" dirty="0">
                <a:solidFill>
                  <a:srgbClr val="000000"/>
                </a:solidFill>
              </a:rPr>
              <a:t>🚫</a:t>
            </a:r>
            <a:endParaRPr lang="en-US" sz="1600" dirty="0"/>
          </a:p>
        </p:txBody>
      </p:sp>
      <p:sp>
        <p:nvSpPr>
          <p:cNvPr id="26" name="Text 24"/>
          <p:cNvSpPr/>
          <p:nvPr/>
        </p:nvSpPr>
        <p:spPr>
          <a:xfrm>
            <a:off x="1097280" y="4251960"/>
            <a:ext cx="2560320" cy="411480"/>
          </a:xfrm>
          <a:prstGeom prst="rect">
            <a:avLst/>
          </a:prstGeom>
          <a:noFill/>
          <a:ln/>
        </p:spPr>
        <p:txBody>
          <a:bodyPr wrap="square" rtlCol="0" anchor="ctr"/>
          <a:lstStyle/>
          <a:p>
            <a:pPr marL="0" indent="0">
              <a:buNone/>
            </a:pPr>
            <a:r>
              <a:rPr lang="en-US" sz="1100" b="1" dirty="0">
                <a:solidFill>
                  <a:srgbClr val="1E293B"/>
                </a:solidFill>
                <a:latin typeface="Segoe UI" pitchFamily="34" charset="0"/>
                <a:ea typeface="Segoe UI" pitchFamily="34" charset="-122"/>
                <a:cs typeface="Segoe UI" pitchFamily="34" charset="-120"/>
              </a:rPr>
              <a:t>No Sensitive Data in Prompts</a:t>
            </a:r>
            <a:endParaRPr lang="en-US" sz="1100" dirty="0"/>
          </a:p>
        </p:txBody>
      </p:sp>
      <p:sp>
        <p:nvSpPr>
          <p:cNvPr id="27" name="Text 25"/>
          <p:cNvSpPr/>
          <p:nvPr/>
        </p:nvSpPr>
        <p:spPr>
          <a:xfrm>
            <a:off x="3749040" y="4251960"/>
            <a:ext cx="4754880" cy="411480"/>
          </a:xfrm>
          <a:prstGeom prst="rect">
            <a:avLst/>
          </a:prstGeom>
          <a:noFill/>
          <a:ln/>
        </p:spPr>
        <p:txBody>
          <a:bodyPr wrap="square" rtlCol="0" anchor="ctr"/>
          <a:lstStyle/>
          <a:p>
            <a:pPr marL="0" indent="0">
              <a:buNone/>
            </a:pPr>
            <a:r>
              <a:rPr lang="en-US" sz="1050" dirty="0">
                <a:solidFill>
                  <a:srgbClr val="475569"/>
                </a:solidFill>
                <a:latin typeface="Segoe UI" pitchFamily="34" charset="0"/>
                <a:ea typeface="Segoe UI" pitchFamily="34" charset="-122"/>
                <a:cs typeface="Segoe UI" pitchFamily="34" charset="-120"/>
              </a:rPr>
              <a:t>Don't paste actual customer data into conversations — describe patterns instead</a:t>
            </a:r>
            <a:endParaRPr lang="en-US" sz="1050" dirty="0"/>
          </a:p>
        </p:txBody>
      </p:sp>
      <p:sp>
        <p:nvSpPr>
          <p:cNvPr id="28" name="Shape 26"/>
          <p:cNvSpPr/>
          <p:nvPr/>
        </p:nvSpPr>
        <p:spPr>
          <a:xfrm>
            <a:off x="0" y="4846320"/>
            <a:ext cx="9144000" cy="297180"/>
          </a:xfrm>
          <a:prstGeom prst="rect">
            <a:avLst/>
          </a:prstGeom>
          <a:solidFill>
            <a:srgbClr val="F1F5F9"/>
          </a:solidFill>
          <a:ln/>
        </p:spPr>
        <p:txBody>
          <a:bodyPr/>
          <a:lstStyle/>
          <a:p>
            <a:endParaRPr lang="en-IN"/>
          </a:p>
        </p:txBody>
      </p:sp>
      <p:sp>
        <p:nvSpPr>
          <p:cNvPr id="29" name="Text 27"/>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10</a:t>
            </a:r>
            <a:endParaRPr lang="en-US" sz="800" dirty="0"/>
          </a:p>
        </p:txBody>
      </p:sp>
      <p:sp>
        <p:nvSpPr>
          <p:cNvPr id="30" name="Text 28"/>
          <p:cNvSpPr/>
          <p:nvPr/>
        </p:nvSpPr>
        <p:spPr>
          <a:xfrm>
            <a:off x="7955280" y="4818888"/>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18 / 30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600" b="1" dirty="0">
                <a:solidFill>
                  <a:srgbClr val="1E293B"/>
                </a:solidFill>
                <a:latin typeface="Segoe UI" pitchFamily="34" charset="0"/>
                <a:ea typeface="Segoe UI" pitchFamily="34" charset="-122"/>
                <a:cs typeface="Segoe UI" pitchFamily="34" charset="-120"/>
              </a:rPr>
              <a:t>MCP Power BI vs Copilot in Power BI</a:t>
            </a:r>
            <a:endParaRPr lang="en-US" sz="2600" dirty="0"/>
          </a:p>
        </p:txBody>
      </p:sp>
      <p:sp>
        <p:nvSpPr>
          <p:cNvPr id="4" name="Text 2"/>
          <p:cNvSpPr/>
          <p:nvPr/>
        </p:nvSpPr>
        <p:spPr>
          <a:xfrm>
            <a:off x="640080" y="777240"/>
            <a:ext cx="7863840" cy="320040"/>
          </a:xfrm>
          <a:prstGeom prst="rect">
            <a:avLst/>
          </a:prstGeom>
          <a:noFill/>
          <a:ln/>
        </p:spPr>
        <p:txBody>
          <a:bodyPr wrap="square" rtlCol="0" anchor="ctr"/>
          <a:lstStyle/>
          <a:p>
            <a:pPr marL="0" indent="0">
              <a:buNone/>
            </a:pPr>
            <a:r>
              <a:rPr lang="en-US" sz="1200" dirty="0">
                <a:solidFill>
                  <a:srgbClr val="475569"/>
                </a:solidFill>
                <a:latin typeface="Segoe UI" pitchFamily="34" charset="0"/>
                <a:ea typeface="Segoe UI" pitchFamily="34" charset="-122"/>
                <a:cs typeface="Segoe UI" pitchFamily="34" charset="-120"/>
              </a:rPr>
              <a:t>They serve different purposes — understanding the distinction:</a:t>
            </a:r>
            <a:endParaRPr lang="en-US" sz="1200" dirty="0"/>
          </a:p>
        </p:txBody>
      </p:sp>
      <p:sp>
        <p:nvSpPr>
          <p:cNvPr id="5" name="Shape 3"/>
          <p:cNvSpPr/>
          <p:nvPr/>
        </p:nvSpPr>
        <p:spPr>
          <a:xfrm>
            <a:off x="457200" y="1143000"/>
            <a:ext cx="4023360" cy="3200400"/>
          </a:xfrm>
          <a:prstGeom prst="rect">
            <a:avLst/>
          </a:prstGeom>
          <a:solidFill>
            <a:srgbClr val="F1F5F9"/>
          </a:solidFill>
          <a:ln/>
        </p:spPr>
        <p:txBody>
          <a:bodyPr/>
          <a:lstStyle/>
          <a:p>
            <a:endParaRPr lang="en-IN"/>
          </a:p>
        </p:txBody>
      </p:sp>
      <p:sp>
        <p:nvSpPr>
          <p:cNvPr id="6" name="Shape 4"/>
          <p:cNvSpPr/>
          <p:nvPr/>
        </p:nvSpPr>
        <p:spPr>
          <a:xfrm>
            <a:off x="457200" y="1143000"/>
            <a:ext cx="4023360" cy="502920"/>
          </a:xfrm>
          <a:prstGeom prst="rect">
            <a:avLst/>
          </a:prstGeom>
          <a:solidFill>
            <a:srgbClr val="7C3AED"/>
          </a:solidFill>
          <a:ln/>
        </p:spPr>
        <p:txBody>
          <a:bodyPr/>
          <a:lstStyle/>
          <a:p>
            <a:endParaRPr lang="en-IN"/>
          </a:p>
        </p:txBody>
      </p:sp>
      <p:sp>
        <p:nvSpPr>
          <p:cNvPr id="7" name="Text 5"/>
          <p:cNvSpPr/>
          <p:nvPr/>
        </p:nvSpPr>
        <p:spPr>
          <a:xfrm>
            <a:off x="640080" y="1188720"/>
            <a:ext cx="3657600" cy="41148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 MCP Power BI + Claude</a:t>
            </a:r>
            <a:endParaRPr lang="en-US" sz="1200" dirty="0"/>
          </a:p>
        </p:txBody>
      </p:sp>
      <p:sp>
        <p:nvSpPr>
          <p:cNvPr id="8" name="Text 6"/>
          <p:cNvSpPr/>
          <p:nvPr/>
        </p:nvSpPr>
        <p:spPr>
          <a:xfrm>
            <a:off x="640080" y="1737360"/>
            <a:ext cx="3657600" cy="2468880"/>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Purpose: Build &amp; modify models</a:t>
            </a:r>
            <a:endParaRPr lang="en-US" sz="1100" dirty="0"/>
          </a:p>
          <a:p>
            <a:pPr marL="0" indent="0">
              <a:buNone/>
            </a:pP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Create measures and columns</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Define relationships</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Optimize model structure</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Development &amp; preprocessing</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For: Model developers</a:t>
            </a:r>
            <a:endParaRPr lang="en-US" sz="1100" dirty="0"/>
          </a:p>
        </p:txBody>
      </p:sp>
      <p:sp>
        <p:nvSpPr>
          <p:cNvPr id="9" name="Shape 7"/>
          <p:cNvSpPr/>
          <p:nvPr/>
        </p:nvSpPr>
        <p:spPr>
          <a:xfrm>
            <a:off x="4663440" y="1143000"/>
            <a:ext cx="4023360" cy="3200400"/>
          </a:xfrm>
          <a:prstGeom prst="rect">
            <a:avLst/>
          </a:prstGeom>
          <a:solidFill>
            <a:srgbClr val="F1F5F9"/>
          </a:solidFill>
          <a:ln/>
        </p:spPr>
        <p:txBody>
          <a:bodyPr/>
          <a:lstStyle/>
          <a:p>
            <a:endParaRPr lang="en-IN"/>
          </a:p>
        </p:txBody>
      </p:sp>
      <p:sp>
        <p:nvSpPr>
          <p:cNvPr id="10" name="Shape 8"/>
          <p:cNvSpPr/>
          <p:nvPr/>
        </p:nvSpPr>
        <p:spPr>
          <a:xfrm>
            <a:off x="4663440" y="1143000"/>
            <a:ext cx="4023360" cy="502920"/>
          </a:xfrm>
          <a:prstGeom prst="rect">
            <a:avLst/>
          </a:prstGeom>
          <a:solidFill>
            <a:srgbClr val="F59E0B"/>
          </a:solidFill>
          <a:ln/>
        </p:spPr>
        <p:txBody>
          <a:bodyPr/>
          <a:lstStyle/>
          <a:p>
            <a:endParaRPr lang="en-IN"/>
          </a:p>
        </p:txBody>
      </p:sp>
      <p:sp>
        <p:nvSpPr>
          <p:cNvPr id="11" name="Text 9"/>
          <p:cNvSpPr/>
          <p:nvPr/>
        </p:nvSpPr>
        <p:spPr>
          <a:xfrm>
            <a:off x="4846320" y="1188720"/>
            <a:ext cx="3657600" cy="41148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 Copilot in Power BI (Built-in)</a:t>
            </a:r>
            <a:endParaRPr lang="en-US" sz="1200" dirty="0"/>
          </a:p>
        </p:txBody>
      </p:sp>
      <p:sp>
        <p:nvSpPr>
          <p:cNvPr id="12" name="Text 10"/>
          <p:cNvSpPr/>
          <p:nvPr/>
        </p:nvSpPr>
        <p:spPr>
          <a:xfrm>
            <a:off x="4846320" y="1737360"/>
            <a:ext cx="3657600" cy="2468880"/>
          </a:xfrm>
          <a:prstGeom prst="rect">
            <a:avLst/>
          </a:prstGeom>
          <a:noFill/>
          <a:ln/>
        </p:spPr>
        <p:txBody>
          <a:bodyPr wrap="square" rtlCol="0" anchor="ctr"/>
          <a:lstStyle/>
          <a:p>
            <a:pPr marL="0" indent="0">
              <a:buNone/>
            </a:pPr>
            <a:r>
              <a:rPr lang="en-US" sz="1100" dirty="0">
                <a:solidFill>
                  <a:srgbClr val="1E293B"/>
                </a:solidFill>
                <a:latin typeface="Segoe UI" pitchFamily="34" charset="0"/>
                <a:ea typeface="Segoe UI" pitchFamily="34" charset="-122"/>
                <a:cs typeface="Segoe UI" pitchFamily="34" charset="-120"/>
              </a:rPr>
              <a:t>Purpose: Consume &amp; explore reports</a:t>
            </a:r>
            <a:endParaRPr lang="en-US" sz="1100" dirty="0"/>
          </a:p>
          <a:p>
            <a:pPr marL="0" indent="0">
              <a:buNone/>
            </a:pP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Generate visuals from prompts</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Summarize report pages</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Answer questions about data</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Report consumption</a:t>
            </a:r>
            <a:endParaRPr lang="en-US" sz="1100" dirty="0"/>
          </a:p>
          <a:p>
            <a:pPr marL="0" indent="0">
              <a:buNone/>
            </a:pPr>
            <a:r>
              <a:rPr lang="en-US" sz="1100" dirty="0">
                <a:solidFill>
                  <a:srgbClr val="1E293B"/>
                </a:solidFill>
                <a:latin typeface="Segoe UI" pitchFamily="34" charset="0"/>
                <a:ea typeface="Segoe UI" pitchFamily="34" charset="-122"/>
                <a:cs typeface="Segoe UI" pitchFamily="34" charset="-120"/>
              </a:rPr>
              <a:t>• For: Business users</a:t>
            </a:r>
            <a:endParaRPr lang="en-US" sz="1100" dirty="0"/>
          </a:p>
        </p:txBody>
      </p:sp>
      <p:sp>
        <p:nvSpPr>
          <p:cNvPr id="13" name="Shape 11"/>
          <p:cNvSpPr/>
          <p:nvPr/>
        </p:nvSpPr>
        <p:spPr>
          <a:xfrm>
            <a:off x="457200" y="4480560"/>
            <a:ext cx="8229600" cy="457200"/>
          </a:xfrm>
          <a:prstGeom prst="rect">
            <a:avLst/>
          </a:prstGeom>
          <a:solidFill>
            <a:srgbClr val="DCFCE7"/>
          </a:solidFill>
          <a:ln/>
        </p:spPr>
        <p:txBody>
          <a:bodyPr/>
          <a:lstStyle/>
          <a:p>
            <a:endParaRPr lang="en-IN"/>
          </a:p>
        </p:txBody>
      </p:sp>
      <p:sp>
        <p:nvSpPr>
          <p:cNvPr id="14" name="Text 12"/>
          <p:cNvSpPr/>
          <p:nvPr/>
        </p:nvSpPr>
        <p:spPr>
          <a:xfrm>
            <a:off x="640080" y="4553712"/>
            <a:ext cx="7863840" cy="320040"/>
          </a:xfrm>
          <a:prstGeom prst="rect">
            <a:avLst/>
          </a:prstGeom>
          <a:noFill/>
          <a:ln/>
        </p:spPr>
        <p:txBody>
          <a:bodyPr wrap="square" rtlCol="0" anchor="ctr"/>
          <a:lstStyle/>
          <a:p>
            <a:pPr marL="0" indent="0">
              <a:buNone/>
            </a:pPr>
            <a:r>
              <a:rPr lang="en-US" sz="1100" dirty="0">
                <a:solidFill>
                  <a:srgbClr val="22C55E"/>
                </a:solidFill>
                <a:latin typeface="Segoe UI" pitchFamily="34" charset="0"/>
                <a:ea typeface="Segoe UI" pitchFamily="34" charset="-122"/>
                <a:cs typeface="Segoe UI" pitchFamily="34" charset="-120"/>
              </a:rPr>
              <a:t>✓ Complementary: Use MCP to build the model → Use Copilot in Power BI to consume the reports</a:t>
            </a:r>
            <a:endParaRPr lang="en-US" sz="1100" dirty="0"/>
          </a:p>
        </p:txBody>
      </p:sp>
      <p:sp>
        <p:nvSpPr>
          <p:cNvPr id="15" name="Shape 13"/>
          <p:cNvSpPr/>
          <p:nvPr/>
        </p:nvSpPr>
        <p:spPr>
          <a:xfrm>
            <a:off x="0" y="4846320"/>
            <a:ext cx="9144000" cy="297180"/>
          </a:xfrm>
          <a:prstGeom prst="rect">
            <a:avLst/>
          </a:prstGeom>
          <a:solidFill>
            <a:srgbClr val="F1F5F9"/>
          </a:solidFill>
          <a:ln/>
        </p:spPr>
        <p:txBody>
          <a:bodyPr/>
          <a:lstStyle/>
          <a:p>
            <a:endParaRPr lang="en-IN"/>
          </a:p>
        </p:txBody>
      </p:sp>
      <p:sp>
        <p:nvSpPr>
          <p:cNvPr id="16" name="Text 14"/>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10</a:t>
            </a:r>
            <a:endParaRPr lang="en-US" sz="800" dirty="0"/>
          </a:p>
        </p:txBody>
      </p:sp>
      <p:sp>
        <p:nvSpPr>
          <p:cNvPr id="17" name="Text 15"/>
          <p:cNvSpPr/>
          <p:nvPr/>
        </p:nvSpPr>
        <p:spPr>
          <a:xfrm>
            <a:off x="8001000" y="4841313"/>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19 / 32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02920"/>
          </a:xfrm>
          <a:prstGeom prst="rect">
            <a:avLst/>
          </a:prstGeom>
          <a:noFill/>
          <a:ln/>
        </p:spPr>
        <p:txBody>
          <a:bodyPr wrap="square" rtlCol="0" anchor="ctr"/>
          <a:lstStyle/>
          <a:p>
            <a:pPr marL="0" indent="0">
              <a:buNone/>
            </a:pPr>
            <a:r>
              <a:rPr lang="en-US" sz="2600" b="1" dirty="0">
                <a:solidFill>
                  <a:srgbClr val="1E293B"/>
                </a:solidFill>
                <a:latin typeface="Segoe UI" pitchFamily="34" charset="0"/>
                <a:ea typeface="Segoe UI" pitchFamily="34" charset="-122"/>
                <a:cs typeface="Segoe UI" pitchFamily="34" charset="-120"/>
              </a:rPr>
              <a:t>Example: Creating a Measure with Claude</a:t>
            </a:r>
            <a:endParaRPr lang="en-US" sz="2600" dirty="0"/>
          </a:p>
        </p:txBody>
      </p:sp>
      <p:sp>
        <p:nvSpPr>
          <p:cNvPr id="4" name="Shape 2"/>
          <p:cNvSpPr/>
          <p:nvPr/>
        </p:nvSpPr>
        <p:spPr>
          <a:xfrm>
            <a:off x="457200" y="914400"/>
            <a:ext cx="8229600" cy="1005840"/>
          </a:xfrm>
          <a:prstGeom prst="rect">
            <a:avLst/>
          </a:prstGeom>
          <a:solidFill>
            <a:srgbClr val="E0E7FF"/>
          </a:solidFill>
          <a:ln/>
        </p:spPr>
        <p:txBody>
          <a:bodyPr/>
          <a:lstStyle/>
          <a:p>
            <a:endParaRPr lang="en-IN"/>
          </a:p>
        </p:txBody>
      </p:sp>
      <p:sp>
        <p:nvSpPr>
          <p:cNvPr id="5" name="Text 3"/>
          <p:cNvSpPr/>
          <p:nvPr/>
        </p:nvSpPr>
        <p:spPr>
          <a:xfrm>
            <a:off x="640080" y="960120"/>
            <a:ext cx="1371600" cy="274320"/>
          </a:xfrm>
          <a:prstGeom prst="rect">
            <a:avLst/>
          </a:prstGeom>
          <a:noFill/>
          <a:ln/>
        </p:spPr>
        <p:txBody>
          <a:bodyPr wrap="square" rtlCol="0" anchor="ctr"/>
          <a:lstStyle/>
          <a:p>
            <a:pPr marL="0" indent="0">
              <a:buNone/>
            </a:pPr>
            <a:r>
              <a:rPr lang="en-US" sz="1000" b="1" dirty="0">
                <a:solidFill>
                  <a:srgbClr val="4F46E5"/>
                </a:solidFill>
                <a:latin typeface="Segoe UI" pitchFamily="34" charset="0"/>
                <a:ea typeface="Segoe UI" pitchFamily="34" charset="-122"/>
                <a:cs typeface="Segoe UI" pitchFamily="34" charset="-120"/>
              </a:rPr>
              <a:t>👤 You:</a:t>
            </a:r>
            <a:endParaRPr lang="en-US" sz="1000" dirty="0"/>
          </a:p>
        </p:txBody>
      </p:sp>
      <p:sp>
        <p:nvSpPr>
          <p:cNvPr id="6" name="Text 4"/>
          <p:cNvSpPr/>
          <p:nvPr/>
        </p:nvSpPr>
        <p:spPr>
          <a:xfrm>
            <a:off x="640080" y="1234440"/>
            <a:ext cx="7863840" cy="594360"/>
          </a:xfrm>
          <a:prstGeom prst="rect">
            <a:avLst/>
          </a:prstGeom>
          <a:noFill/>
          <a:ln/>
        </p:spPr>
        <p:txBody>
          <a:bodyPr wrap="square" rtlCol="0" anchor="ctr"/>
          <a:lstStyle/>
          <a:p>
            <a:pPr marL="0" indent="0">
              <a:buNone/>
            </a:pPr>
            <a:r>
              <a:rPr lang="en-US" sz="1100" i="1" dirty="0">
                <a:solidFill>
                  <a:srgbClr val="1E293B"/>
                </a:solidFill>
                <a:latin typeface="Segoe UI" pitchFamily="34" charset="0"/>
                <a:ea typeface="Segoe UI" pitchFamily="34" charset="-122"/>
                <a:cs typeface="Segoe UI" pitchFamily="34" charset="-120"/>
              </a:rPr>
              <a:t>"Create a measure called Claims Loss Ratio that divides total claims paid by total premiums collected. Format it as a percentage with one decimal place."</a:t>
            </a:r>
            <a:endParaRPr lang="en-US" sz="1100" dirty="0"/>
          </a:p>
        </p:txBody>
      </p:sp>
      <p:sp>
        <p:nvSpPr>
          <p:cNvPr id="7" name="Shape 5"/>
          <p:cNvSpPr/>
          <p:nvPr/>
        </p:nvSpPr>
        <p:spPr>
          <a:xfrm>
            <a:off x="457200" y="2057400"/>
            <a:ext cx="8229600" cy="2286000"/>
          </a:xfrm>
          <a:prstGeom prst="rect">
            <a:avLst/>
          </a:prstGeom>
          <a:solidFill>
            <a:srgbClr val="EDE9FE"/>
          </a:solidFill>
          <a:ln/>
        </p:spPr>
        <p:txBody>
          <a:bodyPr/>
          <a:lstStyle/>
          <a:p>
            <a:endParaRPr lang="en-IN"/>
          </a:p>
        </p:txBody>
      </p:sp>
      <p:sp>
        <p:nvSpPr>
          <p:cNvPr id="8" name="Text 6"/>
          <p:cNvSpPr/>
          <p:nvPr/>
        </p:nvSpPr>
        <p:spPr>
          <a:xfrm>
            <a:off x="640080" y="2103120"/>
            <a:ext cx="1371600" cy="274320"/>
          </a:xfrm>
          <a:prstGeom prst="rect">
            <a:avLst/>
          </a:prstGeom>
          <a:noFill/>
          <a:ln/>
        </p:spPr>
        <p:txBody>
          <a:bodyPr wrap="square" rtlCol="0" anchor="ctr"/>
          <a:lstStyle/>
          <a:p>
            <a:pPr marL="0" indent="0">
              <a:buNone/>
            </a:pPr>
            <a:r>
              <a:rPr lang="en-US" sz="1000" b="1" dirty="0">
                <a:solidFill>
                  <a:srgbClr val="7C3AED"/>
                </a:solidFill>
                <a:latin typeface="Segoe UI" pitchFamily="34" charset="0"/>
                <a:ea typeface="Segoe UI" pitchFamily="34" charset="-122"/>
                <a:cs typeface="Segoe UI" pitchFamily="34" charset="-120"/>
              </a:rPr>
              <a:t>🤖 Claude:</a:t>
            </a:r>
            <a:endParaRPr lang="en-US" sz="1000" dirty="0"/>
          </a:p>
        </p:txBody>
      </p:sp>
      <p:sp>
        <p:nvSpPr>
          <p:cNvPr id="9" name="Text 7"/>
          <p:cNvSpPr/>
          <p:nvPr/>
        </p:nvSpPr>
        <p:spPr>
          <a:xfrm>
            <a:off x="640080" y="2377440"/>
            <a:ext cx="7863840" cy="1828800"/>
          </a:xfrm>
          <a:prstGeom prst="rect">
            <a:avLst/>
          </a:prstGeom>
          <a:noFill/>
          <a:ln/>
        </p:spPr>
        <p:txBody>
          <a:bodyPr wrap="square" rtlCol="0" anchor="ctr"/>
          <a:lstStyle/>
          <a:p>
            <a:pPr marL="0" indent="0">
              <a:buNone/>
            </a:pPr>
            <a:r>
              <a:rPr lang="en-US" sz="1050" dirty="0">
                <a:solidFill>
                  <a:srgbClr val="1E293B"/>
                </a:solidFill>
                <a:latin typeface="Consolas" pitchFamily="34" charset="0"/>
                <a:ea typeface="Consolas" pitchFamily="34" charset="-122"/>
                <a:cs typeface="Consolas" pitchFamily="34" charset="-120"/>
              </a:rPr>
              <a:t>I'll create that measure for you. Here's what I'm doing:</a:t>
            </a:r>
            <a:endParaRPr lang="en-US" sz="1050" dirty="0"/>
          </a:p>
          <a:p>
            <a:pPr marL="0" indent="0">
              <a:buNone/>
            </a:pPr>
            <a:endParaRPr lang="en-US" sz="1050" dirty="0"/>
          </a:p>
          <a:p>
            <a:pPr marL="0" indent="0">
              <a:buNone/>
            </a:pPr>
            <a:r>
              <a:rPr lang="en-US" sz="1050" dirty="0">
                <a:solidFill>
                  <a:srgbClr val="1E293B"/>
                </a:solidFill>
                <a:latin typeface="Consolas" pitchFamily="34" charset="0"/>
                <a:ea typeface="Consolas" pitchFamily="34" charset="-122"/>
                <a:cs typeface="Consolas" pitchFamily="34" charset="-120"/>
              </a:rPr>
              <a:t>1. Creating measure with DAX:</a:t>
            </a:r>
            <a:endParaRPr lang="en-US" sz="1050" dirty="0"/>
          </a:p>
          <a:p>
            <a:pPr marL="0" indent="0">
              <a:buNone/>
            </a:pPr>
            <a:r>
              <a:rPr lang="en-US" sz="1050" dirty="0">
                <a:solidFill>
                  <a:srgbClr val="1E293B"/>
                </a:solidFill>
                <a:latin typeface="Consolas" pitchFamily="34" charset="0"/>
                <a:ea typeface="Consolas" pitchFamily="34" charset="-122"/>
                <a:cs typeface="Consolas" pitchFamily="34" charset="-120"/>
              </a:rPr>
              <a:t>   Claims Loss Ratio = DIVIDE(SUM(Claim[AmountPaid]),</a:t>
            </a:r>
            <a:endParaRPr lang="en-US" sz="1050" dirty="0"/>
          </a:p>
          <a:p>
            <a:pPr marL="0" indent="0">
              <a:buNone/>
            </a:pPr>
            <a:r>
              <a:rPr lang="en-US" sz="1050" dirty="0">
                <a:solidFill>
                  <a:srgbClr val="1E293B"/>
                </a:solidFill>
                <a:latin typeface="Consolas" pitchFamily="34" charset="0"/>
                <a:ea typeface="Consolas" pitchFamily="34" charset="-122"/>
                <a:cs typeface="Consolas" pitchFamily="34" charset="-120"/>
              </a:rPr>
              <a:t>                       SUM(Policy[Premium]), 0)</a:t>
            </a:r>
            <a:endParaRPr lang="en-US" sz="1050" dirty="0"/>
          </a:p>
          <a:p>
            <a:pPr marL="0" indent="0">
              <a:buNone/>
            </a:pPr>
            <a:endParaRPr lang="en-US" sz="1050" dirty="0"/>
          </a:p>
          <a:p>
            <a:pPr marL="0" indent="0">
              <a:buNone/>
            </a:pPr>
            <a:r>
              <a:rPr lang="en-US" sz="1050" dirty="0">
                <a:solidFill>
                  <a:srgbClr val="1E293B"/>
                </a:solidFill>
                <a:latin typeface="Consolas" pitchFamily="34" charset="0"/>
                <a:ea typeface="Consolas" pitchFamily="34" charset="-122"/>
                <a:cs typeface="Consolas" pitchFamily="34" charset="-120"/>
              </a:rPr>
              <a:t>2. Applying format string: "0.0%"</a:t>
            </a:r>
            <a:endParaRPr lang="en-US" sz="1050" dirty="0"/>
          </a:p>
          <a:p>
            <a:pPr marL="0" indent="0">
              <a:buNone/>
            </a:pPr>
            <a:endParaRPr lang="en-US" sz="1050" dirty="0"/>
          </a:p>
          <a:p>
            <a:pPr marL="0" indent="0">
              <a:buNone/>
            </a:pPr>
            <a:r>
              <a:rPr lang="en-US" sz="1050" dirty="0">
                <a:solidFill>
                  <a:srgbClr val="1E293B"/>
                </a:solidFill>
                <a:latin typeface="Consolas" pitchFamily="34" charset="0"/>
                <a:ea typeface="Consolas" pitchFamily="34" charset="-122"/>
                <a:cs typeface="Consolas" pitchFamily="34" charset="-120"/>
              </a:rPr>
              <a:t>✓ Measure created and applied to the model.</a:t>
            </a:r>
            <a:endParaRPr lang="en-US" sz="1050" dirty="0"/>
          </a:p>
        </p:txBody>
      </p:sp>
      <p:sp>
        <p:nvSpPr>
          <p:cNvPr id="10" name="Shape 8"/>
          <p:cNvSpPr/>
          <p:nvPr/>
        </p:nvSpPr>
        <p:spPr>
          <a:xfrm>
            <a:off x="457200" y="4480560"/>
            <a:ext cx="8229600" cy="457200"/>
          </a:xfrm>
          <a:prstGeom prst="rect">
            <a:avLst/>
          </a:prstGeom>
          <a:solidFill>
            <a:srgbClr val="DCFCE7"/>
          </a:solidFill>
          <a:ln/>
        </p:spPr>
        <p:txBody>
          <a:bodyPr/>
          <a:lstStyle/>
          <a:p>
            <a:endParaRPr lang="en-IN"/>
          </a:p>
        </p:txBody>
      </p:sp>
      <p:sp>
        <p:nvSpPr>
          <p:cNvPr id="11" name="Text 9"/>
          <p:cNvSpPr/>
          <p:nvPr/>
        </p:nvSpPr>
        <p:spPr>
          <a:xfrm>
            <a:off x="640080" y="4553712"/>
            <a:ext cx="7863840" cy="320040"/>
          </a:xfrm>
          <a:prstGeom prst="rect">
            <a:avLst/>
          </a:prstGeom>
          <a:noFill/>
          <a:ln/>
        </p:spPr>
        <p:txBody>
          <a:bodyPr wrap="square" rtlCol="0" anchor="ctr"/>
          <a:lstStyle/>
          <a:p>
            <a:pPr marL="0" indent="0">
              <a:buNone/>
            </a:pPr>
            <a:r>
              <a:rPr lang="en-US" sz="1100" dirty="0">
                <a:solidFill>
                  <a:srgbClr val="22C55E"/>
                </a:solidFill>
                <a:latin typeface="Segoe UI" pitchFamily="34" charset="0"/>
                <a:ea typeface="Segoe UI" pitchFamily="34" charset="-122"/>
                <a:cs typeface="Segoe UI" pitchFamily="34" charset="-120"/>
              </a:rPr>
              <a:t>✓ The measure is immediately available in Power BI Desktop — no manual DAX writing required</a:t>
            </a:r>
            <a:endParaRPr lang="en-US" sz="1100" dirty="0"/>
          </a:p>
        </p:txBody>
      </p:sp>
      <p:sp>
        <p:nvSpPr>
          <p:cNvPr id="12" name="Shape 10"/>
          <p:cNvSpPr/>
          <p:nvPr/>
        </p:nvSpPr>
        <p:spPr>
          <a:xfrm>
            <a:off x="0" y="4846320"/>
            <a:ext cx="9144000" cy="297180"/>
          </a:xfrm>
          <a:prstGeom prst="rect">
            <a:avLst/>
          </a:prstGeom>
          <a:solidFill>
            <a:srgbClr val="F1F5F9"/>
          </a:solidFill>
          <a:ln/>
        </p:spPr>
        <p:txBody>
          <a:bodyPr/>
          <a:lstStyle/>
          <a:p>
            <a:endParaRPr lang="en-IN"/>
          </a:p>
        </p:txBody>
      </p:sp>
      <p:sp>
        <p:nvSpPr>
          <p:cNvPr id="13" name="Text 11"/>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10</a:t>
            </a:r>
            <a:endParaRPr lang="en-US" sz="800" dirty="0"/>
          </a:p>
        </p:txBody>
      </p:sp>
      <p:sp>
        <p:nvSpPr>
          <p:cNvPr id="14" name="Text 12"/>
          <p:cNvSpPr/>
          <p:nvPr/>
        </p:nvSpPr>
        <p:spPr>
          <a:xfrm>
            <a:off x="7955280" y="4819541"/>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20 / 30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Key Takeaways</a:t>
            </a:r>
            <a:endParaRPr lang="en-US" sz="3000" dirty="0"/>
          </a:p>
        </p:txBody>
      </p:sp>
      <p:sp>
        <p:nvSpPr>
          <p:cNvPr id="4" name="Shape 2"/>
          <p:cNvSpPr/>
          <p:nvPr/>
        </p:nvSpPr>
        <p:spPr>
          <a:xfrm>
            <a:off x="457200" y="914400"/>
            <a:ext cx="8229600" cy="457200"/>
          </a:xfrm>
          <a:prstGeom prst="rect">
            <a:avLst/>
          </a:prstGeom>
          <a:solidFill>
            <a:srgbClr val="F1F5F9"/>
          </a:solidFill>
          <a:ln/>
        </p:spPr>
        <p:txBody>
          <a:bodyPr/>
          <a:lstStyle/>
          <a:p>
            <a:endParaRPr lang="en-IN"/>
          </a:p>
        </p:txBody>
      </p:sp>
      <p:sp>
        <p:nvSpPr>
          <p:cNvPr id="5" name="Text 3"/>
          <p:cNvSpPr/>
          <p:nvPr/>
        </p:nvSpPr>
        <p:spPr>
          <a:xfrm>
            <a:off x="640080" y="987552"/>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1.</a:t>
            </a:r>
            <a:endParaRPr lang="en-US" sz="1200" dirty="0"/>
          </a:p>
        </p:txBody>
      </p:sp>
      <p:sp>
        <p:nvSpPr>
          <p:cNvPr id="6" name="Text 4"/>
          <p:cNvSpPr/>
          <p:nvPr/>
        </p:nvSpPr>
        <p:spPr>
          <a:xfrm>
            <a:off x="1097280" y="987552"/>
            <a:ext cx="7406640" cy="310896"/>
          </a:xfrm>
          <a:prstGeom prst="rect">
            <a:avLst/>
          </a:prstGeom>
          <a:noFill/>
          <a:ln/>
        </p:spPr>
        <p:txBody>
          <a:bodyPr wrap="square" rtlCol="0" anchor="ctr"/>
          <a:lstStyle/>
          <a:p>
            <a:pPr marL="0" indent="0">
              <a:buNone/>
            </a:pPr>
            <a:r>
              <a:rPr lang="en-US" sz="1150" dirty="0">
                <a:solidFill>
                  <a:srgbClr val="1E293B"/>
                </a:solidFill>
                <a:latin typeface="Segoe UI" pitchFamily="34" charset="0"/>
                <a:ea typeface="Segoe UI" pitchFamily="34" charset="-122"/>
                <a:cs typeface="Segoe UI" pitchFamily="34" charset="-120"/>
              </a:rPr>
              <a:t>MCP is a universal protocol — same patterns from Dataverse apply to Power BI</a:t>
            </a:r>
            <a:endParaRPr lang="en-US" sz="1150" dirty="0"/>
          </a:p>
        </p:txBody>
      </p:sp>
      <p:sp>
        <p:nvSpPr>
          <p:cNvPr id="7" name="Shape 5"/>
          <p:cNvSpPr/>
          <p:nvPr/>
        </p:nvSpPr>
        <p:spPr>
          <a:xfrm>
            <a:off x="457200" y="1435608"/>
            <a:ext cx="8229600" cy="457200"/>
          </a:xfrm>
          <a:prstGeom prst="rect">
            <a:avLst/>
          </a:prstGeom>
          <a:solidFill>
            <a:srgbClr val="F1F5F9"/>
          </a:solidFill>
          <a:ln/>
        </p:spPr>
        <p:txBody>
          <a:bodyPr/>
          <a:lstStyle/>
          <a:p>
            <a:endParaRPr lang="en-IN"/>
          </a:p>
        </p:txBody>
      </p:sp>
      <p:sp>
        <p:nvSpPr>
          <p:cNvPr id="8" name="Text 6"/>
          <p:cNvSpPr/>
          <p:nvPr/>
        </p:nvSpPr>
        <p:spPr>
          <a:xfrm>
            <a:off x="640080" y="1508760"/>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2.</a:t>
            </a:r>
            <a:endParaRPr lang="en-US" sz="1200" dirty="0"/>
          </a:p>
        </p:txBody>
      </p:sp>
      <p:sp>
        <p:nvSpPr>
          <p:cNvPr id="9" name="Text 7"/>
          <p:cNvSpPr/>
          <p:nvPr/>
        </p:nvSpPr>
        <p:spPr>
          <a:xfrm>
            <a:off x="1097280" y="1508760"/>
            <a:ext cx="7406640" cy="310896"/>
          </a:xfrm>
          <a:prstGeom prst="rect">
            <a:avLst/>
          </a:prstGeom>
          <a:noFill/>
          <a:ln/>
        </p:spPr>
        <p:txBody>
          <a:bodyPr wrap="square" rtlCol="0" anchor="ctr"/>
          <a:lstStyle/>
          <a:p>
            <a:pPr marL="0" indent="0">
              <a:buNone/>
            </a:pPr>
            <a:r>
              <a:rPr lang="en-US" sz="1150" dirty="0">
                <a:solidFill>
                  <a:srgbClr val="1E293B"/>
                </a:solidFill>
                <a:latin typeface="Segoe UI" pitchFamily="34" charset="0"/>
                <a:ea typeface="Segoe UI" pitchFamily="34" charset="-122"/>
                <a:cs typeface="Segoe UI" pitchFamily="34" charset="-120"/>
              </a:rPr>
              <a:t>Power BI MCP Server connects Claude Desktop to local Power BI Desktop models</a:t>
            </a:r>
            <a:endParaRPr lang="en-US" sz="1150" dirty="0"/>
          </a:p>
        </p:txBody>
      </p:sp>
      <p:sp>
        <p:nvSpPr>
          <p:cNvPr id="10" name="Shape 8"/>
          <p:cNvSpPr/>
          <p:nvPr/>
        </p:nvSpPr>
        <p:spPr>
          <a:xfrm>
            <a:off x="457200" y="1956816"/>
            <a:ext cx="8229600" cy="457200"/>
          </a:xfrm>
          <a:prstGeom prst="rect">
            <a:avLst/>
          </a:prstGeom>
          <a:solidFill>
            <a:srgbClr val="F1F5F9"/>
          </a:solidFill>
          <a:ln/>
        </p:spPr>
        <p:txBody>
          <a:bodyPr/>
          <a:lstStyle/>
          <a:p>
            <a:endParaRPr lang="en-IN"/>
          </a:p>
        </p:txBody>
      </p:sp>
      <p:sp>
        <p:nvSpPr>
          <p:cNvPr id="11" name="Text 9"/>
          <p:cNvSpPr/>
          <p:nvPr/>
        </p:nvSpPr>
        <p:spPr>
          <a:xfrm>
            <a:off x="640080" y="2029968"/>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3.</a:t>
            </a:r>
            <a:endParaRPr lang="en-US" sz="1200" dirty="0"/>
          </a:p>
        </p:txBody>
      </p:sp>
      <p:sp>
        <p:nvSpPr>
          <p:cNvPr id="12" name="Text 10"/>
          <p:cNvSpPr/>
          <p:nvPr/>
        </p:nvSpPr>
        <p:spPr>
          <a:xfrm>
            <a:off x="1097280" y="2029968"/>
            <a:ext cx="7406640" cy="310896"/>
          </a:xfrm>
          <a:prstGeom prst="rect">
            <a:avLst/>
          </a:prstGeom>
          <a:noFill/>
          <a:ln/>
        </p:spPr>
        <p:txBody>
          <a:bodyPr wrap="square" rtlCol="0" anchor="ctr"/>
          <a:lstStyle/>
          <a:p>
            <a:pPr marL="0" indent="0">
              <a:buNone/>
            </a:pPr>
            <a:r>
              <a:rPr lang="en-US" sz="1150" dirty="0">
                <a:solidFill>
                  <a:srgbClr val="1E293B"/>
                </a:solidFill>
                <a:latin typeface="Segoe UI" pitchFamily="34" charset="0"/>
                <a:ea typeface="Segoe UI" pitchFamily="34" charset="-122"/>
                <a:cs typeface="Segoe UI" pitchFamily="34" charset="-120"/>
              </a:rPr>
              <a:t>Three setup paths: Claude Desktop (free), VS Code + Copilot, Remote MCP (Preview)</a:t>
            </a:r>
            <a:endParaRPr lang="en-US" sz="1150" dirty="0"/>
          </a:p>
        </p:txBody>
      </p:sp>
      <p:sp>
        <p:nvSpPr>
          <p:cNvPr id="13" name="Shape 11"/>
          <p:cNvSpPr/>
          <p:nvPr/>
        </p:nvSpPr>
        <p:spPr>
          <a:xfrm>
            <a:off x="457200" y="2478024"/>
            <a:ext cx="8229600" cy="457200"/>
          </a:xfrm>
          <a:prstGeom prst="rect">
            <a:avLst/>
          </a:prstGeom>
          <a:solidFill>
            <a:srgbClr val="F1F5F9"/>
          </a:solidFill>
          <a:ln/>
        </p:spPr>
        <p:txBody>
          <a:bodyPr/>
          <a:lstStyle/>
          <a:p>
            <a:endParaRPr lang="en-IN"/>
          </a:p>
        </p:txBody>
      </p:sp>
      <p:sp>
        <p:nvSpPr>
          <p:cNvPr id="14" name="Text 12"/>
          <p:cNvSpPr/>
          <p:nvPr/>
        </p:nvSpPr>
        <p:spPr>
          <a:xfrm>
            <a:off x="640080" y="2551176"/>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4.</a:t>
            </a:r>
            <a:endParaRPr lang="en-US" sz="1200" dirty="0"/>
          </a:p>
        </p:txBody>
      </p:sp>
      <p:sp>
        <p:nvSpPr>
          <p:cNvPr id="15" name="Text 13"/>
          <p:cNvSpPr/>
          <p:nvPr/>
        </p:nvSpPr>
        <p:spPr>
          <a:xfrm>
            <a:off x="1097280" y="2551176"/>
            <a:ext cx="7406640" cy="310896"/>
          </a:xfrm>
          <a:prstGeom prst="rect">
            <a:avLst/>
          </a:prstGeom>
          <a:noFill/>
          <a:ln/>
        </p:spPr>
        <p:txBody>
          <a:bodyPr wrap="square" rtlCol="0" anchor="ctr"/>
          <a:lstStyle/>
          <a:p>
            <a:pPr marL="0" indent="0">
              <a:buNone/>
            </a:pPr>
            <a:r>
              <a:rPr lang="en-US" sz="1150" dirty="0">
                <a:solidFill>
                  <a:srgbClr val="1E293B"/>
                </a:solidFill>
                <a:latin typeface="Segoe UI" pitchFamily="34" charset="0"/>
                <a:ea typeface="Segoe UI" pitchFamily="34" charset="-122"/>
                <a:cs typeface="Segoe UI" pitchFamily="34" charset="-120"/>
              </a:rPr>
              <a:t>Claude can inspect, query, and modify Power BI semantic models conversationally</a:t>
            </a:r>
            <a:endParaRPr lang="en-US" sz="1150" dirty="0"/>
          </a:p>
        </p:txBody>
      </p:sp>
      <p:sp>
        <p:nvSpPr>
          <p:cNvPr id="16" name="Shape 14"/>
          <p:cNvSpPr/>
          <p:nvPr/>
        </p:nvSpPr>
        <p:spPr>
          <a:xfrm>
            <a:off x="457200" y="2999232"/>
            <a:ext cx="8229600" cy="457200"/>
          </a:xfrm>
          <a:prstGeom prst="rect">
            <a:avLst/>
          </a:prstGeom>
          <a:solidFill>
            <a:srgbClr val="F1F5F9"/>
          </a:solidFill>
          <a:ln/>
        </p:spPr>
        <p:txBody>
          <a:bodyPr/>
          <a:lstStyle/>
          <a:p>
            <a:endParaRPr lang="en-IN"/>
          </a:p>
        </p:txBody>
      </p:sp>
      <p:sp>
        <p:nvSpPr>
          <p:cNvPr id="17" name="Text 15"/>
          <p:cNvSpPr/>
          <p:nvPr/>
        </p:nvSpPr>
        <p:spPr>
          <a:xfrm>
            <a:off x="640080" y="3072384"/>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5.</a:t>
            </a:r>
            <a:endParaRPr lang="en-US" sz="1200" dirty="0"/>
          </a:p>
        </p:txBody>
      </p:sp>
      <p:sp>
        <p:nvSpPr>
          <p:cNvPr id="18" name="Text 16"/>
          <p:cNvSpPr/>
          <p:nvPr/>
        </p:nvSpPr>
        <p:spPr>
          <a:xfrm>
            <a:off x="1097280" y="3072384"/>
            <a:ext cx="7406640" cy="310896"/>
          </a:xfrm>
          <a:prstGeom prst="rect">
            <a:avLst/>
          </a:prstGeom>
          <a:noFill/>
          <a:ln/>
        </p:spPr>
        <p:txBody>
          <a:bodyPr wrap="square" rtlCol="0" anchor="ctr"/>
          <a:lstStyle/>
          <a:p>
            <a:pPr marL="0" indent="0">
              <a:buNone/>
            </a:pPr>
            <a:r>
              <a:rPr lang="en-US" sz="1150" dirty="0">
                <a:solidFill>
                  <a:srgbClr val="1E293B"/>
                </a:solidFill>
                <a:latin typeface="Segoe UI" pitchFamily="34" charset="0"/>
                <a:ea typeface="Segoe UI" pitchFamily="34" charset="-122"/>
                <a:cs typeface="Segoe UI" pitchFamily="34" charset="-120"/>
              </a:rPr>
              <a:t>DAX measures, relationships, hierarchies — all via natural language</a:t>
            </a:r>
            <a:endParaRPr lang="en-US" sz="1150" dirty="0"/>
          </a:p>
        </p:txBody>
      </p:sp>
      <p:sp>
        <p:nvSpPr>
          <p:cNvPr id="19" name="Shape 17"/>
          <p:cNvSpPr/>
          <p:nvPr/>
        </p:nvSpPr>
        <p:spPr>
          <a:xfrm>
            <a:off x="457200" y="3520440"/>
            <a:ext cx="8229600" cy="457200"/>
          </a:xfrm>
          <a:prstGeom prst="rect">
            <a:avLst/>
          </a:prstGeom>
          <a:solidFill>
            <a:srgbClr val="F1F5F9"/>
          </a:solidFill>
          <a:ln/>
        </p:spPr>
        <p:txBody>
          <a:bodyPr/>
          <a:lstStyle/>
          <a:p>
            <a:endParaRPr lang="en-IN"/>
          </a:p>
        </p:txBody>
      </p:sp>
      <p:sp>
        <p:nvSpPr>
          <p:cNvPr id="20" name="Text 18"/>
          <p:cNvSpPr/>
          <p:nvPr/>
        </p:nvSpPr>
        <p:spPr>
          <a:xfrm>
            <a:off x="640080" y="3593592"/>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6.</a:t>
            </a:r>
            <a:endParaRPr lang="en-US" sz="1200" dirty="0"/>
          </a:p>
        </p:txBody>
      </p:sp>
      <p:sp>
        <p:nvSpPr>
          <p:cNvPr id="21" name="Text 19"/>
          <p:cNvSpPr/>
          <p:nvPr/>
        </p:nvSpPr>
        <p:spPr>
          <a:xfrm>
            <a:off x="1097280" y="3593592"/>
            <a:ext cx="7406640" cy="310896"/>
          </a:xfrm>
          <a:prstGeom prst="rect">
            <a:avLst/>
          </a:prstGeom>
          <a:noFill/>
          <a:ln/>
        </p:spPr>
        <p:txBody>
          <a:bodyPr wrap="square" rtlCol="0" anchor="ctr"/>
          <a:lstStyle/>
          <a:p>
            <a:pPr marL="0" indent="0">
              <a:buNone/>
            </a:pPr>
            <a:r>
              <a:rPr lang="en-US" sz="1150" dirty="0">
                <a:solidFill>
                  <a:srgbClr val="1E293B"/>
                </a:solidFill>
                <a:latin typeface="Segoe UI" pitchFamily="34" charset="0"/>
                <a:ea typeface="Segoe UI" pitchFamily="34" charset="-122"/>
                <a:cs typeface="Segoe UI" pitchFamily="34" charset="-120"/>
              </a:rPr>
              <a:t>Security: local processing, use non-production data, review AI-generated DAX</a:t>
            </a:r>
            <a:endParaRPr lang="en-US" sz="1150" dirty="0"/>
          </a:p>
        </p:txBody>
      </p:sp>
      <p:sp>
        <p:nvSpPr>
          <p:cNvPr id="22" name="Shape 20"/>
          <p:cNvSpPr/>
          <p:nvPr/>
        </p:nvSpPr>
        <p:spPr>
          <a:xfrm>
            <a:off x="457200" y="4041648"/>
            <a:ext cx="8229600" cy="457200"/>
          </a:xfrm>
          <a:prstGeom prst="rect">
            <a:avLst/>
          </a:prstGeom>
          <a:solidFill>
            <a:srgbClr val="F1F5F9"/>
          </a:solidFill>
          <a:ln/>
        </p:spPr>
        <p:txBody>
          <a:bodyPr/>
          <a:lstStyle/>
          <a:p>
            <a:endParaRPr lang="en-IN"/>
          </a:p>
        </p:txBody>
      </p:sp>
      <p:sp>
        <p:nvSpPr>
          <p:cNvPr id="23" name="Text 21"/>
          <p:cNvSpPr/>
          <p:nvPr/>
        </p:nvSpPr>
        <p:spPr>
          <a:xfrm>
            <a:off x="640080" y="4114800"/>
            <a:ext cx="365760" cy="310896"/>
          </a:xfrm>
          <a:prstGeom prst="rect">
            <a:avLst/>
          </a:prstGeom>
          <a:noFill/>
          <a:ln/>
        </p:spPr>
        <p:txBody>
          <a:bodyPr wrap="square" rtlCol="0" anchor="ctr"/>
          <a:lstStyle/>
          <a:p>
            <a:pPr marL="0" indent="0">
              <a:buNone/>
            </a:pPr>
            <a:r>
              <a:rPr lang="en-US" sz="1200" b="1" dirty="0">
                <a:solidFill>
                  <a:srgbClr val="0891B2"/>
                </a:solidFill>
                <a:latin typeface="Segoe UI" pitchFamily="34" charset="0"/>
                <a:ea typeface="Segoe UI" pitchFamily="34" charset="-122"/>
                <a:cs typeface="Segoe UI" pitchFamily="34" charset="-120"/>
              </a:rPr>
              <a:t>7.</a:t>
            </a:r>
            <a:endParaRPr lang="en-US" sz="1200" dirty="0"/>
          </a:p>
        </p:txBody>
      </p:sp>
      <p:sp>
        <p:nvSpPr>
          <p:cNvPr id="24" name="Text 22"/>
          <p:cNvSpPr/>
          <p:nvPr/>
        </p:nvSpPr>
        <p:spPr>
          <a:xfrm>
            <a:off x="1097280" y="4114800"/>
            <a:ext cx="7406640" cy="310896"/>
          </a:xfrm>
          <a:prstGeom prst="rect">
            <a:avLst/>
          </a:prstGeom>
          <a:noFill/>
          <a:ln/>
        </p:spPr>
        <p:txBody>
          <a:bodyPr wrap="square" rtlCol="0" anchor="ctr"/>
          <a:lstStyle/>
          <a:p>
            <a:pPr marL="0" indent="0">
              <a:buNone/>
            </a:pPr>
            <a:r>
              <a:rPr lang="en-US" sz="1150" dirty="0">
                <a:solidFill>
                  <a:srgbClr val="1E293B"/>
                </a:solidFill>
                <a:latin typeface="Segoe UI" pitchFamily="34" charset="0"/>
                <a:ea typeface="Segoe UI" pitchFamily="34" charset="-122"/>
                <a:cs typeface="Segoe UI" pitchFamily="34" charset="-120"/>
              </a:rPr>
              <a:t>MCP Power BI builds models; Copilot in Power BI consumes reports — complementary</a:t>
            </a:r>
            <a:endParaRPr lang="en-US" sz="1150" dirty="0"/>
          </a:p>
        </p:txBody>
      </p:sp>
      <p:sp>
        <p:nvSpPr>
          <p:cNvPr id="25" name="Shape 23"/>
          <p:cNvSpPr/>
          <p:nvPr/>
        </p:nvSpPr>
        <p:spPr>
          <a:xfrm>
            <a:off x="0" y="4846320"/>
            <a:ext cx="9144000" cy="297180"/>
          </a:xfrm>
          <a:prstGeom prst="rect">
            <a:avLst/>
          </a:prstGeom>
          <a:solidFill>
            <a:srgbClr val="F1F5F9"/>
          </a:solidFill>
          <a:ln/>
        </p:spPr>
        <p:txBody>
          <a:bodyPr/>
          <a:lstStyle/>
          <a:p>
            <a:endParaRPr lang="en-IN"/>
          </a:p>
        </p:txBody>
      </p:sp>
      <p:sp>
        <p:nvSpPr>
          <p:cNvPr id="26" name="Text 24"/>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10</a:t>
            </a:r>
            <a:endParaRPr lang="en-US" sz="800" dirty="0"/>
          </a:p>
        </p:txBody>
      </p:sp>
      <p:sp>
        <p:nvSpPr>
          <p:cNvPr id="27" name="Text 25"/>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21 / 30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IN"/>
          </a:p>
        </p:txBody>
      </p:sp>
      <p:sp>
        <p:nvSpPr>
          <p:cNvPr id="3" name="Shape 1"/>
          <p:cNvSpPr/>
          <p:nvPr/>
        </p:nvSpPr>
        <p:spPr>
          <a:xfrm>
            <a:off x="0" y="5088636"/>
            <a:ext cx="9144000" cy="54864"/>
          </a:xfrm>
          <a:prstGeom prst="rect">
            <a:avLst/>
          </a:prstGeom>
          <a:solidFill>
            <a:srgbClr val="0891B2"/>
          </a:solidFill>
          <a:ln/>
        </p:spPr>
        <p:txBody>
          <a:bodyPr/>
          <a:lstStyle/>
          <a:p>
            <a:endParaRPr lang="en-IN"/>
          </a:p>
        </p:txBody>
      </p:sp>
      <p:sp>
        <p:nvSpPr>
          <p:cNvPr id="4" name="Text 2"/>
          <p:cNvSpPr/>
          <p:nvPr/>
        </p:nvSpPr>
        <p:spPr>
          <a:xfrm>
            <a:off x="914400" y="2011680"/>
            <a:ext cx="7315200" cy="640080"/>
          </a:xfrm>
          <a:prstGeom prst="rect">
            <a:avLst/>
          </a:prstGeom>
          <a:noFill/>
          <a:ln/>
        </p:spPr>
        <p:txBody>
          <a:bodyPr wrap="square" rtlCol="0" anchor="ctr"/>
          <a:lstStyle/>
          <a:p>
            <a:pPr marL="0" indent="0" algn="ctr">
              <a:buNone/>
            </a:pPr>
            <a:r>
              <a:rPr lang="en-US" sz="3600" b="1" dirty="0">
                <a:solidFill>
                  <a:srgbClr val="FFFFFF"/>
                </a:solidFill>
                <a:latin typeface="Segoe UI" pitchFamily="34" charset="0"/>
                <a:ea typeface="Segoe UI" pitchFamily="34" charset="-122"/>
                <a:cs typeface="Segoe UI" pitchFamily="34" charset="-120"/>
              </a:rPr>
              <a:t>Knowledge Check</a:t>
            </a:r>
            <a:endParaRPr lang="en-US" sz="3600" dirty="0"/>
          </a:p>
        </p:txBody>
      </p:sp>
      <p:sp>
        <p:nvSpPr>
          <p:cNvPr id="5" name="Text 3"/>
          <p:cNvSpPr/>
          <p:nvPr/>
        </p:nvSpPr>
        <p:spPr>
          <a:xfrm>
            <a:off x="914400" y="2743200"/>
            <a:ext cx="7315200" cy="365760"/>
          </a:xfrm>
          <a:prstGeom prst="rect">
            <a:avLst/>
          </a:prstGeom>
          <a:noFill/>
          <a:ln/>
        </p:spPr>
        <p:txBody>
          <a:bodyPr wrap="square" rtlCol="0" anchor="ctr"/>
          <a:lstStyle/>
          <a:p>
            <a:pPr marL="0" indent="0" algn="ctr">
              <a:buNone/>
            </a:pPr>
            <a:r>
              <a:rPr lang="en-US" sz="1400" dirty="0">
                <a:solidFill>
                  <a:srgbClr val="94A3B8"/>
                </a:solidFill>
                <a:latin typeface="Segoe UI" pitchFamily="34" charset="0"/>
                <a:ea typeface="Segoe UI" pitchFamily="34" charset="-122"/>
                <a:cs typeface="Segoe UI" pitchFamily="34" charset="-120"/>
              </a:rPr>
              <a:t>Test your understanding with 3 quick questions</a:t>
            </a:r>
            <a:endParaRPr lang="en-US" sz="1400" dirty="0"/>
          </a:p>
        </p:txBody>
      </p:sp>
      <p:sp>
        <p:nvSpPr>
          <p:cNvPr id="6" name="Text 4"/>
          <p:cNvSpPr/>
          <p:nvPr/>
        </p:nvSpPr>
        <p:spPr>
          <a:xfrm>
            <a:off x="914400" y="3200400"/>
            <a:ext cx="7315200" cy="365760"/>
          </a:xfrm>
          <a:prstGeom prst="rect">
            <a:avLst/>
          </a:prstGeom>
          <a:noFill/>
          <a:ln/>
        </p:spPr>
        <p:txBody>
          <a:bodyPr wrap="square" rtlCol="0" anchor="ctr"/>
          <a:lstStyle/>
          <a:p>
            <a:pPr marL="0" indent="0" algn="ctr">
              <a:buNone/>
            </a:pPr>
            <a:r>
              <a:rPr lang="en-US" sz="1200" dirty="0">
                <a:solidFill>
                  <a:srgbClr val="64748B"/>
                </a:solidFill>
                <a:latin typeface="Segoe UI" pitchFamily="34" charset="0"/>
                <a:ea typeface="Segoe UI" pitchFamily="34" charset="-122"/>
                <a:cs typeface="Segoe UI" pitchFamily="34" charset="-120"/>
              </a:rPr>
              <a:t>Think before you click forward!</a:t>
            </a:r>
            <a:endParaRPr lang="en-US" sz="1200" dirty="0"/>
          </a:p>
        </p:txBody>
      </p:sp>
      <p:sp>
        <p:nvSpPr>
          <p:cNvPr id="7" name="Text 10">
            <a:extLst>
              <a:ext uri="{FF2B5EF4-FFF2-40B4-BE49-F238E27FC236}">
                <a16:creationId xmlns:a16="http://schemas.microsoft.com/office/drawing/2014/main" id="{8EFB4C52-6EA8-29C4-BDF1-E79EF16D78B5}"/>
              </a:ext>
            </a:extLst>
          </p:cNvPr>
          <p:cNvSpPr/>
          <p:nvPr/>
        </p:nvSpPr>
        <p:spPr>
          <a:xfrm>
            <a:off x="8026400" y="4735104"/>
            <a:ext cx="91440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buNone/>
            </a:pPr>
            <a:r>
              <a:rPr lang="en-US" sz="900" dirty="0">
                <a:solidFill>
                  <a:schemeClr val="bg1"/>
                </a:solidFill>
                <a:latin typeface="Segoe UI" pitchFamily="34" charset="0"/>
                <a:ea typeface="Segoe UI" pitchFamily="34" charset="-122"/>
                <a:cs typeface="Segoe UI" pitchFamily="34" charset="-120"/>
              </a:rPr>
              <a:t>22 / 30</a:t>
            </a:r>
            <a:endParaRPr lang="en-US" sz="900" dirty="0">
              <a:solidFill>
                <a:schemeClr val="bg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1 of 3</a:t>
            </a:r>
            <a:endParaRPr lang="en-US" sz="2000" dirty="0"/>
          </a:p>
        </p:txBody>
      </p:sp>
      <p:sp>
        <p:nvSpPr>
          <p:cNvPr id="5" name="Text 3"/>
          <p:cNvSpPr/>
          <p:nvPr/>
        </p:nvSpPr>
        <p:spPr>
          <a:xfrm>
            <a:off x="457200" y="1097280"/>
            <a:ext cx="8229600" cy="68580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How does the Power BI MCP Server communicate with Power BI Desktop?</a:t>
            </a:r>
            <a:endParaRPr lang="en-US" sz="1500" dirty="0"/>
          </a:p>
        </p:txBody>
      </p:sp>
      <p:sp>
        <p:nvSpPr>
          <p:cNvPr id="6" name="Shape 4"/>
          <p:cNvSpPr/>
          <p:nvPr/>
        </p:nvSpPr>
        <p:spPr>
          <a:xfrm>
            <a:off x="731520" y="1920240"/>
            <a:ext cx="7498080" cy="548640"/>
          </a:xfrm>
          <a:prstGeom prst="rect">
            <a:avLst/>
          </a:prstGeom>
          <a:solidFill>
            <a:srgbClr val="F1F5F9"/>
          </a:solidFill>
          <a:ln/>
        </p:spPr>
        <p:txBody>
          <a:bodyPr/>
          <a:lstStyle/>
          <a:p>
            <a:endParaRPr lang="en-IN"/>
          </a:p>
        </p:txBody>
      </p:sp>
      <p:sp>
        <p:nvSpPr>
          <p:cNvPr id="7" name="Text 5"/>
          <p:cNvSpPr/>
          <p:nvPr/>
        </p:nvSpPr>
        <p:spPr>
          <a:xfrm>
            <a:off x="914400" y="2029968"/>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  Through the Power BI REST API in the cloud</a:t>
            </a:r>
            <a:endParaRPr lang="en-US" sz="1300" dirty="0"/>
          </a:p>
        </p:txBody>
      </p:sp>
      <p:sp>
        <p:nvSpPr>
          <p:cNvPr id="8" name="Shape 6"/>
          <p:cNvSpPr/>
          <p:nvPr/>
        </p:nvSpPr>
        <p:spPr>
          <a:xfrm>
            <a:off x="731520" y="2578608"/>
            <a:ext cx="7498080" cy="548640"/>
          </a:xfrm>
          <a:prstGeom prst="rect">
            <a:avLst/>
          </a:prstGeom>
          <a:solidFill>
            <a:srgbClr val="F1F5F9"/>
          </a:solidFill>
          <a:ln/>
        </p:spPr>
        <p:txBody>
          <a:bodyPr/>
          <a:lstStyle/>
          <a:p>
            <a:endParaRPr lang="en-IN"/>
          </a:p>
        </p:txBody>
      </p:sp>
      <p:sp>
        <p:nvSpPr>
          <p:cNvPr id="9" name="Text 7"/>
          <p:cNvSpPr/>
          <p:nvPr/>
        </p:nvSpPr>
        <p:spPr>
          <a:xfrm>
            <a:off x="914400" y="2688336"/>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  Via XMLA/TMSL to the local Analysis Services instance</a:t>
            </a:r>
            <a:endParaRPr lang="en-US" sz="1300" dirty="0"/>
          </a:p>
        </p:txBody>
      </p:sp>
      <p:sp>
        <p:nvSpPr>
          <p:cNvPr id="10" name="Shape 8"/>
          <p:cNvSpPr/>
          <p:nvPr/>
        </p:nvSpPr>
        <p:spPr>
          <a:xfrm>
            <a:off x="731520" y="3236976"/>
            <a:ext cx="7498080" cy="548640"/>
          </a:xfrm>
          <a:prstGeom prst="rect">
            <a:avLst/>
          </a:prstGeom>
          <a:solidFill>
            <a:srgbClr val="F1F5F9"/>
          </a:solidFill>
          <a:ln/>
        </p:spPr>
        <p:txBody>
          <a:bodyPr/>
          <a:lstStyle/>
          <a:p>
            <a:endParaRPr lang="en-IN"/>
          </a:p>
        </p:txBody>
      </p:sp>
      <p:sp>
        <p:nvSpPr>
          <p:cNvPr id="11" name="Text 9"/>
          <p:cNvSpPr/>
          <p:nvPr/>
        </p:nvSpPr>
        <p:spPr>
          <a:xfrm>
            <a:off x="914400" y="3346704"/>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  Using direct file access to the .pbix file</a:t>
            </a:r>
            <a:endParaRPr lang="en-US" sz="1300" dirty="0"/>
          </a:p>
        </p:txBody>
      </p:sp>
      <p:sp>
        <p:nvSpPr>
          <p:cNvPr id="12" name="Shape 10"/>
          <p:cNvSpPr/>
          <p:nvPr/>
        </p:nvSpPr>
        <p:spPr>
          <a:xfrm>
            <a:off x="731520" y="3895344"/>
            <a:ext cx="7498080" cy="548640"/>
          </a:xfrm>
          <a:prstGeom prst="rect">
            <a:avLst/>
          </a:prstGeom>
          <a:solidFill>
            <a:srgbClr val="F1F5F9"/>
          </a:solidFill>
          <a:ln/>
        </p:spPr>
        <p:txBody>
          <a:bodyPr/>
          <a:lstStyle/>
          <a:p>
            <a:endParaRPr lang="en-IN"/>
          </a:p>
        </p:txBody>
      </p:sp>
      <p:sp>
        <p:nvSpPr>
          <p:cNvPr id="13" name="Text 11"/>
          <p:cNvSpPr/>
          <p:nvPr/>
        </p:nvSpPr>
        <p:spPr>
          <a:xfrm>
            <a:off x="914400" y="4005072"/>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  Through the Dataverse Web API</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10  |  Knowledge Check</a:t>
            </a:r>
            <a:endParaRPr lang="en-US" sz="800" dirty="0"/>
          </a:p>
        </p:txBody>
      </p:sp>
      <p:sp>
        <p:nvSpPr>
          <p:cNvPr id="16" name="Text 14"/>
          <p:cNvSpPr/>
          <p:nvPr/>
        </p:nvSpPr>
        <p:spPr>
          <a:xfrm>
            <a:off x="7955280" y="484022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23 / 30</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1 — Answer</a:t>
            </a:r>
            <a:endParaRPr lang="en-US" sz="2000" dirty="0"/>
          </a:p>
        </p:txBody>
      </p:sp>
      <p:sp>
        <p:nvSpPr>
          <p:cNvPr id="5" name="Text 3"/>
          <p:cNvSpPr/>
          <p:nvPr/>
        </p:nvSpPr>
        <p:spPr>
          <a:xfrm>
            <a:off x="457200" y="1097280"/>
            <a:ext cx="8229600" cy="68580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How does the Power BI MCP Server communicate with Power BI Desktop?</a:t>
            </a:r>
            <a:endParaRPr lang="en-US" sz="1500" dirty="0"/>
          </a:p>
        </p:txBody>
      </p:sp>
      <p:sp>
        <p:nvSpPr>
          <p:cNvPr id="6" name="Shape 4"/>
          <p:cNvSpPr/>
          <p:nvPr/>
        </p:nvSpPr>
        <p:spPr>
          <a:xfrm>
            <a:off x="731520" y="1920240"/>
            <a:ext cx="7498080" cy="548640"/>
          </a:xfrm>
          <a:prstGeom prst="rect">
            <a:avLst/>
          </a:prstGeom>
          <a:solidFill>
            <a:srgbClr val="F1F5F9"/>
          </a:solidFill>
          <a:ln/>
        </p:spPr>
        <p:txBody>
          <a:bodyPr/>
          <a:lstStyle/>
          <a:p>
            <a:endParaRPr lang="en-IN"/>
          </a:p>
        </p:txBody>
      </p:sp>
      <p:sp>
        <p:nvSpPr>
          <p:cNvPr id="7" name="Text 5"/>
          <p:cNvSpPr/>
          <p:nvPr/>
        </p:nvSpPr>
        <p:spPr>
          <a:xfrm>
            <a:off x="914400" y="2029968"/>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A.  Through the Power BI REST API in the cloud</a:t>
            </a:r>
            <a:endParaRPr lang="en-US" sz="1300" dirty="0"/>
          </a:p>
        </p:txBody>
      </p:sp>
      <p:sp>
        <p:nvSpPr>
          <p:cNvPr id="8" name="Shape 6"/>
          <p:cNvSpPr/>
          <p:nvPr/>
        </p:nvSpPr>
        <p:spPr>
          <a:xfrm>
            <a:off x="731520" y="2578608"/>
            <a:ext cx="7498080" cy="548640"/>
          </a:xfrm>
          <a:prstGeom prst="rect">
            <a:avLst/>
          </a:prstGeom>
          <a:solidFill>
            <a:srgbClr val="DCFCE7"/>
          </a:solidFill>
          <a:ln/>
        </p:spPr>
        <p:txBody>
          <a:bodyPr/>
          <a:lstStyle/>
          <a:p>
            <a:endParaRPr lang="en-IN"/>
          </a:p>
        </p:txBody>
      </p:sp>
      <p:sp>
        <p:nvSpPr>
          <p:cNvPr id="9" name="Text 7"/>
          <p:cNvSpPr/>
          <p:nvPr/>
        </p:nvSpPr>
        <p:spPr>
          <a:xfrm>
            <a:off x="914400" y="2688336"/>
            <a:ext cx="7132320" cy="36576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 B.  Via XMLA/TMSL to the local Analysis Services instance</a:t>
            </a:r>
            <a:endParaRPr lang="en-US" sz="1300" dirty="0"/>
          </a:p>
        </p:txBody>
      </p:sp>
      <p:sp>
        <p:nvSpPr>
          <p:cNvPr id="10" name="Shape 8"/>
          <p:cNvSpPr/>
          <p:nvPr/>
        </p:nvSpPr>
        <p:spPr>
          <a:xfrm>
            <a:off x="731520" y="3236976"/>
            <a:ext cx="7498080" cy="548640"/>
          </a:xfrm>
          <a:prstGeom prst="rect">
            <a:avLst/>
          </a:prstGeom>
          <a:solidFill>
            <a:srgbClr val="F1F5F9"/>
          </a:solidFill>
          <a:ln/>
        </p:spPr>
        <p:txBody>
          <a:bodyPr/>
          <a:lstStyle/>
          <a:p>
            <a:endParaRPr lang="en-IN"/>
          </a:p>
        </p:txBody>
      </p:sp>
      <p:sp>
        <p:nvSpPr>
          <p:cNvPr id="11" name="Text 9"/>
          <p:cNvSpPr/>
          <p:nvPr/>
        </p:nvSpPr>
        <p:spPr>
          <a:xfrm>
            <a:off x="914400" y="3346704"/>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C.  Using direct file access to the .pbix file</a:t>
            </a:r>
            <a:endParaRPr lang="en-US" sz="1300" dirty="0"/>
          </a:p>
        </p:txBody>
      </p:sp>
      <p:sp>
        <p:nvSpPr>
          <p:cNvPr id="12" name="Shape 10"/>
          <p:cNvSpPr/>
          <p:nvPr/>
        </p:nvSpPr>
        <p:spPr>
          <a:xfrm>
            <a:off x="731520" y="3895344"/>
            <a:ext cx="7498080" cy="548640"/>
          </a:xfrm>
          <a:prstGeom prst="rect">
            <a:avLst/>
          </a:prstGeom>
          <a:solidFill>
            <a:srgbClr val="F1F5F9"/>
          </a:solidFill>
          <a:ln/>
        </p:spPr>
        <p:txBody>
          <a:bodyPr/>
          <a:lstStyle/>
          <a:p>
            <a:endParaRPr lang="en-IN"/>
          </a:p>
        </p:txBody>
      </p:sp>
      <p:sp>
        <p:nvSpPr>
          <p:cNvPr id="13" name="Text 11"/>
          <p:cNvSpPr/>
          <p:nvPr/>
        </p:nvSpPr>
        <p:spPr>
          <a:xfrm>
            <a:off x="914400" y="4005072"/>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D.  Through the Dataverse Web API</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10  |  Knowledge Check</a:t>
            </a:r>
            <a:endParaRPr lang="en-US" sz="800" dirty="0"/>
          </a:p>
        </p:txBody>
      </p:sp>
      <p:sp>
        <p:nvSpPr>
          <p:cNvPr id="16" name="Text 14"/>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24 / 30</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2 of 3</a:t>
            </a:r>
            <a:endParaRPr lang="en-US" sz="2000" dirty="0"/>
          </a:p>
        </p:txBody>
      </p:sp>
      <p:sp>
        <p:nvSpPr>
          <p:cNvPr id="5" name="Text 3"/>
          <p:cNvSpPr/>
          <p:nvPr/>
        </p:nvSpPr>
        <p:spPr>
          <a:xfrm>
            <a:off x="457200" y="1097280"/>
            <a:ext cx="8229600" cy="68580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is the key difference between MCP Power BI and the built-in Copilot in Power BI?</a:t>
            </a:r>
            <a:endParaRPr lang="en-US" sz="1500" dirty="0"/>
          </a:p>
        </p:txBody>
      </p:sp>
      <p:sp>
        <p:nvSpPr>
          <p:cNvPr id="6" name="Shape 4"/>
          <p:cNvSpPr/>
          <p:nvPr/>
        </p:nvSpPr>
        <p:spPr>
          <a:xfrm>
            <a:off x="731520" y="1920240"/>
            <a:ext cx="7498080" cy="548640"/>
          </a:xfrm>
          <a:prstGeom prst="rect">
            <a:avLst/>
          </a:prstGeom>
          <a:solidFill>
            <a:srgbClr val="F1F5F9"/>
          </a:solidFill>
          <a:ln/>
        </p:spPr>
        <p:txBody>
          <a:bodyPr/>
          <a:lstStyle/>
          <a:p>
            <a:endParaRPr lang="en-IN"/>
          </a:p>
        </p:txBody>
      </p:sp>
      <p:sp>
        <p:nvSpPr>
          <p:cNvPr id="7" name="Text 5"/>
          <p:cNvSpPr/>
          <p:nvPr/>
        </p:nvSpPr>
        <p:spPr>
          <a:xfrm>
            <a:off x="914400" y="2029968"/>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  MCP is free, Copilot requires a license</a:t>
            </a:r>
            <a:endParaRPr lang="en-US" sz="1300" dirty="0"/>
          </a:p>
        </p:txBody>
      </p:sp>
      <p:sp>
        <p:nvSpPr>
          <p:cNvPr id="8" name="Shape 6"/>
          <p:cNvSpPr/>
          <p:nvPr/>
        </p:nvSpPr>
        <p:spPr>
          <a:xfrm>
            <a:off x="731520" y="2578608"/>
            <a:ext cx="7498080" cy="548640"/>
          </a:xfrm>
          <a:prstGeom prst="rect">
            <a:avLst/>
          </a:prstGeom>
          <a:solidFill>
            <a:srgbClr val="F1F5F9"/>
          </a:solidFill>
          <a:ln/>
        </p:spPr>
        <p:txBody>
          <a:bodyPr/>
          <a:lstStyle/>
          <a:p>
            <a:endParaRPr lang="en-IN"/>
          </a:p>
        </p:txBody>
      </p:sp>
      <p:sp>
        <p:nvSpPr>
          <p:cNvPr id="9" name="Text 7"/>
          <p:cNvSpPr/>
          <p:nvPr/>
        </p:nvSpPr>
        <p:spPr>
          <a:xfrm>
            <a:off x="914400" y="2688336"/>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  MCP builds/modifies models; Copilot consumes/explores reports</a:t>
            </a:r>
            <a:endParaRPr lang="en-US" sz="1300" dirty="0"/>
          </a:p>
        </p:txBody>
      </p:sp>
      <p:sp>
        <p:nvSpPr>
          <p:cNvPr id="10" name="Shape 8"/>
          <p:cNvSpPr/>
          <p:nvPr/>
        </p:nvSpPr>
        <p:spPr>
          <a:xfrm>
            <a:off x="731520" y="3236976"/>
            <a:ext cx="7498080" cy="548640"/>
          </a:xfrm>
          <a:prstGeom prst="rect">
            <a:avLst/>
          </a:prstGeom>
          <a:solidFill>
            <a:srgbClr val="F1F5F9"/>
          </a:solidFill>
          <a:ln/>
        </p:spPr>
        <p:txBody>
          <a:bodyPr/>
          <a:lstStyle/>
          <a:p>
            <a:endParaRPr lang="en-IN"/>
          </a:p>
        </p:txBody>
      </p:sp>
      <p:sp>
        <p:nvSpPr>
          <p:cNvPr id="11" name="Text 9"/>
          <p:cNvSpPr/>
          <p:nvPr/>
        </p:nvSpPr>
        <p:spPr>
          <a:xfrm>
            <a:off x="914400" y="3346704"/>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  MCP works in the cloud; Copilot works locally</a:t>
            </a:r>
            <a:endParaRPr lang="en-US" sz="1300" dirty="0"/>
          </a:p>
        </p:txBody>
      </p:sp>
      <p:sp>
        <p:nvSpPr>
          <p:cNvPr id="12" name="Shape 10"/>
          <p:cNvSpPr/>
          <p:nvPr/>
        </p:nvSpPr>
        <p:spPr>
          <a:xfrm>
            <a:off x="731520" y="3895344"/>
            <a:ext cx="7498080" cy="548640"/>
          </a:xfrm>
          <a:prstGeom prst="rect">
            <a:avLst/>
          </a:prstGeom>
          <a:solidFill>
            <a:srgbClr val="F1F5F9"/>
          </a:solidFill>
          <a:ln/>
        </p:spPr>
        <p:txBody>
          <a:bodyPr/>
          <a:lstStyle/>
          <a:p>
            <a:endParaRPr lang="en-IN"/>
          </a:p>
        </p:txBody>
      </p:sp>
      <p:sp>
        <p:nvSpPr>
          <p:cNvPr id="13" name="Text 11"/>
          <p:cNvSpPr/>
          <p:nvPr/>
        </p:nvSpPr>
        <p:spPr>
          <a:xfrm>
            <a:off x="914400" y="4005072"/>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  There is no difference — they are the same feature</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10  |  Knowledge Check</a:t>
            </a:r>
            <a:endParaRPr lang="en-US" sz="800" dirty="0"/>
          </a:p>
        </p:txBody>
      </p:sp>
      <p:sp>
        <p:nvSpPr>
          <p:cNvPr id="16" name="Text 14"/>
          <p:cNvSpPr/>
          <p:nvPr/>
        </p:nvSpPr>
        <p:spPr>
          <a:xfrm>
            <a:off x="7955280" y="4833257"/>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25 / 30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2 — Answer</a:t>
            </a:r>
            <a:endParaRPr lang="en-US" sz="2000" dirty="0"/>
          </a:p>
        </p:txBody>
      </p:sp>
      <p:sp>
        <p:nvSpPr>
          <p:cNvPr id="5" name="Text 3"/>
          <p:cNvSpPr/>
          <p:nvPr/>
        </p:nvSpPr>
        <p:spPr>
          <a:xfrm>
            <a:off x="457200" y="1097280"/>
            <a:ext cx="8229600" cy="68580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What is the key difference between MCP Power BI and the built-in Copilot in Power BI?</a:t>
            </a:r>
            <a:endParaRPr lang="en-US" sz="1500" dirty="0"/>
          </a:p>
        </p:txBody>
      </p:sp>
      <p:sp>
        <p:nvSpPr>
          <p:cNvPr id="6" name="Shape 4"/>
          <p:cNvSpPr/>
          <p:nvPr/>
        </p:nvSpPr>
        <p:spPr>
          <a:xfrm>
            <a:off x="731520" y="1920240"/>
            <a:ext cx="7498080" cy="548640"/>
          </a:xfrm>
          <a:prstGeom prst="rect">
            <a:avLst/>
          </a:prstGeom>
          <a:solidFill>
            <a:srgbClr val="F1F5F9"/>
          </a:solidFill>
          <a:ln/>
        </p:spPr>
        <p:txBody>
          <a:bodyPr/>
          <a:lstStyle/>
          <a:p>
            <a:endParaRPr lang="en-IN"/>
          </a:p>
        </p:txBody>
      </p:sp>
      <p:sp>
        <p:nvSpPr>
          <p:cNvPr id="7" name="Text 5"/>
          <p:cNvSpPr/>
          <p:nvPr/>
        </p:nvSpPr>
        <p:spPr>
          <a:xfrm>
            <a:off x="914400" y="2029968"/>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A.  MCP is free, Copilot requires a license</a:t>
            </a:r>
            <a:endParaRPr lang="en-US" sz="1300" dirty="0"/>
          </a:p>
        </p:txBody>
      </p:sp>
      <p:sp>
        <p:nvSpPr>
          <p:cNvPr id="8" name="Shape 6"/>
          <p:cNvSpPr/>
          <p:nvPr/>
        </p:nvSpPr>
        <p:spPr>
          <a:xfrm>
            <a:off x="731520" y="2578608"/>
            <a:ext cx="7498080" cy="548640"/>
          </a:xfrm>
          <a:prstGeom prst="rect">
            <a:avLst/>
          </a:prstGeom>
          <a:solidFill>
            <a:srgbClr val="DCFCE7"/>
          </a:solidFill>
          <a:ln/>
        </p:spPr>
        <p:txBody>
          <a:bodyPr/>
          <a:lstStyle/>
          <a:p>
            <a:endParaRPr lang="en-IN"/>
          </a:p>
        </p:txBody>
      </p:sp>
      <p:sp>
        <p:nvSpPr>
          <p:cNvPr id="9" name="Text 7"/>
          <p:cNvSpPr/>
          <p:nvPr/>
        </p:nvSpPr>
        <p:spPr>
          <a:xfrm>
            <a:off x="914400" y="2688336"/>
            <a:ext cx="7132320" cy="36576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 B.  MCP builds/modifies models; Copilot consumes/explores reports</a:t>
            </a:r>
            <a:endParaRPr lang="en-US" sz="1300" dirty="0"/>
          </a:p>
        </p:txBody>
      </p:sp>
      <p:sp>
        <p:nvSpPr>
          <p:cNvPr id="10" name="Shape 8"/>
          <p:cNvSpPr/>
          <p:nvPr/>
        </p:nvSpPr>
        <p:spPr>
          <a:xfrm>
            <a:off x="731520" y="3236976"/>
            <a:ext cx="7498080" cy="548640"/>
          </a:xfrm>
          <a:prstGeom prst="rect">
            <a:avLst/>
          </a:prstGeom>
          <a:solidFill>
            <a:srgbClr val="F1F5F9"/>
          </a:solidFill>
          <a:ln/>
        </p:spPr>
        <p:txBody>
          <a:bodyPr/>
          <a:lstStyle/>
          <a:p>
            <a:endParaRPr lang="en-IN"/>
          </a:p>
        </p:txBody>
      </p:sp>
      <p:sp>
        <p:nvSpPr>
          <p:cNvPr id="11" name="Text 9"/>
          <p:cNvSpPr/>
          <p:nvPr/>
        </p:nvSpPr>
        <p:spPr>
          <a:xfrm>
            <a:off x="914400" y="3346704"/>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C.  MCP works in the cloud; Copilot works locally</a:t>
            </a:r>
            <a:endParaRPr lang="en-US" sz="1300" dirty="0"/>
          </a:p>
        </p:txBody>
      </p:sp>
      <p:sp>
        <p:nvSpPr>
          <p:cNvPr id="12" name="Shape 10"/>
          <p:cNvSpPr/>
          <p:nvPr/>
        </p:nvSpPr>
        <p:spPr>
          <a:xfrm>
            <a:off x="731520" y="3895344"/>
            <a:ext cx="7498080" cy="548640"/>
          </a:xfrm>
          <a:prstGeom prst="rect">
            <a:avLst/>
          </a:prstGeom>
          <a:solidFill>
            <a:srgbClr val="F1F5F9"/>
          </a:solidFill>
          <a:ln/>
        </p:spPr>
        <p:txBody>
          <a:bodyPr/>
          <a:lstStyle/>
          <a:p>
            <a:endParaRPr lang="en-IN"/>
          </a:p>
        </p:txBody>
      </p:sp>
      <p:sp>
        <p:nvSpPr>
          <p:cNvPr id="13" name="Text 11"/>
          <p:cNvSpPr/>
          <p:nvPr/>
        </p:nvSpPr>
        <p:spPr>
          <a:xfrm>
            <a:off x="914400" y="4005072"/>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D.  There is no difference — they are the same feature</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10  |  Knowledge Check</a:t>
            </a:r>
            <a:endParaRPr lang="en-US" sz="800" dirty="0"/>
          </a:p>
        </p:txBody>
      </p:sp>
      <p:sp>
        <p:nvSpPr>
          <p:cNvPr id="16" name="Text 14"/>
          <p:cNvSpPr/>
          <p:nvPr/>
        </p:nvSpPr>
        <p:spPr>
          <a:xfrm>
            <a:off x="7955280" y="4846320"/>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26 / 30</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3 of 3</a:t>
            </a:r>
            <a:endParaRPr lang="en-US" sz="2000" dirty="0"/>
          </a:p>
        </p:txBody>
      </p:sp>
      <p:sp>
        <p:nvSpPr>
          <p:cNvPr id="5" name="Text 3"/>
          <p:cNvSpPr/>
          <p:nvPr/>
        </p:nvSpPr>
        <p:spPr>
          <a:xfrm>
            <a:off x="457200" y="1097280"/>
            <a:ext cx="8229600" cy="68580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Which setup path is recommended for production BFSI environments with audit requirements?</a:t>
            </a:r>
            <a:endParaRPr lang="en-US" sz="1500" dirty="0"/>
          </a:p>
        </p:txBody>
      </p:sp>
      <p:sp>
        <p:nvSpPr>
          <p:cNvPr id="6" name="Shape 4"/>
          <p:cNvSpPr/>
          <p:nvPr/>
        </p:nvSpPr>
        <p:spPr>
          <a:xfrm>
            <a:off x="731520" y="1920240"/>
            <a:ext cx="7498080" cy="548640"/>
          </a:xfrm>
          <a:prstGeom prst="rect">
            <a:avLst/>
          </a:prstGeom>
          <a:solidFill>
            <a:srgbClr val="F1F5F9"/>
          </a:solidFill>
          <a:ln/>
        </p:spPr>
        <p:txBody>
          <a:bodyPr/>
          <a:lstStyle/>
          <a:p>
            <a:endParaRPr lang="en-IN"/>
          </a:p>
        </p:txBody>
      </p:sp>
      <p:sp>
        <p:nvSpPr>
          <p:cNvPr id="7" name="Text 5"/>
          <p:cNvSpPr/>
          <p:nvPr/>
        </p:nvSpPr>
        <p:spPr>
          <a:xfrm>
            <a:off x="914400" y="2029968"/>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A.  Path A: Claude Desktop (best audit trails)</a:t>
            </a:r>
            <a:endParaRPr lang="en-US" sz="1300" dirty="0"/>
          </a:p>
        </p:txBody>
      </p:sp>
      <p:sp>
        <p:nvSpPr>
          <p:cNvPr id="8" name="Shape 6"/>
          <p:cNvSpPr/>
          <p:nvPr/>
        </p:nvSpPr>
        <p:spPr>
          <a:xfrm>
            <a:off x="731520" y="2578608"/>
            <a:ext cx="7498080" cy="548640"/>
          </a:xfrm>
          <a:prstGeom prst="rect">
            <a:avLst/>
          </a:prstGeom>
          <a:solidFill>
            <a:srgbClr val="F1F5F9"/>
          </a:solidFill>
          <a:ln/>
        </p:spPr>
        <p:txBody>
          <a:bodyPr/>
          <a:lstStyle/>
          <a:p>
            <a:endParaRPr lang="en-IN"/>
          </a:p>
        </p:txBody>
      </p:sp>
      <p:sp>
        <p:nvSpPr>
          <p:cNvPr id="9" name="Text 7"/>
          <p:cNvSpPr/>
          <p:nvPr/>
        </p:nvSpPr>
        <p:spPr>
          <a:xfrm>
            <a:off x="914400" y="2688336"/>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B.  Path B: VS Code + GitHub Copilot (auditable workflow)</a:t>
            </a:r>
            <a:endParaRPr lang="en-US" sz="1300" dirty="0"/>
          </a:p>
        </p:txBody>
      </p:sp>
      <p:sp>
        <p:nvSpPr>
          <p:cNvPr id="10" name="Shape 8"/>
          <p:cNvSpPr/>
          <p:nvPr/>
        </p:nvSpPr>
        <p:spPr>
          <a:xfrm>
            <a:off x="731520" y="3236976"/>
            <a:ext cx="7498080" cy="548640"/>
          </a:xfrm>
          <a:prstGeom prst="rect">
            <a:avLst/>
          </a:prstGeom>
          <a:solidFill>
            <a:srgbClr val="F1F5F9"/>
          </a:solidFill>
          <a:ln/>
        </p:spPr>
        <p:txBody>
          <a:bodyPr/>
          <a:lstStyle/>
          <a:p>
            <a:endParaRPr lang="en-IN"/>
          </a:p>
        </p:txBody>
      </p:sp>
      <p:sp>
        <p:nvSpPr>
          <p:cNvPr id="11" name="Text 9"/>
          <p:cNvSpPr/>
          <p:nvPr/>
        </p:nvSpPr>
        <p:spPr>
          <a:xfrm>
            <a:off x="914400" y="3346704"/>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C.  Path C: Remote MCP Server (enterprise controls)</a:t>
            </a:r>
            <a:endParaRPr lang="en-US" sz="1300" dirty="0"/>
          </a:p>
        </p:txBody>
      </p:sp>
      <p:sp>
        <p:nvSpPr>
          <p:cNvPr id="12" name="Shape 10"/>
          <p:cNvSpPr/>
          <p:nvPr/>
        </p:nvSpPr>
        <p:spPr>
          <a:xfrm>
            <a:off x="731520" y="3895344"/>
            <a:ext cx="7498080" cy="548640"/>
          </a:xfrm>
          <a:prstGeom prst="rect">
            <a:avLst/>
          </a:prstGeom>
          <a:solidFill>
            <a:srgbClr val="F1F5F9"/>
          </a:solidFill>
          <a:ln/>
        </p:spPr>
        <p:txBody>
          <a:bodyPr/>
          <a:lstStyle/>
          <a:p>
            <a:endParaRPr lang="en-IN"/>
          </a:p>
        </p:txBody>
      </p:sp>
      <p:sp>
        <p:nvSpPr>
          <p:cNvPr id="13" name="Text 11"/>
          <p:cNvSpPr/>
          <p:nvPr/>
        </p:nvSpPr>
        <p:spPr>
          <a:xfrm>
            <a:off x="914400" y="4005072"/>
            <a:ext cx="7132320" cy="36576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D.  None — AI tools should never be used in production</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10  |  Knowledge Check</a:t>
            </a:r>
            <a:endParaRPr lang="en-US" sz="800" dirty="0"/>
          </a:p>
        </p:txBody>
      </p:sp>
      <p:sp>
        <p:nvSpPr>
          <p:cNvPr id="16" name="Text 14"/>
          <p:cNvSpPr/>
          <p:nvPr/>
        </p:nvSpPr>
        <p:spPr>
          <a:xfrm>
            <a:off x="7955280" y="4835144"/>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27 / 30</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F1F5F9"/>
          </a:solidFill>
          <a:ln/>
        </p:spPr>
        <p:txBody>
          <a:bodyPr/>
          <a:lstStyle/>
          <a:p>
            <a:endParaRPr lang="en-IN"/>
          </a:p>
        </p:txBody>
      </p:sp>
      <p:sp>
        <p:nvSpPr>
          <p:cNvPr id="3" name="Shape 1"/>
          <p:cNvSpPr/>
          <p:nvPr/>
        </p:nvSpPr>
        <p:spPr>
          <a:xfrm>
            <a:off x="0" y="822960"/>
            <a:ext cx="9144000" cy="36576"/>
          </a:xfrm>
          <a:prstGeom prst="rect">
            <a:avLst/>
          </a:prstGeom>
          <a:solidFill>
            <a:srgbClr val="0891B2"/>
          </a:solidFill>
          <a:ln/>
        </p:spPr>
        <p:txBody>
          <a:bodyPr/>
          <a:lstStyle/>
          <a:p>
            <a:endParaRPr lang="en-IN"/>
          </a:p>
        </p:txBody>
      </p:sp>
      <p:sp>
        <p:nvSpPr>
          <p:cNvPr id="4" name="Text 2"/>
          <p:cNvSpPr/>
          <p:nvPr/>
        </p:nvSpPr>
        <p:spPr>
          <a:xfrm>
            <a:off x="457200" y="228600"/>
            <a:ext cx="8229600" cy="457200"/>
          </a:xfrm>
          <a:prstGeom prst="rect">
            <a:avLst/>
          </a:prstGeom>
          <a:noFill/>
          <a:ln/>
        </p:spPr>
        <p:txBody>
          <a:bodyPr wrap="square" rtlCol="0" anchor="ctr"/>
          <a:lstStyle/>
          <a:p>
            <a:pPr marL="0" indent="0">
              <a:buNone/>
            </a:pPr>
            <a:r>
              <a:rPr lang="en-US" sz="2000" b="1" dirty="0">
                <a:solidFill>
                  <a:srgbClr val="1E293B"/>
                </a:solidFill>
                <a:latin typeface="Segoe UI" pitchFamily="34" charset="0"/>
                <a:ea typeface="Segoe UI" pitchFamily="34" charset="-122"/>
                <a:cs typeface="Segoe UI" pitchFamily="34" charset="-120"/>
              </a:rPr>
              <a:t>Question 3 — Answer</a:t>
            </a:r>
            <a:endParaRPr lang="en-US" sz="2000" dirty="0"/>
          </a:p>
        </p:txBody>
      </p:sp>
      <p:sp>
        <p:nvSpPr>
          <p:cNvPr id="5" name="Text 3"/>
          <p:cNvSpPr/>
          <p:nvPr/>
        </p:nvSpPr>
        <p:spPr>
          <a:xfrm>
            <a:off x="457200" y="1097280"/>
            <a:ext cx="8229600" cy="685800"/>
          </a:xfrm>
          <a:prstGeom prst="rect">
            <a:avLst/>
          </a:prstGeom>
          <a:noFill/>
          <a:ln/>
        </p:spPr>
        <p:txBody>
          <a:bodyPr wrap="square" rtlCol="0" anchor="ctr"/>
          <a:lstStyle/>
          <a:p>
            <a:pPr marL="0" indent="0">
              <a:buNone/>
            </a:pPr>
            <a:r>
              <a:rPr lang="en-US" sz="1500" b="1" dirty="0">
                <a:solidFill>
                  <a:srgbClr val="1E293B"/>
                </a:solidFill>
                <a:latin typeface="Segoe UI" pitchFamily="34" charset="0"/>
                <a:ea typeface="Segoe UI" pitchFamily="34" charset="-122"/>
                <a:cs typeface="Segoe UI" pitchFamily="34" charset="-120"/>
              </a:rPr>
              <a:t>Which setup path is recommended for production BFSI environments with audit requirements?</a:t>
            </a:r>
            <a:endParaRPr lang="en-US" sz="1500" dirty="0"/>
          </a:p>
        </p:txBody>
      </p:sp>
      <p:sp>
        <p:nvSpPr>
          <p:cNvPr id="6" name="Shape 4"/>
          <p:cNvSpPr/>
          <p:nvPr/>
        </p:nvSpPr>
        <p:spPr>
          <a:xfrm>
            <a:off x="731520" y="1920240"/>
            <a:ext cx="7498080" cy="548640"/>
          </a:xfrm>
          <a:prstGeom prst="rect">
            <a:avLst/>
          </a:prstGeom>
          <a:solidFill>
            <a:srgbClr val="F1F5F9"/>
          </a:solidFill>
          <a:ln/>
        </p:spPr>
        <p:txBody>
          <a:bodyPr/>
          <a:lstStyle/>
          <a:p>
            <a:endParaRPr lang="en-IN"/>
          </a:p>
        </p:txBody>
      </p:sp>
      <p:sp>
        <p:nvSpPr>
          <p:cNvPr id="7" name="Text 5"/>
          <p:cNvSpPr/>
          <p:nvPr/>
        </p:nvSpPr>
        <p:spPr>
          <a:xfrm>
            <a:off x="914400" y="2029968"/>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A.  Path A: Claude Desktop (best audit trails)</a:t>
            </a:r>
            <a:endParaRPr lang="en-US" sz="1300" dirty="0"/>
          </a:p>
        </p:txBody>
      </p:sp>
      <p:sp>
        <p:nvSpPr>
          <p:cNvPr id="8" name="Shape 6"/>
          <p:cNvSpPr/>
          <p:nvPr/>
        </p:nvSpPr>
        <p:spPr>
          <a:xfrm>
            <a:off x="731520" y="2578608"/>
            <a:ext cx="7498080" cy="548640"/>
          </a:xfrm>
          <a:prstGeom prst="rect">
            <a:avLst/>
          </a:prstGeom>
          <a:solidFill>
            <a:srgbClr val="F1F5F9"/>
          </a:solidFill>
          <a:ln/>
        </p:spPr>
        <p:txBody>
          <a:bodyPr/>
          <a:lstStyle/>
          <a:p>
            <a:endParaRPr lang="en-IN"/>
          </a:p>
        </p:txBody>
      </p:sp>
      <p:sp>
        <p:nvSpPr>
          <p:cNvPr id="9" name="Text 7"/>
          <p:cNvSpPr/>
          <p:nvPr/>
        </p:nvSpPr>
        <p:spPr>
          <a:xfrm>
            <a:off x="914400" y="2688336"/>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B.  Path B: VS Code + GitHub Copilot (auditable workflow)</a:t>
            </a:r>
            <a:endParaRPr lang="en-US" sz="1300" dirty="0"/>
          </a:p>
        </p:txBody>
      </p:sp>
      <p:sp>
        <p:nvSpPr>
          <p:cNvPr id="10" name="Shape 8"/>
          <p:cNvSpPr/>
          <p:nvPr/>
        </p:nvSpPr>
        <p:spPr>
          <a:xfrm>
            <a:off x="731520" y="3236976"/>
            <a:ext cx="7498080" cy="548640"/>
          </a:xfrm>
          <a:prstGeom prst="rect">
            <a:avLst/>
          </a:prstGeom>
          <a:solidFill>
            <a:srgbClr val="DCFCE7"/>
          </a:solidFill>
          <a:ln/>
        </p:spPr>
        <p:txBody>
          <a:bodyPr/>
          <a:lstStyle/>
          <a:p>
            <a:endParaRPr lang="en-IN"/>
          </a:p>
        </p:txBody>
      </p:sp>
      <p:sp>
        <p:nvSpPr>
          <p:cNvPr id="11" name="Text 9"/>
          <p:cNvSpPr/>
          <p:nvPr/>
        </p:nvSpPr>
        <p:spPr>
          <a:xfrm>
            <a:off x="914400" y="3346704"/>
            <a:ext cx="7132320" cy="365760"/>
          </a:xfrm>
          <a:prstGeom prst="rect">
            <a:avLst/>
          </a:prstGeom>
          <a:noFill/>
          <a:ln/>
        </p:spPr>
        <p:txBody>
          <a:bodyPr wrap="square" rtlCol="0" anchor="ctr"/>
          <a:lstStyle/>
          <a:p>
            <a:pPr marL="0" indent="0">
              <a:buNone/>
            </a:pPr>
            <a:r>
              <a:rPr lang="en-US" sz="1300" b="1" dirty="0">
                <a:solidFill>
                  <a:srgbClr val="22C55E"/>
                </a:solidFill>
                <a:latin typeface="Segoe UI" pitchFamily="34" charset="0"/>
                <a:ea typeface="Segoe UI" pitchFamily="34" charset="-122"/>
                <a:cs typeface="Segoe UI" pitchFamily="34" charset="-120"/>
              </a:rPr>
              <a:t>✓ C.  Path C: Remote MCP Server (enterprise controls)</a:t>
            </a:r>
            <a:endParaRPr lang="en-US" sz="1300" dirty="0"/>
          </a:p>
        </p:txBody>
      </p:sp>
      <p:sp>
        <p:nvSpPr>
          <p:cNvPr id="12" name="Shape 10"/>
          <p:cNvSpPr/>
          <p:nvPr/>
        </p:nvSpPr>
        <p:spPr>
          <a:xfrm>
            <a:off x="731520" y="3895344"/>
            <a:ext cx="7498080" cy="548640"/>
          </a:xfrm>
          <a:prstGeom prst="rect">
            <a:avLst/>
          </a:prstGeom>
          <a:solidFill>
            <a:srgbClr val="F1F5F9"/>
          </a:solidFill>
          <a:ln/>
        </p:spPr>
        <p:txBody>
          <a:bodyPr/>
          <a:lstStyle/>
          <a:p>
            <a:endParaRPr lang="en-IN"/>
          </a:p>
        </p:txBody>
      </p:sp>
      <p:sp>
        <p:nvSpPr>
          <p:cNvPr id="13" name="Text 11"/>
          <p:cNvSpPr/>
          <p:nvPr/>
        </p:nvSpPr>
        <p:spPr>
          <a:xfrm>
            <a:off x="914400" y="4005072"/>
            <a:ext cx="7132320" cy="365760"/>
          </a:xfrm>
          <a:prstGeom prst="rect">
            <a:avLst/>
          </a:prstGeom>
          <a:noFill/>
          <a:ln/>
        </p:spPr>
        <p:txBody>
          <a:bodyPr wrap="square" rtlCol="0" anchor="ctr"/>
          <a:lstStyle/>
          <a:p>
            <a:pPr marL="0" indent="0">
              <a:buNone/>
            </a:pPr>
            <a:r>
              <a:rPr lang="en-US" sz="1300" dirty="0">
                <a:solidFill>
                  <a:srgbClr val="64748B"/>
                </a:solidFill>
                <a:latin typeface="Segoe UI" pitchFamily="34" charset="0"/>
                <a:ea typeface="Segoe UI" pitchFamily="34" charset="-122"/>
                <a:cs typeface="Segoe UI" pitchFamily="34" charset="-120"/>
              </a:rPr>
              <a:t>D.  None — AI tools should never be used in production</a:t>
            </a:r>
            <a:endParaRPr lang="en-US" sz="1300" dirty="0"/>
          </a:p>
        </p:txBody>
      </p:sp>
      <p:sp>
        <p:nvSpPr>
          <p:cNvPr id="14" name="Shape 12"/>
          <p:cNvSpPr/>
          <p:nvPr/>
        </p:nvSpPr>
        <p:spPr>
          <a:xfrm>
            <a:off x="0" y="4846320"/>
            <a:ext cx="9144000" cy="297180"/>
          </a:xfrm>
          <a:prstGeom prst="rect">
            <a:avLst/>
          </a:prstGeom>
          <a:solidFill>
            <a:srgbClr val="F1F5F9"/>
          </a:solidFill>
          <a:ln/>
        </p:spPr>
        <p:txBody>
          <a:bodyPr/>
          <a:lstStyle/>
          <a:p>
            <a:endParaRPr lang="en-IN"/>
          </a:p>
        </p:txBody>
      </p:sp>
      <p:sp>
        <p:nvSpPr>
          <p:cNvPr id="15" name="Text 13"/>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Module 10  |  Knowledge Check</a:t>
            </a:r>
            <a:endParaRPr lang="en-US" sz="800" dirty="0"/>
          </a:p>
        </p:txBody>
      </p:sp>
      <p:sp>
        <p:nvSpPr>
          <p:cNvPr id="16" name="Text 14"/>
          <p:cNvSpPr/>
          <p:nvPr/>
        </p:nvSpPr>
        <p:spPr>
          <a:xfrm>
            <a:off x="7955280" y="4870631"/>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28 / 30</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IN"/>
          </a:p>
        </p:txBody>
      </p:sp>
      <p:sp>
        <p:nvSpPr>
          <p:cNvPr id="3" name="Text 1"/>
          <p:cNvSpPr/>
          <p:nvPr/>
        </p:nvSpPr>
        <p:spPr>
          <a:xfrm>
            <a:off x="640080" y="320040"/>
            <a:ext cx="7315200" cy="548640"/>
          </a:xfrm>
          <a:prstGeom prst="rect">
            <a:avLst/>
          </a:prstGeom>
          <a:noFill/>
          <a:ln/>
        </p:spPr>
        <p:txBody>
          <a:bodyPr wrap="square" rtlCol="0" anchor="ctr"/>
          <a:lstStyle/>
          <a:p>
            <a:pPr marL="0" indent="0">
              <a:buNone/>
            </a:pPr>
            <a:r>
              <a:rPr lang="en-US" sz="3000" b="1" dirty="0">
                <a:solidFill>
                  <a:srgbClr val="1E293B"/>
                </a:solidFill>
                <a:latin typeface="Segoe UI" pitchFamily="34" charset="0"/>
                <a:ea typeface="Segoe UI" pitchFamily="34" charset="-122"/>
                <a:cs typeface="Segoe UI" pitchFamily="34" charset="-120"/>
              </a:rPr>
              <a:t>What's Next?</a:t>
            </a:r>
            <a:endParaRPr lang="en-US" sz="3000" dirty="0"/>
          </a:p>
        </p:txBody>
      </p:sp>
      <p:sp>
        <p:nvSpPr>
          <p:cNvPr id="4" name="Text 2"/>
          <p:cNvSpPr/>
          <p:nvPr/>
        </p:nvSpPr>
        <p:spPr>
          <a:xfrm>
            <a:off x="640080" y="914400"/>
            <a:ext cx="7863840" cy="457200"/>
          </a:xfrm>
          <a:prstGeom prst="rect">
            <a:avLst/>
          </a:prstGeom>
          <a:noFill/>
          <a:ln/>
        </p:spPr>
        <p:txBody>
          <a:bodyPr wrap="square" rtlCol="0" anchor="ctr"/>
          <a:lstStyle/>
          <a:p>
            <a:pPr marL="0" indent="0">
              <a:buNone/>
            </a:pPr>
            <a:r>
              <a:rPr lang="en-US" sz="1800" b="1" dirty="0">
                <a:solidFill>
                  <a:srgbClr val="0891B2"/>
                </a:solidFill>
                <a:latin typeface="Segoe UI" pitchFamily="34" charset="0"/>
                <a:ea typeface="Segoe UI" pitchFamily="34" charset="-122"/>
                <a:cs typeface="Segoe UI" pitchFamily="34" charset="-120"/>
              </a:rPr>
              <a:t>Module 11: Power BI as Agent Insight &amp; Feedback Loop</a:t>
            </a:r>
            <a:endParaRPr lang="en-US" sz="1800" dirty="0"/>
          </a:p>
        </p:txBody>
      </p:sp>
      <p:sp>
        <p:nvSpPr>
          <p:cNvPr id="5" name="Shape 3"/>
          <p:cNvSpPr/>
          <p:nvPr/>
        </p:nvSpPr>
        <p:spPr>
          <a:xfrm>
            <a:off x="640080" y="1463040"/>
            <a:ext cx="7863840" cy="2377440"/>
          </a:xfrm>
          <a:prstGeom prst="rect">
            <a:avLst/>
          </a:prstGeom>
          <a:solidFill>
            <a:srgbClr val="F1F5F9"/>
          </a:solidFill>
          <a:ln/>
        </p:spPr>
        <p:txBody>
          <a:bodyPr/>
          <a:lstStyle/>
          <a:p>
            <a:endParaRPr lang="en-IN"/>
          </a:p>
        </p:txBody>
      </p:sp>
      <p:sp>
        <p:nvSpPr>
          <p:cNvPr id="6" name="Shape 4"/>
          <p:cNvSpPr/>
          <p:nvPr/>
        </p:nvSpPr>
        <p:spPr>
          <a:xfrm>
            <a:off x="640080" y="1463040"/>
            <a:ext cx="73152" cy="2377440"/>
          </a:xfrm>
          <a:prstGeom prst="rect">
            <a:avLst/>
          </a:prstGeom>
          <a:solidFill>
            <a:srgbClr val="0891B2"/>
          </a:solidFill>
          <a:ln/>
        </p:spPr>
        <p:txBody>
          <a:bodyPr/>
          <a:lstStyle/>
          <a:p>
            <a:endParaRPr lang="en-IN"/>
          </a:p>
        </p:txBody>
      </p:sp>
      <p:sp>
        <p:nvSpPr>
          <p:cNvPr id="7" name="Text 5"/>
          <p:cNvSpPr/>
          <p:nvPr/>
        </p:nvSpPr>
        <p:spPr>
          <a:xfrm>
            <a:off x="1005840" y="1600200"/>
            <a:ext cx="7223760" cy="2103120"/>
          </a:xfrm>
          <a:prstGeom prst="rect">
            <a:avLst/>
          </a:prstGeom>
          <a:noFill/>
          <a:ln/>
        </p:spPr>
        <p:txBody>
          <a:bodyPr wrap="square" rtlCol="0" anchor="ctr"/>
          <a:lstStyle/>
          <a:p>
            <a:pPr marL="0" indent="0">
              <a:buNone/>
            </a:pPr>
            <a:r>
              <a:rPr lang="en-US" sz="1300" dirty="0">
                <a:solidFill>
                  <a:srgbClr val="1E293B"/>
                </a:solidFill>
                <a:latin typeface="Segoe UI" pitchFamily="34" charset="0"/>
                <a:ea typeface="Segoe UI" pitchFamily="34" charset="-122"/>
                <a:cs typeface="Segoe UI" pitchFamily="34" charset="-120"/>
              </a:rPr>
              <a:t>In Module 11, you'll use the semantic model built in this module to create Power BI dashboards that visualize agent performance:</a:t>
            </a:r>
            <a:endParaRPr lang="en-US" sz="1300" dirty="0"/>
          </a:p>
          <a:p>
            <a:pPr marL="0" indent="0">
              <a:buNone/>
            </a:pPr>
            <a:endParaRPr lang="en-US" sz="1300" dirty="0"/>
          </a:p>
          <a:p>
            <a:pPr marL="0" indent="0">
              <a:buNone/>
            </a:pPr>
            <a:r>
              <a:rPr lang="en-US" sz="1300" dirty="0">
                <a:solidFill>
                  <a:srgbClr val="1E293B"/>
                </a:solidFill>
                <a:latin typeface="Segoe UI" pitchFamily="34" charset="0"/>
                <a:ea typeface="Segoe UI" pitchFamily="34" charset="-122"/>
                <a:cs typeface="Segoe UI" pitchFamily="34" charset="-120"/>
              </a:rPr>
              <a:t>•  Connect to AgentTaskLog and ApprovalLog from Modules 08–09</a:t>
            </a:r>
            <a:endParaRPr lang="en-US" sz="1300" dirty="0"/>
          </a:p>
          <a:p>
            <a:pPr marL="0" indent="0">
              <a:buNone/>
            </a:pPr>
            <a:r>
              <a:rPr lang="en-US" sz="1300" dirty="0">
                <a:solidFill>
                  <a:srgbClr val="1E293B"/>
                </a:solidFill>
                <a:latin typeface="Segoe UI" pitchFamily="34" charset="0"/>
                <a:ea typeface="Segoe UI" pitchFamily="34" charset="-122"/>
                <a:cs typeface="Segoe UI" pitchFamily="34" charset="-120"/>
              </a:rPr>
              <a:t>•  Build operational dashboards for agent telemetry</a:t>
            </a:r>
            <a:endParaRPr lang="en-US" sz="1300" dirty="0"/>
          </a:p>
          <a:p>
            <a:pPr marL="0" indent="0">
              <a:buNone/>
            </a:pPr>
            <a:r>
              <a:rPr lang="en-US" sz="1300" dirty="0">
                <a:solidFill>
                  <a:srgbClr val="1E293B"/>
                </a:solidFill>
                <a:latin typeface="Segoe UI" pitchFamily="34" charset="0"/>
                <a:ea typeface="Segoe UI" pitchFamily="34" charset="-122"/>
                <a:cs typeface="Segoe UI" pitchFamily="34" charset="-120"/>
              </a:rPr>
              <a:t>•  Create a feedback loop: agent data → Power BI → optimization decisions</a:t>
            </a:r>
            <a:endParaRPr lang="en-US" sz="1300" dirty="0"/>
          </a:p>
          <a:p>
            <a:pPr marL="0" indent="0">
              <a:buNone/>
            </a:pPr>
            <a:r>
              <a:rPr lang="en-US" sz="1300" dirty="0">
                <a:solidFill>
                  <a:srgbClr val="1E293B"/>
                </a:solidFill>
                <a:latin typeface="Segoe UI" pitchFamily="34" charset="0"/>
                <a:ea typeface="Segoe UI" pitchFamily="34" charset="-122"/>
                <a:cs typeface="Segoe UI" pitchFamily="34" charset="-120"/>
              </a:rPr>
              <a:t>•  Close the loop between AI agents and business intelligence</a:t>
            </a:r>
            <a:endParaRPr lang="en-US" sz="1300" dirty="0"/>
          </a:p>
        </p:txBody>
      </p:sp>
      <p:sp>
        <p:nvSpPr>
          <p:cNvPr id="8" name="Shape 6"/>
          <p:cNvSpPr/>
          <p:nvPr/>
        </p:nvSpPr>
        <p:spPr>
          <a:xfrm>
            <a:off x="640080" y="4023360"/>
            <a:ext cx="7863840" cy="640080"/>
          </a:xfrm>
          <a:prstGeom prst="rect">
            <a:avLst/>
          </a:prstGeom>
          <a:solidFill>
            <a:srgbClr val="FEF3C7"/>
          </a:solidFill>
          <a:ln/>
        </p:spPr>
        <p:txBody>
          <a:bodyPr/>
          <a:lstStyle/>
          <a:p>
            <a:endParaRPr lang="en-IN"/>
          </a:p>
        </p:txBody>
      </p:sp>
      <p:sp>
        <p:nvSpPr>
          <p:cNvPr id="9" name="Text 7"/>
          <p:cNvSpPr/>
          <p:nvPr/>
        </p:nvSpPr>
        <p:spPr>
          <a:xfrm>
            <a:off x="822960" y="4114800"/>
            <a:ext cx="7498080" cy="457200"/>
          </a:xfrm>
          <a:prstGeom prst="rect">
            <a:avLst/>
          </a:prstGeom>
          <a:noFill/>
          <a:ln/>
        </p:spPr>
        <p:txBody>
          <a:bodyPr wrap="square" rtlCol="0" anchor="ctr"/>
          <a:lstStyle/>
          <a:p>
            <a:pPr marL="0" indent="0">
              <a:buNone/>
            </a:pPr>
            <a:r>
              <a:rPr lang="en-US" sz="1100" dirty="0">
                <a:solidFill>
                  <a:srgbClr val="F59E0B"/>
                </a:solidFill>
                <a:latin typeface="Segoe UI" pitchFamily="34" charset="0"/>
                <a:ea typeface="Segoe UI" pitchFamily="34" charset="-122"/>
                <a:cs typeface="Segoe UI" pitchFamily="34" charset="-120"/>
              </a:rPr>
              <a:t>💡 Keep your Contoso Insurance Analytics model — you'll extend it in Module 11.</a:t>
            </a:r>
            <a:endParaRPr lang="en-US" sz="1100" dirty="0"/>
          </a:p>
        </p:txBody>
      </p:sp>
      <p:sp>
        <p:nvSpPr>
          <p:cNvPr id="10" name="Shape 8"/>
          <p:cNvSpPr/>
          <p:nvPr/>
        </p:nvSpPr>
        <p:spPr>
          <a:xfrm>
            <a:off x="0" y="4846320"/>
            <a:ext cx="9144000" cy="297180"/>
          </a:xfrm>
          <a:prstGeom prst="rect">
            <a:avLst/>
          </a:prstGeom>
          <a:solidFill>
            <a:srgbClr val="F1F5F9"/>
          </a:solidFill>
          <a:ln/>
        </p:spPr>
        <p:txBody>
          <a:bodyPr/>
          <a:lstStyle/>
          <a:p>
            <a:endParaRPr lang="en-IN"/>
          </a:p>
        </p:txBody>
      </p:sp>
      <p:sp>
        <p:nvSpPr>
          <p:cNvPr id="11" name="Text 9"/>
          <p:cNvSpPr/>
          <p:nvPr/>
        </p:nvSpPr>
        <p:spPr>
          <a:xfrm>
            <a:off x="457200" y="4873752"/>
            <a:ext cx="5486400" cy="256032"/>
          </a:xfrm>
          <a:prstGeom prst="rect">
            <a:avLst/>
          </a:prstGeom>
          <a:noFill/>
          <a:ln/>
        </p:spPr>
        <p:txBody>
          <a:bodyPr wrap="square" rtlCol="0" anchor="ctr"/>
          <a:lstStyle/>
          <a:p>
            <a:pPr marL="0" indent="0">
              <a:buNone/>
            </a:pPr>
            <a:r>
              <a:rPr lang="en-US" sz="800" dirty="0">
                <a:solidFill>
                  <a:srgbClr val="64748B"/>
                </a:solidFill>
                <a:latin typeface="Segoe UI" pitchFamily="34" charset="0"/>
                <a:ea typeface="Segoe UI" pitchFamily="34" charset="-122"/>
                <a:cs typeface="Segoe UI" pitchFamily="34" charset="-120"/>
              </a:rPr>
              <a:t>AGENTIC AI IN POWER PLATFORM  |  MODULE 10</a:t>
            </a:r>
            <a:endParaRPr lang="en-US" sz="800" dirty="0"/>
          </a:p>
        </p:txBody>
      </p:sp>
      <p:sp>
        <p:nvSpPr>
          <p:cNvPr id="12" name="Text 10"/>
          <p:cNvSpPr/>
          <p:nvPr/>
        </p:nvSpPr>
        <p:spPr>
          <a:xfrm>
            <a:off x="7955280" y="4868091"/>
            <a:ext cx="914400" cy="274320"/>
          </a:xfrm>
          <a:prstGeom prst="rect">
            <a:avLst/>
          </a:prstGeom>
          <a:noFill/>
          <a:ln/>
        </p:spPr>
        <p:txBody>
          <a:bodyPr wrap="square" rtlCol="0" anchor="ctr"/>
          <a:lstStyle/>
          <a:p>
            <a:pPr marL="0" indent="0" algn="r">
              <a:buNone/>
            </a:pPr>
            <a:r>
              <a:rPr lang="en-US" sz="900" dirty="0">
                <a:solidFill>
                  <a:srgbClr val="64748B"/>
                </a:solidFill>
                <a:latin typeface="Segoe UI" pitchFamily="34" charset="0"/>
                <a:ea typeface="Segoe UI" pitchFamily="34" charset="-122"/>
                <a:cs typeface="Segoe UI" pitchFamily="34" charset="-120"/>
              </a:rPr>
              <a:t>29 / 30</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IN"/>
          </a:p>
        </p:txBody>
      </p:sp>
      <p:sp>
        <p:nvSpPr>
          <p:cNvPr id="3" name="Shape 1"/>
          <p:cNvSpPr/>
          <p:nvPr/>
        </p:nvSpPr>
        <p:spPr>
          <a:xfrm>
            <a:off x="0" y="5088636"/>
            <a:ext cx="9144000" cy="54864"/>
          </a:xfrm>
          <a:prstGeom prst="rect">
            <a:avLst/>
          </a:prstGeom>
          <a:solidFill>
            <a:srgbClr val="0891B2"/>
          </a:solidFill>
          <a:ln/>
        </p:spPr>
        <p:txBody>
          <a:bodyPr/>
          <a:lstStyle/>
          <a:p>
            <a:endParaRPr lang="en-IN"/>
          </a:p>
        </p:txBody>
      </p:sp>
      <p:sp>
        <p:nvSpPr>
          <p:cNvPr id="4" name="Text 2"/>
          <p:cNvSpPr/>
          <p:nvPr/>
        </p:nvSpPr>
        <p:spPr>
          <a:xfrm>
            <a:off x="914400" y="1828800"/>
            <a:ext cx="7315200" cy="731520"/>
          </a:xfrm>
          <a:prstGeom prst="rect">
            <a:avLst/>
          </a:prstGeom>
          <a:noFill/>
          <a:ln/>
        </p:spPr>
        <p:txBody>
          <a:bodyPr wrap="square" rtlCol="0" anchor="ctr"/>
          <a:lstStyle/>
          <a:p>
            <a:pPr marL="0" indent="0" algn="ctr">
              <a:buNone/>
            </a:pPr>
            <a:r>
              <a:rPr lang="en-US" sz="4200" b="1" dirty="0">
                <a:solidFill>
                  <a:srgbClr val="FFFFFF"/>
                </a:solidFill>
                <a:latin typeface="Segoe UI" pitchFamily="34" charset="0"/>
                <a:ea typeface="Segoe UI" pitchFamily="34" charset="-122"/>
                <a:cs typeface="Segoe UI" pitchFamily="34" charset="-120"/>
              </a:rPr>
              <a:t>Thank You</a:t>
            </a:r>
            <a:endParaRPr lang="en-US" sz="4200" dirty="0"/>
          </a:p>
        </p:txBody>
      </p:sp>
      <p:sp>
        <p:nvSpPr>
          <p:cNvPr id="5" name="Text 3"/>
          <p:cNvSpPr/>
          <p:nvPr/>
        </p:nvSpPr>
        <p:spPr>
          <a:xfrm>
            <a:off x="914400" y="2834640"/>
            <a:ext cx="7315200" cy="457200"/>
          </a:xfrm>
          <a:prstGeom prst="rect">
            <a:avLst/>
          </a:prstGeom>
          <a:noFill/>
          <a:ln/>
        </p:spPr>
        <p:txBody>
          <a:bodyPr wrap="square" rtlCol="0" anchor="ctr"/>
          <a:lstStyle/>
          <a:p>
            <a:pPr marL="0" indent="0" algn="ctr">
              <a:buNone/>
            </a:pPr>
            <a:r>
              <a:rPr lang="en-US" sz="2400" dirty="0">
                <a:solidFill>
                  <a:srgbClr val="94A3B8"/>
                </a:solidFill>
                <a:latin typeface="Segoe UI" pitchFamily="34" charset="0"/>
                <a:ea typeface="Segoe UI" pitchFamily="34" charset="-122"/>
                <a:cs typeface="Segoe UI" pitchFamily="34" charset="-120"/>
              </a:rPr>
              <a:t>Questions? </a:t>
            </a:r>
            <a:endParaRPr lang="en-US" sz="2400" dirty="0"/>
          </a:p>
        </p:txBody>
      </p:sp>
      <p:sp>
        <p:nvSpPr>
          <p:cNvPr id="6" name="Text 10">
            <a:extLst>
              <a:ext uri="{FF2B5EF4-FFF2-40B4-BE49-F238E27FC236}">
                <a16:creationId xmlns:a16="http://schemas.microsoft.com/office/drawing/2014/main" id="{4452C93F-1C4E-0DF1-7B13-C3407E903356}"/>
              </a:ext>
            </a:extLst>
          </p:cNvPr>
          <p:cNvSpPr/>
          <p:nvPr/>
        </p:nvSpPr>
        <p:spPr>
          <a:xfrm>
            <a:off x="8323943" y="4763516"/>
            <a:ext cx="674914"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buNone/>
            </a:pPr>
            <a:r>
              <a:rPr lang="en-US" sz="900" dirty="0">
                <a:solidFill>
                  <a:schemeClr val="bg1"/>
                </a:solidFill>
                <a:latin typeface="Segoe UI" pitchFamily="34" charset="0"/>
                <a:ea typeface="Segoe UI" pitchFamily="34" charset="-122"/>
                <a:cs typeface="Segoe UI" pitchFamily="34" charset="-120"/>
              </a:rPr>
              <a:t>30 / 30</a:t>
            </a:r>
            <a:endParaRPr lang="en-US" sz="9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efa4170-0d19-0005-0004-bc88714345d2}" enabled="1" method="Standard" siteId="{2243f965-7483-47b5-8481-26f2d02b5c39}" contentBits="0" removed="0"/>
</clbl:labelList>
</file>

<file path=docProps/app.xml><?xml version="1.0" encoding="utf-8"?>
<Properties xmlns="http://schemas.openxmlformats.org/officeDocument/2006/extended-properties" xmlns:vt="http://schemas.openxmlformats.org/officeDocument/2006/docPropsVTypes">
  <TotalTime>7</TotalTime>
  <Words>5967</Words>
  <Application>Microsoft Office PowerPoint</Application>
  <PresentationFormat>On-screen Show (16:9)</PresentationFormat>
  <Paragraphs>458</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10: Data Preprocessing with Claude Desktop + MCP Power BI</dc:title>
  <dc:subject>Agentic AI in Power Platform</dc:subject>
  <dc:creator>EY Training</dc:creator>
  <cp:lastModifiedBy>Jalal Khan</cp:lastModifiedBy>
  <cp:revision>2</cp:revision>
  <dcterms:created xsi:type="dcterms:W3CDTF">2026-02-05T12:52:40Z</dcterms:created>
  <dcterms:modified xsi:type="dcterms:W3CDTF">2026-02-05T19:24:46Z</dcterms:modified>
</cp:coreProperties>
</file>